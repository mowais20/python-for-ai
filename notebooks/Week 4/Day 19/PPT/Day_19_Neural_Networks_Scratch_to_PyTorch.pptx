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28C28"/>
                </a:solidFill>
                <a:latin typeface="Calibri"/>
              </a:rPr>
              <a:t>PYTHON FOR AI  ·  CLASS 21 + 22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Neural Networks,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What a neural network is, how it learns, and how we build one with PyTorch.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No maths background needed.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ONE LONG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Today's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474720" cy="192024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47472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55F6D"/>
                </a:solidFill>
                <a:latin typeface="Calibri"/>
              </a:rPr>
              <a:t>PART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A"/>
                </a:solidFill>
                <a:latin typeface="Calibri"/>
              </a:rPr>
              <a:t>One neuron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555F6D"/>
                </a:solidFill>
                <a:latin typeface="Calibri"/>
              </a:rPr>
              <a:t>inputs · weights · bias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74720" cy="192024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47472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74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55F6D"/>
                </a:solidFill>
                <a:latin typeface="Calibri"/>
              </a:rPr>
              <a:t>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A"/>
                </a:solidFill>
                <a:latin typeface="Calibri"/>
              </a:rPr>
              <a:t>Activation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555F6D"/>
                </a:solidFill>
                <a:latin typeface="Calibri"/>
              </a:rPr>
              <a:t>decision rule · ReLU · sigmoid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1645920"/>
            <a:ext cx="3474720" cy="192024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645920"/>
            <a:ext cx="3474720" cy="914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74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55F6D"/>
                </a:solidFill>
                <a:latin typeface="Calibri"/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A"/>
                </a:solidFill>
                <a:latin typeface="Calibri"/>
              </a:rPr>
              <a:t>A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555F6D"/>
                </a:solidFill>
                <a:latin typeface="Calibri"/>
              </a:rPr>
              <a:t>layers · forward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3474720" cy="192024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94760"/>
            <a:ext cx="3474720" cy="9144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55F6D"/>
                </a:solidFill>
                <a:latin typeface="Calibri"/>
              </a:rPr>
              <a:t>PART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89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A"/>
                </a:solidFill>
                <a:latin typeface="Calibri"/>
              </a:rPr>
              <a:t>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555F6D"/>
                </a:solidFill>
                <a:latin typeface="Calibri"/>
              </a:rPr>
              <a:t>loss · gradient descent · backprop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794760"/>
            <a:ext cx="3474720" cy="192024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794760"/>
            <a:ext cx="347472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55F6D"/>
                </a:solidFill>
                <a:latin typeface="Calibri"/>
              </a:rPr>
              <a:t>PART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389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A"/>
                </a:solidFill>
                <a:latin typeface="Calibri"/>
              </a:rPr>
              <a:t>Training well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555F6D"/>
                </a:solidFill>
                <a:latin typeface="Calibri"/>
              </a:rPr>
              <a:t>epochs · learning rate · overfitting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9" y="3794760"/>
            <a:ext cx="3474720" cy="192024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9" y="3794760"/>
            <a:ext cx="347472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55F6D"/>
                </a:solidFill>
                <a:latin typeface="Calibri"/>
              </a:rPr>
              <a:t>PART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89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A"/>
                </a:solidFill>
                <a:latin typeface="Calibri"/>
              </a:rPr>
              <a:t>PyTorch +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555F6D"/>
                </a:solidFill>
                <a:latin typeface="Calibri"/>
              </a:rPr>
              <a:t>training loop · CNN · RNN · GAN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Then we code it all in the notebook: </a:t>
            </a:r>
            <a:r>
              <a:rPr sz="2000" b="1">
                <a:solidFill>
                  <a:srgbClr val="1B2A4A"/>
                </a:solidFill>
                <a:latin typeface="Calibri"/>
              </a:rPr>
              <a:t>from scratch → PyTorch → 💪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What is a neural network?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29184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NORMAL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human writes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rules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if marks &gt; 50: print("pass")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But what is the rule for </a:t>
            </a:r>
            <a:r>
              <a:rPr sz="2000" b="1">
                <a:solidFill>
                  <a:srgbClr val="1B2A4A"/>
                </a:solidFill>
                <a:latin typeface="Calibri"/>
              </a:rPr>
              <a:t>"this photo is a cat"</a:t>
            </a:r>
            <a:r>
              <a:rPr sz="2000" b="0">
                <a:solidFill>
                  <a:srgbClr val="1B2A4A"/>
                </a:solidFill>
                <a:latin typeface="Calibri"/>
              </a:rPr>
              <a:t>? Nobody can write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29184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9E5B"/>
                </a:solidFill>
                <a:latin typeface="Calibri"/>
              </a:rPr>
              <a:t>NEURAL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We give it many </a:t>
            </a:r>
            <a:r>
              <a:rPr sz="2000" b="1">
                <a:solidFill>
                  <a:srgbClr val="1B2A4A"/>
                </a:solidFill>
                <a:latin typeface="Calibri"/>
              </a:rPr>
              <a:t>examples</a:t>
            </a:r>
            <a:r>
              <a:rPr sz="2000" b="0">
                <a:solidFill>
                  <a:srgbClr val="1B2A4A"/>
                </a:solidFill>
                <a:latin typeface="Calibri"/>
              </a:rPr>
              <a:t> with the answers.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</a:t>
            </a:r>
            <a:r>
              <a:rPr sz="2000" b="1">
                <a:solidFill>
                  <a:srgbClr val="1B2A4A"/>
                </a:solidFill>
                <a:latin typeface="Calibri"/>
              </a:rPr>
              <a:t>finds the rules by itself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1,000 cat photos → it learns what a cat looks like.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55F6D"/>
                </a:solidFill>
                <a:latin typeface="Calibri"/>
              </a:rPr>
              <a:t>You already use them: </a:t>
            </a:r>
            <a:r>
              <a:rPr sz="1900" b="1">
                <a:solidFill>
                  <a:srgbClr val="555F6D"/>
                </a:solidFill>
                <a:latin typeface="Calibri"/>
              </a:rPr>
              <a:t>face unlock</a:t>
            </a:r>
            <a:r>
              <a:rPr sz="1900" b="0">
                <a:solidFill>
                  <a:srgbClr val="555F6D"/>
                </a:solidFill>
                <a:latin typeface="Calibri"/>
              </a:rPr>
              <a:t>, </a:t>
            </a:r>
            <a:r>
              <a:rPr sz="1900" b="1">
                <a:solidFill>
                  <a:srgbClr val="555F6D"/>
                </a:solidFill>
                <a:latin typeface="Calibri"/>
              </a:rPr>
              <a:t>Google Translate</a:t>
            </a:r>
            <a:r>
              <a:rPr sz="1900" b="0">
                <a:solidFill>
                  <a:srgbClr val="555F6D"/>
                </a:solidFill>
                <a:latin typeface="Calibri"/>
              </a:rPr>
              <a:t>, </a:t>
            </a:r>
            <a:r>
              <a:rPr sz="1900" b="1">
                <a:solidFill>
                  <a:srgbClr val="555F6D"/>
                </a:solidFill>
                <a:latin typeface="Calibri"/>
              </a:rPr>
              <a:t>ChatGPT</a:t>
            </a:r>
            <a:r>
              <a:rPr sz="1900" b="0">
                <a:solidFill>
                  <a:srgbClr val="555F6D"/>
                </a:solidFill>
                <a:latin typeface="Calibri"/>
              </a:rPr>
              <a:t>, YouTube recommendations.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555F6D"/>
                </a:solidFill>
                <a:latin typeface="Calibri"/>
              </a:rPr>
              <a:t>The name comes from the brain: many small </a:t>
            </a:r>
            <a:r>
              <a:rPr sz="1900" b="1">
                <a:solidFill>
                  <a:srgbClr val="555F6D"/>
                </a:solidFill>
                <a:latin typeface="Calibri"/>
              </a:rPr>
              <a:t>neurons</a:t>
            </a:r>
            <a:r>
              <a:rPr sz="1900" b="0">
                <a:solidFill>
                  <a:srgbClr val="555F6D"/>
                </a:solidFill>
                <a:latin typeface="Calibri"/>
              </a:rPr>
              <a:t> connected together. Ours are just simple maths.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BEFORE WE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a small neural network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study hours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3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phone hours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1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606039"/>
            <a:ext cx="731520" cy="329184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2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23359"/>
            <a:ext cx="731520" cy="329184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3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440680"/>
            <a:ext cx="731520" cy="329184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INPUT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HIDDEN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OUTPUT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THE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This is the network we build today.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Circles</a:t>
            </a:r>
            <a:r>
              <a:rPr sz="1600" b="0">
                <a:solidFill>
                  <a:srgbClr val="1B2A4A"/>
                </a:solidFill>
                <a:latin typeface="Calibri"/>
              </a:rPr>
              <a:t> = inputs.  </a:t>
            </a:r>
            <a:r>
              <a:rPr sz="1600" b="1">
                <a:solidFill>
                  <a:srgbClr val="1B2A4A"/>
                </a:solidFill>
                <a:latin typeface="Calibri"/>
              </a:rPr>
              <a:t>Boxes</a:t>
            </a:r>
            <a:r>
              <a:rPr sz="1600" b="0">
                <a:solidFill>
                  <a:srgbClr val="1B2A4A"/>
                </a:solidFill>
                <a:latin typeface="Calibri"/>
              </a:rPr>
              <a:t> = neurons.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Lines</a:t>
            </a:r>
            <a:r>
              <a:rPr sz="1600" b="0">
                <a:solidFill>
                  <a:srgbClr val="1B2A4A"/>
                </a:solidFill>
                <a:latin typeface="Calibri"/>
              </a:rPr>
              <a:t> = weights.  </a:t>
            </a:r>
            <a:r>
              <a:rPr sz="1600" b="1">
                <a:solidFill>
                  <a:srgbClr val="1B2A4A"/>
                </a:solidFill>
                <a:latin typeface="Calibri"/>
              </a:rPr>
              <a:t>+b</a:t>
            </a:r>
            <a:r>
              <a:rPr sz="1600" b="0">
                <a:solidFill>
                  <a:srgbClr val="1B2A4A"/>
                </a:solidFill>
                <a:latin typeface="Calibri"/>
              </a:rPr>
              <a:t> = bias.  </a:t>
            </a:r>
            <a:r>
              <a:rPr sz="1600" b="1">
                <a:solidFill>
                  <a:srgbClr val="1B2A4A"/>
                </a:solidFill>
                <a:latin typeface="Calibri"/>
              </a:rPr>
              <a:t>ReLU</a:t>
            </a:r>
            <a:r>
              <a:rPr sz="1600" b="0">
                <a:solidFill>
                  <a:srgbClr val="1B2A4A"/>
                </a:solidFill>
                <a:latin typeface="Calibri"/>
              </a:rPr>
              <a:t> = activation.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Watch for this map: it shows </a:t>
            </a:r>
            <a:r>
              <a:rPr sz="1600" b="1">
                <a:solidFill>
                  <a:srgbClr val="1B2A4A"/>
                </a:solidFill>
                <a:latin typeface="Calibri"/>
              </a:rPr>
              <a:t>where we are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F28C28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One Neuron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The smallest building block. Every big network is made of these.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A neuron does 3 small things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108960" cy="1828800"/>
          </a:xfrm>
          <a:prstGeom prst="round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1. Multiply</a:t>
            </a:r>
          </a:p>
          <a:p>
            <a:pPr algn="ctr"/>
            <a:r>
              <a:rPr sz="2100" b="0">
                <a:solidFill>
                  <a:srgbClr val="FFFFFF"/>
                </a:solidFill>
                <a:latin typeface="Calibri"/>
              </a:rPr>
              <a:t>each input × its weight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40" y="2743200"/>
            <a:ext cx="594360" cy="0"/>
          </a:xfrm>
          <a:prstGeom prst="line">
            <a:avLst/>
          </a:prstGeom>
          <a:ln w="317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28800"/>
            <a:ext cx="3108960" cy="182880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2. Add</a:t>
            </a:r>
          </a:p>
          <a:p>
            <a:pPr algn="ctr"/>
            <a:r>
              <a:rPr sz="2100" b="0">
                <a:solidFill>
                  <a:srgbClr val="FFFFFF"/>
                </a:solidFill>
                <a:latin typeface="Calibri"/>
              </a:rPr>
              <a:t>add them all up,</a:t>
            </a:r>
          </a:p>
          <a:p>
            <a:pPr algn="ctr"/>
            <a:r>
              <a:rPr sz="2100" b="0">
                <a:solidFill>
                  <a:srgbClr val="FFFFFF"/>
                </a:solidFill>
                <a:latin typeface="Calibri"/>
              </a:rPr>
              <a:t>then add the bias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743200"/>
            <a:ext cx="594360" cy="0"/>
          </a:xfrm>
          <a:prstGeom prst="line">
            <a:avLst/>
          </a:prstGeom>
          <a:ln w="317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828800"/>
            <a:ext cx="3108960" cy="18288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3. Decide</a:t>
            </a:r>
          </a:p>
          <a:p>
            <a:pPr algn="ctr"/>
            <a:r>
              <a:rPr sz="2100" b="0">
                <a:solidFill>
                  <a:srgbClr val="FFFFFF"/>
                </a:solidFill>
                <a:latin typeface="Calibri"/>
              </a:rPr>
              <a:t>the activation turns</a:t>
            </a:r>
          </a:p>
          <a:p>
            <a:pPr algn="ctr"/>
            <a:r>
              <a:rPr sz="2100" b="0">
                <a:solidFill>
                  <a:srgbClr val="FFFFFF"/>
                </a:solidFill>
                <a:latin typeface="Calibri"/>
              </a:rPr>
              <a:t>the total into the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That's all a neuron is: </a:t>
            </a:r>
            <a:r>
              <a:rPr sz="2200" b="1">
                <a:solidFill>
                  <a:srgbClr val="1B2A4A"/>
                </a:solidFill>
                <a:latin typeface="Calibri"/>
              </a:rPr>
              <a:t>a tiny calculator that makes one small decision.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Now let's see each piece, one by one: </a:t>
            </a:r>
            <a:r>
              <a:rPr sz="2200" b="1">
                <a:solidFill>
                  <a:srgbClr val="1B2A4A"/>
                </a:solidFill>
                <a:latin typeface="Calibri"/>
              </a:rPr>
              <a:t>inputs</a:t>
            </a:r>
            <a:r>
              <a:rPr sz="2200" b="0">
                <a:solidFill>
                  <a:srgbClr val="1B2A4A"/>
                </a:solidFill>
                <a:latin typeface="Calibri"/>
              </a:rPr>
              <a:t>, </a:t>
            </a:r>
            <a:r>
              <a:rPr sz="2200" b="1">
                <a:solidFill>
                  <a:srgbClr val="1B2A4A"/>
                </a:solidFill>
                <a:latin typeface="Calibri"/>
              </a:rPr>
              <a:t>weights</a:t>
            </a:r>
            <a:r>
              <a:rPr sz="2200" b="0">
                <a:solidFill>
                  <a:srgbClr val="1B2A4A"/>
                </a:solidFill>
                <a:latin typeface="Calibri"/>
              </a:rPr>
              <a:t>, </a:t>
            </a:r>
            <a:r>
              <a:rPr sz="2200" b="1">
                <a:solidFill>
                  <a:srgbClr val="1B2A4A"/>
                </a:solidFill>
                <a:latin typeface="Calibri"/>
              </a:rPr>
              <a:t>bias</a:t>
            </a:r>
            <a:r>
              <a:rPr sz="2200" b="0">
                <a:solidFill>
                  <a:srgbClr val="1B2A4A"/>
                </a:solidFill>
                <a:latin typeface="Calibri"/>
              </a:rPr>
              <a:t>, </a:t>
            </a:r>
            <a:r>
              <a:rPr sz="2200" b="1">
                <a:solidFill>
                  <a:srgbClr val="1B2A4A"/>
                </a:solidFill>
                <a:latin typeface="Calibri"/>
              </a:rPr>
              <a:t>activation</a:t>
            </a:r>
            <a:r>
              <a:rPr sz="22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PIECE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Inputs: the facts we give the neuron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Numbers that describe the thing we look at.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student → </a:t>
            </a:r>
            <a:r>
              <a:rPr sz="2000" b="1">
                <a:solidFill>
                  <a:srgbClr val="1B2A4A"/>
                </a:solidFill>
                <a:latin typeface="Calibri"/>
              </a:rPr>
              <a:t>study hours, phone hours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house → </a:t>
            </a:r>
            <a:r>
              <a:rPr sz="2000" b="1">
                <a:solidFill>
                  <a:srgbClr val="1B2A4A"/>
                </a:solidFill>
                <a:latin typeface="Calibri"/>
              </a:rPr>
              <a:t>size, bedrooms, age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photo → </a:t>
            </a:r>
            <a:r>
              <a:rPr sz="2000" b="1">
                <a:solidFill>
                  <a:srgbClr val="1B2A4A"/>
                </a:solidFill>
                <a:latin typeface="Calibri"/>
              </a:rPr>
              <a:t>the colour of each pixel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computer only understands </a:t>
            </a:r>
            <a:r>
              <a:rPr sz="2000" b="1">
                <a:solidFill>
                  <a:srgbClr val="1B2A4A"/>
                </a:solidFill>
                <a:latin typeface="Calibri"/>
              </a:rPr>
              <a:t>numbers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So everything must become a number first.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Yes / no → </a:t>
            </a:r>
            <a:r>
              <a:rPr sz="2000" b="1">
                <a:solidFill>
                  <a:srgbClr val="1B2A4A"/>
                </a:solidFill>
                <a:latin typeface="Calibri"/>
              </a:rPr>
              <a:t>1 / 0</a:t>
            </a:r>
            <a:r>
              <a:rPr sz="2000" b="0">
                <a:solidFill>
                  <a:srgbClr val="1B2A4A"/>
                </a:solidFill>
                <a:latin typeface="Calibri"/>
              </a:rPr>
              <a:t>.  Sunny? Yes → 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Example: </a:t>
            </a:r>
            <a:r>
              <a:rPr sz="1900" b="1">
                <a:solidFill>
                  <a:srgbClr val="1B2A4A"/>
                </a:solidFill>
                <a:latin typeface="Calibri"/>
              </a:rPr>
              <a:t>Ali</a:t>
            </a:r>
            <a:r>
              <a:rPr sz="1900" b="0">
                <a:solidFill>
                  <a:srgbClr val="1B2A4A"/>
                </a:solidFill>
                <a:latin typeface="Calibri"/>
              </a:rPr>
              <a:t> is a student. After school he decides: play cricket or stay home? His inputs: </a:t>
            </a:r>
            <a:r>
              <a:rPr sz="1900" b="1">
                <a:solidFill>
                  <a:srgbClr val="1B2A4A"/>
                </a:solidFill>
                <a:latin typeface="Calibri"/>
              </a:rPr>
              <a:t>sunny? = 1</a:t>
            </a:r>
            <a:r>
              <a:rPr sz="1900" b="0">
                <a:solidFill>
                  <a:srgbClr val="1B2A4A"/>
                </a:solidFill>
                <a:latin typeface="Calibri"/>
              </a:rPr>
              <a:t>, </a:t>
            </a:r>
            <a:r>
              <a:rPr sz="1900" b="1">
                <a:solidFill>
                  <a:srgbClr val="1B2A4A"/>
                </a:solidFill>
                <a:latin typeface="Calibri"/>
              </a:rPr>
              <a:t>friends free? = 1</a:t>
            </a:r>
            <a:r>
              <a:rPr sz="1900" b="0">
                <a:solidFill>
                  <a:srgbClr val="1B2A4A"/>
                </a:solidFill>
                <a:latin typeface="Calibri"/>
              </a:rPr>
              <a:t>, </a:t>
            </a:r>
            <a:r>
              <a:rPr sz="1900" b="1">
                <a:solidFill>
                  <a:srgbClr val="1B2A4A"/>
                </a:solidFill>
                <a:latin typeface="Calibri"/>
              </a:rPr>
              <a:t>exam tomorrow? =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WHERE ARE WE?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Inputs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study hours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3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phone hours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neuron 1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60603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neuron 2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2335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neuron 3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440680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output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INPUT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HIDDEN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OUTPUT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INPUTS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The </a:t>
            </a:r>
            <a:r>
              <a:rPr sz="1600" b="1">
                <a:solidFill>
                  <a:srgbClr val="1B2A4A"/>
                </a:solidFill>
                <a:latin typeface="Calibri"/>
              </a:rPr>
              <a:t>facts</a:t>
            </a:r>
            <a:r>
              <a:rPr sz="1600" b="0">
                <a:solidFill>
                  <a:srgbClr val="1B2A4A"/>
                </a:solidFill>
                <a:latin typeface="Calibri"/>
              </a:rPr>
              <a:t> go in on the </a:t>
            </a:r>
            <a:r>
              <a:rPr sz="1600" b="1">
                <a:solidFill>
                  <a:srgbClr val="1B2A4A"/>
                </a:solidFill>
                <a:latin typeface="Calibri"/>
              </a:rPr>
              <a:t>left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One circle = one fact.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Here: </a:t>
            </a:r>
            <a:r>
              <a:rPr sz="1600" b="1">
                <a:solidFill>
                  <a:srgbClr val="1B2A4A"/>
                </a:solidFill>
                <a:latin typeface="Calibri"/>
              </a:rPr>
              <a:t>study hours = 3</a:t>
            </a:r>
            <a:r>
              <a:rPr sz="1600" b="0">
                <a:solidFill>
                  <a:srgbClr val="1B2A4A"/>
                </a:solidFill>
                <a:latin typeface="Calibri"/>
              </a:rPr>
              <a:t>, </a:t>
            </a:r>
            <a:r>
              <a:rPr sz="1600" b="1">
                <a:solidFill>
                  <a:srgbClr val="1B2A4A"/>
                </a:solidFill>
                <a:latin typeface="Calibri"/>
              </a:rPr>
              <a:t>phone hours = 2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Inputs are not neurons: they only </a:t>
            </a:r>
            <a:r>
              <a:rPr sz="1600" b="1">
                <a:solidFill>
                  <a:srgbClr val="1B2A4A"/>
                </a:solidFill>
                <a:latin typeface="Calibri"/>
              </a:rPr>
              <a:t>pass the number on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PIECE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Weights: how much each input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One number for </a:t>
            </a:r>
            <a:r>
              <a:rPr sz="2000" b="1">
                <a:solidFill>
                  <a:srgbClr val="1B2A4A"/>
                </a:solidFill>
                <a:latin typeface="Calibri"/>
              </a:rPr>
              <a:t>each input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Big</a:t>
            </a:r>
            <a:r>
              <a:rPr sz="2000" b="0">
                <a:solidFill>
                  <a:srgbClr val="1B2A4A"/>
                </a:solidFill>
                <a:latin typeface="Calibri"/>
              </a:rPr>
              <a:t> weight → this input matters a lot.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Plus</a:t>
            </a:r>
            <a:r>
              <a:rPr sz="2000" b="0">
                <a:solidFill>
                  <a:srgbClr val="1B2A4A"/>
                </a:solidFill>
                <a:latin typeface="Calibri"/>
              </a:rPr>
              <a:t> → pushes towards YES.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Minus</a:t>
            </a:r>
            <a:r>
              <a:rPr sz="2000" b="0">
                <a:solidFill>
                  <a:srgbClr val="1B2A4A"/>
                </a:solidFill>
                <a:latin typeface="Calibri"/>
              </a:rPr>
              <a:t> → pushes towards NO.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Near 0</a:t>
            </a:r>
            <a:r>
              <a:rPr sz="2000" b="0">
                <a:solidFill>
                  <a:srgbClr val="1B2A4A"/>
                </a:solidFill>
                <a:latin typeface="Calibri"/>
              </a:rPr>
              <a:t> → ignore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Not all facts are equally important.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For Ali, an exam matters </a:t>
            </a:r>
            <a:r>
              <a:rPr sz="2000" b="1">
                <a:solidFill>
                  <a:srgbClr val="1B2A4A"/>
                </a:solidFill>
                <a:latin typeface="Calibri"/>
              </a:rPr>
              <a:t>much more</a:t>
            </a:r>
            <a:r>
              <a:rPr sz="2000" b="0">
                <a:solidFill>
                  <a:srgbClr val="1B2A4A"/>
                </a:solidFill>
                <a:latin typeface="Calibri"/>
              </a:rPr>
              <a:t> than friends being free.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The weights ARE the knowledge</a:t>
            </a:r>
            <a:r>
              <a:rPr sz="2000" b="0">
                <a:solidFill>
                  <a:srgbClr val="1B2A4A"/>
                </a:solidFill>
                <a:latin typeface="Calibri"/>
              </a:rPr>
              <a:t> of the network. Learning = finding good weights.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Ali's weights: sunny </a:t>
            </a:r>
            <a:r>
              <a:rPr sz="1900" b="1">
                <a:solidFill>
                  <a:srgbClr val="1B2A4A"/>
                </a:solidFill>
                <a:latin typeface="Calibri"/>
              </a:rPr>
              <a:t>+3</a:t>
            </a:r>
            <a:r>
              <a:rPr sz="1900" b="0">
                <a:solidFill>
                  <a:srgbClr val="1B2A4A"/>
                </a:solidFill>
                <a:latin typeface="Calibri"/>
              </a:rPr>
              <a:t> (loves sun) · friends </a:t>
            </a:r>
            <a:r>
              <a:rPr sz="1900" b="1">
                <a:solidFill>
                  <a:srgbClr val="1B2A4A"/>
                </a:solidFill>
                <a:latin typeface="Calibri"/>
              </a:rPr>
              <a:t>+2</a:t>
            </a:r>
            <a:r>
              <a:rPr sz="1900" b="0">
                <a:solidFill>
                  <a:srgbClr val="1B2A4A"/>
                </a:solidFill>
                <a:latin typeface="Calibri"/>
              </a:rPr>
              <a:t> · exam </a:t>
            </a:r>
            <a:r>
              <a:rPr sz="1900" b="1">
                <a:solidFill>
                  <a:srgbClr val="1B2A4A"/>
                </a:solidFill>
                <a:latin typeface="Calibri"/>
              </a:rPr>
              <a:t>−6</a:t>
            </a:r>
            <a:r>
              <a:rPr sz="1900" b="0">
                <a:solidFill>
                  <a:srgbClr val="1B2A4A"/>
                </a:solidFill>
                <a:latin typeface="Calibri"/>
              </a:rPr>
              <a:t> (a strong NO). In a real network, nobody picks these: </a:t>
            </a:r>
            <a:r>
              <a:rPr sz="1900" b="1">
                <a:solidFill>
                  <a:srgbClr val="1B2A4A"/>
                </a:solidFill>
                <a:latin typeface="Calibri"/>
              </a:rPr>
              <a:t>it learns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WHERE ARE WE?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Weights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444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444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444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444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444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444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444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444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444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study hours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phone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neuron 1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60603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neuron 2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2335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neuron 3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440680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output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2395728"/>
            <a:ext cx="914400" cy="32918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8C28"/>
                </a:solidFill>
                <a:latin typeface="Calibri"/>
              </a:rPr>
              <a:t>w = 0.5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2880360"/>
            <a:ext cx="822960" cy="32918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8C28"/>
                </a:solidFill>
                <a:latin typeface="Calibri"/>
              </a:rPr>
              <a:t>w =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INPUT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HIDDEN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OUTPUT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WEIGHTS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Every </a:t>
            </a:r>
            <a:r>
              <a:rPr sz="1600" b="1">
                <a:solidFill>
                  <a:srgbClr val="1B2A4A"/>
                </a:solidFill>
                <a:latin typeface="Calibri"/>
              </a:rPr>
              <a:t>line</a:t>
            </a:r>
            <a:r>
              <a:rPr sz="1600" b="0">
                <a:solidFill>
                  <a:srgbClr val="1B2A4A"/>
                </a:solidFill>
                <a:latin typeface="Calibri"/>
              </a:rPr>
              <a:t> is </a:t>
            </a:r>
            <a:r>
              <a:rPr sz="1600" b="1">
                <a:solidFill>
                  <a:srgbClr val="1B2A4A"/>
                </a:solidFill>
                <a:latin typeface="Calibri"/>
              </a:rPr>
              <a:t>one separate weight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2 × 3 = </a:t>
            </a:r>
            <a:r>
              <a:rPr sz="1600" b="1">
                <a:solidFill>
                  <a:srgbClr val="1B2A4A"/>
                </a:solidFill>
                <a:latin typeface="Calibri"/>
              </a:rPr>
              <a:t>6 lines</a:t>
            </a:r>
            <a:r>
              <a:rPr sz="1600" b="0">
                <a:solidFill>
                  <a:srgbClr val="1B2A4A"/>
                </a:solidFill>
                <a:latin typeface="Calibri"/>
              </a:rPr>
              <a:t> + 3 × 1 = </a:t>
            </a:r>
            <a:r>
              <a:rPr sz="1600" b="1">
                <a:solidFill>
                  <a:srgbClr val="1B2A4A"/>
                </a:solidFill>
                <a:latin typeface="Calibri"/>
              </a:rPr>
              <a:t>3 lines</a:t>
            </a:r>
            <a:r>
              <a:rPr sz="1600" b="0">
                <a:solidFill>
                  <a:srgbClr val="1B2A4A"/>
                </a:solidFill>
                <a:latin typeface="Calibri"/>
              </a:rPr>
              <a:t> = </a:t>
            </a:r>
            <a:r>
              <a:rPr sz="1600" b="1">
                <a:solidFill>
                  <a:srgbClr val="1B2A4A"/>
                </a:solidFill>
                <a:latin typeface="Calibri"/>
              </a:rPr>
              <a:t>9 weights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Lines that </a:t>
            </a:r>
            <a:r>
              <a:rPr sz="1600" b="1">
                <a:solidFill>
                  <a:srgbClr val="1B2A4A"/>
                </a:solidFill>
                <a:latin typeface="Calibri"/>
              </a:rPr>
              <a:t>cross do not touch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They are only </a:t>
            </a:r>
            <a:r>
              <a:rPr sz="1600" b="1">
                <a:solidFill>
                  <a:srgbClr val="1B2A4A"/>
                </a:solidFill>
                <a:latin typeface="Calibri"/>
              </a:rPr>
              <a:t>added together inside a neuron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PIECE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Bias: the starting amount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One extra number, added </a:t>
            </a:r>
            <a:r>
              <a:rPr sz="2000" b="1">
                <a:solidFill>
                  <a:srgbClr val="1B2A4A"/>
                </a:solidFill>
                <a:latin typeface="Calibri"/>
              </a:rPr>
              <a:t>at the end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belongs to </a:t>
            </a:r>
            <a:r>
              <a:rPr sz="2000" b="1">
                <a:solidFill>
                  <a:srgbClr val="1B2A4A"/>
                </a:solidFill>
                <a:latin typeface="Calibri"/>
              </a:rPr>
              <a:t>no input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is what the neuron says </a:t>
            </a:r>
            <a:r>
              <a:rPr sz="2000" b="1">
                <a:solidFill>
                  <a:srgbClr val="1B2A4A"/>
                </a:solidFill>
                <a:latin typeface="Calibri"/>
              </a:rPr>
              <a:t>before it looks at any input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Real life almost never </a:t>
            </a:r>
            <a:r>
              <a:rPr sz="2000" b="1">
                <a:solidFill>
                  <a:srgbClr val="1B2A4A"/>
                </a:solidFill>
                <a:latin typeface="Calibri"/>
              </a:rPr>
              <a:t>starts at zero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Weights say </a:t>
            </a:r>
            <a:r>
              <a:rPr sz="2000" b="1">
                <a:solidFill>
                  <a:srgbClr val="1B2A4A"/>
                </a:solidFill>
                <a:latin typeface="Calibri"/>
              </a:rPr>
              <a:t>how much each input adds</a:t>
            </a:r>
            <a:r>
              <a:rPr sz="2000" b="0">
                <a:solidFill>
                  <a:srgbClr val="1B2A4A"/>
                </a:solidFill>
                <a:latin typeface="Calibri"/>
              </a:rPr>
              <a:t>. The bias says </a:t>
            </a:r>
            <a:r>
              <a:rPr sz="2000" b="1">
                <a:solidFill>
                  <a:srgbClr val="1B2A4A"/>
                </a:solidFill>
                <a:latin typeface="Calibri"/>
              </a:rPr>
              <a:t>where we start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Without a bias: all inputs 0 → answer is </a:t>
            </a:r>
            <a:r>
              <a:rPr sz="2000" b="1">
                <a:solidFill>
                  <a:srgbClr val="1B2A4A"/>
                </a:solidFill>
                <a:latin typeface="Calibri"/>
              </a:rPr>
              <a:t>always 0</a:t>
            </a:r>
            <a:r>
              <a:rPr sz="2000" b="0">
                <a:solidFill>
                  <a:srgbClr val="1B2A4A"/>
                </a:solidFill>
                <a:latin typeface="Calibri"/>
              </a:rPr>
              <a:t>. Often wrong!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Think of it as the </a:t>
            </a:r>
            <a:r>
              <a:rPr sz="1900" b="1">
                <a:solidFill>
                  <a:srgbClr val="1B2A4A"/>
                </a:solidFill>
                <a:latin typeface="Calibri"/>
              </a:rPr>
              <a:t>starting amount</a:t>
            </a:r>
            <a:r>
              <a:rPr sz="1900" b="0">
                <a:solidFill>
                  <a:srgbClr val="1B2A4A"/>
                </a:solidFill>
                <a:latin typeface="Calibri"/>
              </a:rPr>
              <a:t>: like the </a:t>
            </a:r>
            <a:r>
              <a:rPr sz="1900" b="1">
                <a:solidFill>
                  <a:srgbClr val="1B2A4A"/>
                </a:solidFill>
                <a:latin typeface="Calibri"/>
              </a:rPr>
              <a:t>minimum fare</a:t>
            </a:r>
            <a:r>
              <a:rPr sz="1900" b="0">
                <a:solidFill>
                  <a:srgbClr val="1B2A4A"/>
                </a:solidFill>
                <a:latin typeface="Calibri"/>
              </a:rPr>
              <a:t> in a rickshaw, or the </a:t>
            </a:r>
            <a:r>
              <a:rPr sz="1900" b="1">
                <a:solidFill>
                  <a:srgbClr val="1B2A4A"/>
                </a:solidFill>
                <a:latin typeface="Calibri"/>
              </a:rPr>
              <a:t>line rent</a:t>
            </a:r>
            <a:r>
              <a:rPr sz="1900" b="0">
                <a:solidFill>
                  <a:srgbClr val="1B2A4A"/>
                </a:solidFill>
                <a:latin typeface="Calibri"/>
              </a:rPr>
              <a:t> on your phone bill.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BIAS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Bias example 1: the rickshaw 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B2A4A"/>
                </a:solidFill>
                <a:latin typeface="Calibri"/>
              </a:rPr>
              <a:t>Fare = </a:t>
            </a:r>
            <a:r>
              <a:rPr sz="2400" b="1">
                <a:solidFill>
                  <a:srgbClr val="1B2A4A"/>
                </a:solidFill>
                <a:latin typeface="Calibri"/>
              </a:rPr>
              <a:t>20 rupees per km</a:t>
            </a:r>
            <a:r>
              <a:rPr sz="2400" b="0">
                <a:solidFill>
                  <a:srgbClr val="1B2A4A"/>
                </a:solidFill>
                <a:latin typeface="Calibri"/>
              </a:rPr>
              <a:t> + </a:t>
            </a:r>
            <a:r>
              <a:rPr sz="2400" b="1">
                <a:solidFill>
                  <a:srgbClr val="1B2A4A"/>
                </a:solidFill>
                <a:latin typeface="Calibri"/>
              </a:rPr>
              <a:t>50 rupees to start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6766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645920"/>
                <a:gridCol w="1554480"/>
                <a:gridCol w="1828800"/>
              </a:tblGrid>
              <a:tr h="64008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Distance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km × 20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+ start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= Fare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0 km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+ 50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Rs 50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1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+ 50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Rs 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5 km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+ 50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Rs 150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0" y="2103120"/>
            <a:ext cx="3749039" cy="25603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2402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B2A4A"/>
                </a:solidFill>
                <a:latin typeface="Calibri"/>
              </a:rPr>
              <a:t>Input:</a:t>
            </a:r>
            <a:r>
              <a:rPr sz="2100" b="0">
                <a:solidFill>
                  <a:srgbClr val="1B2A4A"/>
                </a:solidFill>
                <a:latin typeface="Calibri"/>
              </a:rPr>
              <a:t> distance (km)</a:t>
            </a:r>
          </a:p>
          <a:p>
            <a:pPr algn="l">
              <a:spcAft>
                <a:spcPts val="800"/>
              </a:spcAft>
            </a:pPr>
            <a:r>
              <a:rPr sz="2100" b="1">
                <a:solidFill>
                  <a:srgbClr val="1B2A4A"/>
                </a:solidFill>
                <a:latin typeface="Calibri"/>
              </a:rPr>
              <a:t>Weight:</a:t>
            </a:r>
            <a:r>
              <a:rPr sz="2100" b="0">
                <a:solidFill>
                  <a:srgbClr val="1B2A4A"/>
                </a:solidFill>
                <a:latin typeface="Calibri"/>
              </a:rPr>
              <a:t> 20 per km</a:t>
            </a:r>
          </a:p>
          <a:p>
            <a:pPr algn="l">
              <a:spcAft>
                <a:spcPts val="800"/>
              </a:spcAft>
            </a:pPr>
            <a:r>
              <a:rPr sz="2100" b="1">
                <a:solidFill>
                  <a:srgbClr val="1B2A4A"/>
                </a:solidFill>
                <a:latin typeface="Calibri"/>
              </a:rPr>
              <a:t>Bias:</a:t>
            </a:r>
            <a:r>
              <a:rPr sz="2100" b="0">
                <a:solidFill>
                  <a:srgbClr val="1B2A4A"/>
                </a:solidFill>
                <a:latin typeface="Calibri"/>
              </a:rPr>
              <a:t> 50, the starting fare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83480"/>
            <a:ext cx="10881360" cy="13716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Without the bias:</a:t>
            </a:r>
            <a:r>
              <a:rPr sz="2000" b="0">
                <a:solidFill>
                  <a:srgbClr val="1B2A4A"/>
                </a:solidFill>
                <a:latin typeface="Calibri"/>
              </a:rPr>
              <a:t> a 0 km ride costs Rs 0. The driver would never agree!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bias gives the answer a </a:t>
            </a:r>
            <a:r>
              <a:rPr sz="2000" b="1">
                <a:solidFill>
                  <a:srgbClr val="1B2A4A"/>
                </a:solidFill>
                <a:latin typeface="Calibri"/>
              </a:rPr>
              <a:t>starting point</a:t>
            </a:r>
            <a:r>
              <a:rPr sz="2000" b="0">
                <a:solidFill>
                  <a:srgbClr val="1B2A4A"/>
                </a:solidFill>
                <a:latin typeface="Calibri"/>
              </a:rPr>
              <a:t>, before any input is counted.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Putting it together: Ali's neuron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555F6D"/>
                </a:solidFill>
                <a:latin typeface="Calibri"/>
              </a:rPr>
              <a:t>Meet Ali:</a:t>
            </a:r>
            <a:r>
              <a:rPr sz="1900" b="0">
                <a:solidFill>
                  <a:srgbClr val="555F6D"/>
                </a:solidFill>
                <a:latin typeface="Calibri"/>
              </a:rPr>
              <a:t> a school student. Every afternoon he decides: </a:t>
            </a:r>
            <a:r>
              <a:rPr sz="1900" b="1">
                <a:solidFill>
                  <a:srgbClr val="555F6D"/>
                </a:solidFill>
                <a:latin typeface="Calibri"/>
              </a:rPr>
              <a:t>play cricket, or stay home?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6949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463040"/>
                <a:gridCol w="1645920"/>
              </a:tblGrid>
              <a:tr h="50292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× 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= Result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Sunny?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+3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+3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Friends free?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Exam tomorrow?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−6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−6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Bias (a bit lazy)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−2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955279" y="1874519"/>
            <a:ext cx="356616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B2A4A"/>
                </a:solidFill>
                <a:latin typeface="Calibri"/>
              </a:rPr>
              <a:t>Decide:</a:t>
            </a:r>
          </a:p>
          <a:p>
            <a:pPr algn="l">
              <a:spcAft>
                <a:spcPts val="4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total above 0 → GO</a:t>
            </a:r>
          </a:p>
          <a:p>
            <a:pPr algn="l">
              <a:spcAft>
                <a:spcPts val="4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total 0 or less → STAY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−2 → </a:t>
            </a:r>
            <a:r>
              <a:rPr sz="2100" b="1">
                <a:solidFill>
                  <a:srgbClr val="1B2A4A"/>
                </a:solidFill>
                <a:latin typeface="Calibri"/>
              </a:rPr>
              <a:t>STAY HOME.</a:t>
            </a:r>
          </a:p>
          <a:p>
            <a:pPr algn="l">
              <a:spcAft>
                <a:spcPts val="4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The exam won!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57800"/>
            <a:ext cx="10881360" cy="1143000"/>
          </a:xfrm>
          <a:prstGeom prst="rect">
            <a:avLst/>
          </a:prstGeom>
          <a:noFill/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✏️ </a:t>
            </a:r>
            <a:r>
              <a:rPr sz="1900" b="1">
                <a:solidFill>
                  <a:srgbClr val="1B2A4A"/>
                </a:solidFill>
                <a:latin typeface="Calibri"/>
              </a:rPr>
              <a:t>Your turn:</a:t>
            </a:r>
            <a:r>
              <a:rPr sz="1900" b="0">
                <a:solidFill>
                  <a:srgbClr val="1B2A4A"/>
                </a:solidFill>
                <a:latin typeface="Calibri"/>
              </a:rPr>
              <a:t> no exam tomorrow → inputs </a:t>
            </a:r>
            <a:r>
              <a:rPr sz="1900" b="1">
                <a:solidFill>
                  <a:srgbClr val="1B2A4A"/>
                </a:solidFill>
                <a:latin typeface="Calibri"/>
              </a:rPr>
              <a:t>1, 1, 0</a:t>
            </a:r>
            <a:r>
              <a:rPr sz="1900" b="0">
                <a:solidFill>
                  <a:srgbClr val="1B2A4A"/>
                </a:solidFill>
                <a:latin typeface="Calibri"/>
              </a:rPr>
              <a:t>. What is the total? What does Ali do?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Answer: 3 + 2 + 0 − 1 = </a:t>
            </a:r>
            <a:r>
              <a:rPr sz="1900" b="1">
                <a:solidFill>
                  <a:srgbClr val="1B2A4A"/>
                </a:solidFill>
                <a:latin typeface="Calibri"/>
              </a:rPr>
              <a:t>4</a:t>
            </a:r>
            <a:r>
              <a:rPr sz="1900" b="0">
                <a:solidFill>
                  <a:srgbClr val="1B2A4A"/>
                </a:solidFill>
                <a:latin typeface="Calibri"/>
              </a:rPr>
              <a:t> → </a:t>
            </a:r>
            <a:r>
              <a:rPr sz="1900" b="1">
                <a:solidFill>
                  <a:srgbClr val="1B2A4A"/>
                </a:solidFill>
                <a:latin typeface="Calibri"/>
              </a:rPr>
              <a:t>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BIAS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Bias example 2: same facts, different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Same day: </a:t>
            </a:r>
            <a:r>
              <a:rPr sz="2200" b="1">
                <a:solidFill>
                  <a:srgbClr val="1B2A4A"/>
                </a:solidFill>
                <a:latin typeface="Calibri"/>
              </a:rPr>
              <a:t>sunny</a:t>
            </a:r>
            <a:r>
              <a:rPr sz="2200" b="0">
                <a:solidFill>
                  <a:srgbClr val="1B2A4A"/>
                </a:solidFill>
                <a:latin typeface="Calibri"/>
              </a:rPr>
              <a:t>, </a:t>
            </a:r>
            <a:r>
              <a:rPr sz="2200" b="1">
                <a:solidFill>
                  <a:srgbClr val="1B2A4A"/>
                </a:solidFill>
                <a:latin typeface="Calibri"/>
              </a:rPr>
              <a:t>friends free</a:t>
            </a:r>
            <a:r>
              <a:rPr sz="2200" b="0">
                <a:solidFill>
                  <a:srgbClr val="1B2A4A"/>
                </a:solidFill>
                <a:latin typeface="Calibri"/>
              </a:rPr>
              <a:t>, </a:t>
            </a:r>
            <a:r>
              <a:rPr sz="2200" b="1">
                <a:solidFill>
                  <a:srgbClr val="1B2A4A"/>
                </a:solidFill>
                <a:latin typeface="Calibri"/>
              </a:rPr>
              <a:t>exam tomorrow</a:t>
            </a:r>
            <a:r>
              <a:rPr sz="2200" b="0">
                <a:solidFill>
                  <a:srgbClr val="1B2A4A"/>
                </a:solidFill>
                <a:latin typeface="Calibri"/>
              </a:rPr>
              <a:t>. Two different boys.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57400"/>
          <a:ext cx="10881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1463040"/>
                <a:gridCol w="1463040"/>
                <a:gridCol w="2103120"/>
              </a:tblGrid>
              <a:tr h="685800">
                <a:tc>
                  <a:txBody>
                    <a:bodyPr/>
                    <a:lstStyle/>
                    <a:p/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Inputs × weights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Bias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Ali</a:t>
                      </a:r>
                      <a:r>
                        <a:rPr sz="2100" b="0">
                          <a:solidFill>
                            <a:srgbClr val="1B2A4A"/>
                          </a:solidFill>
                        </a:rPr>
                        <a:t> (a bit lazy)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3 + 2 − 6 = −1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−1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−2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STAY HOME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Bilal</a:t>
                      </a:r>
                      <a:r>
                        <a:rPr sz="2100" b="0">
                          <a:solidFill>
                            <a:srgbClr val="1B2A4A"/>
                          </a:solidFill>
                        </a:rPr>
                        <a:t> (loves cricket)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3 + 2 − 6 = 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343400"/>
            <a:ext cx="10881360" cy="20116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Same inputs, same weights. </a:t>
            </a:r>
            <a:r>
              <a:rPr sz="2000" b="1">
                <a:solidFill>
                  <a:srgbClr val="1B2A4A"/>
                </a:solidFill>
                <a:latin typeface="Calibri"/>
              </a:rPr>
              <a:t>Only the bias is different → a different decision.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Big plus bias</a:t>
            </a:r>
            <a:r>
              <a:rPr sz="2000" b="0">
                <a:solidFill>
                  <a:srgbClr val="1B2A4A"/>
                </a:solidFill>
                <a:latin typeface="Calibri"/>
              </a:rPr>
              <a:t> → says YES easily.   </a:t>
            </a:r>
            <a:r>
              <a:rPr sz="2000" b="1">
                <a:solidFill>
                  <a:srgbClr val="1B2A4A"/>
                </a:solidFill>
                <a:latin typeface="Calibri"/>
              </a:rPr>
              <a:t>Big minus bias</a:t>
            </a:r>
            <a:r>
              <a:rPr sz="2000" b="0">
                <a:solidFill>
                  <a:srgbClr val="1B2A4A"/>
                </a:solidFill>
                <a:latin typeface="Calibri"/>
              </a:rPr>
              <a:t> → hard to convince.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network </a:t>
            </a:r>
            <a:r>
              <a:rPr sz="2000" b="1">
                <a:solidFill>
                  <a:srgbClr val="1B2A4A"/>
                </a:solidFill>
                <a:latin typeface="Calibri"/>
              </a:rPr>
              <a:t>learns</a:t>
            </a:r>
            <a:r>
              <a:rPr sz="2000" b="0">
                <a:solidFill>
                  <a:srgbClr val="1B2A4A"/>
                </a:solidFill>
                <a:latin typeface="Calibri"/>
              </a:rPr>
              <a:t> the bias, just like the weights.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WHERE ARE WE?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Bias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study hours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phone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1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60603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2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2335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3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440680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output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INPUT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HIDDEN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OUTPUT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BIAS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Every </a:t>
            </a:r>
            <a:r>
              <a:rPr sz="1600" b="1">
                <a:solidFill>
                  <a:srgbClr val="1B2A4A"/>
                </a:solidFill>
                <a:latin typeface="Calibri"/>
              </a:rPr>
              <a:t>neuron</a:t>
            </a:r>
            <a:r>
              <a:rPr sz="1600" b="0">
                <a:solidFill>
                  <a:srgbClr val="1B2A4A"/>
                </a:solidFill>
                <a:latin typeface="Calibri"/>
              </a:rPr>
              <a:t> has </a:t>
            </a:r>
            <a:r>
              <a:rPr sz="1600" b="1">
                <a:solidFill>
                  <a:srgbClr val="1B2A4A"/>
                </a:solidFill>
                <a:latin typeface="Calibri"/>
              </a:rPr>
              <a:t>one bias</a:t>
            </a:r>
            <a:r>
              <a:rPr sz="1600" b="0">
                <a:solidFill>
                  <a:srgbClr val="1B2A4A"/>
                </a:solidFill>
                <a:latin typeface="Calibri"/>
              </a:rPr>
              <a:t> (+b): its starting amount.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3 hidden + 1 output = </a:t>
            </a:r>
            <a:r>
              <a:rPr sz="1600" b="1">
                <a:solidFill>
                  <a:srgbClr val="1B2A4A"/>
                </a:solidFill>
                <a:latin typeface="Calibri"/>
              </a:rPr>
              <a:t>4 biases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Inputs have </a:t>
            </a:r>
            <a:r>
              <a:rPr sz="1600" b="1">
                <a:solidFill>
                  <a:srgbClr val="1B2A4A"/>
                </a:solidFill>
                <a:latin typeface="Calibri"/>
              </a:rPr>
              <a:t>no</a:t>
            </a:r>
            <a:r>
              <a:rPr sz="1600" b="0">
                <a:solidFill>
                  <a:srgbClr val="1B2A4A"/>
                </a:solidFill>
                <a:latin typeface="Calibri"/>
              </a:rPr>
              <a:t> bias.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F28C28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The decision step at the end of every neuron.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PIECE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Activation: the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</a:t>
            </a:r>
            <a:r>
              <a:rPr sz="2000" b="1">
                <a:solidFill>
                  <a:srgbClr val="1B2A4A"/>
                </a:solidFill>
                <a:latin typeface="Calibri"/>
              </a:rPr>
              <a:t>last step</a:t>
            </a:r>
            <a:r>
              <a:rPr sz="2000" b="0">
                <a:solidFill>
                  <a:srgbClr val="1B2A4A"/>
                </a:solidFill>
                <a:latin typeface="Calibri"/>
              </a:rPr>
              <a:t> of a neuron.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takes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total</a:t>
            </a:r>
            <a:r>
              <a:rPr sz="2000" b="0">
                <a:solidFill>
                  <a:srgbClr val="1B2A4A"/>
                </a:solidFill>
                <a:latin typeface="Calibri"/>
              </a:rPr>
              <a:t> and turns it into the neuron's </a:t>
            </a:r>
            <a:r>
              <a:rPr sz="2000" b="1">
                <a:solidFill>
                  <a:srgbClr val="1B2A4A"/>
                </a:solidFill>
                <a:latin typeface="Calibri"/>
              </a:rPr>
              <a:t>answer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Ali's rule "above 0 → GO, else STAY" is an activation.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total can be </a:t>
            </a:r>
            <a:r>
              <a:rPr sz="2000" b="1">
                <a:solidFill>
                  <a:srgbClr val="1B2A4A"/>
                </a:solidFill>
                <a:latin typeface="Calibri"/>
              </a:rPr>
              <a:t>any</a:t>
            </a:r>
            <a:r>
              <a:rPr sz="2000" b="0">
                <a:solidFill>
                  <a:srgbClr val="1B2A4A"/>
                </a:solidFill>
                <a:latin typeface="Calibri"/>
              </a:rPr>
              <a:t> number: −100, 0.3, 57…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activation turns it into an answer we </a:t>
            </a:r>
            <a:r>
              <a:rPr sz="2000" b="1">
                <a:solidFill>
                  <a:srgbClr val="1B2A4A"/>
                </a:solidFill>
                <a:latin typeface="Calibri"/>
              </a:rPr>
              <a:t>can use</a:t>
            </a:r>
            <a:r>
              <a:rPr sz="2000" b="0">
                <a:solidFill>
                  <a:srgbClr val="1B2A4A"/>
                </a:solidFill>
                <a:latin typeface="Calibri"/>
              </a:rPr>
              <a:t>: a yes / no, a chance, or a clean number.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Like a </a:t>
            </a:r>
            <a:r>
              <a:rPr sz="1900" b="1">
                <a:solidFill>
                  <a:srgbClr val="1B2A4A"/>
                </a:solidFill>
                <a:latin typeface="Calibri"/>
              </a:rPr>
              <a:t>teacher turning marks into a result</a:t>
            </a:r>
            <a:r>
              <a:rPr sz="1900" b="0">
                <a:solidFill>
                  <a:srgbClr val="1B2A4A"/>
                </a:solidFill>
                <a:latin typeface="Calibri"/>
              </a:rPr>
              <a:t>: the marks are the total, "PASS / FAIL" is the activation.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THE MOST USED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ReLU: the "no negatives"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Negative → 0.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Positive → keep it as it is.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ReLU is just a name (Rectified Linear Unit).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Each hidden neuron looks for </a:t>
            </a:r>
            <a:r>
              <a:rPr sz="2000" b="1">
                <a:solidFill>
                  <a:srgbClr val="1B2A4A"/>
                </a:solidFill>
                <a:latin typeface="Calibri"/>
              </a:rPr>
              <a:t>one thing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Not found → negative → ReLU gives </a:t>
            </a:r>
            <a:r>
              <a:rPr sz="2000" b="1">
                <a:solidFill>
                  <a:srgbClr val="1B2A4A"/>
                </a:solidFill>
                <a:latin typeface="Calibri"/>
              </a:rPr>
              <a:t>0</a:t>
            </a:r>
            <a:r>
              <a:rPr sz="2000" b="0">
                <a:solidFill>
                  <a:srgbClr val="1B2A4A"/>
                </a:solidFill>
                <a:latin typeface="Calibri"/>
              </a:rPr>
              <a:t>: "nothing here, switched off".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Found → the number shows </a:t>
            </a:r>
            <a:r>
              <a:rPr sz="2000" b="1">
                <a:solidFill>
                  <a:srgbClr val="1B2A4A"/>
                </a:solidFill>
                <a:latin typeface="Calibri"/>
              </a:rPr>
              <a:t>how strongly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Very simple, so very </a:t>
            </a:r>
            <a:r>
              <a:rPr sz="2000" b="1">
                <a:solidFill>
                  <a:srgbClr val="1B2A4A"/>
                </a:solidFill>
                <a:latin typeface="Calibri"/>
              </a:rPr>
              <a:t>fast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Like a </a:t>
            </a:r>
            <a:r>
              <a:rPr sz="1900" b="1">
                <a:solidFill>
                  <a:srgbClr val="1B2A4A"/>
                </a:solidFill>
                <a:latin typeface="Calibri"/>
              </a:rPr>
              <a:t>test with negative marking</a:t>
            </a:r>
            <a:r>
              <a:rPr sz="1900" b="0">
                <a:solidFill>
                  <a:srgbClr val="1B2A4A"/>
                </a:solidFill>
                <a:latin typeface="Calibri"/>
              </a:rPr>
              <a:t>: if your total is </a:t>
            </a:r>
            <a:r>
              <a:rPr sz="1900" b="1">
                <a:solidFill>
                  <a:srgbClr val="1B2A4A"/>
                </a:solidFill>
                <a:latin typeface="Calibri"/>
              </a:rPr>
              <a:t>−3</a:t>
            </a:r>
            <a:r>
              <a:rPr sz="1900" b="0">
                <a:solidFill>
                  <a:srgbClr val="1B2A4A"/>
                </a:solidFill>
                <a:latin typeface="Calibri"/>
              </a:rPr>
              <a:t>, the teacher writes </a:t>
            </a:r>
            <a:r>
              <a:rPr sz="1900" b="1">
                <a:solidFill>
                  <a:srgbClr val="1B2A4A"/>
                </a:solidFill>
                <a:latin typeface="Calibri"/>
              </a:rPr>
              <a:t>0</a:t>
            </a:r>
            <a:r>
              <a:rPr sz="1900" b="0">
                <a:solidFill>
                  <a:srgbClr val="1B2A4A"/>
                </a:solidFill>
                <a:latin typeface="Calibri"/>
              </a:rPr>
              <a:t> (no minus marks). If it is </a:t>
            </a:r>
            <a:r>
              <a:rPr sz="1900" b="1">
                <a:solidFill>
                  <a:srgbClr val="1B2A4A"/>
                </a:solidFill>
                <a:latin typeface="Calibri"/>
              </a:rPr>
              <a:t>7</a:t>
            </a:r>
            <a:r>
              <a:rPr sz="1900" b="0">
                <a:solidFill>
                  <a:srgbClr val="1B2A4A"/>
                </a:solidFill>
                <a:latin typeface="Calibri"/>
              </a:rPr>
              <a:t>, it stays </a:t>
            </a:r>
            <a:r>
              <a:rPr sz="1900" b="1">
                <a:solidFill>
                  <a:srgbClr val="1B2A4A"/>
                </a:solidFill>
                <a:latin typeface="Calibri"/>
              </a:rPr>
              <a:t>7</a:t>
            </a:r>
            <a:r>
              <a:rPr sz="19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ReLU with real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A hidden neuron that looks for </a:t>
            </a:r>
            <a:r>
              <a:rPr sz="2200" b="1">
                <a:solidFill>
                  <a:srgbClr val="1B2A4A"/>
                </a:solidFill>
                <a:latin typeface="Calibri"/>
              </a:rPr>
              <a:t>"hard-working student"</a:t>
            </a:r>
            <a:r>
              <a:rPr sz="2200" b="0">
                <a:solidFill>
                  <a:srgbClr val="1B2A4A"/>
                </a:solidFill>
                <a:latin typeface="Calibri"/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57400"/>
          <a:ext cx="108813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2011680"/>
                <a:gridCol w="3749039"/>
              </a:tblGrid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Student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Total from the neuron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After ReLU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Sara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very hard-working: strong signal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Ahmed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a little: weak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Usman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−3.0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not found: </a:t>
                      </a:r>
                      <a:r>
                        <a:rPr sz="2100" b="1">
                          <a:solidFill>
                            <a:srgbClr val="1B2A4A"/>
                          </a:solidFill>
                        </a:rPr>
                        <a:t>switched off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A"/>
                </a:solidFill>
                <a:latin typeface="Calibri"/>
              </a:rPr>
              <a:t>In code: max(0, total)</a:t>
            </a:r>
            <a:r>
              <a:rPr sz="2100" b="0">
                <a:solidFill>
                  <a:srgbClr val="1B2A4A"/>
                </a:solidFill>
                <a:latin typeface="Calibri"/>
              </a:rPr>
              <a:t> = compare the total with 0, </a:t>
            </a:r>
            <a:r>
              <a:rPr sz="2100" b="1">
                <a:solidFill>
                  <a:srgbClr val="1B2A4A"/>
                </a:solidFill>
                <a:latin typeface="Calibri"/>
              </a:rPr>
              <a:t>keep the bigger one</a:t>
            </a:r>
            <a:r>
              <a:rPr sz="21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max(0, 4.2) = </a:t>
            </a:r>
            <a:r>
              <a:rPr sz="2100" b="1">
                <a:solidFill>
                  <a:srgbClr val="1B2A4A"/>
                </a:solidFill>
                <a:latin typeface="Calibri"/>
              </a:rPr>
              <a:t>4.2</a:t>
            </a:r>
            <a:r>
              <a:rPr sz="2100" b="0">
                <a:solidFill>
                  <a:srgbClr val="1B2A4A"/>
                </a:solidFill>
                <a:latin typeface="Calibri"/>
              </a:rPr>
              <a:t>   ·   max(0, −3) = </a:t>
            </a:r>
            <a:r>
              <a:rPr sz="2100" b="1">
                <a:solidFill>
                  <a:srgbClr val="1B2A4A"/>
                </a:solidFill>
                <a:latin typeface="Calibri"/>
              </a:rPr>
              <a:t>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WHERE ARE WE?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Activation (ReLU)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study hours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phone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1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606039"/>
            <a:ext cx="731520" cy="329184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2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23359"/>
            <a:ext cx="731520" cy="329184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3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440680"/>
            <a:ext cx="731520" cy="329184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output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INPUT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HIDDEN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OUTPUT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ACTIVATION (RELU)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Inside each </a:t>
            </a:r>
            <a:r>
              <a:rPr sz="1600" b="1">
                <a:solidFill>
                  <a:srgbClr val="1B2A4A"/>
                </a:solidFill>
                <a:latin typeface="Calibri"/>
              </a:rPr>
              <a:t>hidden</a:t>
            </a:r>
            <a:r>
              <a:rPr sz="1600" b="0">
                <a:solidFill>
                  <a:srgbClr val="1B2A4A"/>
                </a:solidFill>
                <a:latin typeface="Calibri"/>
              </a:rPr>
              <a:t> neuron, after multiply + add + bias,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ReLU</a:t>
            </a:r>
            <a:r>
              <a:rPr sz="1600" b="0">
                <a:solidFill>
                  <a:srgbClr val="1B2A4A"/>
                </a:solidFill>
                <a:latin typeface="Calibri"/>
              </a:rPr>
              <a:t> gives the final answer of that neuron: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negative → </a:t>
            </a:r>
            <a:r>
              <a:rPr sz="1600" b="1">
                <a:solidFill>
                  <a:srgbClr val="1B2A4A"/>
                </a:solidFill>
                <a:latin typeface="Calibri"/>
              </a:rPr>
              <a:t>0</a:t>
            </a:r>
            <a:r>
              <a:rPr sz="1600" b="0">
                <a:solidFill>
                  <a:srgbClr val="1B2A4A"/>
                </a:solidFill>
                <a:latin typeface="Calibri"/>
              </a:rPr>
              <a:t>, positive → </a:t>
            </a:r>
            <a:r>
              <a:rPr sz="1600" b="1">
                <a:solidFill>
                  <a:srgbClr val="1B2A4A"/>
                </a:solidFill>
                <a:latin typeface="Calibri"/>
              </a:rPr>
              <a:t>keep it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FOR YES / NO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Sigmoid: turns a total into a chance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Squeezes </a:t>
            </a:r>
            <a:r>
              <a:rPr sz="2000" b="1">
                <a:solidFill>
                  <a:srgbClr val="1B2A4A"/>
                </a:solidFill>
                <a:latin typeface="Calibri"/>
              </a:rPr>
              <a:t>any</a:t>
            </a:r>
            <a:r>
              <a:rPr sz="2000" b="0">
                <a:solidFill>
                  <a:srgbClr val="1B2A4A"/>
                </a:solidFill>
                <a:latin typeface="Calibri"/>
              </a:rPr>
              <a:t> total into a number between </a:t>
            </a:r>
            <a:r>
              <a:rPr sz="2000" b="1">
                <a:solidFill>
                  <a:srgbClr val="1B2A4A"/>
                </a:solidFill>
                <a:latin typeface="Calibri"/>
              </a:rPr>
              <a:t>0 and 1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Big minus → near </a:t>
            </a:r>
            <a:r>
              <a:rPr sz="2000" b="1">
                <a:solidFill>
                  <a:srgbClr val="1B2A4A"/>
                </a:solidFill>
                <a:latin typeface="Calibri"/>
              </a:rPr>
              <a:t>0</a:t>
            </a:r>
            <a:r>
              <a:rPr sz="2000" b="0">
                <a:solidFill>
                  <a:srgbClr val="1B2A4A"/>
                </a:solidFill>
                <a:latin typeface="Calibri"/>
              </a:rPr>
              <a:t>   ·   0 → </a:t>
            </a:r>
            <a:r>
              <a:rPr sz="2000" b="1">
                <a:solidFill>
                  <a:srgbClr val="1B2A4A"/>
                </a:solidFill>
                <a:latin typeface="Calibri"/>
              </a:rPr>
              <a:t>0.5</a:t>
            </a:r>
            <a:r>
              <a:rPr sz="2000" b="0">
                <a:solidFill>
                  <a:srgbClr val="1B2A4A"/>
                </a:solidFill>
                <a:latin typeface="Calibri"/>
              </a:rPr>
              <a:t>   ·   big plus → near </a:t>
            </a:r>
            <a:r>
              <a:rPr sz="20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For </a:t>
            </a:r>
            <a:r>
              <a:rPr sz="2000" b="1">
                <a:solidFill>
                  <a:srgbClr val="1B2A4A"/>
                </a:solidFill>
                <a:latin typeface="Calibri"/>
              </a:rPr>
              <a:t>yes / no</a:t>
            </a:r>
            <a:r>
              <a:rPr sz="2000" b="0">
                <a:solidFill>
                  <a:srgbClr val="1B2A4A"/>
                </a:solidFill>
                <a:latin typeface="Calibri"/>
              </a:rPr>
              <a:t> questions we want a </a:t>
            </a:r>
            <a:r>
              <a:rPr sz="2000" b="1">
                <a:solidFill>
                  <a:srgbClr val="1B2A4A"/>
                </a:solidFill>
                <a:latin typeface="Calibri"/>
              </a:rPr>
              <a:t>chance</a:t>
            </a:r>
            <a:r>
              <a:rPr sz="2000" b="0">
                <a:solidFill>
                  <a:srgbClr val="1B2A4A"/>
                </a:solidFill>
                <a:latin typeface="Calibri"/>
              </a:rPr>
              <a:t>, like "88% sure".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So we use it only for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last neuron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You know it already: </a:t>
            </a:r>
            <a:r>
              <a:rPr sz="2000" b="1">
                <a:solidFill>
                  <a:srgbClr val="1B2A4A"/>
                </a:solidFill>
                <a:latin typeface="Calibri"/>
              </a:rPr>
              <a:t>Logistic Regression = one neuron + sigmoid!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Spam filter:</a:t>
            </a:r>
            <a:r>
              <a:rPr sz="1900" b="0">
                <a:solidFill>
                  <a:srgbClr val="1B2A4A"/>
                </a:solidFill>
                <a:latin typeface="Calibri"/>
              </a:rPr>
              <a:t> total = 2 → sigmoid = </a:t>
            </a:r>
            <a:r>
              <a:rPr sz="1900" b="1">
                <a:solidFill>
                  <a:srgbClr val="1B2A4A"/>
                </a:solidFill>
                <a:latin typeface="Calibri"/>
              </a:rPr>
              <a:t>0.88</a:t>
            </a:r>
            <a:r>
              <a:rPr sz="1900" b="0">
                <a:solidFill>
                  <a:srgbClr val="1B2A4A"/>
                </a:solidFill>
                <a:latin typeface="Calibri"/>
              </a:rPr>
              <a:t> → "88% chance this is spam" → move it to the spam folder.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Which activation, where?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4663440"/>
              </a:tblGrid>
              <a:tr h="73152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Activation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Rule in words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Use it for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ReLU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negative → 0, positive stays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hidden neurons</a:t>
                      </a:r>
                      <a:r>
                        <a:rPr sz="2100" b="0">
                          <a:solidFill>
                            <a:srgbClr val="1B2A4A"/>
                          </a:solidFill>
                        </a:rPr>
                        <a:t> (inside the network)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Sigmoid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any number → 0 … 1 (a chance)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last neuron</a:t>
                      </a:r>
                      <a:r>
                        <a:rPr sz="2100" b="0">
                          <a:solidFill>
                            <a:srgbClr val="1B2A4A"/>
                          </a:solidFill>
                        </a:rPr>
                        <a:t>, for 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keep the total as it is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B2A4A"/>
                          </a:solidFill>
                        </a:rPr>
                        <a:t>last neuron</a:t>
                      </a:r>
                      <a:r>
                        <a:rPr sz="2100" b="0">
                          <a:solidFill>
                            <a:srgbClr val="1B2A4A"/>
                          </a:solidFill>
                        </a:rPr>
                        <a:t>, for a number (price, marks)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Remember: </a:t>
            </a:r>
            <a:r>
              <a:rPr sz="2200" b="1">
                <a:solidFill>
                  <a:srgbClr val="1B2A4A"/>
                </a:solidFill>
                <a:latin typeface="Calibri"/>
              </a:rPr>
              <a:t>ReLU inside</a:t>
            </a:r>
            <a:r>
              <a:rPr sz="2200" b="0">
                <a:solidFill>
                  <a:srgbClr val="1B2A4A"/>
                </a:solidFill>
                <a:latin typeface="Calibri"/>
              </a:rPr>
              <a:t>. Pick the </a:t>
            </a:r>
            <a:r>
              <a:rPr sz="2200" b="1">
                <a:solidFill>
                  <a:srgbClr val="1B2A4A"/>
                </a:solidFill>
                <a:latin typeface="Calibri"/>
              </a:rPr>
              <a:t>last</a:t>
            </a:r>
            <a:r>
              <a:rPr sz="2200" b="0">
                <a:solidFill>
                  <a:srgbClr val="1B2A4A"/>
                </a:solidFill>
                <a:latin typeface="Calibri"/>
              </a:rPr>
              <a:t> one by the kind of answer you want.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F28C28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From One Neuron to a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Many neurons in layers, working as a team.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Layers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0" y="1554480"/>
            <a:ext cx="2514600" cy="4206240"/>
          </a:xfrm>
          <a:prstGeom prst="roundRect">
            <a:avLst/>
          </a:prstGeom>
          <a:noFill/>
          <a:ln w="25400">
            <a:solidFill>
              <a:srgbClr val="F28C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study hours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phone hours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1</a:t>
            </a:r>
          </a:p>
        </p:txBody>
      </p:sp>
      <p:sp>
        <p:nvSpPr>
          <p:cNvPr id="19" name="Oval 18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60603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2</a:t>
            </a:r>
          </a:p>
        </p:txBody>
      </p:sp>
      <p:sp>
        <p:nvSpPr>
          <p:cNvPr id="22" name="Oval 21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402335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3</a:t>
            </a:r>
          </a:p>
        </p:txBody>
      </p:sp>
      <p:sp>
        <p:nvSpPr>
          <p:cNvPr id="25" name="Oval 24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440680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8" name="Oval 27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INPUT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HIDDEN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OUTPUT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LAYERS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Input layer:</a:t>
            </a:r>
            <a:r>
              <a:rPr sz="1600" b="0">
                <a:solidFill>
                  <a:srgbClr val="1B2A4A"/>
                </a:solidFill>
                <a:latin typeface="Calibri"/>
              </a:rPr>
              <a:t> the facts.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Hidden layer:</a:t>
            </a:r>
            <a:r>
              <a:rPr sz="1600" b="0">
                <a:solidFill>
                  <a:srgbClr val="1B2A4A"/>
                </a:solidFill>
                <a:latin typeface="Calibri"/>
              </a:rPr>
              <a:t> the neurons in the middle. Each one finds </a:t>
            </a:r>
            <a:r>
              <a:rPr sz="1600" b="1">
                <a:solidFill>
                  <a:srgbClr val="1B2A4A"/>
                </a:solidFill>
                <a:latin typeface="Calibri"/>
              </a:rPr>
              <a:t>one small pattern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Output layer:</a:t>
            </a:r>
            <a:r>
              <a:rPr sz="1600" b="0">
                <a:solidFill>
                  <a:srgbClr val="1B2A4A"/>
                </a:solidFill>
                <a:latin typeface="Calibri"/>
              </a:rPr>
              <a:t> one neuron gives the </a:t>
            </a:r>
            <a:r>
              <a:rPr sz="1600" b="1">
                <a:solidFill>
                  <a:srgbClr val="1B2A4A"/>
                </a:solidFill>
                <a:latin typeface="Calibri"/>
              </a:rPr>
              <a:t>final answer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Why a hidden layer?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Neurons </a:t>
            </a:r>
            <a:r>
              <a:rPr sz="2000" b="1">
                <a:solidFill>
                  <a:srgbClr val="1B2A4A"/>
                </a:solidFill>
                <a:latin typeface="Calibri"/>
              </a:rPr>
              <a:t>between</a:t>
            </a:r>
            <a:r>
              <a:rPr sz="2000" b="0">
                <a:solidFill>
                  <a:srgbClr val="1B2A4A"/>
                </a:solidFill>
                <a:latin typeface="Calibri"/>
              </a:rPr>
              <a:t> the inputs and the output.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"Hidden" because we don't see what they do: the network decides by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One neuron = one simple decision. Not enough for hard problems.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Each hidden neuron learns </a:t>
            </a:r>
            <a:r>
              <a:rPr sz="2000" b="1">
                <a:solidFill>
                  <a:srgbClr val="1B2A4A"/>
                </a:solidFill>
                <a:latin typeface="Calibri"/>
              </a:rPr>
              <a:t>one small pattern</a:t>
            </a:r>
            <a:r>
              <a:rPr sz="2000" b="0">
                <a:solidFill>
                  <a:srgbClr val="1B2A4A"/>
                </a:solidFill>
                <a:latin typeface="Calibri"/>
              </a:rPr>
              <a:t>, e.g. "studies a lot AND uses the phone little".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output neuron </a:t>
            </a:r>
            <a:r>
              <a:rPr sz="2000" b="1">
                <a:solidFill>
                  <a:srgbClr val="1B2A4A"/>
                </a:solidFill>
                <a:latin typeface="Calibri"/>
              </a:rPr>
              <a:t>combines</a:t>
            </a:r>
            <a:r>
              <a:rPr sz="2000" b="0">
                <a:solidFill>
                  <a:srgbClr val="1B2A4A"/>
                </a:solidFill>
                <a:latin typeface="Calibri"/>
              </a:rPr>
              <a:t>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Like a </a:t>
            </a:r>
            <a:r>
              <a:rPr sz="1900" b="1">
                <a:solidFill>
                  <a:srgbClr val="1B2A4A"/>
                </a:solidFill>
                <a:latin typeface="Calibri"/>
              </a:rPr>
              <a:t>cricket selection committee</a:t>
            </a:r>
            <a:r>
              <a:rPr sz="1900" b="0">
                <a:solidFill>
                  <a:srgbClr val="1B2A4A"/>
                </a:solidFill>
                <a:latin typeface="Calibri"/>
              </a:rPr>
              <a:t>: one checks batting, one bowling, one fitness. The </a:t>
            </a:r>
            <a:r>
              <a:rPr sz="1900" b="1">
                <a:solidFill>
                  <a:srgbClr val="1B2A4A"/>
                </a:solidFill>
                <a:latin typeface="Calibri"/>
              </a:rPr>
              <a:t>chairman</a:t>
            </a:r>
            <a:r>
              <a:rPr sz="1900" b="0">
                <a:solidFill>
                  <a:srgbClr val="1B2A4A"/>
                </a:solidFill>
                <a:latin typeface="Calibri"/>
              </a:rPr>
              <a:t> (output) makes the final decision.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Forward pass: the data flows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A student studies </a:t>
            </a:r>
            <a:r>
              <a:rPr sz="2100" b="1">
                <a:solidFill>
                  <a:srgbClr val="1B2A4A"/>
                </a:solidFill>
                <a:latin typeface="Calibri"/>
              </a:rPr>
              <a:t>3 hours</a:t>
            </a:r>
            <a:r>
              <a:rPr sz="2100" b="0">
                <a:solidFill>
                  <a:srgbClr val="1B2A4A"/>
                </a:solidFill>
                <a:latin typeface="Calibri"/>
              </a:rPr>
              <a:t> and uses the phone </a:t>
            </a:r>
            <a:r>
              <a:rPr sz="2100" b="1">
                <a:solidFill>
                  <a:srgbClr val="1B2A4A"/>
                </a:solidFill>
                <a:latin typeface="Calibri"/>
              </a:rPr>
              <a:t>2 hours</a:t>
            </a:r>
            <a:r>
              <a:rPr sz="2100" b="0">
                <a:solidFill>
                  <a:srgbClr val="1B2A4A"/>
                </a:solidFill>
                <a:latin typeface="Calibri"/>
              </a:rPr>
              <a:t>. The weights are </a:t>
            </a:r>
            <a:r>
              <a:rPr sz="2100" b="1">
                <a:solidFill>
                  <a:srgbClr val="1B2A4A"/>
                </a:solidFill>
                <a:latin typeface="Calibri"/>
              </a:rPr>
              <a:t>random</a:t>
            </a:r>
            <a:r>
              <a:rPr sz="2100" b="0">
                <a:solidFill>
                  <a:srgbClr val="1B2A4A"/>
                </a:solidFill>
                <a:latin typeface="Calibri"/>
              </a:rPr>
              <a:t> for now.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754880"/>
                <a:gridCol w="1463040"/>
                <a:gridCol w="2560320"/>
              </a:tblGrid>
              <a:tr h="54864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Hidden neuron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Multiply + add + bias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After ReLU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3 × 0.5  +  2 × (−0.6)  +  0.1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0.4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0.4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3 × (−1.0)  +  2 × 0.4  + 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−2.0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0</a:t>
                      </a:r>
                      <a:r>
                        <a:rPr sz="1900" b="0">
                          <a:solidFill>
                            <a:srgbClr val="1B2A4A"/>
                          </a:solidFill>
                        </a:rPr>
                        <a:t>  (switched off)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3 × 0.8  +  2 × 0.2  +  (−0.5)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2.3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2.3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434840"/>
            <a:ext cx="10881360" cy="19659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Output neuron:</a:t>
            </a:r>
            <a:r>
              <a:rPr sz="1900" b="0">
                <a:solidFill>
                  <a:srgbClr val="1B2A4A"/>
                </a:solidFill>
                <a:latin typeface="Calibri"/>
              </a:rPr>
              <a:t> 0.4 × 2 + 0 × 1 + 2.3 × 3 + 1 = </a:t>
            </a:r>
            <a:r>
              <a:rPr sz="1900" b="1">
                <a:solidFill>
                  <a:srgbClr val="1B2A4A"/>
                </a:solidFill>
                <a:latin typeface="Calibri"/>
              </a:rPr>
              <a:t>8.7 marks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Real mark: about 55. </a:t>
            </a:r>
            <a:r>
              <a:rPr sz="1900" b="1">
                <a:solidFill>
                  <a:srgbClr val="1B2A4A"/>
                </a:solidFill>
                <a:latin typeface="Calibri"/>
              </a:rPr>
              <a:t>A very bad guess!</a:t>
            </a:r>
            <a:r>
              <a:rPr sz="1900" b="0">
                <a:solidFill>
                  <a:srgbClr val="1B2A4A"/>
                </a:solidFill>
                <a:latin typeface="Calibri"/>
              </a:rPr>
              <a:t> Why? The weights are random. The network has not learned yet.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Learning = finding better weights and biases.</a:t>
            </a:r>
            <a:r>
              <a:rPr sz="1900" b="0">
                <a:solidFill>
                  <a:srgbClr val="1B2A4A"/>
                </a:solidFill>
                <a:latin typeface="Calibri"/>
              </a:rPr>
              <a:t> That is Part 4.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WHERE ARE WE?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Forward pass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study hours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3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phone hours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1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0.4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60603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2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0  (off)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2335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3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2.3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440680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8.7 marks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1600200"/>
            <a:ext cx="7498080" cy="0"/>
          </a:xfrm>
          <a:prstGeom prst="line">
            <a:avLst/>
          </a:prstGeom>
          <a:ln w="50800">
            <a:solidFill>
              <a:srgbClr val="2E6F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918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2E6FD8"/>
                </a:solidFill>
                <a:latin typeface="Calibri"/>
              </a:rPr>
              <a:t>forward pass: guess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INPUT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HIDDEN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OUTPUT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FORWARD 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The numbers flow </a:t>
            </a:r>
            <a:r>
              <a:rPr sz="1600" b="1">
                <a:solidFill>
                  <a:srgbClr val="1B2A4A"/>
                </a:solidFill>
                <a:latin typeface="Calibri"/>
              </a:rPr>
              <a:t>left → right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Inputs </a:t>
            </a:r>
            <a:r>
              <a:rPr sz="1600" b="1">
                <a:solidFill>
                  <a:srgbClr val="1B2A4A"/>
                </a:solidFill>
                <a:latin typeface="Calibri"/>
              </a:rPr>
              <a:t>3, 2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→ hidden </a:t>
            </a:r>
            <a:r>
              <a:rPr sz="1600" b="1">
                <a:solidFill>
                  <a:srgbClr val="1B2A4A"/>
                </a:solidFill>
                <a:latin typeface="Calibri"/>
              </a:rPr>
              <a:t>0.4, 0, 2.3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→ output </a:t>
            </a:r>
            <a:r>
              <a:rPr sz="1600" b="1">
                <a:solidFill>
                  <a:srgbClr val="1B2A4A"/>
                </a:solidFill>
                <a:latin typeface="Calibri"/>
              </a:rPr>
              <a:t>8.7 marks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That is the network's </a:t>
            </a:r>
            <a:r>
              <a:rPr sz="1600" b="1">
                <a:solidFill>
                  <a:srgbClr val="1B2A4A"/>
                </a:solidFill>
                <a:latin typeface="Calibri"/>
              </a:rPr>
              <a:t>guess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Deep learning = many hidden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network with </a:t>
            </a:r>
            <a:r>
              <a:rPr sz="2000" b="1">
                <a:solidFill>
                  <a:srgbClr val="1B2A4A"/>
                </a:solidFill>
                <a:latin typeface="Calibri"/>
              </a:rPr>
              <a:t>many</a:t>
            </a:r>
            <a:r>
              <a:rPr sz="2000" b="0">
                <a:solidFill>
                  <a:srgbClr val="1B2A4A"/>
                </a:solidFill>
                <a:latin typeface="Calibri"/>
              </a:rPr>
              <a:t> hidden layers, one after another.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"Deep" just means </a:t>
            </a:r>
            <a:r>
              <a:rPr sz="2000" b="1">
                <a:solidFill>
                  <a:srgbClr val="1B2A4A"/>
                </a:solidFill>
                <a:latin typeface="Calibri"/>
              </a:rPr>
              <a:t>many layers</a:t>
            </a:r>
            <a:r>
              <a:rPr sz="2000" b="0">
                <a:solidFill>
                  <a:srgbClr val="1B2A4A"/>
                </a:solidFill>
                <a:latin typeface="Calibri"/>
              </a:rPr>
              <a:t>. Nothing magic.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Each layer builds on the one before.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Photo of a face: layer 1 finds </a:t>
            </a:r>
            <a:r>
              <a:rPr sz="2000" b="1">
                <a:solidFill>
                  <a:srgbClr val="1B2A4A"/>
                </a:solidFill>
                <a:latin typeface="Calibri"/>
              </a:rPr>
              <a:t>edges</a:t>
            </a:r>
            <a:r>
              <a:rPr sz="2000" b="0">
                <a:solidFill>
                  <a:srgbClr val="1B2A4A"/>
                </a:solidFill>
                <a:latin typeface="Calibri"/>
              </a:rPr>
              <a:t> → layer 2 </a:t>
            </a:r>
            <a:r>
              <a:rPr sz="2000" b="1">
                <a:solidFill>
                  <a:srgbClr val="1B2A4A"/>
                </a:solidFill>
                <a:latin typeface="Calibri"/>
              </a:rPr>
              <a:t>shapes</a:t>
            </a:r>
            <a:r>
              <a:rPr sz="2000" b="0">
                <a:solidFill>
                  <a:srgbClr val="1B2A4A"/>
                </a:solidFill>
                <a:latin typeface="Calibri"/>
              </a:rPr>
              <a:t> (eye, nose) → layer 3 </a:t>
            </a:r>
            <a:r>
              <a:rPr sz="2000" b="1">
                <a:solidFill>
                  <a:srgbClr val="1B2A4A"/>
                </a:solidFill>
                <a:latin typeface="Calibri"/>
              </a:rPr>
              <a:t>faces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More layers → </a:t>
            </a:r>
            <a:r>
              <a:rPr sz="2000" b="1">
                <a:solidFill>
                  <a:srgbClr val="1B2A4A"/>
                </a:solidFill>
                <a:latin typeface="Calibri"/>
              </a:rPr>
              <a:t>harder</a:t>
            </a:r>
            <a:r>
              <a:rPr sz="2000" b="0">
                <a:solidFill>
                  <a:srgbClr val="1B2A4A"/>
                </a:solidFill>
                <a:latin typeface="Calibri"/>
              </a:rPr>
              <a:t> problems.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ChatGPT has about </a:t>
            </a:r>
            <a:r>
              <a:rPr sz="1900" b="1">
                <a:solidFill>
                  <a:srgbClr val="1B2A4A"/>
                </a:solidFill>
                <a:latin typeface="Calibri"/>
              </a:rPr>
              <a:t>100 layers</a:t>
            </a:r>
            <a:r>
              <a:rPr sz="1900" b="0">
                <a:solidFill>
                  <a:srgbClr val="1B2A4A"/>
                </a:solidFill>
                <a:latin typeface="Calibri"/>
              </a:rPr>
              <a:t> and </a:t>
            </a:r>
            <a:r>
              <a:rPr sz="1900" b="1">
                <a:solidFill>
                  <a:srgbClr val="1B2A4A"/>
                </a:solidFill>
                <a:latin typeface="Calibri"/>
              </a:rPr>
              <a:t>billions</a:t>
            </a:r>
            <a:r>
              <a:rPr sz="1900" b="0">
                <a:solidFill>
                  <a:srgbClr val="1B2A4A"/>
                </a:solidFill>
                <a:latin typeface="Calibri"/>
              </a:rPr>
              <a:t> of weights. But every neuron still does the same 3 small things: </a:t>
            </a:r>
            <a:r>
              <a:rPr sz="1900" b="1">
                <a:solidFill>
                  <a:srgbClr val="1B2A4A"/>
                </a:solidFill>
                <a:latin typeface="Calibri"/>
              </a:rPr>
              <a:t>multiply, add, decide.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F28C28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How a Network Learns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Guess, check how wrong, fix a little. Repeat.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Learning is a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1554480"/>
          </a:xfrm>
          <a:prstGeom prst="round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1. Guess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forward pass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39" y="2606040"/>
            <a:ext cx="411481" cy="0"/>
          </a:xfrm>
          <a:prstGeom prst="line">
            <a:avLst/>
          </a:prstGeom>
          <a:ln w="317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39" y="1828800"/>
            <a:ext cx="2377440" cy="15544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2. Check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how wrong? (loss)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606040"/>
            <a:ext cx="411479" cy="0"/>
          </a:xfrm>
          <a:prstGeom prst="line">
            <a:avLst/>
          </a:prstGeom>
          <a:ln w="317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1828800"/>
            <a:ext cx="2377440" cy="155448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3. Find blame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which weights caused it?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23960" y="2606040"/>
            <a:ext cx="411480" cy="0"/>
          </a:xfrm>
          <a:prstGeom prst="line">
            <a:avLst/>
          </a:prstGeom>
          <a:ln w="317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81159" y="1828800"/>
            <a:ext cx="2377440" cy="15544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4. Fix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change each weight a little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555F6D"/>
                </a:solidFill>
                <a:latin typeface="Calibri"/>
              </a:rPr>
              <a:t>↺  repeat many, many times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89120"/>
            <a:ext cx="10881360" cy="192024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Like learning to bowl in cricket:</a:t>
            </a:r>
            <a:r>
              <a:rPr sz="2000" b="0">
                <a:solidFill>
                  <a:srgbClr val="1B2A4A"/>
                </a:solidFill>
                <a:latin typeface="Calibri"/>
              </a:rPr>
              <a:t> you bowl (guess), see where the ball lands (check),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think "too much wrist" (find blame), and change a little next time (fix).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Nobody learns in one ball. </a:t>
            </a:r>
            <a:r>
              <a:rPr sz="2000" b="1">
                <a:solidFill>
                  <a:srgbClr val="1B2A4A"/>
                </a:solidFill>
                <a:latin typeface="Calibri"/>
              </a:rPr>
              <a:t>Thousands of small fixes.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STEP 2 ·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Loss: one number for "how wrong"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3 students. Two networks guess their marks. Which one is better?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6675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80160"/>
                <a:gridCol w="1097280"/>
                <a:gridCol w="1554480"/>
                <a:gridCol w="1371600"/>
              </a:tblGrid>
              <a:tr h="56692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Real mark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Bad guess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Error²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Good guess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Error²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900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80960" y="1965960"/>
            <a:ext cx="3840480" cy="43891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10312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Loss</a:t>
            </a:r>
            <a:r>
              <a:rPr sz="1900" b="0">
                <a:solidFill>
                  <a:srgbClr val="1B2A4A"/>
                </a:solidFill>
                <a:latin typeface="Calibri"/>
              </a:rPr>
              <a:t> = all the errors as </a:t>
            </a:r>
            <a:r>
              <a:rPr sz="1900" b="1">
                <a:solidFill>
                  <a:srgbClr val="1B2A4A"/>
                </a:solidFill>
                <a:latin typeface="Calibri"/>
              </a:rPr>
              <a:t>one number</a:t>
            </a:r>
            <a:r>
              <a:rPr sz="19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Error = guess − real. </a:t>
            </a:r>
            <a:r>
              <a:rPr sz="1900" b="1">
                <a:solidFill>
                  <a:srgbClr val="1B2A4A"/>
                </a:solidFill>
                <a:latin typeface="Calibri"/>
              </a:rPr>
              <a:t>Square</a:t>
            </a:r>
            <a:r>
              <a:rPr sz="1900" b="0">
                <a:solidFill>
                  <a:srgbClr val="1B2A4A"/>
                </a:solidFill>
                <a:latin typeface="Calibri"/>
              </a:rPr>
              <a:t> it, then take the </a:t>
            </a:r>
            <a:r>
              <a:rPr sz="1900" b="1">
                <a:solidFill>
                  <a:srgbClr val="1B2A4A"/>
                </a:solidFill>
                <a:latin typeface="Calibri"/>
              </a:rPr>
              <a:t>average</a:t>
            </a:r>
            <a:r>
              <a:rPr sz="1900" b="0">
                <a:solidFill>
                  <a:srgbClr val="1B2A4A"/>
                </a:solidFill>
                <a:latin typeface="Calibri"/>
              </a:rPr>
              <a:t> (MSE).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Small loss = good guesses.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Learning = making this number </a:t>
            </a:r>
            <a:r>
              <a:rPr sz="1900" b="1">
                <a:solidFill>
                  <a:srgbClr val="1B2A4A"/>
                </a:solidFill>
                <a:latin typeface="Calibri"/>
              </a:rPr>
              <a:t>smaller</a:t>
            </a:r>
            <a:r>
              <a:rPr sz="19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6766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55F6D"/>
                </a:solidFill>
                <a:latin typeface="Calibri"/>
              </a:rPr>
              <a:t>Why square? So minus errors don't cancel plus errors, and </a:t>
            </a:r>
            <a:r>
              <a:rPr sz="1800" b="1">
                <a:solidFill>
                  <a:srgbClr val="555F6D"/>
                </a:solidFill>
                <a:latin typeface="Calibri"/>
              </a:rPr>
              <a:t>big mistakes count more</a:t>
            </a:r>
            <a:r>
              <a:rPr sz="1800" b="0">
                <a:solidFill>
                  <a:srgbClr val="555F6D"/>
                </a:solidFill>
                <a:latin typeface="Calibri"/>
              </a:rPr>
              <a:t> (30 → 900).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WHERE ARE WE?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Loss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study hours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phone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neuron 1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60603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neuron 2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2335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neuron 3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440680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8.7 marks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4754880"/>
            <a:ext cx="1463040" cy="8686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real mark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55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4315968"/>
            <a:ext cx="1188720" cy="32918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D64545"/>
                </a:solidFill>
                <a:latin typeface="Calibri"/>
              </a:rPr>
              <a:t>loss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680960" y="4224527"/>
            <a:ext cx="0" cy="530353"/>
          </a:xfrm>
          <a:prstGeom prst="line">
            <a:avLst/>
          </a:prstGeom>
          <a:ln w="31750">
            <a:solidFill>
              <a:srgbClr val="D645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INPUT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HIDDEN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OUTPUT LAYER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LOSS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Compare the </a:t>
            </a:r>
            <a:r>
              <a:rPr sz="1600" b="1">
                <a:solidFill>
                  <a:srgbClr val="1B2A4A"/>
                </a:solidFill>
                <a:latin typeface="Calibri"/>
              </a:rPr>
              <a:t>guess (8.7)</a:t>
            </a:r>
            <a:r>
              <a:rPr sz="1600" b="0">
                <a:solidFill>
                  <a:srgbClr val="1B2A4A"/>
                </a:solidFill>
                <a:latin typeface="Calibri"/>
              </a:rPr>
              <a:t> with the </a:t>
            </a:r>
            <a:r>
              <a:rPr sz="1600" b="1">
                <a:solidFill>
                  <a:srgbClr val="1B2A4A"/>
                </a:solidFill>
                <a:latin typeface="Calibri"/>
              </a:rPr>
              <a:t>real mark (55)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They are far apart → </a:t>
            </a:r>
            <a:r>
              <a:rPr sz="1600" b="1">
                <a:solidFill>
                  <a:srgbClr val="1B2A4A"/>
                </a:solidFill>
                <a:latin typeface="Calibri"/>
              </a:rPr>
              <a:t>big loss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The loss tells the network </a:t>
            </a:r>
            <a:r>
              <a:rPr sz="1600" b="1">
                <a:solidFill>
                  <a:srgbClr val="1B2A4A"/>
                </a:solidFill>
                <a:latin typeface="Calibri"/>
              </a:rPr>
              <a:t>how wrong</a:t>
            </a:r>
            <a:r>
              <a:rPr sz="1600" b="0">
                <a:solidFill>
                  <a:srgbClr val="1B2A4A"/>
                </a:solidFill>
                <a:latin typeface="Calibri"/>
              </a:rPr>
              <a:t> it was.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STEP 4 ·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Gradient descent: walk downhill in the fog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You stand on a hill in thick fog. You want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lowest point</a:t>
            </a:r>
            <a:r>
              <a:rPr sz="2000" b="0">
                <a:solidFill>
                  <a:srgbClr val="1B2A4A"/>
                </a:solidFill>
                <a:latin typeface="Calibri"/>
              </a:rPr>
              <a:t> (smallest loss).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Feel the ground: which way goes </a:t>
            </a:r>
            <a:r>
              <a:rPr sz="2000" b="1">
                <a:solidFill>
                  <a:srgbClr val="1B2A4A"/>
                </a:solidFill>
                <a:latin typeface="Calibri"/>
              </a:rPr>
              <a:t>down</a:t>
            </a:r>
            <a:r>
              <a:rPr sz="2000" b="0">
                <a:solidFill>
                  <a:srgbClr val="1B2A4A"/>
                </a:solidFill>
                <a:latin typeface="Calibri"/>
              </a:rPr>
              <a:t>? Take a </a:t>
            </a:r>
            <a:r>
              <a:rPr sz="2000" b="1">
                <a:solidFill>
                  <a:srgbClr val="1B2A4A"/>
                </a:solidFill>
                <a:latin typeface="Calibri"/>
              </a:rPr>
              <a:t>small step</a:t>
            </a:r>
            <a:r>
              <a:rPr sz="2000" b="0">
                <a:solidFill>
                  <a:srgbClr val="1B2A4A"/>
                </a:solidFill>
                <a:latin typeface="Calibri"/>
              </a:rPr>
              <a:t>. Repeat.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network has </a:t>
            </a:r>
            <a:r>
              <a:rPr sz="2000" b="1">
                <a:solidFill>
                  <a:srgbClr val="1B2A4A"/>
                </a:solidFill>
                <a:latin typeface="Calibri"/>
              </a:rPr>
              <a:t>millions</a:t>
            </a:r>
            <a:r>
              <a:rPr sz="2000" b="0">
                <a:solidFill>
                  <a:srgbClr val="1B2A4A"/>
                </a:solidFill>
                <a:latin typeface="Calibri"/>
              </a:rPr>
              <a:t> of weights. We can't try every combination.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</a:t>
            </a:r>
            <a:r>
              <a:rPr sz="2000" b="1">
                <a:solidFill>
                  <a:srgbClr val="1B2A4A"/>
                </a:solidFill>
                <a:latin typeface="Calibri"/>
              </a:rPr>
              <a:t>gradient</a:t>
            </a:r>
            <a:r>
              <a:rPr sz="2000" b="0">
                <a:solidFill>
                  <a:srgbClr val="1B2A4A"/>
                </a:solidFill>
                <a:latin typeface="Calibri"/>
              </a:rPr>
              <a:t> tells us which way is down </a:t>
            </a:r>
            <a:r>
              <a:rPr sz="2000" b="1">
                <a:solidFill>
                  <a:srgbClr val="1B2A4A"/>
                </a:solidFill>
                <a:latin typeface="Calibri"/>
              </a:rPr>
              <a:t>for each weight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Our 100 students:</a:t>
            </a:r>
            <a:r>
              <a:rPr sz="1900" b="0">
                <a:solidFill>
                  <a:srgbClr val="1B2A4A"/>
                </a:solidFill>
                <a:latin typeface="Calibri"/>
              </a:rPr>
              <a:t> start w = 0 → loss </a:t>
            </a:r>
            <a:r>
              <a:rPr sz="1900" b="1">
                <a:solidFill>
                  <a:srgbClr val="1B2A4A"/>
                </a:solidFill>
                <a:latin typeface="Calibri"/>
              </a:rPr>
              <a:t>3,054</a:t>
            </a:r>
            <a:r>
              <a:rPr sz="1900" b="0">
                <a:solidFill>
                  <a:srgbClr val="1B2A4A"/>
                </a:solidFill>
                <a:latin typeface="Calibri"/>
              </a:rPr>
              <a:t>. After </a:t>
            </a:r>
            <a:r>
              <a:rPr sz="1900" b="1">
                <a:solidFill>
                  <a:srgbClr val="1B2A4A"/>
                </a:solidFill>
                <a:latin typeface="Calibri"/>
              </a:rPr>
              <a:t>1</a:t>
            </a:r>
            <a:r>
              <a:rPr sz="1900" b="0">
                <a:solidFill>
                  <a:srgbClr val="1B2A4A"/>
                </a:solidFill>
                <a:latin typeface="Calibri"/>
              </a:rPr>
              <a:t> step → </a:t>
            </a:r>
            <a:r>
              <a:rPr sz="1900" b="1">
                <a:solidFill>
                  <a:srgbClr val="1B2A4A"/>
                </a:solidFill>
                <a:latin typeface="Calibri"/>
              </a:rPr>
              <a:t>135</a:t>
            </a:r>
            <a:r>
              <a:rPr sz="1900" b="0">
                <a:solidFill>
                  <a:srgbClr val="1B2A4A"/>
                </a:solidFill>
                <a:latin typeface="Calibri"/>
              </a:rPr>
              <a:t>. After </a:t>
            </a:r>
            <a:r>
              <a:rPr sz="1900" b="1">
                <a:solidFill>
                  <a:srgbClr val="1B2A4A"/>
                </a:solidFill>
                <a:latin typeface="Calibri"/>
              </a:rPr>
              <a:t>2,000</a:t>
            </a:r>
            <a:r>
              <a:rPr sz="1900" b="0">
                <a:solidFill>
                  <a:srgbClr val="1B2A4A"/>
                </a:solidFill>
                <a:latin typeface="Calibri"/>
              </a:rPr>
              <a:t> steps → w = 9.19, loss </a:t>
            </a:r>
            <a:r>
              <a:rPr sz="1900" b="1">
                <a:solidFill>
                  <a:srgbClr val="1B2A4A"/>
                </a:solidFill>
                <a:latin typeface="Calibri"/>
              </a:rPr>
              <a:t>70</a:t>
            </a:r>
            <a:r>
              <a:rPr sz="1900" b="0">
                <a:solidFill>
                  <a:srgbClr val="1B2A4A"/>
                </a:solidFill>
                <a:latin typeface="Calibri"/>
              </a:rPr>
              <a:t>. 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STEP 3 · FIND BLAME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Backpropagation: sending the blame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error comes out </a:t>
            </a:r>
            <a:r>
              <a:rPr sz="2000" b="1">
                <a:solidFill>
                  <a:srgbClr val="1B2A4A"/>
                </a:solidFill>
                <a:latin typeface="Calibri"/>
              </a:rPr>
              <a:t>at the end</a:t>
            </a:r>
            <a:r>
              <a:rPr sz="2000" b="0">
                <a:solidFill>
                  <a:srgbClr val="1B2A4A"/>
                </a:solidFill>
                <a:latin typeface="Calibri"/>
              </a:rPr>
              <a:t> of the network.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Backprop sends it </a:t>
            </a:r>
            <a:r>
              <a:rPr sz="2000" b="1">
                <a:solidFill>
                  <a:srgbClr val="1B2A4A"/>
                </a:solidFill>
                <a:latin typeface="Calibri"/>
              </a:rPr>
              <a:t>backwards</a:t>
            </a:r>
            <a:r>
              <a:rPr sz="2000" b="0">
                <a:solidFill>
                  <a:srgbClr val="1B2A4A"/>
                </a:solidFill>
                <a:latin typeface="Calibri"/>
              </a:rPr>
              <a:t>, layer by layer.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Each weight learns: </a:t>
            </a:r>
            <a:r>
              <a:rPr sz="2000" b="1">
                <a:solidFill>
                  <a:srgbClr val="1B2A4A"/>
                </a:solidFill>
                <a:latin typeface="Calibri"/>
              </a:rPr>
              <a:t>how much did I cause this error, and which way should I change?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Every weight, in every layer, helped make the error.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Without backprop, we would not know </a:t>
            </a:r>
            <a:r>
              <a:rPr sz="2000" b="1">
                <a:solidFill>
                  <a:srgbClr val="1B2A4A"/>
                </a:solidFill>
                <a:latin typeface="Calibri"/>
              </a:rPr>
              <a:t>which</a:t>
            </a:r>
            <a:r>
              <a:rPr sz="2000" b="0">
                <a:solidFill>
                  <a:srgbClr val="1B2A4A"/>
                </a:solidFill>
                <a:latin typeface="Calibri"/>
              </a:rPr>
              <a:t> weight to fix, or </a:t>
            </a:r>
            <a:r>
              <a:rPr sz="2000" b="1">
                <a:solidFill>
                  <a:srgbClr val="1B2A4A"/>
                </a:solidFill>
                <a:latin typeface="Calibri"/>
              </a:rPr>
              <a:t>how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does this for </a:t>
            </a:r>
            <a:r>
              <a:rPr sz="2000" b="1">
                <a:solidFill>
                  <a:srgbClr val="1B2A4A"/>
                </a:solidFill>
                <a:latin typeface="Calibri"/>
              </a:rPr>
              <a:t>all</a:t>
            </a:r>
            <a:r>
              <a:rPr sz="2000" b="0">
                <a:solidFill>
                  <a:srgbClr val="1B2A4A"/>
                </a:solidFill>
                <a:latin typeface="Calibri"/>
              </a:rPr>
              <a:t> weights at once, very fast.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Like a </a:t>
            </a:r>
            <a:r>
              <a:rPr sz="1900" b="1">
                <a:solidFill>
                  <a:srgbClr val="1B2A4A"/>
                </a:solidFill>
                <a:latin typeface="Calibri"/>
              </a:rPr>
              <a:t>coach after a lost match</a:t>
            </a:r>
            <a:r>
              <a:rPr sz="1900" b="0">
                <a:solidFill>
                  <a:srgbClr val="1B2A4A"/>
                </a:solidFill>
                <a:latin typeface="Calibri"/>
              </a:rPr>
              <a:t>: he goes back through the game and tells each player what to change. You never do it by hand: PyTorch does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WHERE ARE WE?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Backpropagation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study hours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phone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1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60603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2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23359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3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440680"/>
            <a:ext cx="731520" cy="329184"/>
          </a:xfrm>
          <a:prstGeom prst="round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AA3B2"/>
                </a:solidFill>
                <a:latin typeface="Calibri"/>
              </a:rPr>
              <a:t>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+b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914400" y="1600200"/>
            <a:ext cx="7498080" cy="0"/>
          </a:xfrm>
          <a:prstGeom prst="line">
            <a:avLst/>
          </a:prstGeom>
          <a:ln w="50800">
            <a:solidFill>
              <a:srgbClr val="D645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918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D64545"/>
                </a:solidFill>
                <a:latin typeface="Calibri"/>
              </a:rPr>
              <a:t>← backprop: blame goes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INPUT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HIDDEN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OUTPUT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BACKPROPAGATION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The </a:t>
            </a:r>
            <a:r>
              <a:rPr sz="1600" b="1">
                <a:solidFill>
                  <a:srgbClr val="1B2A4A"/>
                </a:solidFill>
                <a:latin typeface="Calibri"/>
              </a:rPr>
              <a:t>blame</a:t>
            </a:r>
            <a:r>
              <a:rPr sz="1600" b="0">
                <a:solidFill>
                  <a:srgbClr val="1B2A4A"/>
                </a:solidFill>
                <a:latin typeface="Calibri"/>
              </a:rPr>
              <a:t> flows back </a:t>
            </a:r>
            <a:r>
              <a:rPr sz="1600" b="1">
                <a:solidFill>
                  <a:srgbClr val="1B2A4A"/>
                </a:solidFill>
                <a:latin typeface="Calibri"/>
              </a:rPr>
              <a:t>right → left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Every </a:t>
            </a:r>
            <a:r>
              <a:rPr sz="1600" b="1">
                <a:solidFill>
                  <a:srgbClr val="1B2A4A"/>
                </a:solidFill>
                <a:latin typeface="Calibri"/>
              </a:rPr>
              <a:t>line (weight)</a:t>
            </a:r>
            <a:r>
              <a:rPr sz="1600" b="0">
                <a:solidFill>
                  <a:srgbClr val="1B2A4A"/>
                </a:solidFill>
                <a:latin typeface="Calibri"/>
              </a:rPr>
              <a:t> and every </a:t>
            </a:r>
            <a:r>
              <a:rPr sz="1600" b="1">
                <a:solidFill>
                  <a:srgbClr val="1B2A4A"/>
                </a:solidFill>
                <a:latin typeface="Calibri"/>
              </a:rPr>
              <a:t>+b (bias)</a:t>
            </a:r>
            <a:r>
              <a:rPr sz="1600" b="0">
                <a:solidFill>
                  <a:srgbClr val="1B2A4A"/>
                </a:solidFill>
                <a:latin typeface="Calibri"/>
              </a:rPr>
              <a:t> learns which way to change.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Then gradient descent </a:t>
            </a:r>
            <a:r>
              <a:rPr sz="1600" b="1">
                <a:solidFill>
                  <a:srgbClr val="1B2A4A"/>
                </a:solidFill>
                <a:latin typeface="Calibri"/>
              </a:rPr>
              <a:t>fixes</a:t>
            </a:r>
            <a:r>
              <a:rPr sz="1600" b="0">
                <a:solidFill>
                  <a:srgbClr val="1B2A4A"/>
                </a:solidFill>
                <a:latin typeface="Calibri"/>
              </a:rPr>
              <a:t> them a little.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F28C28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Training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The settings that decide if training is fast, slow, or broken.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TRAINING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Epoch and batch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Epoch</a:t>
            </a:r>
            <a:r>
              <a:rPr sz="2000" b="0">
                <a:solidFill>
                  <a:srgbClr val="1B2A4A"/>
                </a:solidFill>
                <a:latin typeface="Calibri"/>
              </a:rPr>
              <a:t> = one full round through </a:t>
            </a:r>
            <a:r>
              <a:rPr sz="2000" b="1">
                <a:solidFill>
                  <a:srgbClr val="1B2A4A"/>
                </a:solidFill>
                <a:latin typeface="Calibri"/>
              </a:rPr>
              <a:t>all</a:t>
            </a:r>
            <a:r>
              <a:rPr sz="2000" b="0">
                <a:solidFill>
                  <a:srgbClr val="1B2A4A"/>
                </a:solidFill>
                <a:latin typeface="Calibri"/>
              </a:rPr>
              <a:t> the training data.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Batch size</a:t>
            </a:r>
            <a:r>
              <a:rPr sz="2000" b="0">
                <a:solidFill>
                  <a:srgbClr val="1B2A4A"/>
                </a:solidFill>
                <a:latin typeface="Calibri"/>
              </a:rPr>
              <a:t> = how many examples we look at </a:t>
            </a:r>
            <a:r>
              <a:rPr sz="2000" b="1">
                <a:solidFill>
                  <a:srgbClr val="1B2A4A"/>
                </a:solidFill>
                <a:latin typeface="Calibri"/>
              </a:rPr>
              <a:t>before one fix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One reading of a textbook is </a:t>
            </a:r>
            <a:r>
              <a:rPr sz="2000" b="1">
                <a:solidFill>
                  <a:srgbClr val="1B2A4A"/>
                </a:solidFill>
                <a:latin typeface="Calibri"/>
              </a:rPr>
              <a:t>not enough</a:t>
            </a:r>
            <a:r>
              <a:rPr sz="2000" b="0">
                <a:solidFill>
                  <a:srgbClr val="1B2A4A"/>
                </a:solidFill>
                <a:latin typeface="Calibri"/>
              </a:rPr>
              <a:t> to learn it → many epochs (100, 1,000…).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Millions of photos </a:t>
            </a:r>
            <a:r>
              <a:rPr sz="2000" b="1">
                <a:solidFill>
                  <a:srgbClr val="1B2A4A"/>
                </a:solidFill>
                <a:latin typeface="Calibri"/>
              </a:rPr>
              <a:t>don't fit in memory</a:t>
            </a:r>
            <a:r>
              <a:rPr sz="2000" b="0">
                <a:solidFill>
                  <a:srgbClr val="1B2A4A"/>
                </a:solidFill>
                <a:latin typeface="Calibri"/>
              </a:rPr>
              <a:t> at once → we use batches (e.g. 32). More fixes per epoch → often faster.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Like checking your answers after </a:t>
            </a:r>
            <a:r>
              <a:rPr sz="1900" b="1">
                <a:solidFill>
                  <a:srgbClr val="1B2A4A"/>
                </a:solidFill>
                <a:latin typeface="Calibri"/>
              </a:rPr>
              <a:t>every 32 questions</a:t>
            </a:r>
            <a:r>
              <a:rPr sz="1900" b="0">
                <a:solidFill>
                  <a:srgbClr val="1B2A4A"/>
                </a:solidFill>
                <a:latin typeface="Calibri"/>
              </a:rPr>
              <a:t>, instead of only at the end of the book.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TRAINING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Learning rate: the size of each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How </a:t>
            </a:r>
            <a:r>
              <a:rPr sz="2000" b="1">
                <a:solidFill>
                  <a:srgbClr val="1B2A4A"/>
                </a:solidFill>
                <a:latin typeface="Calibri"/>
              </a:rPr>
              <a:t>big</a:t>
            </a:r>
            <a:r>
              <a:rPr sz="2000" b="0">
                <a:solidFill>
                  <a:srgbClr val="1B2A4A"/>
                </a:solidFill>
                <a:latin typeface="Calibri"/>
              </a:rPr>
              <a:t> each fix is.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Too small</a:t>
            </a:r>
            <a:r>
              <a:rPr sz="2000" b="0">
                <a:solidFill>
                  <a:srgbClr val="1B2A4A"/>
                </a:solidFill>
                <a:latin typeface="Calibri"/>
              </a:rPr>
              <a:t> → baby steps, very slow.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Just right</a:t>
            </a:r>
            <a:r>
              <a:rPr sz="2000" b="0">
                <a:solidFill>
                  <a:srgbClr val="1B2A4A"/>
                </a:solidFill>
                <a:latin typeface="Calibri"/>
              </a:rPr>
              <a:t> → reaches the bottom quickly.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Too big</a:t>
            </a:r>
            <a:r>
              <a:rPr sz="2000" b="0">
                <a:solidFill>
                  <a:srgbClr val="1B2A4A"/>
                </a:solidFill>
                <a:latin typeface="Calibri"/>
              </a:rPr>
              <a:t> → jumps over the bottom, loss </a:t>
            </a:r>
            <a:r>
              <a:rPr sz="2000" b="1">
                <a:solidFill>
                  <a:srgbClr val="1B2A4A"/>
                </a:solidFill>
                <a:latin typeface="Calibri"/>
              </a:rPr>
              <a:t>explodes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is the most important setting.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There is no perfect formula: we </a:t>
            </a:r>
            <a:r>
              <a:rPr sz="2000" b="1">
                <a:solidFill>
                  <a:srgbClr val="1B2A4A"/>
                </a:solidFill>
                <a:latin typeface="Calibri"/>
              </a:rPr>
              <a:t>try a few</a:t>
            </a:r>
            <a:r>
              <a:rPr sz="2000" b="0">
                <a:solidFill>
                  <a:srgbClr val="1B2A4A"/>
                </a:solidFill>
                <a:latin typeface="Calibri"/>
              </a:rPr>
              <a:t>: 0.1, 0.01, 0.001…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Our students, 50 steps:</a:t>
            </a:r>
            <a:r>
              <a:rPr sz="1900" b="0">
                <a:solidFill>
                  <a:srgbClr val="1B2A4A"/>
                </a:solidFill>
                <a:latin typeface="Calibri"/>
              </a:rPr>
              <a:t>  0.001 → loss 553 (slow)  ·  0.05 → loss 92 (good)  ·  0.12 → loss </a:t>
            </a:r>
            <a:r>
              <a:rPr sz="1900" b="1">
                <a:solidFill>
                  <a:srgbClr val="1B2A4A"/>
                </a:solidFill>
                <a:latin typeface="Calibri"/>
              </a:rPr>
              <a:t>millions of millions</a:t>
            </a:r>
            <a:r>
              <a:rPr sz="1900" b="0">
                <a:solidFill>
                  <a:srgbClr val="1B2A4A"/>
                </a:solidFill>
                <a:latin typeface="Calibri"/>
              </a:rPr>
              <a:t> (exploded!)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THE DANGER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Overfitting: memorising, not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network </a:t>
            </a:r>
            <a:r>
              <a:rPr sz="2000" b="1">
                <a:solidFill>
                  <a:srgbClr val="1B2A4A"/>
                </a:solidFill>
                <a:latin typeface="Calibri"/>
              </a:rPr>
              <a:t>memorises</a:t>
            </a:r>
            <a:r>
              <a:rPr sz="2000" b="0">
                <a:solidFill>
                  <a:srgbClr val="1B2A4A"/>
                </a:solidFill>
                <a:latin typeface="Calibri"/>
              </a:rPr>
              <a:t> the training data, even the random mistakes in it.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Perfect on training data. </a:t>
            </a:r>
            <a:r>
              <a:rPr sz="2000" b="1">
                <a:solidFill>
                  <a:srgbClr val="1B2A4A"/>
                </a:solidFill>
                <a:latin typeface="Calibri"/>
              </a:rPr>
              <a:t>Bad on new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Networks have </a:t>
            </a:r>
            <a:r>
              <a:rPr sz="2000" b="1">
                <a:solidFill>
                  <a:srgbClr val="1B2A4A"/>
                </a:solidFill>
                <a:latin typeface="Calibri"/>
              </a:rPr>
              <a:t>many</a:t>
            </a:r>
            <a:r>
              <a:rPr sz="2000" b="0">
                <a:solidFill>
                  <a:srgbClr val="1B2A4A"/>
                </a:solidFill>
                <a:latin typeface="Calibri"/>
              </a:rPr>
              <a:t> weights, so they are very good at memorising.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Fix it:</a:t>
            </a:r>
            <a:r>
              <a:rPr sz="2000" b="0">
                <a:solidFill>
                  <a:srgbClr val="1B2A4A"/>
                </a:solidFill>
                <a:latin typeface="Calibri"/>
              </a:rPr>
              <a:t> more data · a smaller network · </a:t>
            </a:r>
            <a:r>
              <a:rPr sz="2000" b="1">
                <a:solidFill>
                  <a:srgbClr val="1B2A4A"/>
                </a:solidFill>
                <a:latin typeface="Calibri"/>
              </a:rPr>
              <a:t>stop training sooner</a:t>
            </a:r>
            <a:r>
              <a:rPr sz="2000" b="0">
                <a:solidFill>
                  <a:srgbClr val="1B2A4A"/>
                </a:solidFill>
                <a:latin typeface="Calibri"/>
              </a:rPr>
              <a:t> (fewer epochs), before it starts memorising.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Like a student who </a:t>
            </a:r>
            <a:r>
              <a:rPr sz="1900" b="1">
                <a:solidFill>
                  <a:srgbClr val="1B2A4A"/>
                </a:solidFill>
                <a:latin typeface="Calibri"/>
              </a:rPr>
              <a:t>memorises past papers</a:t>
            </a:r>
            <a:r>
              <a:rPr sz="1900" b="0">
                <a:solidFill>
                  <a:srgbClr val="1B2A4A"/>
                </a:solidFill>
                <a:latin typeface="Calibri"/>
              </a:rPr>
              <a:t> word by word, then fails when the exam has a </a:t>
            </a:r>
            <a:r>
              <a:rPr sz="1900" b="1">
                <a:solidFill>
                  <a:srgbClr val="1B2A4A"/>
                </a:solidFill>
                <a:latin typeface="Calibri"/>
              </a:rPr>
              <a:t>new</a:t>
            </a:r>
            <a:r>
              <a:rPr sz="1900" b="0">
                <a:solidFill>
                  <a:srgbClr val="1B2A4A"/>
                </a:solidFill>
                <a:latin typeface="Calibri"/>
              </a:rPr>
              <a:t> question.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TRAINING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Train, validation, test: three parts of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Train (60%)</a:t>
            </a:r>
            <a:r>
              <a:rPr sz="2000" b="0">
                <a:solidFill>
                  <a:srgbClr val="1B2A4A"/>
                </a:solidFill>
                <a:latin typeface="Calibri"/>
              </a:rPr>
              <a:t> = homework: the network learns from it.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Validation (20%)</a:t>
            </a:r>
            <a:r>
              <a:rPr sz="2000" b="0">
                <a:solidFill>
                  <a:srgbClr val="1B2A4A"/>
                </a:solidFill>
                <a:latin typeface="Calibri"/>
              </a:rPr>
              <a:t> = mock exam: we check </a:t>
            </a:r>
            <a:r>
              <a:rPr sz="2000" b="1">
                <a:solidFill>
                  <a:srgbClr val="1B2A4A"/>
                </a:solidFill>
                <a:latin typeface="Calibri"/>
              </a:rPr>
              <a:t>during</a:t>
            </a:r>
            <a:r>
              <a:rPr sz="2000" b="0">
                <a:solidFill>
                  <a:srgbClr val="1B2A4A"/>
                </a:solidFill>
                <a:latin typeface="Calibri"/>
              </a:rPr>
              <a:t> training.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Test (20%)</a:t>
            </a:r>
            <a:r>
              <a:rPr sz="2000" b="0">
                <a:solidFill>
                  <a:srgbClr val="1B2A4A"/>
                </a:solidFill>
                <a:latin typeface="Calibri"/>
              </a:rPr>
              <a:t> = final board exam: </a:t>
            </a:r>
            <a:r>
              <a:rPr sz="2000" b="1">
                <a:solidFill>
                  <a:srgbClr val="1B2A4A"/>
                </a:solidFill>
                <a:latin typeface="Calibri"/>
              </a:rPr>
              <a:t>once</a:t>
            </a:r>
            <a:r>
              <a:rPr sz="2000" b="0">
                <a:solidFill>
                  <a:srgbClr val="1B2A4A"/>
                </a:solidFill>
                <a:latin typeface="Calibri"/>
              </a:rPr>
              <a:t>, at the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We must check on data the network </a:t>
            </a:r>
            <a:r>
              <a:rPr sz="2000" b="1">
                <a:solidFill>
                  <a:srgbClr val="1B2A4A"/>
                </a:solidFill>
                <a:latin typeface="Calibri"/>
              </a:rPr>
              <a:t>has never seen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We use the mock exam to choose settings (epochs, learning rate).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If we used the final exam for that, it would not be a fair test anymore.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Rule: </a:t>
            </a:r>
            <a:r>
              <a:rPr sz="1900" b="1">
                <a:solidFill>
                  <a:srgbClr val="1B2A4A"/>
                </a:solidFill>
                <a:latin typeface="Calibri"/>
              </a:rPr>
              <a:t>never peek at the test data</a:t>
            </a:r>
            <a:r>
              <a:rPr sz="1900" b="0">
                <a:solidFill>
                  <a:srgbClr val="1B2A4A"/>
                </a:solidFill>
                <a:latin typeface="Calibri"/>
              </a:rPr>
              <a:t> until the very end.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TRAINING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Is training going well?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After every epoch, write down </a:t>
            </a:r>
            <a:r>
              <a:rPr sz="2000" b="1">
                <a:solidFill>
                  <a:srgbClr val="1B2A4A"/>
                </a:solidFill>
                <a:latin typeface="Calibri"/>
              </a:rPr>
              <a:t>two numbers</a:t>
            </a:r>
            <a:r>
              <a:rPr sz="2000" b="0">
                <a:solidFill>
                  <a:srgbClr val="1B2A4A"/>
                </a:solidFill>
                <a:latin typeface="Calibri"/>
              </a:rPr>
              <a:t>: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train</a:t>
            </a:r>
            <a:r>
              <a:rPr sz="2000" b="0">
                <a:solidFill>
                  <a:srgbClr val="1B2A4A"/>
                </a:solidFill>
                <a:latin typeface="Calibri"/>
              </a:rPr>
              <a:t> loss (homework) and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validation</a:t>
            </a:r>
            <a:r>
              <a:rPr sz="2000" b="0">
                <a:solidFill>
                  <a:srgbClr val="1B2A4A"/>
                </a:solidFill>
                <a:latin typeface="Calibri"/>
              </a:rPr>
              <a:t> loss (mock exam).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2402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383280"/>
              </a:tblGrid>
              <a:tr h="73152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What you see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What to do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both go down, and stay close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✓ </a:t>
                      </a:r>
                      <a:r>
                        <a:rPr sz="2000" b="1">
                          <a:solidFill>
                            <a:srgbClr val="1B2A4A"/>
                          </a:solidFill>
                        </a:rPr>
                        <a:t>learning well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keep going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train goes down, validation goes </a:t>
                      </a:r>
                      <a:r>
                        <a:rPr sz="2000" b="1">
                          <a:solidFill>
                            <a:srgbClr val="1B2A4A"/>
                          </a:solidFill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✗ </a:t>
                      </a:r>
                      <a:r>
                        <a:rPr sz="2000" b="1">
                          <a:solidFill>
                            <a:srgbClr val="1B2A4A"/>
                          </a:solidFill>
                        </a:rPr>
                        <a:t>overfitting</a:t>
                      </a:r>
                      <a:r>
                        <a:rPr sz="2000" b="0">
                          <a:solidFill>
                            <a:srgbClr val="1B2A4A"/>
                          </a:solidFill>
                        </a:rPr>
                        <a:t> (memorising)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B2A4A"/>
                          </a:solidFill>
                        </a:rPr>
                        <a:t>stop training sooner</a:t>
                      </a:r>
                      <a:r>
                        <a:rPr sz="2000" b="0">
                          <a:solidFill>
                            <a:srgbClr val="1B2A4A"/>
                          </a:solidFill>
                        </a:rPr>
                        <a:t>: use fewer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both jump up and down, or explode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✗ </a:t>
                      </a:r>
                      <a:r>
                        <a:rPr sz="2000" b="1">
                          <a:solidFill>
                            <a:srgbClr val="1B2A4A"/>
                          </a:solidFill>
                        </a:rPr>
                        <a:t>steps too big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a smaller learning rate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55F6D"/>
                </a:solidFill>
                <a:latin typeface="Calibri"/>
              </a:rPr>
              <a:t>In the notebook, you will </a:t>
            </a:r>
            <a:r>
              <a:rPr sz="2000" b="1">
                <a:solidFill>
                  <a:srgbClr val="555F6D"/>
                </a:solidFill>
                <a:latin typeface="Calibri"/>
              </a:rPr>
              <a:t>draw</a:t>
            </a:r>
            <a:r>
              <a:rPr sz="2000" b="0">
                <a:solidFill>
                  <a:srgbClr val="555F6D"/>
                </a:solidFill>
                <a:latin typeface="Calibri"/>
              </a:rPr>
              <a:t> these two numbers and read them yourself.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F28C28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Neural Networks in PyTorch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The same ideas. PyTorch does the hard work for us.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Why PyTorch?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free Python library for neural networks, made by </a:t>
            </a:r>
            <a:r>
              <a:rPr sz="2000" b="1">
                <a:solidFill>
                  <a:srgbClr val="1B2A4A"/>
                </a:solidFill>
                <a:latin typeface="Calibri"/>
              </a:rPr>
              <a:t>Meta</a:t>
            </a:r>
            <a:r>
              <a:rPr sz="2000" b="0">
                <a:solidFill>
                  <a:srgbClr val="1B2A4A"/>
                </a:solidFill>
                <a:latin typeface="Calibri"/>
              </a:rPr>
              <a:t> (Facebook).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Used by OpenAI, Tesla, and most AI researchers.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By hand, we write the gradient formula </a:t>
            </a:r>
            <a:r>
              <a:rPr sz="2000" b="1">
                <a:solidFill>
                  <a:srgbClr val="1B2A4A"/>
                </a:solidFill>
                <a:latin typeface="Calibri"/>
              </a:rPr>
              <a:t>ourselves</a:t>
            </a:r>
            <a:r>
              <a:rPr sz="2000" b="0">
                <a:solidFill>
                  <a:srgbClr val="1B2A4A"/>
                </a:solidFill>
                <a:latin typeface="Calibri"/>
              </a:rPr>
              <a:t>. Fine for 2 weights. Impossible for </a:t>
            </a:r>
            <a:r>
              <a:rPr sz="2000" b="1">
                <a:solidFill>
                  <a:srgbClr val="1B2A4A"/>
                </a:solidFill>
                <a:latin typeface="Calibri"/>
              </a:rPr>
              <a:t>millions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PyTorch gives us ready parts: </a:t>
            </a:r>
            <a:r>
              <a:rPr sz="2000" b="1">
                <a:solidFill>
                  <a:srgbClr val="1B2A4A"/>
                </a:solidFill>
                <a:latin typeface="Calibri"/>
              </a:rPr>
              <a:t>layers, loss, backprop, optimizer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Like building a house: you </a:t>
            </a:r>
            <a:r>
              <a:rPr sz="1900" b="1">
                <a:solidFill>
                  <a:srgbClr val="1B2A4A"/>
                </a:solidFill>
                <a:latin typeface="Calibri"/>
              </a:rPr>
              <a:t>could</a:t>
            </a:r>
            <a:r>
              <a:rPr sz="1900" b="0">
                <a:solidFill>
                  <a:srgbClr val="1B2A4A"/>
                </a:solidFill>
                <a:latin typeface="Calibri"/>
              </a:rPr>
              <a:t> make your own bricks, but it's much faster to </a:t>
            </a:r>
            <a:r>
              <a:rPr sz="1900" b="1">
                <a:solidFill>
                  <a:srgbClr val="1B2A4A"/>
                </a:solidFill>
                <a:latin typeface="Calibri"/>
              </a:rPr>
              <a:t>buy</a:t>
            </a:r>
            <a:r>
              <a:rPr sz="1900" b="0">
                <a:solidFill>
                  <a:srgbClr val="1B2A4A"/>
                </a:solidFill>
                <a:latin typeface="Calibri"/>
              </a:rPr>
              <a:t> them. You still need to know </a:t>
            </a:r>
            <a:r>
              <a:rPr sz="1900" b="1">
                <a:solidFill>
                  <a:srgbClr val="1B2A4A"/>
                </a:solidFill>
                <a:latin typeface="Calibri"/>
              </a:rPr>
              <a:t>where each brick goes</a:t>
            </a:r>
            <a:r>
              <a:rPr sz="19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Every idea today has a PyTorch name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926080"/>
                <a:gridCol w="3931920"/>
              </a:tblGrid>
              <a:tr h="56692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Idea (what you learned)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PyTorch 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numbers we give the network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torch.tensor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holds the data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a layer: weights +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nn.Linear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multiply + add, for many neurons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activation (decision rule)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nn.ReLU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negative → 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layers in a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nn.Sequential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builds the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loss (how wrong)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nn.MSELoss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one number for the error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backpropagation (find blame)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loss.backward()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gradients for every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gradient descent (fix)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B2A4A"/>
                          </a:solidFill>
                        </a:rPr>
                        <a:t>optimizer.step()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</a:rPr>
                        <a:t>changes all weights a little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PYTORCH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Tensor: a box of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PyTorch's version of a NumPy array.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Numbers with a </a:t>
            </a:r>
            <a:r>
              <a:rPr sz="2000" b="1">
                <a:solidFill>
                  <a:srgbClr val="1B2A4A"/>
                </a:solidFill>
                <a:latin typeface="Calibri"/>
              </a:rPr>
              <a:t>shape</a:t>
            </a:r>
            <a:r>
              <a:rPr sz="2000" b="0">
                <a:solidFill>
                  <a:srgbClr val="1B2A4A"/>
                </a:solidFill>
                <a:latin typeface="Calibri"/>
              </a:rPr>
              <a:t>: one number, a list, a table, or a stack of tables (a photo).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</a:t>
            </a:r>
            <a:r>
              <a:rPr sz="2000" b="1">
                <a:solidFill>
                  <a:srgbClr val="1B2A4A"/>
                </a:solidFill>
                <a:latin typeface="Calibri"/>
              </a:rPr>
              <a:t>remembers every calculation</a:t>
            </a:r>
            <a:r>
              <a:rPr sz="2000" b="0">
                <a:solidFill>
                  <a:srgbClr val="1B2A4A"/>
                </a:solidFill>
                <a:latin typeface="Calibri"/>
              </a:rPr>
              <a:t> done with it, so it can find the gradients </a:t>
            </a:r>
            <a:r>
              <a:rPr sz="2000" b="1">
                <a:solidFill>
                  <a:srgbClr val="1B2A4A"/>
                </a:solidFill>
                <a:latin typeface="Calibri"/>
              </a:rPr>
              <a:t>automatically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can run on a </a:t>
            </a:r>
            <a:r>
              <a:rPr sz="2000" b="1">
                <a:solidFill>
                  <a:srgbClr val="1B2A4A"/>
                </a:solidFill>
                <a:latin typeface="Calibri"/>
              </a:rPr>
              <a:t>GPU</a:t>
            </a:r>
            <a:r>
              <a:rPr sz="2000" b="0">
                <a:solidFill>
                  <a:srgbClr val="1B2A4A"/>
                </a:solidFill>
                <a:latin typeface="Calibri"/>
              </a:rPr>
              <a:t> (graphics card): hundreds of times faster for big networks.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310896" cy="310896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555F6D"/>
                </a:solidFill>
                <a:latin typeface="Calibri"/>
              </a:rPr>
              <a:t>one number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892040"/>
            <a:ext cx="310896" cy="310896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05072" y="4892040"/>
            <a:ext cx="310896" cy="310896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4892040"/>
            <a:ext cx="310896" cy="310896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0016" y="4892040"/>
            <a:ext cx="310896" cy="310896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555F6D"/>
                </a:solidFill>
                <a:latin typeface="Calibri"/>
              </a:rPr>
              <a:t>a 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892040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39712" y="4892040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87184" y="4892040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34656" y="4892040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5239512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39712" y="5239512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87184" y="5239512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34656" y="5239512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5586983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39712" y="5586983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87184" y="5586983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34656" y="5586983"/>
            <a:ext cx="310896" cy="3108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555F6D"/>
                </a:solidFill>
                <a:latin typeface="Calibri"/>
              </a:rPr>
              <a:t>a 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4892040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74352" y="4892040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21824" y="4892040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369296" y="4892040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26880" y="5239512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74352" y="5239512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21824" y="5239512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69296" y="5239512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26880" y="5586983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74352" y="5586983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21824" y="5586983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369296" y="5586983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64040" y="4754879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11512" y="4754879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58984" y="4754879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506456" y="4754879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64040" y="5102351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11512" y="5102351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58984" y="5102351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06456" y="5102351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64040" y="5449823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11512" y="5449823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58984" y="5449823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506456" y="5449823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01200" y="4617720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48672" y="4617720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96144" y="4617720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643616" y="4617720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01200" y="4965192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48672" y="4965192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96144" y="4965192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43616" y="4965192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01200" y="5312664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48672" y="5312664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296144" y="5312664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643616" y="5312664"/>
            <a:ext cx="310896" cy="3108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555F6D"/>
                </a:solidFill>
                <a:latin typeface="Calibri"/>
              </a:rPr>
              <a:t>a photo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PYTORCH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Building a model: like Lego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We stack layers </a:t>
            </a:r>
            <a:r>
              <a:rPr sz="2000" b="1">
                <a:solidFill>
                  <a:srgbClr val="1B2A4A"/>
                </a:solidFill>
                <a:latin typeface="Calibri"/>
              </a:rPr>
              <a:t>in a row</a:t>
            </a:r>
            <a:r>
              <a:rPr sz="2000" b="0">
                <a:solidFill>
                  <a:srgbClr val="1B2A4A"/>
                </a:solidFill>
                <a:latin typeface="Calibri"/>
              </a:rPr>
              <a:t>: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Linear(4, 8)</a:t>
            </a:r>
            <a:r>
              <a:rPr sz="2000" b="0">
                <a:solidFill>
                  <a:srgbClr val="1B2A4A"/>
                </a:solidFill>
                <a:latin typeface="Calibri"/>
              </a:rPr>
              <a:t>: 4 inputs → 8 hidden neurons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ReLU</a:t>
            </a:r>
            <a:r>
              <a:rPr sz="2000" b="0">
                <a:solidFill>
                  <a:srgbClr val="1B2A4A"/>
                </a:solidFill>
                <a:latin typeface="Calibri"/>
              </a:rPr>
              <a:t>: negative → 0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Linear(8, 1)</a:t>
            </a:r>
            <a:r>
              <a:rPr sz="2000" b="0">
                <a:solidFill>
                  <a:srgbClr val="1B2A4A"/>
                </a:solidFill>
                <a:latin typeface="Calibri"/>
              </a:rPr>
              <a:t>: 8 → 1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We only choose </a:t>
            </a:r>
            <a:r>
              <a:rPr sz="2000" b="1">
                <a:solidFill>
                  <a:srgbClr val="1B2A4A"/>
                </a:solidFill>
                <a:latin typeface="Calibri"/>
              </a:rPr>
              <a:t>the shape</a:t>
            </a:r>
            <a:r>
              <a:rPr sz="2000" b="0">
                <a:solidFill>
                  <a:srgbClr val="1B2A4A"/>
                </a:solidFill>
                <a:latin typeface="Calibri"/>
              </a:rPr>
              <a:t>: how many layers, how many neurons.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PyTorch creates all the weights and biases, </a:t>
            </a:r>
            <a:r>
              <a:rPr sz="2000" b="1">
                <a:solidFill>
                  <a:srgbClr val="1B2A4A"/>
                </a:solidFill>
                <a:latin typeface="Calibri"/>
              </a:rPr>
              <a:t>random</a:t>
            </a:r>
            <a:r>
              <a:rPr sz="2000" b="0">
                <a:solidFill>
                  <a:srgbClr val="1B2A4A"/>
                </a:solidFill>
                <a:latin typeface="Calibri"/>
              </a:rPr>
              <a:t> at the start.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This one has </a:t>
            </a:r>
            <a:r>
              <a:rPr sz="2000" b="1">
                <a:solidFill>
                  <a:srgbClr val="1B2A4A"/>
                </a:solidFill>
                <a:latin typeface="Calibri"/>
              </a:rPr>
              <a:t>49</a:t>
            </a:r>
            <a:r>
              <a:rPr sz="2000" b="0">
                <a:solidFill>
                  <a:srgbClr val="1B2A4A"/>
                </a:solidFill>
                <a:latin typeface="Calibri"/>
              </a:rPr>
              <a:t> numbers to learn: 4×8 + 8 + 8×1 + 1.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More neurons = more power to learn, but </a:t>
            </a:r>
            <a:r>
              <a:rPr sz="1900" b="1">
                <a:solidFill>
                  <a:srgbClr val="1B2A4A"/>
                </a:solidFill>
                <a:latin typeface="Calibri"/>
              </a:rPr>
              <a:t>more risk of memorising</a:t>
            </a:r>
            <a:r>
              <a:rPr sz="1900" b="0">
                <a:solidFill>
                  <a:srgbClr val="1B2A4A"/>
                </a:solidFill>
                <a:latin typeface="Calibri"/>
              </a:rPr>
              <a:t> (overfitting). Start small.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WHERE ARE WE?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map: In PyTorch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68880" y="2354580"/>
            <a:ext cx="1554480" cy="5486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2903220"/>
            <a:ext cx="1554480" cy="86868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2903220"/>
            <a:ext cx="1554480" cy="22860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68880" y="2354580"/>
            <a:ext cx="1554480" cy="237744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3771900"/>
            <a:ext cx="1554480" cy="9601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4732020"/>
            <a:ext cx="1554480" cy="45720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235458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71900"/>
            <a:ext cx="1097280" cy="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3771900"/>
            <a:ext cx="1097280" cy="1417320"/>
          </a:xfrm>
          <a:prstGeom prst="line">
            <a:avLst/>
          </a:prstGeom>
          <a:ln w="19050">
            <a:solidFill>
              <a:srgbClr val="C2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5146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study hours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1554480" cy="7772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AA3B2"/>
                </a:solidFill>
                <a:latin typeface="Calibri"/>
              </a:rPr>
              <a:t>phone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2024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1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2606039"/>
            <a:ext cx="1051560" cy="329184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nn.ReLU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2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023359"/>
            <a:ext cx="1051560" cy="329184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nn.ReLU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54880"/>
            <a:ext cx="1828800" cy="8686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neuron 3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452628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5440680"/>
            <a:ext cx="1051560" cy="329184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nn.ReLU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337560"/>
            <a:ext cx="146304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08960"/>
            <a:ext cx="548640" cy="54864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9AA3B2"/>
                </a:solidFill>
                <a:latin typeface="Calibri"/>
              </a:rPr>
              <a:t>+b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nn.Linear(2,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148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nn.Linear(3, 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INPUT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HIDDEN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OUTPUT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1737360"/>
            <a:ext cx="260604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1737360"/>
            <a:ext cx="91440" cy="4480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IN PYTORCH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Each set of lines + biases = </a:t>
            </a:r>
            <a:r>
              <a:rPr sz="1600" b="1">
                <a:solidFill>
                  <a:srgbClr val="1B2A4A"/>
                </a:solidFill>
                <a:latin typeface="Calibri"/>
              </a:rPr>
              <a:t>nn.Linear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4A"/>
                </a:solidFill>
                <a:latin typeface="Calibri"/>
              </a:rPr>
              <a:t>Each ReLU = </a:t>
            </a:r>
            <a:r>
              <a:rPr sz="1600" b="1">
                <a:solidFill>
                  <a:srgbClr val="1B2A4A"/>
                </a:solidFill>
                <a:latin typeface="Calibri"/>
              </a:rPr>
              <a:t>nn.ReLU</a:t>
            </a:r>
            <a:r>
              <a:rPr sz="16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nn.Sequential</a:t>
            </a:r>
            <a:r>
              <a:rPr sz="1600" b="0">
                <a:solidFill>
                  <a:srgbClr val="1B2A4A"/>
                </a:solidFill>
                <a:latin typeface="Calibri"/>
              </a:rPr>
              <a:t> puts them in a row, left → right.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PYTORCH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training loop: 5 lines, always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057400" cy="1737360"/>
          </a:xfrm>
          <a:prstGeom prst="round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1. Guess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model(x)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24328" y="2606040"/>
            <a:ext cx="173736" cy="0"/>
          </a:xfrm>
          <a:prstGeom prst="line">
            <a:avLst/>
          </a:prstGeom>
          <a:ln w="317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16352" y="1737360"/>
            <a:ext cx="2057400" cy="173736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2. How wrong?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loss_fn(guess, y)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92040" y="2606040"/>
            <a:ext cx="173736" cy="0"/>
          </a:xfrm>
          <a:prstGeom prst="line">
            <a:avLst/>
          </a:prstGeom>
          <a:ln w="317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84064" y="1737360"/>
            <a:ext cx="2057400" cy="1737360"/>
          </a:xfrm>
          <a:prstGeom prst="round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3. Clear old blame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optimizer.​zero_grad()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59752" y="2606040"/>
            <a:ext cx="173736" cy="0"/>
          </a:xfrm>
          <a:prstGeom prst="line">
            <a:avLst/>
          </a:prstGeom>
          <a:ln w="317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51775" y="1737360"/>
            <a:ext cx="2057400" cy="173736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4. Find blame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loss.​backward()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27463" y="2606040"/>
            <a:ext cx="173737" cy="0"/>
          </a:xfrm>
          <a:prstGeom prst="line">
            <a:avLst/>
          </a:prstGeom>
          <a:ln w="317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19488" y="1737360"/>
            <a:ext cx="2057400" cy="173736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5. Fix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optimizer.​step()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555F6D"/>
                </a:solidFill>
                <a:latin typeface="Calibri"/>
              </a:rPr>
              <a:t>↺  repeat for every epoch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10881360" cy="20116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It is the learning loop from Part 4</a:t>
            </a:r>
            <a:r>
              <a:rPr sz="1900" b="0">
                <a:solidFill>
                  <a:srgbClr val="1B2A4A"/>
                </a:solidFill>
                <a:latin typeface="Calibri"/>
              </a:rPr>
              <a:t>, written in PyTorch.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Why step 3?</a:t>
            </a:r>
            <a:r>
              <a:rPr sz="1900" b="0">
                <a:solidFill>
                  <a:srgbClr val="1B2A4A"/>
                </a:solidFill>
                <a:latin typeface="Calibri"/>
              </a:rPr>
              <a:t> PyTorch </a:t>
            </a:r>
            <a:r>
              <a:rPr sz="1900" b="1">
                <a:solidFill>
                  <a:srgbClr val="1B2A4A"/>
                </a:solidFill>
                <a:latin typeface="Calibri"/>
              </a:rPr>
              <a:t>adds</a:t>
            </a:r>
            <a:r>
              <a:rPr sz="1900" b="0">
                <a:solidFill>
                  <a:srgbClr val="1B2A4A"/>
                </a:solidFill>
                <a:latin typeface="Calibri"/>
              </a:rPr>
              <a:t> new blame on top of the old blame. If we don't clear it, old mistakes mix in.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A tiny network or ChatGPT: </a:t>
            </a:r>
            <a:r>
              <a:rPr sz="1900" b="1">
                <a:solidFill>
                  <a:srgbClr val="1B2A4A"/>
                </a:solidFill>
                <a:latin typeface="Calibri"/>
              </a:rPr>
              <a:t>the same 5 lines.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PYTORCH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Two helpers for real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StandardScaler:</a:t>
            </a:r>
            <a:r>
              <a:rPr sz="2000" b="0">
                <a:solidFill>
                  <a:srgbClr val="1B2A4A"/>
                </a:solidFill>
                <a:latin typeface="Calibri"/>
              </a:rPr>
              <a:t> puts every input on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same size</a:t>
            </a:r>
            <a:r>
              <a:rPr sz="2000" b="0">
                <a:solidFill>
                  <a:srgbClr val="1B2A4A"/>
                </a:solidFill>
                <a:latin typeface="Calibri"/>
              </a:rPr>
              <a:t> (around 0).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Adam:</a:t>
            </a:r>
            <a:r>
              <a:rPr sz="2000" b="0">
                <a:solidFill>
                  <a:srgbClr val="1B2A4A"/>
                </a:solidFill>
                <a:latin typeface="Calibri"/>
              </a:rPr>
              <a:t> a smarter optimizer than plain gradient descent (SGD).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Car data: </a:t>
            </a:r>
            <a:r>
              <a:rPr sz="2000" b="1">
                <a:solidFill>
                  <a:srgbClr val="1B2A4A"/>
                </a:solidFill>
                <a:latin typeface="Calibri"/>
              </a:rPr>
              <a:t>age 0–15</a:t>
            </a:r>
            <a:r>
              <a:rPr sz="2000" b="0">
                <a:solidFill>
                  <a:srgbClr val="1B2A4A"/>
                </a:solidFill>
                <a:latin typeface="Calibri"/>
              </a:rPr>
              <a:t> but </a:t>
            </a:r>
            <a:r>
              <a:rPr sz="2000" b="1">
                <a:solidFill>
                  <a:srgbClr val="1B2A4A"/>
                </a:solidFill>
                <a:latin typeface="Calibri"/>
              </a:rPr>
              <a:t>engine 660–1800 cc</a:t>
            </a:r>
            <a:r>
              <a:rPr sz="2000" b="0">
                <a:solidFill>
                  <a:srgbClr val="1B2A4A"/>
                </a:solidFill>
                <a:latin typeface="Calibri"/>
              </a:rPr>
              <a:t>. Big numbers would push the weights around → slow, broken learning.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Adam </a:t>
            </a:r>
            <a:r>
              <a:rPr sz="2000" b="1">
                <a:solidFill>
                  <a:srgbClr val="1B2A4A"/>
                </a:solidFill>
                <a:latin typeface="Calibri"/>
              </a:rPr>
              <a:t>changes the step size by itself</a:t>
            </a:r>
            <a:r>
              <a:rPr sz="2000" b="0">
                <a:solidFill>
                  <a:srgbClr val="1B2A4A"/>
                </a:solidFill>
                <a:latin typeface="Calibri"/>
              </a:rPr>
              <a:t> for each weight. A good first choice.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2A4A"/>
                </a:solidFill>
                <a:latin typeface="Calibri"/>
              </a:rPr>
              <a:t>Scaling = like converting all prices to the </a:t>
            </a:r>
            <a:r>
              <a:rPr sz="1900" b="1">
                <a:solidFill>
                  <a:srgbClr val="1B2A4A"/>
                </a:solidFill>
                <a:latin typeface="Calibri"/>
              </a:rPr>
              <a:t>same currency</a:t>
            </a:r>
            <a:r>
              <a:rPr sz="1900" b="0">
                <a:solidFill>
                  <a:srgbClr val="1B2A4A"/>
                </a:solidFill>
                <a:latin typeface="Calibri"/>
              </a:rPr>
              <a:t> before comparing them.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A REAL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Is a neural network always better?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In the notebook challenge, we predict </a:t>
            </a:r>
            <a:r>
              <a:rPr sz="2100" b="1">
                <a:solidFill>
                  <a:srgbClr val="1B2A4A"/>
                </a:solidFill>
                <a:latin typeface="Calibri"/>
              </a:rPr>
              <a:t>house prices</a:t>
            </a:r>
            <a:r>
              <a:rPr sz="2100" b="0">
                <a:solidFill>
                  <a:srgbClr val="1B2A4A"/>
                </a:solidFill>
                <a:latin typeface="Calibri"/>
              </a:rPr>
              <a:t> with both models: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651760"/>
              </a:tblGrid>
              <a:tr h="73152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Wrong by (average)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Neural network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12.2 lakh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B2A4A"/>
                          </a:solidFill>
                        </a:rPr>
                        <a:t>11.9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66560" y="2103120"/>
            <a:ext cx="4754880" cy="4023360"/>
          </a:xfrm>
          <a:prstGeom prst="rect">
            <a:avLst/>
          </a:prstGeom>
          <a:noFill/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286000"/>
            <a:ext cx="4297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B2A4A"/>
                </a:solidFill>
                <a:latin typeface="Calibri"/>
              </a:rPr>
              <a:t>No! About the same.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House prices here follow a </a:t>
            </a:r>
            <a:r>
              <a:rPr sz="2100" b="1">
                <a:solidFill>
                  <a:srgbClr val="1B2A4A"/>
                </a:solidFill>
                <a:latin typeface="Calibri"/>
              </a:rPr>
              <a:t>simple</a:t>
            </a:r>
            <a:r>
              <a:rPr sz="2100" b="0">
                <a:solidFill>
                  <a:srgbClr val="1B2A4A"/>
                </a:solidFill>
                <a:latin typeface="Calibri"/>
              </a:rPr>
              <a:t> pattern. A simple model is enough.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Neural networks win on </a:t>
            </a:r>
            <a:r>
              <a:rPr sz="2100" b="1">
                <a:solidFill>
                  <a:srgbClr val="1B2A4A"/>
                </a:solidFill>
                <a:latin typeface="Calibri"/>
              </a:rPr>
              <a:t>photos, sound and text</a:t>
            </a:r>
            <a:r>
              <a:rPr sz="21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1B2A4A"/>
                </a:solidFill>
                <a:latin typeface="Calibri"/>
              </a:rPr>
              <a:t>Always try a simple model first.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F28C28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Types of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Same neurons, different shapes, for different jobs.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The neural network family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59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749039"/>
              </a:tblGrid>
              <a:tr h="713232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Good at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You see it 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B2A4A"/>
                          </a:solidFill>
                        </a:rPr>
                        <a:t>ANN</a:t>
                      </a:r>
                      <a:r>
                        <a:rPr sz="2000" b="0">
                          <a:solidFill>
                            <a:srgbClr val="1B2A4A"/>
                          </a:solidFill>
                        </a:rPr>
                        <a:t> (what we built today)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tables of numbers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house prices, loan approval, exam marks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B2A4A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pictures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face unlock, Google Lens, reading X-rays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B2A4A"/>
                          </a:solidFill>
                        </a:rPr>
                        <a:t>RNN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things in order: words, sounds, days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keyboard next-word, voice typing, weather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B2A4A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long text and 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ChatGPT, Google Translate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B2A4A"/>
                          </a:solidFill>
                        </a:rPr>
                        <a:t>GAN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creating new pictures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B2A4A"/>
                          </a:solidFill>
                        </a:rPr>
                        <a:t>AI faces of people who don't exist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55F6D"/>
                </a:solidFill>
                <a:latin typeface="Calibri"/>
              </a:rPr>
              <a:t>All of them use the same pieces you learned today: </a:t>
            </a:r>
            <a:r>
              <a:rPr sz="1900" b="1">
                <a:solidFill>
                  <a:srgbClr val="555F6D"/>
                </a:solidFill>
                <a:latin typeface="Calibri"/>
              </a:rPr>
              <a:t>weights, bias, activation, loss, backprop</a:t>
            </a:r>
            <a:r>
              <a:rPr sz="1900" b="0">
                <a:solidFill>
                  <a:srgbClr val="555F6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TYPE 1 · THE ONE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ANN: Artificial Neural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network from today: </a:t>
            </a:r>
            <a:r>
              <a:rPr sz="2000" b="1">
                <a:solidFill>
                  <a:srgbClr val="1B2A4A"/>
                </a:solidFill>
                <a:latin typeface="Calibri"/>
              </a:rPr>
              <a:t>layers in a row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Data goes </a:t>
            </a:r>
            <a:r>
              <a:rPr sz="2000" b="1">
                <a:solidFill>
                  <a:srgbClr val="1B2A4A"/>
                </a:solidFill>
                <a:latin typeface="Calibri"/>
              </a:rPr>
              <a:t>one way</a:t>
            </a:r>
            <a:r>
              <a:rPr sz="2000" b="0">
                <a:solidFill>
                  <a:srgbClr val="1B2A4A"/>
                </a:solidFill>
                <a:latin typeface="Calibri"/>
              </a:rPr>
              <a:t>: inputs → hidden → output.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Also called a </a:t>
            </a:r>
            <a:r>
              <a:rPr sz="2000" b="1">
                <a:solidFill>
                  <a:srgbClr val="1B2A4A"/>
                </a:solidFill>
                <a:latin typeface="Calibri"/>
              </a:rPr>
              <a:t>feedforward</a:t>
            </a:r>
            <a:r>
              <a:rPr sz="2000" b="0">
                <a:solidFill>
                  <a:srgbClr val="1B2A4A"/>
                </a:solidFill>
                <a:latin typeface="Calibri"/>
              </a:rPr>
              <a:t> network.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simplest network. A good start for </a:t>
            </a:r>
            <a:r>
              <a:rPr sz="2000" b="1">
                <a:solidFill>
                  <a:srgbClr val="1B2A4A"/>
                </a:solidFill>
                <a:latin typeface="Calibri"/>
              </a:rPr>
              <a:t>tables</a:t>
            </a:r>
            <a:r>
              <a:rPr sz="2000" b="0">
                <a:solidFill>
                  <a:srgbClr val="1B2A4A"/>
                </a:solidFill>
                <a:latin typeface="Calibri"/>
              </a:rPr>
              <a:t> of numbers.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But it sees each input as a </a:t>
            </a:r>
            <a:r>
              <a:rPr sz="2000" b="1">
                <a:solidFill>
                  <a:srgbClr val="1B2A4A"/>
                </a:solidFill>
                <a:latin typeface="Calibri"/>
              </a:rPr>
              <a:t>separate number</a:t>
            </a:r>
            <a:r>
              <a:rPr sz="2000" b="0">
                <a:solidFill>
                  <a:srgbClr val="1B2A4A"/>
                </a:solidFill>
                <a:latin typeface="Calibri"/>
              </a:rPr>
              <a:t>. It does not understand pictures or sentences well.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Example:</a:t>
            </a:r>
            <a:r>
              <a:rPr sz="1900" b="0">
                <a:solidFill>
                  <a:srgbClr val="1B2A4A"/>
                </a:solidFill>
                <a:latin typeface="Calibri"/>
              </a:rPr>
              <a:t> a bank gives salary, age and loan amount → the network says </a:t>
            </a:r>
            <a:r>
              <a:rPr sz="1900" b="1">
                <a:solidFill>
                  <a:srgbClr val="1B2A4A"/>
                </a:solidFill>
                <a:latin typeface="Calibri"/>
              </a:rPr>
              <a:t>"approve"</a:t>
            </a:r>
            <a:r>
              <a:rPr sz="1900" b="0">
                <a:solidFill>
                  <a:srgbClr val="1B2A4A"/>
                </a:solidFill>
                <a:latin typeface="Calibri"/>
              </a:rPr>
              <a:t> or </a:t>
            </a:r>
            <a:r>
              <a:rPr sz="1900" b="1">
                <a:solidFill>
                  <a:srgbClr val="1B2A4A"/>
                </a:solidFill>
                <a:latin typeface="Calibri"/>
              </a:rPr>
              <a:t>"reject"</a:t>
            </a:r>
            <a:r>
              <a:rPr sz="19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TYPE 2 · FOR PICTURES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CNN: Convolutional Neural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looks at a photo </a:t>
            </a:r>
            <a:r>
              <a:rPr sz="2000" b="1">
                <a:solidFill>
                  <a:srgbClr val="1B2A4A"/>
                </a:solidFill>
                <a:latin typeface="Calibri"/>
              </a:rPr>
              <a:t>piece by piece</a:t>
            </a:r>
            <a:r>
              <a:rPr sz="2000" b="0">
                <a:solidFill>
                  <a:srgbClr val="1B2A4A"/>
                </a:solidFill>
                <a:latin typeface="Calibri"/>
              </a:rPr>
              <a:t>, like moving a </a:t>
            </a:r>
            <a:r>
              <a:rPr sz="2000" b="1">
                <a:solidFill>
                  <a:srgbClr val="1B2A4A"/>
                </a:solidFill>
                <a:latin typeface="Calibri"/>
              </a:rPr>
              <a:t>magnifying glass</a:t>
            </a:r>
            <a:r>
              <a:rPr sz="2000" b="0">
                <a:solidFill>
                  <a:srgbClr val="1B2A4A"/>
                </a:solidFill>
                <a:latin typeface="Calibri"/>
              </a:rPr>
              <a:t> across it.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First layers find </a:t>
            </a:r>
            <a:r>
              <a:rPr sz="2000" b="1">
                <a:solidFill>
                  <a:srgbClr val="1B2A4A"/>
                </a:solidFill>
                <a:latin typeface="Calibri"/>
              </a:rPr>
              <a:t>edges</a:t>
            </a:r>
            <a:r>
              <a:rPr sz="2000" b="0">
                <a:solidFill>
                  <a:srgbClr val="1B2A4A"/>
                </a:solidFill>
                <a:latin typeface="Calibri"/>
              </a:rPr>
              <a:t>, then </a:t>
            </a:r>
            <a:r>
              <a:rPr sz="2000" b="1">
                <a:solidFill>
                  <a:srgbClr val="1B2A4A"/>
                </a:solidFill>
                <a:latin typeface="Calibri"/>
              </a:rPr>
              <a:t>shapes</a:t>
            </a:r>
            <a:r>
              <a:rPr sz="2000" b="0">
                <a:solidFill>
                  <a:srgbClr val="1B2A4A"/>
                </a:solidFill>
                <a:latin typeface="Calibri"/>
              </a:rPr>
              <a:t> (eye, nose), then </a:t>
            </a:r>
            <a:r>
              <a:rPr sz="2000" b="1">
                <a:solidFill>
                  <a:srgbClr val="1B2A4A"/>
                </a:solidFill>
                <a:latin typeface="Calibri"/>
              </a:rPr>
              <a:t>whole things</a:t>
            </a:r>
            <a:r>
              <a:rPr sz="2000" b="0">
                <a:solidFill>
                  <a:srgbClr val="1B2A4A"/>
                </a:solidFill>
                <a:latin typeface="Calibri"/>
              </a:rPr>
              <a:t> (a face).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photo has </a:t>
            </a:r>
            <a:r>
              <a:rPr sz="2000" b="1">
                <a:solidFill>
                  <a:srgbClr val="1B2A4A"/>
                </a:solidFill>
                <a:latin typeface="Calibri"/>
              </a:rPr>
              <a:t>millions</a:t>
            </a:r>
            <a:r>
              <a:rPr sz="2000" b="0">
                <a:solidFill>
                  <a:srgbClr val="1B2A4A"/>
                </a:solidFill>
                <a:latin typeface="Calibri"/>
              </a:rPr>
              <a:t> of pixels. Looking at small pieces is much smarter.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 cat is a cat in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corner</a:t>
            </a:r>
            <a:r>
              <a:rPr sz="2000" b="0">
                <a:solidFill>
                  <a:srgbClr val="1B2A4A"/>
                </a:solidFill>
                <a:latin typeface="Calibri"/>
              </a:rPr>
              <a:t> or in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middle</a:t>
            </a:r>
            <a:r>
              <a:rPr sz="2000" b="0">
                <a:solidFill>
                  <a:srgbClr val="1B2A4A"/>
                </a:solidFill>
                <a:latin typeface="Calibri"/>
              </a:rPr>
              <a:t> of the photo. The magnifying glass finds it anywhere.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Examples:</a:t>
            </a:r>
            <a:r>
              <a:rPr sz="1900" b="0">
                <a:solidFill>
                  <a:srgbClr val="1B2A4A"/>
                </a:solidFill>
                <a:latin typeface="Calibri"/>
              </a:rPr>
              <a:t> phone </a:t>
            </a:r>
            <a:r>
              <a:rPr sz="1900" b="1">
                <a:solidFill>
                  <a:srgbClr val="1B2A4A"/>
                </a:solidFill>
                <a:latin typeface="Calibri"/>
              </a:rPr>
              <a:t>face unlock</a:t>
            </a:r>
            <a:r>
              <a:rPr sz="1900" b="0">
                <a:solidFill>
                  <a:srgbClr val="1B2A4A"/>
                </a:solidFill>
                <a:latin typeface="Calibri"/>
              </a:rPr>
              <a:t> · </a:t>
            </a:r>
            <a:r>
              <a:rPr sz="1900" b="1">
                <a:solidFill>
                  <a:srgbClr val="1B2A4A"/>
                </a:solidFill>
                <a:latin typeface="Calibri"/>
              </a:rPr>
              <a:t>Google Lens</a:t>
            </a:r>
            <a:r>
              <a:rPr sz="1900" b="0">
                <a:solidFill>
                  <a:srgbClr val="1B2A4A"/>
                </a:solidFill>
                <a:latin typeface="Calibri"/>
              </a:rPr>
              <a:t> · doctors checking </a:t>
            </a:r>
            <a:r>
              <a:rPr sz="1900" b="1">
                <a:solidFill>
                  <a:srgbClr val="1B2A4A"/>
                </a:solidFill>
                <a:latin typeface="Calibri"/>
              </a:rPr>
              <a:t>X-rays</a:t>
            </a:r>
            <a:r>
              <a:rPr sz="1900" b="0">
                <a:solidFill>
                  <a:srgbClr val="1B2A4A"/>
                </a:solidFill>
                <a:latin typeface="Calibri"/>
              </a:rPr>
              <a:t> · reading </a:t>
            </a:r>
            <a:r>
              <a:rPr sz="1900" b="1">
                <a:solidFill>
                  <a:srgbClr val="1B2A4A"/>
                </a:solidFill>
                <a:latin typeface="Calibri"/>
              </a:rPr>
              <a:t>number plates</a:t>
            </a:r>
            <a:r>
              <a:rPr sz="1900" b="0">
                <a:solidFill>
                  <a:srgbClr val="1B2A4A"/>
                </a:solidFill>
                <a:latin typeface="Calibri"/>
              </a:rPr>
              <a:t> at the motorway toll.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TYPE 3 · FOR THINGS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RNN: Recurrent Neural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reads </a:t>
            </a:r>
            <a:r>
              <a:rPr sz="2000" b="1">
                <a:solidFill>
                  <a:srgbClr val="1B2A4A"/>
                </a:solidFill>
                <a:latin typeface="Calibri"/>
              </a:rPr>
              <a:t>one piece at a time</a:t>
            </a:r>
            <a:r>
              <a:rPr sz="2000" b="0">
                <a:solidFill>
                  <a:srgbClr val="1B2A4A"/>
                </a:solidFill>
                <a:latin typeface="Calibri"/>
              </a:rPr>
              <a:t> (one word, one sound, one day).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has a </a:t>
            </a:r>
            <a:r>
              <a:rPr sz="2000" b="1">
                <a:solidFill>
                  <a:srgbClr val="1B2A4A"/>
                </a:solidFill>
                <a:latin typeface="Calibri"/>
              </a:rPr>
              <a:t>memory</a:t>
            </a:r>
            <a:r>
              <a:rPr sz="2000" b="0">
                <a:solidFill>
                  <a:srgbClr val="1B2A4A"/>
                </a:solidFill>
                <a:latin typeface="Calibri"/>
              </a:rPr>
              <a:t>: it remembers what came before.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Order matters.</a:t>
            </a:r>
            <a:r>
              <a:rPr sz="2000" b="0">
                <a:solidFill>
                  <a:srgbClr val="1B2A4A"/>
                </a:solidFill>
                <a:latin typeface="Calibri"/>
              </a:rPr>
              <a:t> "Ali beat Bilal" and "Bilal beat Ali" have the same words, but a different meaning.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To guess the next word, you must remember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words before it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Examples:</a:t>
            </a:r>
            <a:r>
              <a:rPr sz="1900" b="0">
                <a:solidFill>
                  <a:srgbClr val="1B2A4A"/>
                </a:solidFill>
                <a:latin typeface="Calibri"/>
              </a:rPr>
              <a:t> your phone keyboard suggesting the </a:t>
            </a:r>
            <a:r>
              <a:rPr sz="1900" b="1">
                <a:solidFill>
                  <a:srgbClr val="1B2A4A"/>
                </a:solidFill>
                <a:latin typeface="Calibri"/>
              </a:rPr>
              <a:t>next word</a:t>
            </a:r>
            <a:r>
              <a:rPr sz="1900" b="0">
                <a:solidFill>
                  <a:srgbClr val="1B2A4A"/>
                </a:solidFill>
                <a:latin typeface="Calibri"/>
              </a:rPr>
              <a:t> · </a:t>
            </a:r>
            <a:r>
              <a:rPr sz="1900" b="1">
                <a:solidFill>
                  <a:srgbClr val="1B2A4A"/>
                </a:solidFill>
                <a:latin typeface="Calibri"/>
              </a:rPr>
              <a:t>voice typing</a:t>
            </a:r>
            <a:r>
              <a:rPr sz="1900" b="0">
                <a:solidFill>
                  <a:srgbClr val="1B2A4A"/>
                </a:solidFill>
                <a:latin typeface="Calibri"/>
              </a:rPr>
              <a:t> · predicting tomorrow's </a:t>
            </a:r>
            <a:r>
              <a:rPr sz="1900" b="1">
                <a:solidFill>
                  <a:srgbClr val="1B2A4A"/>
                </a:solidFill>
                <a:latin typeface="Calibri"/>
              </a:rPr>
              <a:t>weather</a:t>
            </a:r>
            <a:r>
              <a:rPr sz="1900" b="0">
                <a:solidFill>
                  <a:srgbClr val="1B2A4A"/>
                </a:solidFill>
                <a:latin typeface="Calibri"/>
              </a:rPr>
              <a:t> from past days.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TYPE 4 · FOR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Transformer: the brain of ChatGPT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reads the </a:t>
            </a:r>
            <a:r>
              <a:rPr sz="2000" b="1">
                <a:solidFill>
                  <a:srgbClr val="1B2A4A"/>
                </a:solidFill>
                <a:latin typeface="Calibri"/>
              </a:rPr>
              <a:t>whole sentence at once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For each word, it decides </a:t>
            </a:r>
            <a:r>
              <a:rPr sz="2000" b="1">
                <a:solidFill>
                  <a:srgbClr val="1B2A4A"/>
                </a:solidFill>
                <a:latin typeface="Calibri"/>
              </a:rPr>
              <a:t>which other words matter</a:t>
            </a:r>
            <a:r>
              <a:rPr sz="2000" b="0">
                <a:solidFill>
                  <a:srgbClr val="1B2A4A"/>
                </a:solidFill>
                <a:latin typeface="Calibri"/>
              </a:rPr>
              <a:t> most. This is called </a:t>
            </a:r>
            <a:r>
              <a:rPr sz="2000" b="1">
                <a:solidFill>
                  <a:srgbClr val="1B2A4A"/>
                </a:solidFill>
                <a:latin typeface="Calibri"/>
              </a:rPr>
              <a:t>attention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An RNN </a:t>
            </a:r>
            <a:r>
              <a:rPr sz="2000" b="1">
                <a:solidFill>
                  <a:srgbClr val="1B2A4A"/>
                </a:solidFill>
                <a:latin typeface="Calibri"/>
              </a:rPr>
              <a:t>forgets</a:t>
            </a:r>
            <a:r>
              <a:rPr sz="2000" b="0">
                <a:solidFill>
                  <a:srgbClr val="1B2A4A"/>
                </a:solidFill>
                <a:latin typeface="Calibri"/>
              </a:rPr>
              <a:t> the start of a long text. A transformer does not.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It can learn from </a:t>
            </a:r>
            <a:r>
              <a:rPr sz="2000" b="1">
                <a:solidFill>
                  <a:srgbClr val="1B2A4A"/>
                </a:solidFill>
                <a:latin typeface="Calibri"/>
              </a:rPr>
              <a:t>huge</a:t>
            </a:r>
            <a:r>
              <a:rPr sz="2000" b="0">
                <a:solidFill>
                  <a:srgbClr val="1B2A4A"/>
                </a:solidFill>
                <a:latin typeface="Calibri"/>
              </a:rPr>
              <a:t> amounts of text, very fast.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Examples:</a:t>
            </a:r>
            <a:r>
              <a:rPr sz="1900" b="0">
                <a:solidFill>
                  <a:srgbClr val="1B2A4A"/>
                </a:solidFill>
                <a:latin typeface="Calibri"/>
              </a:rPr>
              <a:t> </a:t>
            </a:r>
            <a:r>
              <a:rPr sz="1900" b="1">
                <a:solidFill>
                  <a:srgbClr val="1B2A4A"/>
                </a:solidFill>
                <a:latin typeface="Calibri"/>
              </a:rPr>
              <a:t>ChatGPT</a:t>
            </a:r>
            <a:r>
              <a:rPr sz="1900" b="0">
                <a:solidFill>
                  <a:srgbClr val="1B2A4A"/>
                </a:solidFill>
                <a:latin typeface="Calibri"/>
              </a:rPr>
              <a:t> (the T in GPT = Transformer) · </a:t>
            </a:r>
            <a:r>
              <a:rPr sz="1900" b="1">
                <a:solidFill>
                  <a:srgbClr val="1B2A4A"/>
                </a:solidFill>
                <a:latin typeface="Calibri"/>
              </a:rPr>
              <a:t>Google Translate</a:t>
            </a:r>
            <a:r>
              <a:rPr sz="1900" b="0">
                <a:solidFill>
                  <a:srgbClr val="1B2A4A"/>
                </a:solidFill>
                <a:latin typeface="Calibri"/>
              </a:rPr>
              <a:t> · Claude · Gemini.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TYPE 5 · FOR CREATING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GAN: Generative Adversarial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4924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D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Two networks compete: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</a:t>
            </a:r>
            <a:r>
              <a:rPr sz="2000" b="1">
                <a:solidFill>
                  <a:srgbClr val="1B2A4A"/>
                </a:solidFill>
                <a:latin typeface="Calibri"/>
              </a:rPr>
              <a:t>forger</a:t>
            </a:r>
            <a:r>
              <a:rPr sz="2000" b="0">
                <a:solidFill>
                  <a:srgbClr val="1B2A4A"/>
                </a:solidFill>
                <a:latin typeface="Calibri"/>
              </a:rPr>
              <a:t> makes fake pictures,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the </a:t>
            </a:r>
            <a:r>
              <a:rPr sz="2000" b="1">
                <a:solidFill>
                  <a:srgbClr val="1B2A4A"/>
                </a:solidFill>
                <a:latin typeface="Calibri"/>
              </a:rPr>
              <a:t>detective</a:t>
            </a:r>
            <a:r>
              <a:rPr sz="2000" b="0">
                <a:solidFill>
                  <a:srgbClr val="1B2A4A"/>
                </a:solidFill>
                <a:latin typeface="Calibri"/>
              </a:rPr>
              <a:t> tries to catch the fakes.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349240" cy="30175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8"/>
                </a:solidFill>
                <a:latin typeface="Calibri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Each time the detective catches a fake, the forger </a:t>
            </a:r>
            <a:r>
              <a:rPr sz="2000" b="1">
                <a:solidFill>
                  <a:srgbClr val="1B2A4A"/>
                </a:solidFill>
                <a:latin typeface="Calibri"/>
              </a:rPr>
              <a:t>gets better</a:t>
            </a:r>
            <a:r>
              <a:rPr sz="20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B2A4A"/>
                </a:solidFill>
                <a:latin typeface="Calibri"/>
              </a:rPr>
              <a:t>In the end, the fakes look </a:t>
            </a:r>
            <a:r>
              <a:rPr sz="2000" b="1">
                <a:solidFill>
                  <a:srgbClr val="1B2A4A"/>
                </a:solidFill>
                <a:latin typeface="Calibri"/>
              </a:rPr>
              <a:t>real</a:t>
            </a:r>
            <a:r>
              <a:rPr sz="2000" b="0">
                <a:solidFill>
                  <a:srgbClr val="1B2A4A"/>
                </a:solidFill>
                <a:latin typeface="Calibri"/>
              </a:rPr>
              <a:t>. So a GAN can </a:t>
            </a:r>
            <a:r>
              <a:rPr sz="2000" b="1">
                <a:solidFill>
                  <a:srgbClr val="1B2A4A"/>
                </a:solidFill>
                <a:latin typeface="Calibri"/>
              </a:rPr>
              <a:t>create</a:t>
            </a:r>
            <a:r>
              <a:rPr sz="2000" b="0">
                <a:solidFill>
                  <a:srgbClr val="1B2A4A"/>
                </a:solidFill>
                <a:latin typeface="Calibri"/>
              </a:rPr>
              <a:t> new things, not only predict.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Examples:</a:t>
            </a:r>
            <a:r>
              <a:rPr sz="1900" b="0">
                <a:solidFill>
                  <a:srgbClr val="1B2A4A"/>
                </a:solidFill>
                <a:latin typeface="Calibri"/>
              </a:rPr>
              <a:t> faces of </a:t>
            </a:r>
            <a:r>
              <a:rPr sz="1900" b="1">
                <a:solidFill>
                  <a:srgbClr val="1B2A4A"/>
                </a:solidFill>
                <a:latin typeface="Calibri"/>
              </a:rPr>
              <a:t>people who don't exist</a:t>
            </a:r>
            <a:r>
              <a:rPr sz="1900" b="0">
                <a:solidFill>
                  <a:srgbClr val="1B2A4A"/>
                </a:solidFill>
                <a:latin typeface="Calibri"/>
              </a:rPr>
              <a:t> · sketch → photo · fixing </a:t>
            </a:r>
            <a:r>
              <a:rPr sz="1900" b="1">
                <a:solidFill>
                  <a:srgbClr val="1B2A4A"/>
                </a:solidFill>
                <a:latin typeface="Calibri"/>
              </a:rPr>
              <a:t>old photos</a:t>
            </a:r>
            <a:r>
              <a:rPr sz="1900" b="0">
                <a:solidFill>
                  <a:srgbClr val="1B2A4A"/>
                </a:solidFill>
                <a:latin typeface="Calibri"/>
              </a:rPr>
              <a:t>. ⚠️ Also used for </a:t>
            </a:r>
            <a:r>
              <a:rPr sz="1900" b="1">
                <a:solidFill>
                  <a:srgbClr val="1B2A4A"/>
                </a:solidFill>
                <a:latin typeface="Calibri"/>
              </a:rPr>
              <a:t>deepfakes</a:t>
            </a:r>
            <a:r>
              <a:rPr sz="1900" b="0">
                <a:solidFill>
                  <a:srgbClr val="1B2A4A"/>
                </a:solidFill>
                <a:latin typeface="Calibri"/>
              </a:rPr>
              <a:t>: don't believe every video!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DAY_21_NEURAL_NETWORKS_CLASS_EXERCISE.IPYNB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Now we code it: the notebook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474720" cy="35661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474720" cy="9144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PART 1 · 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A"/>
                </a:solidFill>
                <a:latin typeface="Calibri"/>
              </a:rPr>
              <a:t>From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55F6D"/>
                </a:solidFill>
                <a:latin typeface="Calibri"/>
              </a:rPr>
              <a:t>neuron → ReLU → forward pass → loss → one step →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474720" cy="35661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474720" cy="91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PART 2 · PYTORCH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A"/>
                </a:solidFill>
                <a:latin typeface="Calibri"/>
              </a:rPr>
              <a:t>Same thing, easier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55F6D"/>
                </a:solidFill>
                <a:latin typeface="Calibri"/>
              </a:rPr>
              <a:t>tensors → backward() → the 5-line loop → bigger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1737360"/>
            <a:ext cx="3474720" cy="35661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737360"/>
            <a:ext cx="3474720" cy="9144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555F6D"/>
                </a:solidFill>
                <a:latin typeface="Calibri"/>
              </a:rPr>
              <a:t>PART 3 · 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A"/>
                </a:solidFill>
                <a:latin typeface="Calibri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55F6D"/>
                </a:solidFill>
                <a:latin typeface="Calibri"/>
              </a:rPr>
              <a:t>house prices: train/val/test, scaling, loss curves, vs Linear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1B2A4A"/>
                </a:solidFill>
                <a:latin typeface="Calibri"/>
              </a:rPr>
              <a:t>Fill every </a:t>
            </a:r>
            <a:r>
              <a:rPr sz="2100" b="1">
                <a:solidFill>
                  <a:srgbClr val="1B2A4A"/>
                </a:solidFill>
                <a:latin typeface="Calibri"/>
              </a:rPr>
              <a:t>___</a:t>
            </a:r>
            <a:r>
              <a:rPr sz="2100" b="0">
                <a:solidFill>
                  <a:srgbClr val="1B2A4A"/>
                </a:solidFill>
                <a:latin typeface="Calibri"/>
              </a:rPr>
              <a:t>, run it, check the ✅ line. Stuck? Neighbour first, then teacher.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8C28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B2A4A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• </a:t>
            </a:r>
            <a:r>
              <a:rPr sz="2200" b="1">
                <a:solidFill>
                  <a:srgbClr val="1B2A4A"/>
                </a:solidFill>
                <a:latin typeface="Calibri"/>
              </a:rPr>
              <a:t>Neuron:</a:t>
            </a:r>
            <a:r>
              <a:rPr sz="2200" b="0">
                <a:solidFill>
                  <a:srgbClr val="1B2A4A"/>
                </a:solidFill>
                <a:latin typeface="Calibri"/>
              </a:rPr>
              <a:t> multiply by weights, add, add bias, decide (activation).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• </a:t>
            </a:r>
            <a:r>
              <a:rPr sz="2200" b="1">
                <a:solidFill>
                  <a:srgbClr val="1B2A4A"/>
                </a:solidFill>
                <a:latin typeface="Calibri"/>
              </a:rPr>
              <a:t>Weights</a:t>
            </a:r>
            <a:r>
              <a:rPr sz="2200" b="0">
                <a:solidFill>
                  <a:srgbClr val="1B2A4A"/>
                </a:solidFill>
                <a:latin typeface="Calibri"/>
              </a:rPr>
              <a:t> = how much each input matters. </a:t>
            </a:r>
            <a:r>
              <a:rPr sz="2200" b="1">
                <a:solidFill>
                  <a:srgbClr val="1B2A4A"/>
                </a:solidFill>
                <a:latin typeface="Calibri"/>
              </a:rPr>
              <a:t>Bias</a:t>
            </a:r>
            <a:r>
              <a:rPr sz="2200" b="0">
                <a:solidFill>
                  <a:srgbClr val="1B2A4A"/>
                </a:solidFill>
                <a:latin typeface="Calibri"/>
              </a:rPr>
              <a:t> = the starting amount (rickshaw fare).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• </a:t>
            </a:r>
            <a:r>
              <a:rPr sz="2200" b="1">
                <a:solidFill>
                  <a:srgbClr val="1B2A4A"/>
                </a:solidFill>
                <a:latin typeface="Calibri"/>
              </a:rPr>
              <a:t>Activation</a:t>
            </a:r>
            <a:r>
              <a:rPr sz="2200" b="0">
                <a:solidFill>
                  <a:srgbClr val="1B2A4A"/>
                </a:solidFill>
                <a:latin typeface="Calibri"/>
              </a:rPr>
              <a:t> = the decision rule. </a:t>
            </a:r>
            <a:r>
              <a:rPr sz="2200" b="1">
                <a:solidFill>
                  <a:srgbClr val="1B2A4A"/>
                </a:solidFill>
                <a:latin typeface="Calibri"/>
              </a:rPr>
              <a:t>ReLU:</a:t>
            </a:r>
            <a:r>
              <a:rPr sz="2200" b="0">
                <a:solidFill>
                  <a:srgbClr val="1B2A4A"/>
                </a:solidFill>
                <a:latin typeface="Calibri"/>
              </a:rPr>
              <a:t> negative → 0. </a:t>
            </a:r>
            <a:r>
              <a:rPr sz="2200" b="1">
                <a:solidFill>
                  <a:srgbClr val="1B2A4A"/>
                </a:solidFill>
                <a:latin typeface="Calibri"/>
              </a:rPr>
              <a:t>Sigmoid:</a:t>
            </a:r>
            <a:r>
              <a:rPr sz="2200" b="0">
                <a:solidFill>
                  <a:srgbClr val="1B2A4A"/>
                </a:solidFill>
                <a:latin typeface="Calibri"/>
              </a:rPr>
              <a:t> a chance.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• </a:t>
            </a:r>
            <a:r>
              <a:rPr sz="2200" b="1">
                <a:solidFill>
                  <a:srgbClr val="1B2A4A"/>
                </a:solidFill>
                <a:latin typeface="Calibri"/>
              </a:rPr>
              <a:t>Network</a:t>
            </a:r>
            <a:r>
              <a:rPr sz="2200" b="0">
                <a:solidFill>
                  <a:srgbClr val="1B2A4A"/>
                </a:solidFill>
                <a:latin typeface="Calibri"/>
              </a:rPr>
              <a:t> = neurons in layers. </a:t>
            </a:r>
            <a:r>
              <a:rPr sz="2200" b="1">
                <a:solidFill>
                  <a:srgbClr val="1B2A4A"/>
                </a:solidFill>
                <a:latin typeface="Calibri"/>
              </a:rPr>
              <a:t>Forward pass</a:t>
            </a:r>
            <a:r>
              <a:rPr sz="2200" b="0">
                <a:solidFill>
                  <a:srgbClr val="1B2A4A"/>
                </a:solidFill>
                <a:latin typeface="Calibri"/>
              </a:rPr>
              <a:t> = inputs → answer.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• </a:t>
            </a:r>
            <a:r>
              <a:rPr sz="2200" b="1">
                <a:solidFill>
                  <a:srgbClr val="1B2A4A"/>
                </a:solidFill>
                <a:latin typeface="Calibri"/>
              </a:rPr>
              <a:t>Learning:</a:t>
            </a:r>
            <a:r>
              <a:rPr sz="2200" b="0">
                <a:solidFill>
                  <a:srgbClr val="1B2A4A"/>
                </a:solidFill>
                <a:latin typeface="Calibri"/>
              </a:rPr>
              <a:t> guess → loss → backprop (blame) → gradient descent (fix) → repeat.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• </a:t>
            </a:r>
            <a:r>
              <a:rPr sz="2200" b="1">
                <a:solidFill>
                  <a:srgbClr val="1B2A4A"/>
                </a:solidFill>
                <a:latin typeface="Calibri"/>
              </a:rPr>
              <a:t>Learning rate</a:t>
            </a:r>
            <a:r>
              <a:rPr sz="2200" b="0">
                <a:solidFill>
                  <a:srgbClr val="1B2A4A"/>
                </a:solidFill>
                <a:latin typeface="Calibri"/>
              </a:rPr>
              <a:t> = step size. </a:t>
            </a:r>
            <a:r>
              <a:rPr sz="2200" b="1">
                <a:solidFill>
                  <a:srgbClr val="1B2A4A"/>
                </a:solidFill>
                <a:latin typeface="Calibri"/>
              </a:rPr>
              <a:t>Overfitting</a:t>
            </a:r>
            <a:r>
              <a:rPr sz="2200" b="0">
                <a:solidFill>
                  <a:srgbClr val="1B2A4A"/>
                </a:solidFill>
                <a:latin typeface="Calibri"/>
              </a:rPr>
              <a:t> = memorising. Check on </a:t>
            </a:r>
            <a:r>
              <a:rPr sz="2200" b="1">
                <a:solidFill>
                  <a:srgbClr val="1B2A4A"/>
                </a:solidFill>
                <a:latin typeface="Calibri"/>
              </a:rPr>
              <a:t>validation</a:t>
            </a:r>
            <a:r>
              <a:rPr sz="2200" b="0">
                <a:solidFill>
                  <a:srgbClr val="1B2A4A"/>
                </a:solidFill>
                <a:latin typeface="Calibri"/>
              </a:rPr>
              <a:t> data.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• </a:t>
            </a:r>
            <a:r>
              <a:rPr sz="2200" b="1">
                <a:solidFill>
                  <a:srgbClr val="1B2A4A"/>
                </a:solidFill>
                <a:latin typeface="Calibri"/>
              </a:rPr>
              <a:t>PyTorch:</a:t>
            </a:r>
            <a:r>
              <a:rPr sz="2200" b="0">
                <a:solidFill>
                  <a:srgbClr val="1B2A4A"/>
                </a:solidFill>
                <a:latin typeface="Calibri"/>
              </a:rPr>
              <a:t> the same ideas, ready-made. Always </a:t>
            </a:r>
            <a:r>
              <a:rPr sz="2200" b="1">
                <a:solidFill>
                  <a:srgbClr val="1B2A4A"/>
                </a:solidFill>
                <a:latin typeface="Calibri"/>
              </a:rPr>
              <a:t>compare with a simple model</a:t>
            </a:r>
            <a:r>
              <a:rPr sz="2200" b="0">
                <a:solidFill>
                  <a:srgbClr val="1B2A4A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B2A4A"/>
                </a:solidFill>
                <a:latin typeface="Calibri"/>
              </a:rPr>
              <a:t>• </a:t>
            </a:r>
            <a:r>
              <a:rPr sz="2200" b="1">
                <a:solidFill>
                  <a:srgbClr val="1B2A4A"/>
                </a:solidFill>
                <a:latin typeface="Calibri"/>
              </a:rPr>
              <a:t>Types:</a:t>
            </a:r>
            <a:r>
              <a:rPr sz="2200" b="0">
                <a:solidFill>
                  <a:srgbClr val="1B2A4A"/>
                </a:solidFill>
                <a:latin typeface="Calibri"/>
              </a:rPr>
              <a:t> ANN (tables) · CNN (pictures) · RNN (order) · Transformer (language) · GAN (creating).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