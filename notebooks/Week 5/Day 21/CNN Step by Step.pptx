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embeddedFontLst>
    <p:embeddedFont>
      <p:font typeface="DM Sans" pitchFamily="34" charset="0"/>
      <p:regular r:id="rId27"/>
      <p:bold r:id="rId28"/>
    </p:embeddedFont>
    <p:embeddedFont>
      <p:font typeface="JetBrains Mono" panose="02000009000000000000" pitchFamily="49" charset="0"/>
      <p:regular r:id="rId29"/>
      <p:bold r:id="rId3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whole CNN workflow one step at a time. The grid on the right is a filter (also called a kernel). By the end, every number in it will make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here, and come back here. This is the whole network on one slide, with our one example: a 6×6 picture of the digit 1. Part 1 finds patterns, Part 2 decides. The orange numbers under each box are the size after that step: 6×6, then 4×4, 4×4, 2×2, then 4 numbers, 3 scores, 3 chances, and the answer. Every later slide zooms into one box and shows this map at the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only picture we use in the whole lesson. 0 means no ink and 9 means ink. Columns 2 and 3 are full of ink, so the picture is a vertical stroke: the digit 1. The map at the top shows we are at the very first box, Image, with size 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problems with a normal dense network on images. One: flattening throws away which pixels are next to each other. Two: every pixel connects to every neuron, so the weights explode. Three: the same shape in a new place looks like completely new input. Analogy for the fix: looking for your friend in a crowd photo, you move your eyes around looking for one face. You don’t memorise the whole photo.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Filter and kernel mean the same thing. This filter looks for vertical edges. Minus on the left and plus on the right means: if the right side has more ink than the left, the answer is a big positive number; if the left side has more ink, the answer is a big negative number; if both sides are the same, the answer is 0. Our picture has both: ink starts at column 2 and ends after column 3. Remember: in a real CNN the 9 numbers are random at first and are learned in training. We only choose the size, 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operation. Put the filter on a 3×3 patch, multiply each image number with the filter number in the same place, and add all nine. The window here covers columns 1 to 3: no ink on the left, ink on the right. So the answer is a big positive number, 27. That one number goes into the top-left cell of the feature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filter moves one step at a time. Where ink starts, the answer is +27. Where ink ends, it is −27. Every row of our picture is the same, so every row of the feature map is the same: 27, 27, −27, −27. Size rule: image size minus filter size plus 1, so 6 − 3 + 1 = 4. We never type 4; it comes out automatically. Feature map = a map of where the filter found its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side note. In our example we use stride 1 and no padding, which is why the answer is 4×4. Stride 2 would jump two columns at a time and give fewer outputs. Padding adds a ring of zeros so the output can keep the input size. The full formula gives 4 for our example, the same as the short rule 6 − 3 + 1. Both are settings we choose; the size that comes out is automatic.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ReLU is the simplest step: every negative number becomes 0, and every positive number stays the same. In our example the −27s (where ink ends) become 0, and the 27s (where ink starts) stay. So after ReLU the map only says where this filter found its pattern. ReLU comes right after every convolution. It has nothing to learn and does not change the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Cut the 4×4 map into four 2×2 blocks (the four colours) and keep only the biggest number from each block. Our left blocks are all 27 and our right blocks are all 0, so the pooled map is 27, 0 on top and 27, 0 below. It tells the same story with a quarter of the numbers. Size rule: 4 ÷ 2 = 2. We choose the pool size; the output size is automatic.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example is tiny, so it uses one filter and one block. Real CNNs do two things more. First, many filters in one layer, each finding a different pattern; all of them are learned. Second, they repeat the Conv, ReLU, Pool block two or three times. The second block looks at the maps of the first block, not at pixels, so it finds combinations of edges: curves. The third finds parts. Like letters, then words, then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is finished: we found the pattern. Part 2 decides what the picture is. First, flatten: read the 2×2 map row by row and put the numbers in one line: 27, 0, 27, 0. Like taking eggs from a tray and putting them in a line. Same eggs, new arrangement. In PyTorch you must tell the next layer how many numbers come in, so knowing this size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Dense means every input is connected to every neuron. We have 3 classes (1, 7 and 0), so the last Dense layer has 3 neurons, one score each. Each neuron multiplies every input by its own weight, adds them up, and adds a bias. Neuron 1 likes ink on the left, so it scores 2.0. Neuron 0 needs ink on both sides, so it scores 0. Like three judges with their own scoring sheets. In the real model there is also a middle Dense layer (32 neurons with ReLU) doing the same calculation.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Scores like 2.0, 1.0 and 0 are hard to read. Softmax turns them into chances between 0 and 1 that add up to 1. Step 1: e to the power of each score (the computer does this; it makes every number positive). Step 2: add them: 11.11. Step 3: divide each by the total. The biggest score stays the biggest. The answer is the class with the biggest chance: 1. Our network got our picture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Sigmoid looks at one score alone and answers one yes/no question. With 3 classes, sigmoid would say 88% it is a 1 and 73% it is a 7 at the same time: 211% in total, which makes no sense when a picture can only be one digit. Softmax makes the classes compete for 100%. Like 3 separate exams (sigmoid, everyone can pass) versus one race (softmax, one winner). The loss always comes in a pair: Sigmoid with BCELoss (yesterday’s yes/no example), raw scores with CrossEntropyLoss (today). In PyTorch, CrossEntropyLoss already applies softmax, so we must not add a softmax layer; BCELoss does not apply sigmoid, so we must add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most common confusion. We choose the settings, called hyperparameters: filter size, number of filters, pool size, number of blocks, dense size. The model learns the numbers, called parameters: what is inside the filters and the dense weights. All the sizes in between are calculated automatically from our choices. The number of output neurons is not our choice: it is the number of classes in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 of blocks is our choice, but we follow rules of thumb. Bigger pictures need more blocks. Each block shrinks the map, so stop before it gets tiny: our 8×8 digits allow only one block. Double the filters each block. Too few blocks underfit, too many overfit and are slow. In the end, try two options and keep the one with the better test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new here: the same steps, just bigger. The real digits are 8×8 pictures. With 16 filters of 3×3 we get 16 feature maps of 6×6, using the same rule 8 − 3 + 1. Pooling halves them to 3×3. Flatten gives 16 × 3 × 3 = 144 numbers; in PyTorch we must type 144 ourselves. Then a middle Dense layer of 32 and an output of 10, one per digit. Every size can be worked out with the two rules: minus 2 for each 3×3 conv, divide by 2 for each 2×2 pool.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training loop as the neural network days. The only new thing is that filter numbers are learned too. Accuracy is correct divided by total, always on test pictures. Our run: 351 of 360 test digits right, 97.5%. The simple dense network from the digits example got 96.7% on the same split. Your numbers may change a little if the random seed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map one last time. Point at each box and ask a student to say what it does and what size comes out. Then ask for the two size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401961"/>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B2430"/>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153791"/>
            <a:ext cx="10566400" cy="3891409"/>
          </a:xfrm>
          <a:prstGeom prst="rect">
            <a:avLst/>
          </a:prstGeom>
          <a:noFill/>
          <a:ln/>
        </p:spPr>
        <p:txBody>
          <a:bodyPr wrap="square" lIns="0" tIns="0" rIns="0" bIns="0" rtlCol="0" anchor="t"/>
          <a:lstStyle>
            <a:lvl1pPr algn="l" indent="0" marL="0">
              <a:lnSpc>
                <a:spcPct val="140000"/>
              </a:lnSpc>
              <a:buNone/>
              <a:defRPr lang="en-US" sz="1600" dirty="0">
                <a:solidFill>
                  <a:srgbClr val="1B2430"/>
                </a:solidFill>
                <a:latin typeface="JetBrains Mono" pitchFamily="34" charset="0"/>
                <a:ea typeface="JetBrains Mono" pitchFamily="34" charset="-122"/>
                <a:cs typeface="JetBrains Mon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401961"/>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B2430"/>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153791"/>
            <a:ext cx="10566400" cy="3891409"/>
          </a:xfrm>
          <a:prstGeom prst="rect">
            <a:avLst/>
          </a:prstGeom>
          <a:noFill/>
          <a:ln/>
        </p:spPr>
        <p:txBody>
          <a:bodyPr wrap="square" lIns="0" tIns="0" rIns="0" bIns="0" rtlCol="0" anchor="t"/>
          <a:lstStyle>
            <a:lvl1pPr algn="l" indent="0" marL="0">
              <a:lnSpc>
                <a:spcPct val="140000"/>
              </a:lnSpc>
              <a:buNone/>
              <a:defRPr lang="en-US" sz="1600" dirty="0">
                <a:solidFill>
                  <a:srgbClr val="1B2430"/>
                </a:solidFill>
                <a:latin typeface="JetBrains Mono" pitchFamily="34" charset="0"/>
                <a:ea typeface="JetBrains Mono" pitchFamily="34" charset="-122"/>
                <a:cs typeface="JetBrains Mon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2.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2.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430"/>
        </a:solidFill>
      </p:bgPr>
    </p:bg>
    <p:spTree>
      <p:nvGrpSpPr>
        <p:cNvPr id="1" name=""/>
        <p:cNvGrpSpPr/>
        <p:nvPr/>
      </p:nvGrpSpPr>
      <p:grpSpPr>
        <a:xfrm>
          <a:off x="0" y="0"/>
          <a:ext cx="0" cy="0"/>
          <a:chOff x="0" y="0"/>
          <a:chExt cx="0" cy="0"/>
        </a:xfrm>
      </p:grpSpPr>
      <p:sp>
        <p:nvSpPr>
          <p:cNvPr id="2" name="Text 0"/>
          <p:cNvSpPr/>
          <p:nvPr/>
        </p:nvSpPr>
        <p:spPr>
          <a:xfrm>
            <a:off x="812800" y="1981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0A070"/>
                </a:solidFill>
                <a:latin typeface="DM Sans" pitchFamily="34" charset="0"/>
                <a:ea typeface="DM Sans" pitchFamily="34" charset="-122"/>
                <a:cs typeface="DM Sans" pitchFamily="34" charset="-120"/>
              </a:rPr>
              <a:t>WEEK 5 · DEEP LEARNING · CNNS</a:t>
            </a:r>
            <a:endParaRPr lang="en-US" sz="1400" dirty="0"/>
          </a:p>
        </p:txBody>
      </p:sp>
      <p:sp>
        <p:nvSpPr>
          <p:cNvPr id="3" name="Text 1"/>
          <p:cNvSpPr/>
          <p:nvPr>
            <p:ph type="title"/>
          </p:nvPr>
        </p:nvSpPr>
        <p:spPr>
          <a:xfrm>
            <a:off x="812800" y="2433290"/>
            <a:ext cx="6540500"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5F0"/>
                </a:solidFill>
                <a:latin typeface="DM Sans" pitchFamily="34" charset="0"/>
                <a:ea typeface="DM Sans" pitchFamily="34" charset="-122"/>
                <a:cs typeface="DM Sans" pitchFamily="34" charset="-120"/>
              </a:rPr>
              <a:t>CNN, step by step</a:t>
            </a:r>
            <a:endParaRPr lang="en-US" sz="6000" dirty="0"/>
          </a:p>
        </p:txBody>
      </p:sp>
      <p:sp>
        <p:nvSpPr>
          <p:cNvPr id="4" name="Text 2"/>
          <p:cNvSpPr/>
          <p:nvPr/>
        </p:nvSpPr>
        <p:spPr>
          <a:xfrm>
            <a:off x="812800" y="4236690"/>
            <a:ext cx="6409690"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FC7D2"/>
                </a:solidFill>
                <a:latin typeface="DM Sans" pitchFamily="34" charset="0"/>
                <a:ea typeface="DM Sans" pitchFamily="34" charset="-122"/>
                <a:cs typeface="DM Sans" pitchFamily="34" charset="-120"/>
              </a:rPr>
              <a:t>One small picture of a “1”, followed through every step of the network.</a:t>
            </a:r>
            <a:endParaRPr lang="en-US" sz="1800" dirty="0"/>
          </a:p>
        </p:txBody>
      </p:sp>
      <p:sp>
        <p:nvSpPr>
          <p:cNvPr id="5" name="Text 3"/>
          <p:cNvSpPr/>
          <p:nvPr/>
        </p:nvSpPr>
        <p:spPr>
          <a:xfrm>
            <a:off x="8051800" y="2095500"/>
            <a:ext cx="863600" cy="863600"/>
          </a:xfrm>
          <a:prstGeom prst="rect">
            <a:avLst/>
          </a:prstGeom>
          <a:solidFill>
            <a:srgbClr val="2B5FA6"/>
          </a:solidFill>
          <a:ln/>
        </p:spPr>
        <p:txBody>
          <a:bodyPr wrap="square" lIns="0" tIns="0" rIns="0" bIns="0" rtlCol="0" anchor="t">
            <a:normAutofit/>
          </a:bodyPr>
          <a:lstStyle/>
          <a:p>
            <a:pPr algn="ctr" indent="0" marL="0">
              <a:lnSpc>
                <a:spcPts val="6798"/>
              </a:lnSpc>
              <a:buNone/>
            </a:pPr>
            <a:r>
              <a:rPr lang="en-US" sz="2200" dirty="0">
                <a:solidFill>
                  <a:srgbClr val="F7F5F0"/>
                </a:solidFill>
                <a:latin typeface="JetBrains Mono" pitchFamily="49" charset="0"/>
                <a:ea typeface="JetBrains Mono" pitchFamily="49" charset="-122"/>
                <a:cs typeface="JetBrains Mono" pitchFamily="49" charset="-120"/>
              </a:rPr>
              <a:t>−1</a:t>
            </a:r>
            <a:endParaRPr lang="en-US" sz="2200" dirty="0"/>
          </a:p>
        </p:txBody>
      </p:sp>
      <p:sp>
        <p:nvSpPr>
          <p:cNvPr id="6" name="Text 4"/>
          <p:cNvSpPr/>
          <p:nvPr/>
        </p:nvSpPr>
        <p:spPr>
          <a:xfrm>
            <a:off x="8953500" y="2095500"/>
            <a:ext cx="863600" cy="863600"/>
          </a:xfrm>
          <a:prstGeom prst="rect">
            <a:avLst/>
          </a:prstGeom>
          <a:solidFill>
            <a:srgbClr val="2E3846"/>
          </a:solidFill>
          <a:ln/>
        </p:spPr>
        <p:txBody>
          <a:bodyPr wrap="square" lIns="0" tIns="0" rIns="0" bIns="0" rtlCol="0" anchor="t">
            <a:normAutofit/>
          </a:bodyPr>
          <a:lstStyle/>
          <a:p>
            <a:pPr algn="ctr" indent="0" marL="0">
              <a:lnSpc>
                <a:spcPts val="6798"/>
              </a:lnSpc>
              <a:buNone/>
            </a:pPr>
            <a:r>
              <a:rPr lang="en-US" sz="2200" dirty="0">
                <a:solidFill>
                  <a:srgbClr val="BFC7D2"/>
                </a:solidFill>
                <a:latin typeface="JetBrains Mono" pitchFamily="49" charset="0"/>
                <a:ea typeface="JetBrains Mono" pitchFamily="49" charset="-122"/>
                <a:cs typeface="JetBrains Mono" pitchFamily="49" charset="-120"/>
              </a:rPr>
              <a:t>0</a:t>
            </a:r>
            <a:endParaRPr lang="en-US" sz="2200" dirty="0"/>
          </a:p>
        </p:txBody>
      </p:sp>
      <p:sp>
        <p:nvSpPr>
          <p:cNvPr id="7" name="Text 5"/>
          <p:cNvSpPr/>
          <p:nvPr/>
        </p:nvSpPr>
        <p:spPr>
          <a:xfrm>
            <a:off x="9855200" y="2095500"/>
            <a:ext cx="863600" cy="863600"/>
          </a:xfrm>
          <a:prstGeom prst="rect">
            <a:avLst/>
          </a:prstGeom>
          <a:solidFill>
            <a:srgbClr val="D9622B"/>
          </a:solidFill>
          <a:ln/>
        </p:spPr>
        <p:txBody>
          <a:bodyPr wrap="square" lIns="0" tIns="0" rIns="0" bIns="0" rtlCol="0" anchor="t">
            <a:normAutofit/>
          </a:bodyPr>
          <a:lstStyle/>
          <a:p>
            <a:pPr algn="ctr" indent="0" marL="0">
              <a:lnSpc>
                <a:spcPts val="6798"/>
              </a:lnSpc>
              <a:buNone/>
            </a:pPr>
            <a:r>
              <a:rPr lang="en-US" sz="2200" dirty="0">
                <a:solidFill>
                  <a:srgbClr val="1B2430"/>
                </a:solidFill>
                <a:latin typeface="JetBrains Mono" pitchFamily="49" charset="0"/>
                <a:ea typeface="JetBrains Mono" pitchFamily="49" charset="-122"/>
                <a:cs typeface="JetBrains Mono" pitchFamily="49" charset="-120"/>
              </a:rPr>
              <a:t>+1</a:t>
            </a:r>
            <a:endParaRPr lang="en-US" sz="2200" dirty="0"/>
          </a:p>
        </p:txBody>
      </p:sp>
      <p:sp>
        <p:nvSpPr>
          <p:cNvPr id="8" name="Text 6"/>
          <p:cNvSpPr/>
          <p:nvPr/>
        </p:nvSpPr>
        <p:spPr>
          <a:xfrm>
            <a:off x="8051800" y="2997200"/>
            <a:ext cx="863600" cy="863600"/>
          </a:xfrm>
          <a:prstGeom prst="rect">
            <a:avLst/>
          </a:prstGeom>
          <a:solidFill>
            <a:srgbClr val="2B5FA6"/>
          </a:solidFill>
          <a:ln/>
        </p:spPr>
        <p:txBody>
          <a:bodyPr wrap="square" lIns="0" tIns="0" rIns="0" bIns="0" rtlCol="0" anchor="t">
            <a:normAutofit/>
          </a:bodyPr>
          <a:lstStyle/>
          <a:p>
            <a:pPr algn="ctr" indent="0" marL="0">
              <a:lnSpc>
                <a:spcPts val="6798"/>
              </a:lnSpc>
              <a:buNone/>
            </a:pPr>
            <a:r>
              <a:rPr lang="en-US" sz="2200" dirty="0">
                <a:solidFill>
                  <a:srgbClr val="F7F5F0"/>
                </a:solidFill>
                <a:latin typeface="JetBrains Mono" pitchFamily="49" charset="0"/>
                <a:ea typeface="JetBrains Mono" pitchFamily="49" charset="-122"/>
                <a:cs typeface="JetBrains Mono" pitchFamily="49" charset="-120"/>
              </a:rPr>
              <a:t>−1</a:t>
            </a:r>
            <a:endParaRPr lang="en-US" sz="2200" dirty="0"/>
          </a:p>
        </p:txBody>
      </p:sp>
      <p:sp>
        <p:nvSpPr>
          <p:cNvPr id="9" name="Text 7"/>
          <p:cNvSpPr/>
          <p:nvPr/>
        </p:nvSpPr>
        <p:spPr>
          <a:xfrm>
            <a:off x="8953500" y="2997200"/>
            <a:ext cx="863600" cy="863600"/>
          </a:xfrm>
          <a:prstGeom prst="rect">
            <a:avLst/>
          </a:prstGeom>
          <a:solidFill>
            <a:srgbClr val="2E3846"/>
          </a:solidFill>
          <a:ln/>
        </p:spPr>
        <p:txBody>
          <a:bodyPr wrap="square" lIns="0" tIns="0" rIns="0" bIns="0" rtlCol="0" anchor="t">
            <a:normAutofit/>
          </a:bodyPr>
          <a:lstStyle/>
          <a:p>
            <a:pPr algn="ctr" indent="0" marL="0">
              <a:lnSpc>
                <a:spcPts val="6798"/>
              </a:lnSpc>
              <a:buNone/>
            </a:pPr>
            <a:r>
              <a:rPr lang="en-US" sz="2200" dirty="0">
                <a:solidFill>
                  <a:srgbClr val="BFC7D2"/>
                </a:solidFill>
                <a:latin typeface="JetBrains Mono" pitchFamily="49" charset="0"/>
                <a:ea typeface="JetBrains Mono" pitchFamily="49" charset="-122"/>
                <a:cs typeface="JetBrains Mono" pitchFamily="49" charset="-120"/>
              </a:rPr>
              <a:t>0</a:t>
            </a:r>
            <a:endParaRPr lang="en-US" sz="2200" dirty="0"/>
          </a:p>
        </p:txBody>
      </p:sp>
      <p:sp>
        <p:nvSpPr>
          <p:cNvPr id="10" name="Text 8"/>
          <p:cNvSpPr/>
          <p:nvPr/>
        </p:nvSpPr>
        <p:spPr>
          <a:xfrm>
            <a:off x="9855200" y="2997200"/>
            <a:ext cx="863600" cy="863600"/>
          </a:xfrm>
          <a:prstGeom prst="rect">
            <a:avLst/>
          </a:prstGeom>
          <a:solidFill>
            <a:srgbClr val="D9622B"/>
          </a:solidFill>
          <a:ln/>
        </p:spPr>
        <p:txBody>
          <a:bodyPr wrap="square" lIns="0" tIns="0" rIns="0" bIns="0" rtlCol="0" anchor="t">
            <a:normAutofit/>
          </a:bodyPr>
          <a:lstStyle/>
          <a:p>
            <a:pPr algn="ctr" indent="0" marL="0">
              <a:lnSpc>
                <a:spcPts val="6798"/>
              </a:lnSpc>
              <a:buNone/>
            </a:pPr>
            <a:r>
              <a:rPr lang="en-US" sz="2200" dirty="0">
                <a:solidFill>
                  <a:srgbClr val="1B2430"/>
                </a:solidFill>
                <a:latin typeface="JetBrains Mono" pitchFamily="49" charset="0"/>
                <a:ea typeface="JetBrains Mono" pitchFamily="49" charset="-122"/>
                <a:cs typeface="JetBrains Mono" pitchFamily="49" charset="-120"/>
              </a:rPr>
              <a:t>+1</a:t>
            </a:r>
            <a:endParaRPr lang="en-US" sz="2200" dirty="0"/>
          </a:p>
        </p:txBody>
      </p:sp>
      <p:sp>
        <p:nvSpPr>
          <p:cNvPr id="11" name="Text 9"/>
          <p:cNvSpPr/>
          <p:nvPr/>
        </p:nvSpPr>
        <p:spPr>
          <a:xfrm>
            <a:off x="8051800" y="3898900"/>
            <a:ext cx="863600" cy="863600"/>
          </a:xfrm>
          <a:prstGeom prst="rect">
            <a:avLst/>
          </a:prstGeom>
          <a:solidFill>
            <a:srgbClr val="2B5FA6"/>
          </a:solidFill>
          <a:ln/>
        </p:spPr>
        <p:txBody>
          <a:bodyPr wrap="square" lIns="0" tIns="0" rIns="0" bIns="0" rtlCol="0" anchor="t">
            <a:normAutofit/>
          </a:bodyPr>
          <a:lstStyle/>
          <a:p>
            <a:pPr algn="ctr" indent="0" marL="0">
              <a:lnSpc>
                <a:spcPts val="6798"/>
              </a:lnSpc>
              <a:buNone/>
            </a:pPr>
            <a:r>
              <a:rPr lang="en-US" sz="2200" dirty="0">
                <a:solidFill>
                  <a:srgbClr val="F7F5F0"/>
                </a:solidFill>
                <a:latin typeface="JetBrains Mono" pitchFamily="49" charset="0"/>
                <a:ea typeface="JetBrains Mono" pitchFamily="49" charset="-122"/>
                <a:cs typeface="JetBrains Mono" pitchFamily="49" charset="-120"/>
              </a:rPr>
              <a:t>−1</a:t>
            </a:r>
            <a:endParaRPr lang="en-US" sz="2200" dirty="0"/>
          </a:p>
        </p:txBody>
      </p:sp>
      <p:sp>
        <p:nvSpPr>
          <p:cNvPr id="12" name="Text 10"/>
          <p:cNvSpPr/>
          <p:nvPr/>
        </p:nvSpPr>
        <p:spPr>
          <a:xfrm>
            <a:off x="8953500" y="3898900"/>
            <a:ext cx="863600" cy="863600"/>
          </a:xfrm>
          <a:prstGeom prst="rect">
            <a:avLst/>
          </a:prstGeom>
          <a:solidFill>
            <a:srgbClr val="2E3846"/>
          </a:solidFill>
          <a:ln/>
        </p:spPr>
        <p:txBody>
          <a:bodyPr wrap="square" lIns="0" tIns="0" rIns="0" bIns="0" rtlCol="0" anchor="t">
            <a:normAutofit/>
          </a:bodyPr>
          <a:lstStyle/>
          <a:p>
            <a:pPr algn="ctr" indent="0" marL="0">
              <a:lnSpc>
                <a:spcPts val="6798"/>
              </a:lnSpc>
              <a:buNone/>
            </a:pPr>
            <a:r>
              <a:rPr lang="en-US" sz="2200" dirty="0">
                <a:solidFill>
                  <a:srgbClr val="BFC7D2"/>
                </a:solidFill>
                <a:latin typeface="JetBrains Mono" pitchFamily="49" charset="0"/>
                <a:ea typeface="JetBrains Mono" pitchFamily="49" charset="-122"/>
                <a:cs typeface="JetBrains Mono" pitchFamily="49" charset="-120"/>
              </a:rPr>
              <a:t>0</a:t>
            </a:r>
            <a:endParaRPr lang="en-US" sz="2200" dirty="0"/>
          </a:p>
        </p:txBody>
      </p:sp>
      <p:sp>
        <p:nvSpPr>
          <p:cNvPr id="13" name="Text 11"/>
          <p:cNvSpPr/>
          <p:nvPr/>
        </p:nvSpPr>
        <p:spPr>
          <a:xfrm>
            <a:off x="9855200" y="3898900"/>
            <a:ext cx="863600" cy="863600"/>
          </a:xfrm>
          <a:prstGeom prst="rect">
            <a:avLst/>
          </a:prstGeom>
          <a:solidFill>
            <a:srgbClr val="D9622B"/>
          </a:solidFill>
          <a:ln/>
        </p:spPr>
        <p:txBody>
          <a:bodyPr wrap="square" lIns="0" tIns="0" rIns="0" bIns="0" rtlCol="0" anchor="t">
            <a:normAutofit/>
          </a:bodyPr>
          <a:lstStyle/>
          <a:p>
            <a:pPr algn="ctr" indent="0" marL="0">
              <a:lnSpc>
                <a:spcPts val="6798"/>
              </a:lnSpc>
              <a:buNone/>
            </a:pPr>
            <a:r>
              <a:rPr lang="en-US" sz="2200" dirty="0">
                <a:solidFill>
                  <a:srgbClr val="1B2430"/>
                </a:solidFill>
                <a:latin typeface="JetBrains Mono" pitchFamily="49" charset="0"/>
                <a:ea typeface="JetBrains Mono" pitchFamily="49" charset="-122"/>
                <a:cs typeface="JetBrains Mono" pitchFamily="49" charset="-120"/>
              </a:rPr>
              <a:t>+1</a:t>
            </a:r>
            <a:endParaRPr lang="en-US" sz="2200" dirty="0"/>
          </a:p>
        </p:txBody>
      </p:sp>
      <p:sp>
        <p:nvSpPr>
          <p:cNvPr id="14" name="Text 12"/>
          <p:cNvSpPr/>
          <p:nvPr/>
        </p:nvSpPr>
        <p:spPr>
          <a:xfrm>
            <a:off x="8011795" y="4889500"/>
            <a:ext cx="274701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FC7D2"/>
                </a:solidFill>
                <a:latin typeface="DM Sans" pitchFamily="34" charset="0"/>
                <a:ea typeface="DM Sans" pitchFamily="34" charset="-122"/>
                <a:cs typeface="DM Sans" pitchFamily="34" charset="-120"/>
              </a:rPr>
              <a:t>A 3×3 filter: the heart of a CNN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501F"/>
                </a:solidFill>
                <a:latin typeface="DM Sans" pitchFamily="34" charset="0"/>
                <a:ea typeface="DM Sans" pitchFamily="34" charset="-122"/>
                <a:cs typeface="DM Sans" pitchFamily="34" charset="-120"/>
              </a:rPr>
              <a:t>THE WHOLE CNN ON ONE MAP</a:t>
            </a:r>
            <a:endParaRPr lang="en-US" sz="1200" dirty="0"/>
          </a:p>
        </p:txBody>
      </p:sp>
      <p:sp>
        <p:nvSpPr>
          <p:cNvPr id="3" name="Text 1"/>
          <p:cNvSpPr/>
          <p:nvPr>
            <p:ph type="title"/>
          </p:nvPr>
        </p:nvSpPr>
        <p:spPr>
          <a:xfrm>
            <a:off x="812800" y="10769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430"/>
                </a:solidFill>
                <a:latin typeface="DM Sans" pitchFamily="34" charset="0"/>
                <a:ea typeface="DM Sans" pitchFamily="34" charset="-122"/>
                <a:cs typeface="DM Sans" pitchFamily="34" charset="-120"/>
              </a:rPr>
              <a:t>One picture of a “1”, eight steps, one answer</a:t>
            </a:r>
            <a:endParaRPr lang="en-US" sz="3200" dirty="0"/>
          </a:p>
        </p:txBody>
      </p:sp>
      <p:sp>
        <p:nvSpPr>
          <p:cNvPr id="4" name="Text 2"/>
          <p:cNvSpPr/>
          <p:nvPr/>
        </p:nvSpPr>
        <p:spPr>
          <a:xfrm>
            <a:off x="812800" y="1752550"/>
            <a:ext cx="5118100" cy="314920"/>
          </a:xfrm>
          <a:prstGeom prst="roundRect">
            <a:avLst>
              <a:gd name="adj" fmla="val 16131"/>
            </a:avLst>
          </a:prstGeom>
          <a:solidFill>
            <a:srgbClr val="F8D9C4"/>
          </a:solidFill>
          <a:ln/>
        </p:spPr>
        <p:txBody>
          <a:bodyPr wrap="square" lIns="86721" tIns="35921" rIns="0" bIns="10521" rtlCol="0" anchor="t">
            <a:normAutofit/>
          </a:bodyPr>
          <a:lstStyle/>
          <a:p>
            <a:pPr algn="l" indent="0" marL="0">
              <a:lnSpc>
                <a:spcPts val="1680"/>
              </a:lnSpc>
              <a:buNone/>
            </a:pPr>
            <a:r>
              <a:rPr lang="en-US" sz="1200" b="1" dirty="0">
                <a:solidFill>
                  <a:srgbClr val="1B2430"/>
                </a:solidFill>
                <a:latin typeface="DM Sans" pitchFamily="34" charset="0"/>
                <a:ea typeface="DM Sans" pitchFamily="34" charset="-122"/>
                <a:cs typeface="DM Sans" pitchFamily="34" charset="-120"/>
              </a:rPr>
              <a:t>PART 1 · FEATURE EXTRACTION: find patterns</a:t>
            </a:r>
            <a:endParaRPr lang="en-US" sz="1200" dirty="0"/>
          </a:p>
        </p:txBody>
      </p:sp>
      <p:sp>
        <p:nvSpPr>
          <p:cNvPr id="5" name="Shape 3"/>
          <p:cNvSpPr/>
          <p:nvPr/>
        </p:nvSpPr>
        <p:spPr>
          <a:xfrm>
            <a:off x="819150" y="2162721"/>
            <a:ext cx="1076325" cy="939800"/>
          </a:xfrm>
          <a:prstGeom prst="roundRect">
            <a:avLst>
              <a:gd name="adj" fmla="val 7432"/>
            </a:avLst>
          </a:prstGeom>
          <a:solidFill>
            <a:srgbClr val="FFFDF8"/>
          </a:solidFill>
          <a:ln w="12700">
            <a:solidFill>
              <a:srgbClr val="D8D4C8"/>
            </a:solidFill>
            <a:prstDash val="solid"/>
          </a:ln>
        </p:spPr>
      </p:sp>
      <p:sp>
        <p:nvSpPr>
          <p:cNvPr id="6" name="Shape 4"/>
          <p:cNvSpPr/>
          <p:nvPr/>
        </p:nvSpPr>
        <p:spPr>
          <a:xfrm>
            <a:off x="982662" y="2257971"/>
            <a:ext cx="114300" cy="114300"/>
          </a:xfrm>
          <a:prstGeom prst="rect">
            <a:avLst/>
          </a:prstGeom>
          <a:solidFill>
            <a:srgbClr val="E3E1DA"/>
          </a:solidFill>
          <a:ln/>
        </p:spPr>
      </p:sp>
      <p:sp>
        <p:nvSpPr>
          <p:cNvPr id="7" name="Shape 5"/>
          <p:cNvSpPr/>
          <p:nvPr/>
        </p:nvSpPr>
        <p:spPr>
          <a:xfrm>
            <a:off x="1109663" y="2257971"/>
            <a:ext cx="114300" cy="114300"/>
          </a:xfrm>
          <a:prstGeom prst="rect">
            <a:avLst/>
          </a:prstGeom>
          <a:solidFill>
            <a:srgbClr val="E3E1DA"/>
          </a:solidFill>
          <a:ln/>
        </p:spPr>
      </p:sp>
      <p:sp>
        <p:nvSpPr>
          <p:cNvPr id="8" name="Shape 6"/>
          <p:cNvSpPr/>
          <p:nvPr/>
        </p:nvSpPr>
        <p:spPr>
          <a:xfrm>
            <a:off x="1236663" y="2257971"/>
            <a:ext cx="114300" cy="114300"/>
          </a:xfrm>
          <a:prstGeom prst="rect">
            <a:avLst/>
          </a:prstGeom>
          <a:solidFill>
            <a:srgbClr val="2E3846"/>
          </a:solidFill>
          <a:ln/>
        </p:spPr>
      </p:sp>
      <p:sp>
        <p:nvSpPr>
          <p:cNvPr id="9" name="Shape 7"/>
          <p:cNvSpPr/>
          <p:nvPr/>
        </p:nvSpPr>
        <p:spPr>
          <a:xfrm>
            <a:off x="1363663" y="2257971"/>
            <a:ext cx="114300" cy="114300"/>
          </a:xfrm>
          <a:prstGeom prst="rect">
            <a:avLst/>
          </a:prstGeom>
          <a:solidFill>
            <a:srgbClr val="2E3846"/>
          </a:solidFill>
          <a:ln/>
        </p:spPr>
      </p:sp>
      <p:sp>
        <p:nvSpPr>
          <p:cNvPr id="10" name="Shape 8"/>
          <p:cNvSpPr/>
          <p:nvPr/>
        </p:nvSpPr>
        <p:spPr>
          <a:xfrm>
            <a:off x="1490663" y="2257971"/>
            <a:ext cx="114300" cy="114300"/>
          </a:xfrm>
          <a:prstGeom prst="rect">
            <a:avLst/>
          </a:prstGeom>
          <a:solidFill>
            <a:srgbClr val="E3E1DA"/>
          </a:solidFill>
          <a:ln/>
        </p:spPr>
      </p:sp>
      <p:sp>
        <p:nvSpPr>
          <p:cNvPr id="11" name="Shape 9"/>
          <p:cNvSpPr/>
          <p:nvPr/>
        </p:nvSpPr>
        <p:spPr>
          <a:xfrm>
            <a:off x="1617663" y="2257971"/>
            <a:ext cx="114300" cy="114300"/>
          </a:xfrm>
          <a:prstGeom prst="rect">
            <a:avLst/>
          </a:prstGeom>
          <a:solidFill>
            <a:srgbClr val="E3E1DA"/>
          </a:solidFill>
          <a:ln/>
        </p:spPr>
      </p:sp>
      <p:sp>
        <p:nvSpPr>
          <p:cNvPr id="12" name="Shape 10"/>
          <p:cNvSpPr/>
          <p:nvPr/>
        </p:nvSpPr>
        <p:spPr>
          <a:xfrm>
            <a:off x="982662" y="2384971"/>
            <a:ext cx="114300" cy="114300"/>
          </a:xfrm>
          <a:prstGeom prst="rect">
            <a:avLst/>
          </a:prstGeom>
          <a:solidFill>
            <a:srgbClr val="E3E1DA"/>
          </a:solidFill>
          <a:ln/>
        </p:spPr>
      </p:sp>
      <p:sp>
        <p:nvSpPr>
          <p:cNvPr id="13" name="Shape 11"/>
          <p:cNvSpPr/>
          <p:nvPr/>
        </p:nvSpPr>
        <p:spPr>
          <a:xfrm>
            <a:off x="1109663" y="2384971"/>
            <a:ext cx="114300" cy="114300"/>
          </a:xfrm>
          <a:prstGeom prst="rect">
            <a:avLst/>
          </a:prstGeom>
          <a:solidFill>
            <a:srgbClr val="E3E1DA"/>
          </a:solidFill>
          <a:ln/>
        </p:spPr>
      </p:sp>
      <p:sp>
        <p:nvSpPr>
          <p:cNvPr id="14" name="Shape 12"/>
          <p:cNvSpPr/>
          <p:nvPr/>
        </p:nvSpPr>
        <p:spPr>
          <a:xfrm>
            <a:off x="1236663" y="2384971"/>
            <a:ext cx="114300" cy="114300"/>
          </a:xfrm>
          <a:prstGeom prst="rect">
            <a:avLst/>
          </a:prstGeom>
          <a:solidFill>
            <a:srgbClr val="2E3846"/>
          </a:solidFill>
          <a:ln/>
        </p:spPr>
      </p:sp>
      <p:sp>
        <p:nvSpPr>
          <p:cNvPr id="15" name="Shape 13"/>
          <p:cNvSpPr/>
          <p:nvPr/>
        </p:nvSpPr>
        <p:spPr>
          <a:xfrm>
            <a:off x="1363663" y="2384971"/>
            <a:ext cx="114300" cy="114300"/>
          </a:xfrm>
          <a:prstGeom prst="rect">
            <a:avLst/>
          </a:prstGeom>
          <a:solidFill>
            <a:srgbClr val="2E3846"/>
          </a:solidFill>
          <a:ln/>
        </p:spPr>
      </p:sp>
      <p:sp>
        <p:nvSpPr>
          <p:cNvPr id="16" name="Shape 14"/>
          <p:cNvSpPr/>
          <p:nvPr/>
        </p:nvSpPr>
        <p:spPr>
          <a:xfrm>
            <a:off x="1490663" y="2384971"/>
            <a:ext cx="114300" cy="114300"/>
          </a:xfrm>
          <a:prstGeom prst="rect">
            <a:avLst/>
          </a:prstGeom>
          <a:solidFill>
            <a:srgbClr val="E3E1DA"/>
          </a:solidFill>
          <a:ln/>
        </p:spPr>
      </p:sp>
      <p:sp>
        <p:nvSpPr>
          <p:cNvPr id="17" name="Shape 15"/>
          <p:cNvSpPr/>
          <p:nvPr/>
        </p:nvSpPr>
        <p:spPr>
          <a:xfrm>
            <a:off x="1617663" y="2384971"/>
            <a:ext cx="114300" cy="114300"/>
          </a:xfrm>
          <a:prstGeom prst="rect">
            <a:avLst/>
          </a:prstGeom>
          <a:solidFill>
            <a:srgbClr val="E3E1DA"/>
          </a:solidFill>
          <a:ln/>
        </p:spPr>
      </p:sp>
      <p:sp>
        <p:nvSpPr>
          <p:cNvPr id="18" name="Shape 16"/>
          <p:cNvSpPr/>
          <p:nvPr/>
        </p:nvSpPr>
        <p:spPr>
          <a:xfrm>
            <a:off x="982662" y="2511971"/>
            <a:ext cx="114300" cy="114300"/>
          </a:xfrm>
          <a:prstGeom prst="rect">
            <a:avLst/>
          </a:prstGeom>
          <a:solidFill>
            <a:srgbClr val="E3E1DA"/>
          </a:solidFill>
          <a:ln/>
        </p:spPr>
      </p:sp>
      <p:sp>
        <p:nvSpPr>
          <p:cNvPr id="19" name="Shape 17"/>
          <p:cNvSpPr/>
          <p:nvPr/>
        </p:nvSpPr>
        <p:spPr>
          <a:xfrm>
            <a:off x="1109663" y="2511971"/>
            <a:ext cx="114300" cy="114300"/>
          </a:xfrm>
          <a:prstGeom prst="rect">
            <a:avLst/>
          </a:prstGeom>
          <a:solidFill>
            <a:srgbClr val="E3E1DA"/>
          </a:solidFill>
          <a:ln/>
        </p:spPr>
      </p:sp>
      <p:sp>
        <p:nvSpPr>
          <p:cNvPr id="20" name="Shape 18"/>
          <p:cNvSpPr/>
          <p:nvPr/>
        </p:nvSpPr>
        <p:spPr>
          <a:xfrm>
            <a:off x="1236663" y="2511971"/>
            <a:ext cx="114300" cy="114300"/>
          </a:xfrm>
          <a:prstGeom prst="rect">
            <a:avLst/>
          </a:prstGeom>
          <a:solidFill>
            <a:srgbClr val="2E3846"/>
          </a:solidFill>
          <a:ln/>
        </p:spPr>
      </p:sp>
      <p:sp>
        <p:nvSpPr>
          <p:cNvPr id="21" name="Shape 19"/>
          <p:cNvSpPr/>
          <p:nvPr/>
        </p:nvSpPr>
        <p:spPr>
          <a:xfrm>
            <a:off x="1363663" y="2511971"/>
            <a:ext cx="114300" cy="114300"/>
          </a:xfrm>
          <a:prstGeom prst="rect">
            <a:avLst/>
          </a:prstGeom>
          <a:solidFill>
            <a:srgbClr val="2E3846"/>
          </a:solidFill>
          <a:ln/>
        </p:spPr>
      </p:sp>
      <p:sp>
        <p:nvSpPr>
          <p:cNvPr id="22" name="Shape 20"/>
          <p:cNvSpPr/>
          <p:nvPr/>
        </p:nvSpPr>
        <p:spPr>
          <a:xfrm>
            <a:off x="1490663" y="2511971"/>
            <a:ext cx="114300" cy="114300"/>
          </a:xfrm>
          <a:prstGeom prst="rect">
            <a:avLst/>
          </a:prstGeom>
          <a:solidFill>
            <a:srgbClr val="E3E1DA"/>
          </a:solidFill>
          <a:ln/>
        </p:spPr>
      </p:sp>
      <p:sp>
        <p:nvSpPr>
          <p:cNvPr id="23" name="Shape 21"/>
          <p:cNvSpPr/>
          <p:nvPr/>
        </p:nvSpPr>
        <p:spPr>
          <a:xfrm>
            <a:off x="1617663" y="2511971"/>
            <a:ext cx="114300" cy="114300"/>
          </a:xfrm>
          <a:prstGeom prst="rect">
            <a:avLst/>
          </a:prstGeom>
          <a:solidFill>
            <a:srgbClr val="E3E1DA"/>
          </a:solidFill>
          <a:ln/>
        </p:spPr>
      </p:sp>
      <p:sp>
        <p:nvSpPr>
          <p:cNvPr id="24" name="Shape 22"/>
          <p:cNvSpPr/>
          <p:nvPr/>
        </p:nvSpPr>
        <p:spPr>
          <a:xfrm>
            <a:off x="982662" y="2638971"/>
            <a:ext cx="114300" cy="114300"/>
          </a:xfrm>
          <a:prstGeom prst="rect">
            <a:avLst/>
          </a:prstGeom>
          <a:solidFill>
            <a:srgbClr val="E3E1DA"/>
          </a:solidFill>
          <a:ln/>
        </p:spPr>
      </p:sp>
      <p:sp>
        <p:nvSpPr>
          <p:cNvPr id="25" name="Shape 23"/>
          <p:cNvSpPr/>
          <p:nvPr/>
        </p:nvSpPr>
        <p:spPr>
          <a:xfrm>
            <a:off x="1109663" y="2638971"/>
            <a:ext cx="114300" cy="114300"/>
          </a:xfrm>
          <a:prstGeom prst="rect">
            <a:avLst/>
          </a:prstGeom>
          <a:solidFill>
            <a:srgbClr val="E3E1DA"/>
          </a:solidFill>
          <a:ln/>
        </p:spPr>
      </p:sp>
      <p:sp>
        <p:nvSpPr>
          <p:cNvPr id="26" name="Shape 24"/>
          <p:cNvSpPr/>
          <p:nvPr/>
        </p:nvSpPr>
        <p:spPr>
          <a:xfrm>
            <a:off x="1236663" y="2638971"/>
            <a:ext cx="114300" cy="114300"/>
          </a:xfrm>
          <a:prstGeom prst="rect">
            <a:avLst/>
          </a:prstGeom>
          <a:solidFill>
            <a:srgbClr val="2E3846"/>
          </a:solidFill>
          <a:ln/>
        </p:spPr>
      </p:sp>
      <p:sp>
        <p:nvSpPr>
          <p:cNvPr id="27" name="Shape 25"/>
          <p:cNvSpPr/>
          <p:nvPr/>
        </p:nvSpPr>
        <p:spPr>
          <a:xfrm>
            <a:off x="1363663" y="2638971"/>
            <a:ext cx="114300" cy="114300"/>
          </a:xfrm>
          <a:prstGeom prst="rect">
            <a:avLst/>
          </a:prstGeom>
          <a:solidFill>
            <a:srgbClr val="2E3846"/>
          </a:solidFill>
          <a:ln/>
        </p:spPr>
      </p:sp>
      <p:sp>
        <p:nvSpPr>
          <p:cNvPr id="28" name="Shape 26"/>
          <p:cNvSpPr/>
          <p:nvPr/>
        </p:nvSpPr>
        <p:spPr>
          <a:xfrm>
            <a:off x="1490663" y="2638971"/>
            <a:ext cx="114300" cy="114300"/>
          </a:xfrm>
          <a:prstGeom prst="rect">
            <a:avLst/>
          </a:prstGeom>
          <a:solidFill>
            <a:srgbClr val="E3E1DA"/>
          </a:solidFill>
          <a:ln/>
        </p:spPr>
      </p:sp>
      <p:sp>
        <p:nvSpPr>
          <p:cNvPr id="29" name="Shape 27"/>
          <p:cNvSpPr/>
          <p:nvPr/>
        </p:nvSpPr>
        <p:spPr>
          <a:xfrm>
            <a:off x="1617663" y="2638971"/>
            <a:ext cx="114300" cy="114300"/>
          </a:xfrm>
          <a:prstGeom prst="rect">
            <a:avLst/>
          </a:prstGeom>
          <a:solidFill>
            <a:srgbClr val="E3E1DA"/>
          </a:solidFill>
          <a:ln/>
        </p:spPr>
      </p:sp>
      <p:sp>
        <p:nvSpPr>
          <p:cNvPr id="30" name="Shape 28"/>
          <p:cNvSpPr/>
          <p:nvPr/>
        </p:nvSpPr>
        <p:spPr>
          <a:xfrm>
            <a:off x="982662" y="2765971"/>
            <a:ext cx="114300" cy="114300"/>
          </a:xfrm>
          <a:prstGeom prst="rect">
            <a:avLst/>
          </a:prstGeom>
          <a:solidFill>
            <a:srgbClr val="E3E1DA"/>
          </a:solidFill>
          <a:ln/>
        </p:spPr>
      </p:sp>
      <p:sp>
        <p:nvSpPr>
          <p:cNvPr id="31" name="Shape 29"/>
          <p:cNvSpPr/>
          <p:nvPr/>
        </p:nvSpPr>
        <p:spPr>
          <a:xfrm>
            <a:off x="1109663" y="2765971"/>
            <a:ext cx="114300" cy="114300"/>
          </a:xfrm>
          <a:prstGeom prst="rect">
            <a:avLst/>
          </a:prstGeom>
          <a:solidFill>
            <a:srgbClr val="E3E1DA"/>
          </a:solidFill>
          <a:ln/>
        </p:spPr>
      </p:sp>
      <p:sp>
        <p:nvSpPr>
          <p:cNvPr id="32" name="Shape 30"/>
          <p:cNvSpPr/>
          <p:nvPr/>
        </p:nvSpPr>
        <p:spPr>
          <a:xfrm>
            <a:off x="1236663" y="2765971"/>
            <a:ext cx="114300" cy="114300"/>
          </a:xfrm>
          <a:prstGeom prst="rect">
            <a:avLst/>
          </a:prstGeom>
          <a:solidFill>
            <a:srgbClr val="2E3846"/>
          </a:solidFill>
          <a:ln/>
        </p:spPr>
      </p:sp>
      <p:sp>
        <p:nvSpPr>
          <p:cNvPr id="33" name="Shape 31"/>
          <p:cNvSpPr/>
          <p:nvPr/>
        </p:nvSpPr>
        <p:spPr>
          <a:xfrm>
            <a:off x="1363663" y="2765971"/>
            <a:ext cx="114300" cy="114300"/>
          </a:xfrm>
          <a:prstGeom prst="rect">
            <a:avLst/>
          </a:prstGeom>
          <a:solidFill>
            <a:srgbClr val="2E3846"/>
          </a:solidFill>
          <a:ln/>
        </p:spPr>
      </p:sp>
      <p:sp>
        <p:nvSpPr>
          <p:cNvPr id="34" name="Shape 32"/>
          <p:cNvSpPr/>
          <p:nvPr/>
        </p:nvSpPr>
        <p:spPr>
          <a:xfrm>
            <a:off x="1490663" y="2765971"/>
            <a:ext cx="114300" cy="114300"/>
          </a:xfrm>
          <a:prstGeom prst="rect">
            <a:avLst/>
          </a:prstGeom>
          <a:solidFill>
            <a:srgbClr val="E3E1DA"/>
          </a:solidFill>
          <a:ln/>
        </p:spPr>
      </p:sp>
      <p:sp>
        <p:nvSpPr>
          <p:cNvPr id="35" name="Shape 33"/>
          <p:cNvSpPr/>
          <p:nvPr/>
        </p:nvSpPr>
        <p:spPr>
          <a:xfrm>
            <a:off x="1617663" y="2765971"/>
            <a:ext cx="114300" cy="114300"/>
          </a:xfrm>
          <a:prstGeom prst="rect">
            <a:avLst/>
          </a:prstGeom>
          <a:solidFill>
            <a:srgbClr val="E3E1DA"/>
          </a:solidFill>
          <a:ln/>
        </p:spPr>
      </p:sp>
      <p:sp>
        <p:nvSpPr>
          <p:cNvPr id="36" name="Shape 34"/>
          <p:cNvSpPr/>
          <p:nvPr/>
        </p:nvSpPr>
        <p:spPr>
          <a:xfrm>
            <a:off x="982662" y="2892971"/>
            <a:ext cx="114300" cy="114300"/>
          </a:xfrm>
          <a:prstGeom prst="rect">
            <a:avLst/>
          </a:prstGeom>
          <a:solidFill>
            <a:srgbClr val="E3E1DA"/>
          </a:solidFill>
          <a:ln/>
        </p:spPr>
      </p:sp>
      <p:sp>
        <p:nvSpPr>
          <p:cNvPr id="37" name="Shape 35"/>
          <p:cNvSpPr/>
          <p:nvPr/>
        </p:nvSpPr>
        <p:spPr>
          <a:xfrm>
            <a:off x="1109663" y="2892971"/>
            <a:ext cx="114300" cy="114300"/>
          </a:xfrm>
          <a:prstGeom prst="rect">
            <a:avLst/>
          </a:prstGeom>
          <a:solidFill>
            <a:srgbClr val="E3E1DA"/>
          </a:solidFill>
          <a:ln/>
        </p:spPr>
      </p:sp>
      <p:sp>
        <p:nvSpPr>
          <p:cNvPr id="38" name="Shape 36"/>
          <p:cNvSpPr/>
          <p:nvPr/>
        </p:nvSpPr>
        <p:spPr>
          <a:xfrm>
            <a:off x="1236663" y="2892971"/>
            <a:ext cx="114300" cy="114300"/>
          </a:xfrm>
          <a:prstGeom prst="rect">
            <a:avLst/>
          </a:prstGeom>
          <a:solidFill>
            <a:srgbClr val="2E3846"/>
          </a:solidFill>
          <a:ln/>
        </p:spPr>
      </p:sp>
      <p:sp>
        <p:nvSpPr>
          <p:cNvPr id="39" name="Shape 37"/>
          <p:cNvSpPr/>
          <p:nvPr/>
        </p:nvSpPr>
        <p:spPr>
          <a:xfrm>
            <a:off x="1363663" y="2892971"/>
            <a:ext cx="114300" cy="114300"/>
          </a:xfrm>
          <a:prstGeom prst="rect">
            <a:avLst/>
          </a:prstGeom>
          <a:solidFill>
            <a:srgbClr val="2E3846"/>
          </a:solidFill>
          <a:ln/>
        </p:spPr>
      </p:sp>
      <p:sp>
        <p:nvSpPr>
          <p:cNvPr id="40" name="Shape 38"/>
          <p:cNvSpPr/>
          <p:nvPr/>
        </p:nvSpPr>
        <p:spPr>
          <a:xfrm>
            <a:off x="1490663" y="2892971"/>
            <a:ext cx="114300" cy="114300"/>
          </a:xfrm>
          <a:prstGeom prst="rect">
            <a:avLst/>
          </a:prstGeom>
          <a:solidFill>
            <a:srgbClr val="E3E1DA"/>
          </a:solidFill>
          <a:ln/>
        </p:spPr>
      </p:sp>
      <p:sp>
        <p:nvSpPr>
          <p:cNvPr id="41" name="Shape 39"/>
          <p:cNvSpPr/>
          <p:nvPr/>
        </p:nvSpPr>
        <p:spPr>
          <a:xfrm>
            <a:off x="1617663" y="2892971"/>
            <a:ext cx="114300" cy="114300"/>
          </a:xfrm>
          <a:prstGeom prst="rect">
            <a:avLst/>
          </a:prstGeom>
          <a:solidFill>
            <a:srgbClr val="E3E1DA"/>
          </a:solidFill>
          <a:ln/>
        </p:spPr>
      </p:sp>
      <p:sp>
        <p:nvSpPr>
          <p:cNvPr id="42" name="Text 40"/>
          <p:cNvSpPr/>
          <p:nvPr/>
        </p:nvSpPr>
        <p:spPr>
          <a:xfrm>
            <a:off x="812800" y="3172371"/>
            <a:ext cx="113982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430"/>
                </a:solidFill>
                <a:latin typeface="DM Sans" pitchFamily="34" charset="0"/>
                <a:ea typeface="DM Sans" pitchFamily="34" charset="-122"/>
                <a:cs typeface="DM Sans" pitchFamily="34" charset="-120"/>
              </a:rPr>
              <a:t>Image</a:t>
            </a:r>
            <a:endParaRPr lang="en-US" sz="1400" dirty="0"/>
          </a:p>
        </p:txBody>
      </p:sp>
      <p:sp>
        <p:nvSpPr>
          <p:cNvPr id="43" name="Text 41"/>
          <p:cNvSpPr/>
          <p:nvPr/>
        </p:nvSpPr>
        <p:spPr>
          <a:xfrm>
            <a:off x="812800" y="3449191"/>
            <a:ext cx="1139825"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DM Sans" pitchFamily="34" charset="0"/>
                <a:ea typeface="DM Sans" pitchFamily="34" charset="-122"/>
                <a:cs typeface="DM Sans" pitchFamily="34" charset="-120"/>
              </a:rPr>
              <a:t>Numbers: 0 = no ink, 9 = ink</a:t>
            </a:r>
            <a:endParaRPr lang="en-US" sz="1200" dirty="0"/>
          </a:p>
        </p:txBody>
      </p:sp>
      <p:sp>
        <p:nvSpPr>
          <p:cNvPr id="44" name="Text 42"/>
          <p:cNvSpPr/>
          <p:nvPr/>
        </p:nvSpPr>
        <p:spPr>
          <a:xfrm>
            <a:off x="812800" y="3908871"/>
            <a:ext cx="113982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F"/>
                </a:solidFill>
                <a:latin typeface="JetBrains Mono" pitchFamily="49" charset="0"/>
                <a:ea typeface="JetBrains Mono" pitchFamily="49" charset="-122"/>
                <a:cs typeface="JetBrains Mono" pitchFamily="49" charset="-120"/>
              </a:rPr>
              <a:t>6×6</a:t>
            </a:r>
            <a:endParaRPr lang="en-US" sz="1200" dirty="0"/>
          </a:p>
        </p:txBody>
      </p:sp>
      <p:sp>
        <p:nvSpPr>
          <p:cNvPr id="45" name="Text 43"/>
          <p:cNvSpPr/>
          <p:nvPr/>
        </p:nvSpPr>
        <p:spPr>
          <a:xfrm>
            <a:off x="1939925" y="2511971"/>
            <a:ext cx="2286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B93A0"/>
                </a:solidFill>
                <a:latin typeface="DM Sans" pitchFamily="34" charset="0"/>
                <a:ea typeface="DM Sans" pitchFamily="34" charset="-122"/>
                <a:cs typeface="DM Sans" pitchFamily="34" charset="-120"/>
              </a:rPr>
              <a:t>→</a:t>
            </a:r>
            <a:endParaRPr lang="en-US" sz="1400" dirty="0"/>
          </a:p>
        </p:txBody>
      </p:sp>
      <p:sp>
        <p:nvSpPr>
          <p:cNvPr id="46" name="Shape 44"/>
          <p:cNvSpPr/>
          <p:nvPr/>
        </p:nvSpPr>
        <p:spPr>
          <a:xfrm>
            <a:off x="2162175" y="2162721"/>
            <a:ext cx="1076325" cy="939800"/>
          </a:xfrm>
          <a:prstGeom prst="roundRect">
            <a:avLst>
              <a:gd name="adj" fmla="val 7432"/>
            </a:avLst>
          </a:prstGeom>
          <a:solidFill>
            <a:srgbClr val="FFFDF8"/>
          </a:solidFill>
          <a:ln w="12700">
            <a:solidFill>
              <a:srgbClr val="D8D4C8"/>
            </a:solidFill>
            <a:prstDash val="solid"/>
          </a:ln>
        </p:spPr>
      </p:sp>
      <p:sp>
        <p:nvSpPr>
          <p:cNvPr id="47" name="Shape 45"/>
          <p:cNvSpPr/>
          <p:nvPr/>
        </p:nvSpPr>
        <p:spPr>
          <a:xfrm>
            <a:off x="2341563" y="2273846"/>
            <a:ext cx="165100" cy="165100"/>
          </a:xfrm>
          <a:prstGeom prst="rect">
            <a:avLst/>
          </a:prstGeom>
          <a:solidFill>
            <a:srgbClr val="D9622B"/>
          </a:solidFill>
          <a:ln/>
        </p:spPr>
      </p:sp>
      <p:sp>
        <p:nvSpPr>
          <p:cNvPr id="48" name="Shape 46"/>
          <p:cNvSpPr/>
          <p:nvPr/>
        </p:nvSpPr>
        <p:spPr>
          <a:xfrm>
            <a:off x="2525713" y="2273846"/>
            <a:ext cx="165100" cy="165100"/>
          </a:xfrm>
          <a:prstGeom prst="rect">
            <a:avLst/>
          </a:prstGeom>
          <a:solidFill>
            <a:srgbClr val="D9622B"/>
          </a:solidFill>
          <a:ln/>
        </p:spPr>
      </p:sp>
      <p:sp>
        <p:nvSpPr>
          <p:cNvPr id="49" name="Shape 47"/>
          <p:cNvSpPr/>
          <p:nvPr/>
        </p:nvSpPr>
        <p:spPr>
          <a:xfrm>
            <a:off x="2709863" y="2273846"/>
            <a:ext cx="165100" cy="165100"/>
          </a:xfrm>
          <a:prstGeom prst="rect">
            <a:avLst/>
          </a:prstGeom>
          <a:solidFill>
            <a:srgbClr val="2B5FA6"/>
          </a:solidFill>
          <a:ln/>
        </p:spPr>
      </p:sp>
      <p:sp>
        <p:nvSpPr>
          <p:cNvPr id="50" name="Shape 48"/>
          <p:cNvSpPr/>
          <p:nvPr/>
        </p:nvSpPr>
        <p:spPr>
          <a:xfrm>
            <a:off x="2894013" y="2273846"/>
            <a:ext cx="165100" cy="165100"/>
          </a:xfrm>
          <a:prstGeom prst="rect">
            <a:avLst/>
          </a:prstGeom>
          <a:solidFill>
            <a:srgbClr val="2B5FA6"/>
          </a:solidFill>
          <a:ln/>
        </p:spPr>
      </p:sp>
      <p:sp>
        <p:nvSpPr>
          <p:cNvPr id="51" name="Shape 49"/>
          <p:cNvSpPr/>
          <p:nvPr/>
        </p:nvSpPr>
        <p:spPr>
          <a:xfrm>
            <a:off x="2341563" y="2457996"/>
            <a:ext cx="165100" cy="165100"/>
          </a:xfrm>
          <a:prstGeom prst="rect">
            <a:avLst/>
          </a:prstGeom>
          <a:solidFill>
            <a:srgbClr val="D9622B"/>
          </a:solidFill>
          <a:ln/>
        </p:spPr>
      </p:sp>
      <p:sp>
        <p:nvSpPr>
          <p:cNvPr id="52" name="Shape 50"/>
          <p:cNvSpPr/>
          <p:nvPr/>
        </p:nvSpPr>
        <p:spPr>
          <a:xfrm>
            <a:off x="2525713" y="2457996"/>
            <a:ext cx="165100" cy="165100"/>
          </a:xfrm>
          <a:prstGeom prst="rect">
            <a:avLst/>
          </a:prstGeom>
          <a:solidFill>
            <a:srgbClr val="D9622B"/>
          </a:solidFill>
          <a:ln/>
        </p:spPr>
      </p:sp>
      <p:sp>
        <p:nvSpPr>
          <p:cNvPr id="53" name="Shape 51"/>
          <p:cNvSpPr/>
          <p:nvPr/>
        </p:nvSpPr>
        <p:spPr>
          <a:xfrm>
            <a:off x="2709863" y="2457996"/>
            <a:ext cx="165100" cy="165100"/>
          </a:xfrm>
          <a:prstGeom prst="rect">
            <a:avLst/>
          </a:prstGeom>
          <a:solidFill>
            <a:srgbClr val="2B5FA6"/>
          </a:solidFill>
          <a:ln/>
        </p:spPr>
      </p:sp>
      <p:sp>
        <p:nvSpPr>
          <p:cNvPr id="54" name="Shape 52"/>
          <p:cNvSpPr/>
          <p:nvPr/>
        </p:nvSpPr>
        <p:spPr>
          <a:xfrm>
            <a:off x="2894013" y="2457996"/>
            <a:ext cx="165100" cy="165100"/>
          </a:xfrm>
          <a:prstGeom prst="rect">
            <a:avLst/>
          </a:prstGeom>
          <a:solidFill>
            <a:srgbClr val="2B5FA6"/>
          </a:solidFill>
          <a:ln/>
        </p:spPr>
      </p:sp>
      <p:sp>
        <p:nvSpPr>
          <p:cNvPr id="55" name="Shape 53"/>
          <p:cNvSpPr/>
          <p:nvPr/>
        </p:nvSpPr>
        <p:spPr>
          <a:xfrm>
            <a:off x="2341563" y="2642146"/>
            <a:ext cx="165100" cy="165100"/>
          </a:xfrm>
          <a:prstGeom prst="rect">
            <a:avLst/>
          </a:prstGeom>
          <a:solidFill>
            <a:srgbClr val="D9622B"/>
          </a:solidFill>
          <a:ln/>
        </p:spPr>
      </p:sp>
      <p:sp>
        <p:nvSpPr>
          <p:cNvPr id="56" name="Shape 54"/>
          <p:cNvSpPr/>
          <p:nvPr/>
        </p:nvSpPr>
        <p:spPr>
          <a:xfrm>
            <a:off x="2525713" y="2642146"/>
            <a:ext cx="165100" cy="165100"/>
          </a:xfrm>
          <a:prstGeom prst="rect">
            <a:avLst/>
          </a:prstGeom>
          <a:solidFill>
            <a:srgbClr val="D9622B"/>
          </a:solidFill>
          <a:ln/>
        </p:spPr>
      </p:sp>
      <p:sp>
        <p:nvSpPr>
          <p:cNvPr id="57" name="Shape 55"/>
          <p:cNvSpPr/>
          <p:nvPr/>
        </p:nvSpPr>
        <p:spPr>
          <a:xfrm>
            <a:off x="2709863" y="2642146"/>
            <a:ext cx="165100" cy="165100"/>
          </a:xfrm>
          <a:prstGeom prst="rect">
            <a:avLst/>
          </a:prstGeom>
          <a:solidFill>
            <a:srgbClr val="2B5FA6"/>
          </a:solidFill>
          <a:ln/>
        </p:spPr>
      </p:sp>
      <p:sp>
        <p:nvSpPr>
          <p:cNvPr id="58" name="Shape 56"/>
          <p:cNvSpPr/>
          <p:nvPr/>
        </p:nvSpPr>
        <p:spPr>
          <a:xfrm>
            <a:off x="2894013" y="2642146"/>
            <a:ext cx="165100" cy="165100"/>
          </a:xfrm>
          <a:prstGeom prst="rect">
            <a:avLst/>
          </a:prstGeom>
          <a:solidFill>
            <a:srgbClr val="2B5FA6"/>
          </a:solidFill>
          <a:ln/>
        </p:spPr>
      </p:sp>
      <p:sp>
        <p:nvSpPr>
          <p:cNvPr id="59" name="Shape 57"/>
          <p:cNvSpPr/>
          <p:nvPr/>
        </p:nvSpPr>
        <p:spPr>
          <a:xfrm>
            <a:off x="2341563" y="2826296"/>
            <a:ext cx="165100" cy="165100"/>
          </a:xfrm>
          <a:prstGeom prst="rect">
            <a:avLst/>
          </a:prstGeom>
          <a:solidFill>
            <a:srgbClr val="D9622B"/>
          </a:solidFill>
          <a:ln/>
        </p:spPr>
      </p:sp>
      <p:sp>
        <p:nvSpPr>
          <p:cNvPr id="60" name="Shape 58"/>
          <p:cNvSpPr/>
          <p:nvPr/>
        </p:nvSpPr>
        <p:spPr>
          <a:xfrm>
            <a:off x="2525713" y="2826296"/>
            <a:ext cx="165100" cy="165100"/>
          </a:xfrm>
          <a:prstGeom prst="rect">
            <a:avLst/>
          </a:prstGeom>
          <a:solidFill>
            <a:srgbClr val="D9622B"/>
          </a:solidFill>
          <a:ln/>
        </p:spPr>
      </p:sp>
      <p:sp>
        <p:nvSpPr>
          <p:cNvPr id="61" name="Shape 59"/>
          <p:cNvSpPr/>
          <p:nvPr/>
        </p:nvSpPr>
        <p:spPr>
          <a:xfrm>
            <a:off x="2709863" y="2826296"/>
            <a:ext cx="165100" cy="165100"/>
          </a:xfrm>
          <a:prstGeom prst="rect">
            <a:avLst/>
          </a:prstGeom>
          <a:solidFill>
            <a:srgbClr val="2B5FA6"/>
          </a:solidFill>
          <a:ln/>
        </p:spPr>
      </p:sp>
      <p:sp>
        <p:nvSpPr>
          <p:cNvPr id="62" name="Shape 60"/>
          <p:cNvSpPr/>
          <p:nvPr/>
        </p:nvSpPr>
        <p:spPr>
          <a:xfrm>
            <a:off x="2894013" y="2826296"/>
            <a:ext cx="165100" cy="165100"/>
          </a:xfrm>
          <a:prstGeom prst="rect">
            <a:avLst/>
          </a:prstGeom>
          <a:solidFill>
            <a:srgbClr val="2B5FA6"/>
          </a:solidFill>
          <a:ln/>
        </p:spPr>
      </p:sp>
      <p:sp>
        <p:nvSpPr>
          <p:cNvPr id="63" name="Text 61"/>
          <p:cNvSpPr/>
          <p:nvPr/>
        </p:nvSpPr>
        <p:spPr>
          <a:xfrm>
            <a:off x="2155825" y="3172371"/>
            <a:ext cx="113982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430"/>
                </a:solidFill>
                <a:latin typeface="DM Sans" pitchFamily="34" charset="0"/>
                <a:ea typeface="DM Sans" pitchFamily="34" charset="-122"/>
                <a:cs typeface="DM Sans" pitchFamily="34" charset="-120"/>
              </a:rPr>
              <a:t>Conv</a:t>
            </a:r>
            <a:endParaRPr lang="en-US" sz="1400" dirty="0"/>
          </a:p>
        </p:txBody>
      </p:sp>
      <p:sp>
        <p:nvSpPr>
          <p:cNvPr id="64" name="Text 62"/>
          <p:cNvSpPr/>
          <p:nvPr/>
        </p:nvSpPr>
        <p:spPr>
          <a:xfrm>
            <a:off x="2155825" y="3449191"/>
            <a:ext cx="1139825"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DM Sans" pitchFamily="34" charset="0"/>
                <a:ea typeface="DM Sans" pitchFamily="34" charset="-122"/>
                <a:cs typeface="DM Sans" pitchFamily="34" charset="-120"/>
              </a:rPr>
              <a:t>A 3×3 filter slides and finds edges</a:t>
            </a:r>
            <a:endParaRPr lang="en-US" sz="1200" dirty="0"/>
          </a:p>
        </p:txBody>
      </p:sp>
      <p:sp>
        <p:nvSpPr>
          <p:cNvPr id="65" name="Text 63"/>
          <p:cNvSpPr/>
          <p:nvPr/>
        </p:nvSpPr>
        <p:spPr>
          <a:xfrm>
            <a:off x="2155825" y="4106962"/>
            <a:ext cx="113982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F"/>
                </a:solidFill>
                <a:latin typeface="JetBrains Mono" pitchFamily="49" charset="0"/>
                <a:ea typeface="JetBrains Mono" pitchFamily="49" charset="-122"/>
                <a:cs typeface="JetBrains Mono" pitchFamily="49" charset="-120"/>
              </a:rPr>
              <a:t>4×4</a:t>
            </a:r>
            <a:endParaRPr lang="en-US" sz="1200" dirty="0"/>
          </a:p>
        </p:txBody>
      </p:sp>
      <p:sp>
        <p:nvSpPr>
          <p:cNvPr id="66" name="Text 64"/>
          <p:cNvSpPr/>
          <p:nvPr/>
        </p:nvSpPr>
        <p:spPr>
          <a:xfrm>
            <a:off x="3282950" y="2511971"/>
            <a:ext cx="2286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B93A0"/>
                </a:solidFill>
                <a:latin typeface="DM Sans" pitchFamily="34" charset="0"/>
                <a:ea typeface="DM Sans" pitchFamily="34" charset="-122"/>
                <a:cs typeface="DM Sans" pitchFamily="34" charset="-120"/>
              </a:rPr>
              <a:t>→</a:t>
            </a:r>
            <a:endParaRPr lang="en-US" sz="1400" dirty="0"/>
          </a:p>
        </p:txBody>
      </p:sp>
      <p:sp>
        <p:nvSpPr>
          <p:cNvPr id="67" name="Shape 65"/>
          <p:cNvSpPr/>
          <p:nvPr/>
        </p:nvSpPr>
        <p:spPr>
          <a:xfrm>
            <a:off x="3505200" y="2162721"/>
            <a:ext cx="1076325" cy="939800"/>
          </a:xfrm>
          <a:prstGeom prst="roundRect">
            <a:avLst>
              <a:gd name="adj" fmla="val 7432"/>
            </a:avLst>
          </a:prstGeom>
          <a:solidFill>
            <a:srgbClr val="FFFDF8"/>
          </a:solidFill>
          <a:ln w="12700">
            <a:solidFill>
              <a:srgbClr val="D8D4C8"/>
            </a:solidFill>
            <a:prstDash val="solid"/>
          </a:ln>
        </p:spPr>
      </p:sp>
      <p:sp>
        <p:nvSpPr>
          <p:cNvPr id="68" name="Shape 66"/>
          <p:cNvSpPr/>
          <p:nvPr/>
        </p:nvSpPr>
        <p:spPr>
          <a:xfrm>
            <a:off x="3684588" y="2273846"/>
            <a:ext cx="165100" cy="165100"/>
          </a:xfrm>
          <a:prstGeom prst="rect">
            <a:avLst/>
          </a:prstGeom>
          <a:solidFill>
            <a:srgbClr val="D9622B"/>
          </a:solidFill>
          <a:ln/>
        </p:spPr>
      </p:sp>
      <p:sp>
        <p:nvSpPr>
          <p:cNvPr id="69" name="Shape 67"/>
          <p:cNvSpPr/>
          <p:nvPr/>
        </p:nvSpPr>
        <p:spPr>
          <a:xfrm>
            <a:off x="3868738" y="2273846"/>
            <a:ext cx="165100" cy="165100"/>
          </a:xfrm>
          <a:prstGeom prst="rect">
            <a:avLst/>
          </a:prstGeom>
          <a:solidFill>
            <a:srgbClr val="D9622B"/>
          </a:solidFill>
          <a:ln/>
        </p:spPr>
      </p:sp>
      <p:sp>
        <p:nvSpPr>
          <p:cNvPr id="70" name="Shape 68"/>
          <p:cNvSpPr/>
          <p:nvPr/>
        </p:nvSpPr>
        <p:spPr>
          <a:xfrm>
            <a:off x="4052888" y="2273846"/>
            <a:ext cx="165100" cy="165100"/>
          </a:xfrm>
          <a:prstGeom prst="rect">
            <a:avLst/>
          </a:prstGeom>
          <a:solidFill>
            <a:srgbClr val="E3E1DA"/>
          </a:solidFill>
          <a:ln/>
        </p:spPr>
      </p:sp>
      <p:sp>
        <p:nvSpPr>
          <p:cNvPr id="71" name="Shape 69"/>
          <p:cNvSpPr/>
          <p:nvPr/>
        </p:nvSpPr>
        <p:spPr>
          <a:xfrm>
            <a:off x="4237038" y="2273846"/>
            <a:ext cx="165100" cy="165100"/>
          </a:xfrm>
          <a:prstGeom prst="rect">
            <a:avLst/>
          </a:prstGeom>
          <a:solidFill>
            <a:srgbClr val="E3E1DA"/>
          </a:solidFill>
          <a:ln/>
        </p:spPr>
      </p:sp>
      <p:sp>
        <p:nvSpPr>
          <p:cNvPr id="72" name="Shape 70"/>
          <p:cNvSpPr/>
          <p:nvPr/>
        </p:nvSpPr>
        <p:spPr>
          <a:xfrm>
            <a:off x="3684588" y="2457996"/>
            <a:ext cx="165100" cy="165100"/>
          </a:xfrm>
          <a:prstGeom prst="rect">
            <a:avLst/>
          </a:prstGeom>
          <a:solidFill>
            <a:srgbClr val="D9622B"/>
          </a:solidFill>
          <a:ln/>
        </p:spPr>
      </p:sp>
      <p:sp>
        <p:nvSpPr>
          <p:cNvPr id="73" name="Shape 71"/>
          <p:cNvSpPr/>
          <p:nvPr/>
        </p:nvSpPr>
        <p:spPr>
          <a:xfrm>
            <a:off x="3868738" y="2457996"/>
            <a:ext cx="165100" cy="165100"/>
          </a:xfrm>
          <a:prstGeom prst="rect">
            <a:avLst/>
          </a:prstGeom>
          <a:solidFill>
            <a:srgbClr val="D9622B"/>
          </a:solidFill>
          <a:ln/>
        </p:spPr>
      </p:sp>
      <p:sp>
        <p:nvSpPr>
          <p:cNvPr id="74" name="Shape 72"/>
          <p:cNvSpPr/>
          <p:nvPr/>
        </p:nvSpPr>
        <p:spPr>
          <a:xfrm>
            <a:off x="4052888" y="2457996"/>
            <a:ext cx="165100" cy="165100"/>
          </a:xfrm>
          <a:prstGeom prst="rect">
            <a:avLst/>
          </a:prstGeom>
          <a:solidFill>
            <a:srgbClr val="E3E1DA"/>
          </a:solidFill>
          <a:ln/>
        </p:spPr>
      </p:sp>
      <p:sp>
        <p:nvSpPr>
          <p:cNvPr id="75" name="Shape 73"/>
          <p:cNvSpPr/>
          <p:nvPr/>
        </p:nvSpPr>
        <p:spPr>
          <a:xfrm>
            <a:off x="4237038" y="2457996"/>
            <a:ext cx="165100" cy="165100"/>
          </a:xfrm>
          <a:prstGeom prst="rect">
            <a:avLst/>
          </a:prstGeom>
          <a:solidFill>
            <a:srgbClr val="E3E1DA"/>
          </a:solidFill>
          <a:ln/>
        </p:spPr>
      </p:sp>
      <p:sp>
        <p:nvSpPr>
          <p:cNvPr id="76" name="Shape 74"/>
          <p:cNvSpPr/>
          <p:nvPr/>
        </p:nvSpPr>
        <p:spPr>
          <a:xfrm>
            <a:off x="3684588" y="2642146"/>
            <a:ext cx="165100" cy="165100"/>
          </a:xfrm>
          <a:prstGeom prst="rect">
            <a:avLst/>
          </a:prstGeom>
          <a:solidFill>
            <a:srgbClr val="D9622B"/>
          </a:solidFill>
          <a:ln/>
        </p:spPr>
      </p:sp>
      <p:sp>
        <p:nvSpPr>
          <p:cNvPr id="77" name="Shape 75"/>
          <p:cNvSpPr/>
          <p:nvPr/>
        </p:nvSpPr>
        <p:spPr>
          <a:xfrm>
            <a:off x="3868738" y="2642146"/>
            <a:ext cx="165100" cy="165100"/>
          </a:xfrm>
          <a:prstGeom prst="rect">
            <a:avLst/>
          </a:prstGeom>
          <a:solidFill>
            <a:srgbClr val="D9622B"/>
          </a:solidFill>
          <a:ln/>
        </p:spPr>
      </p:sp>
      <p:sp>
        <p:nvSpPr>
          <p:cNvPr id="78" name="Shape 76"/>
          <p:cNvSpPr/>
          <p:nvPr/>
        </p:nvSpPr>
        <p:spPr>
          <a:xfrm>
            <a:off x="4052888" y="2642146"/>
            <a:ext cx="165100" cy="165100"/>
          </a:xfrm>
          <a:prstGeom prst="rect">
            <a:avLst/>
          </a:prstGeom>
          <a:solidFill>
            <a:srgbClr val="E3E1DA"/>
          </a:solidFill>
          <a:ln/>
        </p:spPr>
      </p:sp>
      <p:sp>
        <p:nvSpPr>
          <p:cNvPr id="79" name="Shape 77"/>
          <p:cNvSpPr/>
          <p:nvPr/>
        </p:nvSpPr>
        <p:spPr>
          <a:xfrm>
            <a:off x="4237038" y="2642146"/>
            <a:ext cx="165100" cy="165100"/>
          </a:xfrm>
          <a:prstGeom prst="rect">
            <a:avLst/>
          </a:prstGeom>
          <a:solidFill>
            <a:srgbClr val="E3E1DA"/>
          </a:solidFill>
          <a:ln/>
        </p:spPr>
      </p:sp>
      <p:sp>
        <p:nvSpPr>
          <p:cNvPr id="80" name="Shape 78"/>
          <p:cNvSpPr/>
          <p:nvPr/>
        </p:nvSpPr>
        <p:spPr>
          <a:xfrm>
            <a:off x="3684588" y="2826296"/>
            <a:ext cx="165100" cy="165100"/>
          </a:xfrm>
          <a:prstGeom prst="rect">
            <a:avLst/>
          </a:prstGeom>
          <a:solidFill>
            <a:srgbClr val="D9622B"/>
          </a:solidFill>
          <a:ln/>
        </p:spPr>
      </p:sp>
      <p:sp>
        <p:nvSpPr>
          <p:cNvPr id="81" name="Shape 79"/>
          <p:cNvSpPr/>
          <p:nvPr/>
        </p:nvSpPr>
        <p:spPr>
          <a:xfrm>
            <a:off x="3868738" y="2826296"/>
            <a:ext cx="165100" cy="165100"/>
          </a:xfrm>
          <a:prstGeom prst="rect">
            <a:avLst/>
          </a:prstGeom>
          <a:solidFill>
            <a:srgbClr val="D9622B"/>
          </a:solidFill>
          <a:ln/>
        </p:spPr>
      </p:sp>
      <p:sp>
        <p:nvSpPr>
          <p:cNvPr id="82" name="Shape 80"/>
          <p:cNvSpPr/>
          <p:nvPr/>
        </p:nvSpPr>
        <p:spPr>
          <a:xfrm>
            <a:off x="4052888" y="2826296"/>
            <a:ext cx="165100" cy="165100"/>
          </a:xfrm>
          <a:prstGeom prst="rect">
            <a:avLst/>
          </a:prstGeom>
          <a:solidFill>
            <a:srgbClr val="E3E1DA"/>
          </a:solidFill>
          <a:ln/>
        </p:spPr>
      </p:sp>
      <p:sp>
        <p:nvSpPr>
          <p:cNvPr id="83" name="Shape 81"/>
          <p:cNvSpPr/>
          <p:nvPr/>
        </p:nvSpPr>
        <p:spPr>
          <a:xfrm>
            <a:off x="4237038" y="2826296"/>
            <a:ext cx="165100" cy="165100"/>
          </a:xfrm>
          <a:prstGeom prst="rect">
            <a:avLst/>
          </a:prstGeom>
          <a:solidFill>
            <a:srgbClr val="E3E1DA"/>
          </a:solidFill>
          <a:ln/>
        </p:spPr>
      </p:sp>
      <p:sp>
        <p:nvSpPr>
          <p:cNvPr id="84" name="Text 82"/>
          <p:cNvSpPr/>
          <p:nvPr/>
        </p:nvSpPr>
        <p:spPr>
          <a:xfrm>
            <a:off x="3498850" y="3172371"/>
            <a:ext cx="113982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430"/>
                </a:solidFill>
                <a:latin typeface="DM Sans" pitchFamily="34" charset="0"/>
                <a:ea typeface="DM Sans" pitchFamily="34" charset="-122"/>
                <a:cs typeface="DM Sans" pitchFamily="34" charset="-120"/>
              </a:rPr>
              <a:t>ReLU</a:t>
            </a:r>
            <a:endParaRPr lang="en-US" sz="1400" dirty="0"/>
          </a:p>
        </p:txBody>
      </p:sp>
      <p:sp>
        <p:nvSpPr>
          <p:cNvPr id="85" name="Text 83"/>
          <p:cNvSpPr/>
          <p:nvPr/>
        </p:nvSpPr>
        <p:spPr>
          <a:xfrm>
            <a:off x="3498850" y="3449191"/>
            <a:ext cx="1139825"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DM Sans" pitchFamily="34" charset="0"/>
                <a:ea typeface="DM Sans" pitchFamily="34" charset="-122"/>
                <a:cs typeface="DM Sans" pitchFamily="34" charset="-120"/>
              </a:rPr>
              <a:t>Negative numbers become 0</a:t>
            </a:r>
            <a:endParaRPr lang="en-US" sz="1200" dirty="0"/>
          </a:p>
        </p:txBody>
      </p:sp>
      <p:sp>
        <p:nvSpPr>
          <p:cNvPr id="86" name="Text 84"/>
          <p:cNvSpPr/>
          <p:nvPr/>
        </p:nvSpPr>
        <p:spPr>
          <a:xfrm>
            <a:off x="3498850" y="4106962"/>
            <a:ext cx="113982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F"/>
                </a:solidFill>
                <a:latin typeface="JetBrains Mono" pitchFamily="49" charset="0"/>
                <a:ea typeface="JetBrains Mono" pitchFamily="49" charset="-122"/>
                <a:cs typeface="JetBrains Mono" pitchFamily="49" charset="-120"/>
              </a:rPr>
              <a:t>4×4</a:t>
            </a:r>
            <a:endParaRPr lang="en-US" sz="1200" dirty="0"/>
          </a:p>
        </p:txBody>
      </p:sp>
      <p:sp>
        <p:nvSpPr>
          <p:cNvPr id="87" name="Text 85"/>
          <p:cNvSpPr/>
          <p:nvPr/>
        </p:nvSpPr>
        <p:spPr>
          <a:xfrm>
            <a:off x="4625975" y="2511971"/>
            <a:ext cx="2286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B93A0"/>
                </a:solidFill>
                <a:latin typeface="DM Sans" pitchFamily="34" charset="0"/>
                <a:ea typeface="DM Sans" pitchFamily="34" charset="-122"/>
                <a:cs typeface="DM Sans" pitchFamily="34" charset="-120"/>
              </a:rPr>
              <a:t>→</a:t>
            </a:r>
            <a:endParaRPr lang="en-US" sz="1400" dirty="0"/>
          </a:p>
        </p:txBody>
      </p:sp>
      <p:sp>
        <p:nvSpPr>
          <p:cNvPr id="88" name="Shape 86"/>
          <p:cNvSpPr/>
          <p:nvPr/>
        </p:nvSpPr>
        <p:spPr>
          <a:xfrm>
            <a:off x="4848225" y="2162721"/>
            <a:ext cx="1076325" cy="939800"/>
          </a:xfrm>
          <a:prstGeom prst="roundRect">
            <a:avLst>
              <a:gd name="adj" fmla="val 7432"/>
            </a:avLst>
          </a:prstGeom>
          <a:solidFill>
            <a:srgbClr val="FFFDF8"/>
          </a:solidFill>
          <a:ln w="12700">
            <a:solidFill>
              <a:srgbClr val="D8D4C8"/>
            </a:solidFill>
            <a:prstDash val="solid"/>
          </a:ln>
        </p:spPr>
      </p:sp>
      <p:sp>
        <p:nvSpPr>
          <p:cNvPr id="89" name="Shape 87"/>
          <p:cNvSpPr/>
          <p:nvPr/>
        </p:nvSpPr>
        <p:spPr>
          <a:xfrm>
            <a:off x="5094288" y="2340521"/>
            <a:ext cx="279400" cy="279400"/>
          </a:xfrm>
          <a:prstGeom prst="rect">
            <a:avLst/>
          </a:prstGeom>
          <a:solidFill>
            <a:srgbClr val="D9622B"/>
          </a:solidFill>
          <a:ln/>
        </p:spPr>
      </p:sp>
      <p:sp>
        <p:nvSpPr>
          <p:cNvPr id="90" name="Shape 88"/>
          <p:cNvSpPr/>
          <p:nvPr/>
        </p:nvSpPr>
        <p:spPr>
          <a:xfrm>
            <a:off x="5399088" y="2340521"/>
            <a:ext cx="279400" cy="279400"/>
          </a:xfrm>
          <a:prstGeom prst="rect">
            <a:avLst/>
          </a:prstGeom>
          <a:solidFill>
            <a:srgbClr val="E3E1DA"/>
          </a:solidFill>
          <a:ln/>
        </p:spPr>
      </p:sp>
      <p:sp>
        <p:nvSpPr>
          <p:cNvPr id="91" name="Shape 89"/>
          <p:cNvSpPr/>
          <p:nvPr/>
        </p:nvSpPr>
        <p:spPr>
          <a:xfrm>
            <a:off x="5094288" y="2645321"/>
            <a:ext cx="279400" cy="279400"/>
          </a:xfrm>
          <a:prstGeom prst="rect">
            <a:avLst/>
          </a:prstGeom>
          <a:solidFill>
            <a:srgbClr val="D9622B"/>
          </a:solidFill>
          <a:ln/>
        </p:spPr>
      </p:sp>
      <p:sp>
        <p:nvSpPr>
          <p:cNvPr id="92" name="Shape 90"/>
          <p:cNvSpPr/>
          <p:nvPr/>
        </p:nvSpPr>
        <p:spPr>
          <a:xfrm>
            <a:off x="5399088" y="2645321"/>
            <a:ext cx="279400" cy="279400"/>
          </a:xfrm>
          <a:prstGeom prst="rect">
            <a:avLst/>
          </a:prstGeom>
          <a:solidFill>
            <a:srgbClr val="E3E1DA"/>
          </a:solidFill>
          <a:ln/>
        </p:spPr>
      </p:sp>
      <p:sp>
        <p:nvSpPr>
          <p:cNvPr id="93" name="Text 91"/>
          <p:cNvSpPr/>
          <p:nvPr/>
        </p:nvSpPr>
        <p:spPr>
          <a:xfrm>
            <a:off x="4841875" y="3172371"/>
            <a:ext cx="113982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430"/>
                </a:solidFill>
                <a:latin typeface="DM Sans" pitchFamily="34" charset="0"/>
                <a:ea typeface="DM Sans" pitchFamily="34" charset="-122"/>
                <a:cs typeface="DM Sans" pitchFamily="34" charset="-120"/>
              </a:rPr>
              <a:t>Pool</a:t>
            </a:r>
            <a:endParaRPr lang="en-US" sz="1400" dirty="0"/>
          </a:p>
        </p:txBody>
      </p:sp>
      <p:sp>
        <p:nvSpPr>
          <p:cNvPr id="94" name="Text 92"/>
          <p:cNvSpPr/>
          <p:nvPr/>
        </p:nvSpPr>
        <p:spPr>
          <a:xfrm>
            <a:off x="4841875" y="3449191"/>
            <a:ext cx="1139825"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DM Sans" pitchFamily="34" charset="0"/>
                <a:ea typeface="DM Sans" pitchFamily="34" charset="-122"/>
                <a:cs typeface="DM Sans" pitchFamily="34" charset="-120"/>
              </a:rPr>
              <a:t>Keep the biggest of each 2×2 block</a:t>
            </a:r>
            <a:endParaRPr lang="en-US" sz="1200" dirty="0"/>
          </a:p>
        </p:txBody>
      </p:sp>
      <p:sp>
        <p:nvSpPr>
          <p:cNvPr id="95" name="Text 93"/>
          <p:cNvSpPr/>
          <p:nvPr/>
        </p:nvSpPr>
        <p:spPr>
          <a:xfrm>
            <a:off x="4841875" y="4106962"/>
            <a:ext cx="113982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F"/>
                </a:solidFill>
                <a:latin typeface="JetBrains Mono" pitchFamily="49" charset="0"/>
                <a:ea typeface="JetBrains Mono" pitchFamily="49" charset="-122"/>
                <a:cs typeface="JetBrains Mono" pitchFamily="49" charset="-120"/>
              </a:rPr>
              <a:t>2×2</a:t>
            </a:r>
            <a:endParaRPr lang="en-US" sz="1200" dirty="0"/>
          </a:p>
        </p:txBody>
      </p:sp>
      <p:sp>
        <p:nvSpPr>
          <p:cNvPr id="96" name="Text 94"/>
          <p:cNvSpPr/>
          <p:nvPr/>
        </p:nvSpPr>
        <p:spPr>
          <a:xfrm>
            <a:off x="6007100" y="2501850"/>
            <a:ext cx="2286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B93A0"/>
                </a:solidFill>
                <a:latin typeface="DM Sans" pitchFamily="34" charset="0"/>
                <a:ea typeface="DM Sans" pitchFamily="34" charset="-122"/>
                <a:cs typeface="DM Sans" pitchFamily="34" charset="-120"/>
              </a:rPr>
              <a:t>→</a:t>
            </a:r>
            <a:endParaRPr lang="en-US" sz="1400" dirty="0"/>
          </a:p>
        </p:txBody>
      </p:sp>
      <p:sp>
        <p:nvSpPr>
          <p:cNvPr id="97" name="Text 95"/>
          <p:cNvSpPr/>
          <p:nvPr/>
        </p:nvSpPr>
        <p:spPr>
          <a:xfrm>
            <a:off x="6261100" y="1752550"/>
            <a:ext cx="5118100" cy="314920"/>
          </a:xfrm>
          <a:prstGeom prst="roundRect">
            <a:avLst>
              <a:gd name="adj" fmla="val 16131"/>
            </a:avLst>
          </a:prstGeom>
          <a:solidFill>
            <a:srgbClr val="D6E3F5"/>
          </a:solidFill>
          <a:ln/>
        </p:spPr>
        <p:txBody>
          <a:bodyPr wrap="square" lIns="86721" tIns="35921" rIns="0" bIns="10521" rtlCol="0" anchor="t">
            <a:normAutofit/>
          </a:bodyPr>
          <a:lstStyle/>
          <a:p>
            <a:pPr algn="l" indent="0" marL="0">
              <a:lnSpc>
                <a:spcPts val="1680"/>
              </a:lnSpc>
              <a:buNone/>
            </a:pPr>
            <a:r>
              <a:rPr lang="en-US" sz="1200" b="1" dirty="0">
                <a:solidFill>
                  <a:srgbClr val="1B2430"/>
                </a:solidFill>
                <a:latin typeface="DM Sans" pitchFamily="34" charset="0"/>
                <a:ea typeface="DM Sans" pitchFamily="34" charset="-122"/>
                <a:cs typeface="DM Sans" pitchFamily="34" charset="-120"/>
              </a:rPr>
              <a:t>PART 2 · CLASSIFICATION: decide</a:t>
            </a:r>
            <a:endParaRPr lang="en-US" sz="1200" dirty="0"/>
          </a:p>
        </p:txBody>
      </p:sp>
      <p:sp>
        <p:nvSpPr>
          <p:cNvPr id="98" name="Shape 96"/>
          <p:cNvSpPr/>
          <p:nvPr/>
        </p:nvSpPr>
        <p:spPr>
          <a:xfrm>
            <a:off x="6267450" y="2162721"/>
            <a:ext cx="1076325" cy="939800"/>
          </a:xfrm>
          <a:prstGeom prst="roundRect">
            <a:avLst>
              <a:gd name="adj" fmla="val 7432"/>
            </a:avLst>
          </a:prstGeom>
          <a:solidFill>
            <a:srgbClr val="FFFDF8"/>
          </a:solidFill>
          <a:ln w="12700">
            <a:solidFill>
              <a:srgbClr val="D8D4C8"/>
            </a:solidFill>
            <a:prstDash val="solid"/>
          </a:ln>
        </p:spPr>
      </p:sp>
      <p:sp>
        <p:nvSpPr>
          <p:cNvPr id="99" name="Shape 97"/>
          <p:cNvSpPr/>
          <p:nvPr/>
        </p:nvSpPr>
        <p:spPr>
          <a:xfrm>
            <a:off x="6396038" y="2537371"/>
            <a:ext cx="190500" cy="190500"/>
          </a:xfrm>
          <a:prstGeom prst="rect">
            <a:avLst/>
          </a:prstGeom>
          <a:solidFill>
            <a:srgbClr val="D9622B"/>
          </a:solidFill>
          <a:ln/>
        </p:spPr>
      </p:sp>
      <p:sp>
        <p:nvSpPr>
          <p:cNvPr id="100" name="Shape 98"/>
          <p:cNvSpPr/>
          <p:nvPr/>
        </p:nvSpPr>
        <p:spPr>
          <a:xfrm>
            <a:off x="6605588" y="2537371"/>
            <a:ext cx="190500" cy="190500"/>
          </a:xfrm>
          <a:prstGeom prst="rect">
            <a:avLst/>
          </a:prstGeom>
          <a:solidFill>
            <a:srgbClr val="E3E1DA"/>
          </a:solidFill>
          <a:ln/>
        </p:spPr>
      </p:sp>
      <p:sp>
        <p:nvSpPr>
          <p:cNvPr id="101" name="Shape 99"/>
          <p:cNvSpPr/>
          <p:nvPr/>
        </p:nvSpPr>
        <p:spPr>
          <a:xfrm>
            <a:off x="6815138" y="2537371"/>
            <a:ext cx="190500" cy="190500"/>
          </a:xfrm>
          <a:prstGeom prst="rect">
            <a:avLst/>
          </a:prstGeom>
          <a:solidFill>
            <a:srgbClr val="D9622B"/>
          </a:solidFill>
          <a:ln/>
        </p:spPr>
      </p:sp>
      <p:sp>
        <p:nvSpPr>
          <p:cNvPr id="102" name="Shape 100"/>
          <p:cNvSpPr/>
          <p:nvPr/>
        </p:nvSpPr>
        <p:spPr>
          <a:xfrm>
            <a:off x="7024688" y="2537371"/>
            <a:ext cx="190500" cy="190500"/>
          </a:xfrm>
          <a:prstGeom prst="rect">
            <a:avLst/>
          </a:prstGeom>
          <a:solidFill>
            <a:srgbClr val="E3E1DA"/>
          </a:solidFill>
          <a:ln/>
        </p:spPr>
      </p:sp>
      <p:sp>
        <p:nvSpPr>
          <p:cNvPr id="103" name="Text 101"/>
          <p:cNvSpPr/>
          <p:nvPr/>
        </p:nvSpPr>
        <p:spPr>
          <a:xfrm>
            <a:off x="6261100" y="3172371"/>
            <a:ext cx="113982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430"/>
                </a:solidFill>
                <a:latin typeface="DM Sans" pitchFamily="34" charset="0"/>
                <a:ea typeface="DM Sans" pitchFamily="34" charset="-122"/>
                <a:cs typeface="DM Sans" pitchFamily="34" charset="-120"/>
              </a:rPr>
              <a:t>Flatten</a:t>
            </a:r>
            <a:endParaRPr lang="en-US" sz="1400" dirty="0"/>
          </a:p>
        </p:txBody>
      </p:sp>
      <p:sp>
        <p:nvSpPr>
          <p:cNvPr id="104" name="Text 102"/>
          <p:cNvSpPr/>
          <p:nvPr/>
        </p:nvSpPr>
        <p:spPr>
          <a:xfrm>
            <a:off x="6261100" y="3449191"/>
            <a:ext cx="1139825"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DM Sans" pitchFamily="34" charset="0"/>
                <a:ea typeface="DM Sans" pitchFamily="34" charset="-122"/>
                <a:cs typeface="DM Sans" pitchFamily="34" charset="-120"/>
              </a:rPr>
              <a:t>The grid becomes one row</a:t>
            </a:r>
            <a:endParaRPr lang="en-US" sz="1200" dirty="0"/>
          </a:p>
        </p:txBody>
      </p:sp>
      <p:sp>
        <p:nvSpPr>
          <p:cNvPr id="105" name="Text 103"/>
          <p:cNvSpPr/>
          <p:nvPr/>
        </p:nvSpPr>
        <p:spPr>
          <a:xfrm>
            <a:off x="6261100" y="4106962"/>
            <a:ext cx="113982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5FA6"/>
                </a:solidFill>
                <a:latin typeface="JetBrains Mono" pitchFamily="49" charset="0"/>
                <a:ea typeface="JetBrains Mono" pitchFamily="49" charset="-122"/>
                <a:cs typeface="JetBrains Mono" pitchFamily="49" charset="-120"/>
              </a:rPr>
              <a:t>4 numbers</a:t>
            </a:r>
            <a:endParaRPr lang="en-US" sz="1200" dirty="0"/>
          </a:p>
        </p:txBody>
      </p:sp>
      <p:sp>
        <p:nvSpPr>
          <p:cNvPr id="106" name="Text 104"/>
          <p:cNvSpPr/>
          <p:nvPr/>
        </p:nvSpPr>
        <p:spPr>
          <a:xfrm>
            <a:off x="7388225" y="2511971"/>
            <a:ext cx="2286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B93A0"/>
                </a:solidFill>
                <a:latin typeface="DM Sans" pitchFamily="34" charset="0"/>
                <a:ea typeface="DM Sans" pitchFamily="34" charset="-122"/>
                <a:cs typeface="DM Sans" pitchFamily="34" charset="-120"/>
              </a:rPr>
              <a:t>→</a:t>
            </a:r>
            <a:endParaRPr lang="en-US" sz="1400" dirty="0"/>
          </a:p>
        </p:txBody>
      </p:sp>
      <p:sp>
        <p:nvSpPr>
          <p:cNvPr id="107" name="Shape 105"/>
          <p:cNvSpPr/>
          <p:nvPr/>
        </p:nvSpPr>
        <p:spPr>
          <a:xfrm>
            <a:off x="7610475" y="2162721"/>
            <a:ext cx="1076325" cy="939800"/>
          </a:xfrm>
          <a:prstGeom prst="roundRect">
            <a:avLst>
              <a:gd name="adj" fmla="val 7432"/>
            </a:avLst>
          </a:prstGeom>
          <a:solidFill>
            <a:srgbClr val="FFFDF8"/>
          </a:solidFill>
          <a:ln w="12700">
            <a:solidFill>
              <a:srgbClr val="D8D4C8"/>
            </a:solidFill>
            <a:prstDash val="solid"/>
          </a:ln>
        </p:spPr>
      </p:sp>
      <p:pic>
        <p:nvPicPr>
          <p:cNvPr id="108" name="Image 0" descr="ellipse">    </p:cNvPr>
          <p:cNvPicPr>
            <a:picLocks noChangeAspect="1"/>
          </p:cNvPicPr>
          <p:nvPr/>
        </p:nvPicPr>
        <p:blipFill>
          <a:blip r:embed="rId1"/>
          <a:srcRect l="0" r="0" t="0" b="0"/>
          <a:stretch/>
        </p:blipFill>
        <p:spPr>
          <a:xfrm>
            <a:off x="8053387" y="2296071"/>
            <a:ext cx="190500" cy="190500"/>
          </a:xfrm>
          <a:prstGeom prst="rect">
            <a:avLst/>
          </a:prstGeom>
        </p:spPr>
      </p:pic>
      <p:pic>
        <p:nvPicPr>
          <p:cNvPr id="109" name="Image 1" descr="ellipse">    </p:cNvPr>
          <p:cNvPicPr>
            <a:picLocks noChangeAspect="1"/>
          </p:cNvPicPr>
          <p:nvPr/>
        </p:nvPicPr>
        <p:blipFill>
          <a:blip r:embed="rId2"/>
          <a:srcRect l="0" r="0" t="0" b="0"/>
          <a:stretch/>
        </p:blipFill>
        <p:spPr>
          <a:xfrm>
            <a:off x="8053387" y="2537371"/>
            <a:ext cx="190500" cy="190500"/>
          </a:xfrm>
          <a:prstGeom prst="rect">
            <a:avLst/>
          </a:prstGeom>
        </p:spPr>
      </p:pic>
      <p:pic>
        <p:nvPicPr>
          <p:cNvPr id="110" name="Image 2" descr="ellipse">    </p:cNvPr>
          <p:cNvPicPr>
            <a:picLocks noChangeAspect="1"/>
          </p:cNvPicPr>
          <p:nvPr/>
        </p:nvPicPr>
        <p:blipFill>
          <a:blip r:embed="rId3"/>
          <a:srcRect l="0" r="0" t="0" b="0"/>
          <a:stretch/>
        </p:blipFill>
        <p:spPr>
          <a:xfrm>
            <a:off x="8053387" y="2778671"/>
            <a:ext cx="190500" cy="190500"/>
          </a:xfrm>
          <a:prstGeom prst="rect">
            <a:avLst/>
          </a:prstGeom>
        </p:spPr>
      </p:pic>
      <p:sp>
        <p:nvSpPr>
          <p:cNvPr id="111" name="Text 106"/>
          <p:cNvSpPr/>
          <p:nvPr/>
        </p:nvSpPr>
        <p:spPr>
          <a:xfrm>
            <a:off x="7604125" y="3172371"/>
            <a:ext cx="113982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430"/>
                </a:solidFill>
                <a:latin typeface="DM Sans" pitchFamily="34" charset="0"/>
                <a:ea typeface="DM Sans" pitchFamily="34" charset="-122"/>
                <a:cs typeface="DM Sans" pitchFamily="34" charset="-120"/>
              </a:rPr>
              <a:t>Dense</a:t>
            </a:r>
            <a:endParaRPr lang="en-US" sz="1400" dirty="0"/>
          </a:p>
        </p:txBody>
      </p:sp>
      <p:sp>
        <p:nvSpPr>
          <p:cNvPr id="112" name="Text 107"/>
          <p:cNvSpPr/>
          <p:nvPr/>
        </p:nvSpPr>
        <p:spPr>
          <a:xfrm>
            <a:off x="7604125" y="3449191"/>
            <a:ext cx="1139825"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DM Sans" pitchFamily="34" charset="0"/>
                <a:ea typeface="DM Sans" pitchFamily="34" charset="-122"/>
                <a:cs typeface="DM Sans" pitchFamily="34" charset="-120"/>
              </a:rPr>
              <a:t>Each neuron gives one score</a:t>
            </a:r>
            <a:endParaRPr lang="en-US" sz="1200" dirty="0"/>
          </a:p>
        </p:txBody>
      </p:sp>
      <p:sp>
        <p:nvSpPr>
          <p:cNvPr id="113" name="Text 108"/>
          <p:cNvSpPr/>
          <p:nvPr/>
        </p:nvSpPr>
        <p:spPr>
          <a:xfrm>
            <a:off x="7604125" y="4106962"/>
            <a:ext cx="113982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5FA6"/>
                </a:solidFill>
                <a:latin typeface="JetBrains Mono" pitchFamily="49" charset="0"/>
                <a:ea typeface="JetBrains Mono" pitchFamily="49" charset="-122"/>
                <a:cs typeface="JetBrains Mono" pitchFamily="49" charset="-120"/>
              </a:rPr>
              <a:t>3 scores</a:t>
            </a:r>
            <a:endParaRPr lang="en-US" sz="1200" dirty="0"/>
          </a:p>
        </p:txBody>
      </p:sp>
      <p:sp>
        <p:nvSpPr>
          <p:cNvPr id="114" name="Text 109"/>
          <p:cNvSpPr/>
          <p:nvPr/>
        </p:nvSpPr>
        <p:spPr>
          <a:xfrm>
            <a:off x="8731250" y="2511971"/>
            <a:ext cx="2286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B93A0"/>
                </a:solidFill>
                <a:latin typeface="DM Sans" pitchFamily="34" charset="0"/>
                <a:ea typeface="DM Sans" pitchFamily="34" charset="-122"/>
                <a:cs typeface="DM Sans" pitchFamily="34" charset="-120"/>
              </a:rPr>
              <a:t>→</a:t>
            </a:r>
            <a:endParaRPr lang="en-US" sz="1400" dirty="0"/>
          </a:p>
        </p:txBody>
      </p:sp>
      <p:sp>
        <p:nvSpPr>
          <p:cNvPr id="115" name="Text 110"/>
          <p:cNvSpPr/>
          <p:nvPr/>
        </p:nvSpPr>
        <p:spPr>
          <a:xfrm>
            <a:off x="8953500" y="2162721"/>
            <a:ext cx="1076325" cy="939800"/>
          </a:xfrm>
          <a:prstGeom prst="roundRect">
            <a:avLst>
              <a:gd name="adj" fmla="val 7432"/>
            </a:avLst>
          </a:prstGeom>
          <a:solidFill>
            <a:srgbClr val="FFFDF8"/>
          </a:solidFill>
          <a:ln w="12700">
            <a:solidFill>
              <a:srgbClr val="D8D4C8"/>
            </a:solidFill>
            <a:prstDash val="solid"/>
          </a:ln>
        </p:spPr>
        <p:txBody>
          <a:bodyPr wrap="square" lIns="197624" tIns="0" rIns="146874" bIns="0" rtlCol="0" anchor="ctr">
            <a:normAutofit/>
          </a:bodyPr>
          <a:lstStyle/>
          <a:p>
            <a:pPr algn="l" indent="0" marL="0">
              <a:lnSpc>
                <a:spcPts val="1560"/>
              </a:lnSpc>
              <a:buNone/>
            </a:pPr>
            <a:r>
              <a:rPr lang="en-US" sz="1200" dirty="0">
                <a:solidFill>
                  <a:srgbClr val="1B2430"/>
                </a:solidFill>
                <a:latin typeface="JetBrains Mono" pitchFamily="49" charset="0"/>
                <a:ea typeface="JetBrains Mono" pitchFamily="49" charset="-122"/>
                <a:cs typeface="JetBrains Mono" pitchFamily="49" charset="-120"/>
              </a:rPr>
              <a:t>“1” 67%</a:t>
            </a:r>
            <a:endParaRPr lang="en-US" sz="1200" dirty="0"/>
          </a:p>
          <a:p>
            <a:pPr algn="l" indent="0" marL="0">
              <a:lnSpc>
                <a:spcPts val="1560"/>
              </a:lnSpc>
              <a:buNone/>
            </a:pPr>
            <a:r>
              <a:rPr lang="en-US" sz="1200" dirty="0">
                <a:solidFill>
                  <a:srgbClr val="1B2430"/>
                </a:solidFill>
                <a:latin typeface="JetBrains Mono" pitchFamily="49" charset="0"/>
                <a:ea typeface="JetBrains Mono" pitchFamily="49" charset="-122"/>
                <a:cs typeface="JetBrains Mono" pitchFamily="49" charset="-120"/>
              </a:rPr>
              <a:t>“7” 24%</a:t>
            </a:r>
            <a:endParaRPr lang="en-US" sz="1200" dirty="0"/>
          </a:p>
          <a:p>
            <a:pPr algn="l" indent="0" marL="0">
              <a:lnSpc>
                <a:spcPts val="1560"/>
              </a:lnSpc>
              <a:buNone/>
            </a:pPr>
            <a:r>
              <a:rPr lang="en-US" sz="1200" dirty="0">
                <a:solidFill>
                  <a:srgbClr val="1B2430"/>
                </a:solidFill>
                <a:latin typeface="JetBrains Mono" pitchFamily="49" charset="0"/>
                <a:ea typeface="JetBrains Mono" pitchFamily="49" charset="-122"/>
                <a:cs typeface="JetBrains Mono" pitchFamily="49" charset="-120"/>
              </a:rPr>
              <a:t>“0” 9%</a:t>
            </a:r>
            <a:endParaRPr lang="en-US" sz="1200" dirty="0"/>
          </a:p>
        </p:txBody>
      </p:sp>
      <p:sp>
        <p:nvSpPr>
          <p:cNvPr id="116" name="Text 111"/>
          <p:cNvSpPr/>
          <p:nvPr/>
        </p:nvSpPr>
        <p:spPr>
          <a:xfrm>
            <a:off x="8947150" y="3172371"/>
            <a:ext cx="113982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430"/>
                </a:solidFill>
                <a:latin typeface="DM Sans" pitchFamily="34" charset="0"/>
                <a:ea typeface="DM Sans" pitchFamily="34" charset="-122"/>
                <a:cs typeface="DM Sans" pitchFamily="34" charset="-120"/>
              </a:rPr>
              <a:t>Softmax</a:t>
            </a:r>
            <a:endParaRPr lang="en-US" sz="1400" dirty="0"/>
          </a:p>
        </p:txBody>
      </p:sp>
      <p:sp>
        <p:nvSpPr>
          <p:cNvPr id="117" name="Text 112"/>
          <p:cNvSpPr/>
          <p:nvPr/>
        </p:nvSpPr>
        <p:spPr>
          <a:xfrm>
            <a:off x="8947150" y="3449191"/>
            <a:ext cx="1139825" cy="81776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DM Sans" pitchFamily="34" charset="0"/>
                <a:ea typeface="DM Sans" pitchFamily="34" charset="-122"/>
                <a:cs typeface="DM Sans" pitchFamily="34" charset="-120"/>
              </a:rPr>
              <a:t>Scores become chances (total 100%)</a:t>
            </a:r>
            <a:endParaRPr lang="en-US" sz="1200" dirty="0"/>
          </a:p>
        </p:txBody>
      </p:sp>
      <p:sp>
        <p:nvSpPr>
          <p:cNvPr id="118" name="Text 113"/>
          <p:cNvSpPr/>
          <p:nvPr/>
        </p:nvSpPr>
        <p:spPr>
          <a:xfrm>
            <a:off x="8947150" y="4305052"/>
            <a:ext cx="113982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5FA6"/>
                </a:solidFill>
                <a:latin typeface="JetBrains Mono" pitchFamily="49" charset="0"/>
                <a:ea typeface="JetBrains Mono" pitchFamily="49" charset="-122"/>
                <a:cs typeface="JetBrains Mono" pitchFamily="49" charset="-120"/>
              </a:rPr>
              <a:t>3 chances</a:t>
            </a:r>
            <a:endParaRPr lang="en-US" sz="1200" dirty="0"/>
          </a:p>
        </p:txBody>
      </p:sp>
      <p:sp>
        <p:nvSpPr>
          <p:cNvPr id="119" name="Text 114"/>
          <p:cNvSpPr/>
          <p:nvPr/>
        </p:nvSpPr>
        <p:spPr>
          <a:xfrm>
            <a:off x="10074275" y="2511971"/>
            <a:ext cx="2286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B93A0"/>
                </a:solidFill>
                <a:latin typeface="DM Sans" pitchFamily="34" charset="0"/>
                <a:ea typeface="DM Sans" pitchFamily="34" charset="-122"/>
                <a:cs typeface="DM Sans" pitchFamily="34" charset="-120"/>
              </a:rPr>
              <a:t>→</a:t>
            </a:r>
            <a:endParaRPr lang="en-US" sz="1400" dirty="0"/>
          </a:p>
        </p:txBody>
      </p:sp>
      <p:sp>
        <p:nvSpPr>
          <p:cNvPr id="120" name="Text 115"/>
          <p:cNvSpPr/>
          <p:nvPr/>
        </p:nvSpPr>
        <p:spPr>
          <a:xfrm>
            <a:off x="10296525" y="2162721"/>
            <a:ext cx="1076325" cy="939800"/>
          </a:xfrm>
          <a:prstGeom prst="roundRect">
            <a:avLst>
              <a:gd name="adj" fmla="val 7432"/>
            </a:avLst>
          </a:prstGeom>
          <a:solidFill>
            <a:srgbClr val="1B2430"/>
          </a:solidFill>
          <a:ln w="12700">
            <a:solidFill>
              <a:srgbClr val="1B2430"/>
            </a:solidFill>
            <a:prstDash val="solid"/>
          </a:ln>
        </p:spPr>
        <p:txBody>
          <a:bodyPr wrap="square" lIns="0" tIns="0" rIns="0" bIns="0" rtlCol="0" anchor="ctr">
            <a:normAutofit/>
          </a:bodyPr>
          <a:lstStyle/>
          <a:p>
            <a:pPr algn="ctr" indent="0" marL="0">
              <a:lnSpc>
                <a:spcPts val="5600"/>
              </a:lnSpc>
              <a:buNone/>
            </a:pPr>
            <a:r>
              <a:rPr lang="en-US" sz="4000" b="1" dirty="0">
                <a:solidFill>
                  <a:srgbClr val="F0A070"/>
                </a:solidFill>
                <a:latin typeface="JetBrains Mono" pitchFamily="49" charset="0"/>
                <a:ea typeface="JetBrains Mono" pitchFamily="49" charset="-122"/>
                <a:cs typeface="JetBrains Mono" pitchFamily="49" charset="-120"/>
              </a:rPr>
              <a:t>1</a:t>
            </a:r>
            <a:endParaRPr lang="en-US" sz="4000" dirty="0"/>
          </a:p>
        </p:txBody>
      </p:sp>
      <p:sp>
        <p:nvSpPr>
          <p:cNvPr id="121" name="Text 116"/>
          <p:cNvSpPr/>
          <p:nvPr/>
        </p:nvSpPr>
        <p:spPr>
          <a:xfrm>
            <a:off x="10290175" y="3172371"/>
            <a:ext cx="113982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430"/>
                </a:solidFill>
                <a:latin typeface="DM Sans" pitchFamily="34" charset="0"/>
                <a:ea typeface="DM Sans" pitchFamily="34" charset="-122"/>
                <a:cs typeface="DM Sans" pitchFamily="34" charset="-120"/>
              </a:rPr>
              <a:t>Answer</a:t>
            </a:r>
            <a:endParaRPr lang="en-US" sz="1400" dirty="0"/>
          </a:p>
        </p:txBody>
      </p:sp>
      <p:sp>
        <p:nvSpPr>
          <p:cNvPr id="122" name="Text 117"/>
          <p:cNvSpPr/>
          <p:nvPr/>
        </p:nvSpPr>
        <p:spPr>
          <a:xfrm>
            <a:off x="10290175" y="3449191"/>
            <a:ext cx="1139825"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DM Sans" pitchFamily="34" charset="0"/>
                <a:ea typeface="DM Sans" pitchFamily="34" charset="-122"/>
                <a:cs typeface="DM Sans" pitchFamily="34" charset="-120"/>
              </a:rPr>
              <a:t>The biggest chance wins</a:t>
            </a:r>
            <a:endParaRPr lang="en-US" sz="1200" dirty="0"/>
          </a:p>
        </p:txBody>
      </p:sp>
      <p:sp>
        <p:nvSpPr>
          <p:cNvPr id="123" name="Text 118"/>
          <p:cNvSpPr/>
          <p:nvPr/>
        </p:nvSpPr>
        <p:spPr>
          <a:xfrm>
            <a:off x="10290175" y="3908871"/>
            <a:ext cx="113982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5FA6"/>
                </a:solidFill>
                <a:latin typeface="JetBrains Mono" pitchFamily="49" charset="0"/>
                <a:ea typeface="JetBrains Mono" pitchFamily="49" charset="-122"/>
                <a:cs typeface="JetBrains Mono" pitchFamily="49" charset="-120"/>
              </a:rPr>
              <a:t>“1”</a:t>
            </a:r>
            <a:endParaRPr lang="en-US" sz="1200" dirty="0"/>
          </a:p>
        </p:txBody>
      </p:sp>
      <p:sp>
        <p:nvSpPr>
          <p:cNvPr id="124" name="Text 119"/>
          <p:cNvSpPr/>
          <p:nvPr/>
        </p:nvSpPr>
        <p:spPr>
          <a:xfrm>
            <a:off x="812800" y="4746972"/>
            <a:ext cx="10566400" cy="528290"/>
          </a:xfrm>
          <a:prstGeom prst="roundRect">
            <a:avLst>
              <a:gd name="adj" fmla="val 19232"/>
            </a:avLst>
          </a:prstGeom>
          <a:solidFill>
            <a:srgbClr val="1B2430"/>
          </a:solidFill>
          <a:ln/>
        </p:spPr>
        <p:txBody>
          <a:bodyPr wrap="square" lIns="173442" tIns="109942" rIns="0" bIns="84542" rtlCol="0" anchor="t">
            <a:normAutofit/>
          </a:bodyPr>
          <a:lstStyle/>
          <a:p>
            <a:pPr algn="l" indent="0" marL="0">
              <a:lnSpc>
                <a:spcPts val="1960"/>
              </a:lnSpc>
              <a:buNone/>
            </a:pPr>
            <a:r>
              <a:rPr lang="en-US" sz="1400" dirty="0">
                <a:solidFill>
                  <a:srgbClr val="F7F5F0"/>
                </a:solidFill>
                <a:latin typeface="DM Sans" pitchFamily="34" charset="0"/>
                <a:ea typeface="DM Sans" pitchFamily="34" charset="-122"/>
                <a:cs typeface="DM Sans" pitchFamily="34" charset="-120"/>
              </a:rPr>
              <a:t>Watch this map. It comes back at the top of every slide, with </a:t>
            </a:r>
            <a:r>
              <a:rPr lang="en-US" sz="1400" dirty="0">
                <a:solidFill>
                  <a:srgbClr val="F0A070"/>
                </a:solidFill>
                <a:latin typeface="DM Sans" pitchFamily="34" charset="0"/>
                <a:ea typeface="DM Sans" pitchFamily="34" charset="-122"/>
                <a:cs typeface="DM Sans" pitchFamily="34" charset="-120"/>
              </a:rPr>
              <a:t>the step we are on in orange</a:t>
            </a:r>
            <a:r>
              <a:rPr lang="en-US" sz="1400" dirty="0">
                <a:solidFill>
                  <a:srgbClr val="F7F5F0"/>
                </a:solidFill>
                <a:latin typeface="DM Sans" pitchFamily="34" charset="0"/>
                <a:ea typeface="DM Sans" pitchFamily="34" charset="-122"/>
                <a:cs typeface="DM Sans" pitchFamily="34" charset="-120"/>
              </a:rPr>
              <a:t>.</a:t>
            </a:r>
            <a:endParaRPr lang="en-US" sz="1400" dirty="0"/>
          </a:p>
        </p:txBody>
      </p:sp>
      <p:sp>
        <p:nvSpPr>
          <p:cNvPr id="125" name="Text 1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DM Sans" pitchFamily="34" charset="0"/>
                <a:ea typeface="DM Sans" pitchFamily="34" charset="-122"/>
                <a:cs typeface="DM Sans" pitchFamily="34" charset="-120"/>
              </a:rPr>
              <a:t>CNN step by step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819150" y="412750"/>
            <a:ext cx="1108075" cy="515541"/>
          </a:xfrm>
          <a:prstGeom prst="roundRect">
            <a:avLst>
              <a:gd name="adj" fmla="val 11085"/>
            </a:avLst>
          </a:prstGeom>
          <a:solidFill>
            <a:srgbClr val="B8501F"/>
          </a:solidFill>
          <a:ln w="12700">
            <a:solidFill>
              <a:srgbClr val="B8501F"/>
            </a:solidFill>
            <a:prstDash val="solid"/>
          </a:ln>
        </p:spPr>
      </p:sp>
      <p:sp>
        <p:nvSpPr>
          <p:cNvPr id="3" name="Text 1"/>
          <p:cNvSpPr/>
          <p:nvPr/>
        </p:nvSpPr>
        <p:spPr>
          <a:xfrm>
            <a:off x="85090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FFDF8"/>
                </a:solidFill>
                <a:latin typeface="DM Sans" pitchFamily="34" charset="0"/>
                <a:ea typeface="DM Sans" pitchFamily="34" charset="-122"/>
                <a:cs typeface="DM Sans" pitchFamily="34" charset="-120"/>
              </a:rPr>
              <a:t>Image</a:t>
            </a:r>
            <a:endParaRPr lang="en-US" sz="1200" dirty="0"/>
          </a:p>
        </p:txBody>
      </p:sp>
      <p:sp>
        <p:nvSpPr>
          <p:cNvPr id="4" name="Text 2"/>
          <p:cNvSpPr/>
          <p:nvPr/>
        </p:nvSpPr>
        <p:spPr>
          <a:xfrm>
            <a:off x="85090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FFDF8"/>
                </a:solidFill>
                <a:latin typeface="JetBrains Mono" pitchFamily="49" charset="0"/>
                <a:ea typeface="JetBrains Mono" pitchFamily="49" charset="-122"/>
                <a:cs typeface="JetBrains Mono" pitchFamily="49" charset="-120"/>
              </a:rPr>
              <a:t>6×6</a:t>
            </a:r>
            <a:endParaRPr lang="en-US" sz="1200" dirty="0"/>
          </a:p>
        </p:txBody>
      </p:sp>
      <p:sp>
        <p:nvSpPr>
          <p:cNvPr id="5" name="Text 3"/>
          <p:cNvSpPr/>
          <p:nvPr/>
        </p:nvSpPr>
        <p:spPr>
          <a:xfrm>
            <a:off x="197167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6" name="Shape 4"/>
          <p:cNvSpPr/>
          <p:nvPr/>
        </p:nvSpPr>
        <p:spPr>
          <a:xfrm>
            <a:off x="2168525" y="412750"/>
            <a:ext cx="1108075" cy="515541"/>
          </a:xfrm>
          <a:prstGeom prst="roundRect">
            <a:avLst>
              <a:gd name="adj" fmla="val 11085"/>
            </a:avLst>
          </a:prstGeom>
          <a:noFill/>
          <a:ln w="12700">
            <a:solidFill>
              <a:srgbClr val="D8D4C8"/>
            </a:solidFill>
            <a:prstDash val="solid"/>
          </a:ln>
        </p:spPr>
      </p:sp>
      <p:sp>
        <p:nvSpPr>
          <p:cNvPr id="7" name="Text 5"/>
          <p:cNvSpPr/>
          <p:nvPr/>
        </p:nvSpPr>
        <p:spPr>
          <a:xfrm>
            <a:off x="220027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Conv</a:t>
            </a:r>
            <a:endParaRPr lang="en-US" sz="1200" dirty="0"/>
          </a:p>
        </p:txBody>
      </p:sp>
      <p:sp>
        <p:nvSpPr>
          <p:cNvPr id="8" name="Text 6"/>
          <p:cNvSpPr/>
          <p:nvPr/>
        </p:nvSpPr>
        <p:spPr>
          <a:xfrm>
            <a:off x="220027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4×4</a:t>
            </a:r>
            <a:endParaRPr lang="en-US" sz="1200" dirty="0"/>
          </a:p>
        </p:txBody>
      </p:sp>
      <p:sp>
        <p:nvSpPr>
          <p:cNvPr id="9" name="Text 7"/>
          <p:cNvSpPr/>
          <p:nvPr/>
        </p:nvSpPr>
        <p:spPr>
          <a:xfrm>
            <a:off x="3321050"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10" name="Shape 8"/>
          <p:cNvSpPr/>
          <p:nvPr/>
        </p:nvSpPr>
        <p:spPr>
          <a:xfrm>
            <a:off x="3517900" y="412750"/>
            <a:ext cx="1108075" cy="515541"/>
          </a:xfrm>
          <a:prstGeom prst="roundRect">
            <a:avLst>
              <a:gd name="adj" fmla="val 11085"/>
            </a:avLst>
          </a:prstGeom>
          <a:noFill/>
          <a:ln w="12700">
            <a:solidFill>
              <a:srgbClr val="D8D4C8"/>
            </a:solidFill>
            <a:prstDash val="solid"/>
          </a:ln>
        </p:spPr>
      </p:sp>
      <p:sp>
        <p:nvSpPr>
          <p:cNvPr id="11" name="Text 9"/>
          <p:cNvSpPr/>
          <p:nvPr/>
        </p:nvSpPr>
        <p:spPr>
          <a:xfrm>
            <a:off x="354965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ReLU</a:t>
            </a:r>
            <a:endParaRPr lang="en-US" sz="1200" dirty="0"/>
          </a:p>
        </p:txBody>
      </p:sp>
      <p:sp>
        <p:nvSpPr>
          <p:cNvPr id="12" name="Text 10"/>
          <p:cNvSpPr/>
          <p:nvPr/>
        </p:nvSpPr>
        <p:spPr>
          <a:xfrm>
            <a:off x="354965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4×4</a:t>
            </a:r>
            <a:endParaRPr lang="en-US" sz="1200" dirty="0"/>
          </a:p>
        </p:txBody>
      </p:sp>
      <p:sp>
        <p:nvSpPr>
          <p:cNvPr id="13" name="Text 11"/>
          <p:cNvSpPr/>
          <p:nvPr/>
        </p:nvSpPr>
        <p:spPr>
          <a:xfrm>
            <a:off x="467042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14" name="Shape 12"/>
          <p:cNvSpPr/>
          <p:nvPr/>
        </p:nvSpPr>
        <p:spPr>
          <a:xfrm>
            <a:off x="4867275" y="412750"/>
            <a:ext cx="1108075" cy="515541"/>
          </a:xfrm>
          <a:prstGeom prst="roundRect">
            <a:avLst>
              <a:gd name="adj" fmla="val 11085"/>
            </a:avLst>
          </a:prstGeom>
          <a:noFill/>
          <a:ln w="12700">
            <a:solidFill>
              <a:srgbClr val="D8D4C8"/>
            </a:solidFill>
            <a:prstDash val="solid"/>
          </a:ln>
        </p:spPr>
      </p:sp>
      <p:sp>
        <p:nvSpPr>
          <p:cNvPr id="15" name="Text 13"/>
          <p:cNvSpPr/>
          <p:nvPr/>
        </p:nvSpPr>
        <p:spPr>
          <a:xfrm>
            <a:off x="489902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Pool</a:t>
            </a:r>
            <a:endParaRPr lang="en-US" sz="1200" dirty="0"/>
          </a:p>
        </p:txBody>
      </p:sp>
      <p:sp>
        <p:nvSpPr>
          <p:cNvPr id="16" name="Text 14"/>
          <p:cNvSpPr/>
          <p:nvPr/>
        </p:nvSpPr>
        <p:spPr>
          <a:xfrm>
            <a:off x="489902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2×2</a:t>
            </a:r>
            <a:endParaRPr lang="en-US" sz="1200" dirty="0"/>
          </a:p>
        </p:txBody>
      </p:sp>
      <p:sp>
        <p:nvSpPr>
          <p:cNvPr id="17" name="Text 15"/>
          <p:cNvSpPr/>
          <p:nvPr/>
        </p:nvSpPr>
        <p:spPr>
          <a:xfrm>
            <a:off x="6019800"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18" name="Shape 16"/>
          <p:cNvSpPr/>
          <p:nvPr/>
        </p:nvSpPr>
        <p:spPr>
          <a:xfrm>
            <a:off x="6216650" y="412750"/>
            <a:ext cx="1108075" cy="515541"/>
          </a:xfrm>
          <a:prstGeom prst="roundRect">
            <a:avLst>
              <a:gd name="adj" fmla="val 11085"/>
            </a:avLst>
          </a:prstGeom>
          <a:noFill/>
          <a:ln w="12700">
            <a:solidFill>
              <a:srgbClr val="D8D4C8"/>
            </a:solidFill>
            <a:prstDash val="solid"/>
          </a:ln>
        </p:spPr>
      </p:sp>
      <p:sp>
        <p:nvSpPr>
          <p:cNvPr id="19" name="Text 17"/>
          <p:cNvSpPr/>
          <p:nvPr/>
        </p:nvSpPr>
        <p:spPr>
          <a:xfrm>
            <a:off x="624840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Flatten</a:t>
            </a:r>
            <a:endParaRPr lang="en-US" sz="1200" dirty="0"/>
          </a:p>
        </p:txBody>
      </p:sp>
      <p:sp>
        <p:nvSpPr>
          <p:cNvPr id="20" name="Text 18"/>
          <p:cNvSpPr/>
          <p:nvPr/>
        </p:nvSpPr>
        <p:spPr>
          <a:xfrm>
            <a:off x="624840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4 nums</a:t>
            </a:r>
            <a:endParaRPr lang="en-US" sz="1200" dirty="0"/>
          </a:p>
        </p:txBody>
      </p:sp>
      <p:sp>
        <p:nvSpPr>
          <p:cNvPr id="21" name="Text 19"/>
          <p:cNvSpPr/>
          <p:nvPr/>
        </p:nvSpPr>
        <p:spPr>
          <a:xfrm>
            <a:off x="736917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22" name="Shape 20"/>
          <p:cNvSpPr/>
          <p:nvPr/>
        </p:nvSpPr>
        <p:spPr>
          <a:xfrm>
            <a:off x="7566025" y="412750"/>
            <a:ext cx="1108075" cy="515541"/>
          </a:xfrm>
          <a:prstGeom prst="roundRect">
            <a:avLst>
              <a:gd name="adj" fmla="val 11085"/>
            </a:avLst>
          </a:prstGeom>
          <a:noFill/>
          <a:ln w="12700">
            <a:solidFill>
              <a:srgbClr val="D8D4C8"/>
            </a:solidFill>
            <a:prstDash val="solid"/>
          </a:ln>
        </p:spPr>
      </p:sp>
      <p:sp>
        <p:nvSpPr>
          <p:cNvPr id="23" name="Text 21"/>
          <p:cNvSpPr/>
          <p:nvPr/>
        </p:nvSpPr>
        <p:spPr>
          <a:xfrm>
            <a:off x="759777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Dense</a:t>
            </a:r>
            <a:endParaRPr lang="en-US" sz="1200" dirty="0"/>
          </a:p>
        </p:txBody>
      </p:sp>
      <p:sp>
        <p:nvSpPr>
          <p:cNvPr id="24" name="Text 22"/>
          <p:cNvSpPr/>
          <p:nvPr/>
        </p:nvSpPr>
        <p:spPr>
          <a:xfrm>
            <a:off x="759777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3 scores</a:t>
            </a:r>
            <a:endParaRPr lang="en-US" sz="1200" dirty="0"/>
          </a:p>
        </p:txBody>
      </p:sp>
      <p:sp>
        <p:nvSpPr>
          <p:cNvPr id="25" name="Text 23"/>
          <p:cNvSpPr/>
          <p:nvPr/>
        </p:nvSpPr>
        <p:spPr>
          <a:xfrm>
            <a:off x="8718550"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26" name="Shape 24"/>
          <p:cNvSpPr/>
          <p:nvPr/>
        </p:nvSpPr>
        <p:spPr>
          <a:xfrm>
            <a:off x="8915400" y="412750"/>
            <a:ext cx="1108075" cy="515541"/>
          </a:xfrm>
          <a:prstGeom prst="roundRect">
            <a:avLst>
              <a:gd name="adj" fmla="val 11085"/>
            </a:avLst>
          </a:prstGeom>
          <a:noFill/>
          <a:ln w="12700">
            <a:solidFill>
              <a:srgbClr val="D8D4C8"/>
            </a:solidFill>
            <a:prstDash val="solid"/>
          </a:ln>
        </p:spPr>
      </p:sp>
      <p:sp>
        <p:nvSpPr>
          <p:cNvPr id="27" name="Text 25"/>
          <p:cNvSpPr/>
          <p:nvPr/>
        </p:nvSpPr>
        <p:spPr>
          <a:xfrm>
            <a:off x="894715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Softmax</a:t>
            </a:r>
            <a:endParaRPr lang="en-US" sz="1200" dirty="0"/>
          </a:p>
        </p:txBody>
      </p:sp>
      <p:sp>
        <p:nvSpPr>
          <p:cNvPr id="28" name="Text 26"/>
          <p:cNvSpPr/>
          <p:nvPr/>
        </p:nvSpPr>
        <p:spPr>
          <a:xfrm>
            <a:off x="894715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3 chances</a:t>
            </a:r>
            <a:endParaRPr lang="en-US" sz="1200" dirty="0"/>
          </a:p>
        </p:txBody>
      </p:sp>
      <p:sp>
        <p:nvSpPr>
          <p:cNvPr id="29" name="Text 27"/>
          <p:cNvSpPr/>
          <p:nvPr/>
        </p:nvSpPr>
        <p:spPr>
          <a:xfrm>
            <a:off x="1006792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30" name="Shape 28"/>
          <p:cNvSpPr/>
          <p:nvPr/>
        </p:nvSpPr>
        <p:spPr>
          <a:xfrm>
            <a:off x="10264775" y="412750"/>
            <a:ext cx="1108075" cy="515541"/>
          </a:xfrm>
          <a:prstGeom prst="roundRect">
            <a:avLst>
              <a:gd name="adj" fmla="val 11085"/>
            </a:avLst>
          </a:prstGeom>
          <a:noFill/>
          <a:ln w="12700">
            <a:solidFill>
              <a:srgbClr val="D8D4C8"/>
            </a:solidFill>
            <a:prstDash val="solid"/>
          </a:ln>
        </p:spPr>
      </p:sp>
      <p:sp>
        <p:nvSpPr>
          <p:cNvPr id="31" name="Text 29"/>
          <p:cNvSpPr/>
          <p:nvPr/>
        </p:nvSpPr>
        <p:spPr>
          <a:xfrm>
            <a:off x="1029652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Answer</a:t>
            </a:r>
            <a:endParaRPr lang="en-US" sz="1200" dirty="0"/>
          </a:p>
        </p:txBody>
      </p:sp>
      <p:sp>
        <p:nvSpPr>
          <p:cNvPr id="32" name="Text 30"/>
          <p:cNvSpPr/>
          <p:nvPr/>
        </p:nvSpPr>
        <p:spPr>
          <a:xfrm>
            <a:off x="1029652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“1”</a:t>
            </a:r>
            <a:endParaRPr lang="en-US" sz="1200" dirty="0"/>
          </a:p>
        </p:txBody>
      </p:sp>
      <p:sp>
        <p:nvSpPr>
          <p:cNvPr id="33" name="Text 31"/>
          <p:cNvSpPr/>
          <p:nvPr/>
        </p:nvSpPr>
        <p:spPr>
          <a:xfrm>
            <a:off x="812800" y="113784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501F"/>
                </a:solidFill>
                <a:latin typeface="DM Sans" pitchFamily="34" charset="0"/>
                <a:ea typeface="DM Sans" pitchFamily="34" charset="-122"/>
                <a:cs typeface="DM Sans" pitchFamily="34" charset="-120"/>
              </a:rPr>
              <a:t>STEP 0 · OUR ONE EXAMPLE</a:t>
            </a:r>
            <a:endParaRPr lang="en-US" sz="1200" dirty="0"/>
          </a:p>
        </p:txBody>
      </p:sp>
      <p:sp>
        <p:nvSpPr>
          <p:cNvPr id="34" name="Text 32"/>
          <p:cNvSpPr/>
          <p:nvPr>
            <p:ph type="title"/>
          </p:nvPr>
        </p:nvSpPr>
        <p:spPr>
          <a:xfrm>
            <a:off x="812800" y="1401961"/>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430"/>
                </a:solidFill>
                <a:latin typeface="DM Sans" pitchFamily="34" charset="0"/>
                <a:ea typeface="DM Sans" pitchFamily="34" charset="-122"/>
                <a:cs typeface="DM Sans" pitchFamily="34" charset="-120"/>
              </a:rPr>
              <a:t>A computer sees our picture as numbers</a:t>
            </a:r>
            <a:endParaRPr lang="en-US" sz="3200" dirty="0"/>
          </a:p>
        </p:txBody>
      </p:sp>
      <p:sp>
        <p:nvSpPr>
          <p:cNvPr id="35" name="Text 33"/>
          <p:cNvSpPr/>
          <p:nvPr/>
        </p:nvSpPr>
        <p:spPr>
          <a:xfrm>
            <a:off x="812800" y="2052191"/>
            <a:ext cx="482600" cy="482600"/>
          </a:xfrm>
          <a:prstGeom prst="rect">
            <a:avLst/>
          </a:prstGeom>
          <a:solidFill>
            <a:srgbClr val="FFFDF8"/>
          </a:solidFill>
          <a:ln/>
        </p:spPr>
        <p:txBody>
          <a:bodyPr wrap="square" lIns="0" tIns="0" rIns="0" bIns="0" rtlCol="0" anchor="t">
            <a:normAutofit/>
          </a:bodyPr>
          <a:lstStyle/>
          <a:p>
            <a:pPr algn="ctr" indent="0" marL="0">
              <a:lnSpc>
                <a:spcPts val="3808"/>
              </a:lnSpc>
              <a:buNone/>
            </a:pPr>
            <a:r>
              <a:rPr lang="en-US" sz="1600" dirty="0">
                <a:solidFill>
                  <a:srgbClr val="8B93A0"/>
                </a:solidFill>
                <a:latin typeface="JetBrains Mono" pitchFamily="49" charset="0"/>
                <a:ea typeface="JetBrains Mono" pitchFamily="49" charset="-122"/>
                <a:cs typeface="JetBrains Mono" pitchFamily="49" charset="-120"/>
              </a:rPr>
              <a:t>0</a:t>
            </a:r>
            <a:endParaRPr lang="en-US" sz="1600" dirty="0"/>
          </a:p>
        </p:txBody>
      </p:sp>
      <p:sp>
        <p:nvSpPr>
          <p:cNvPr id="36" name="Text 34"/>
          <p:cNvSpPr/>
          <p:nvPr/>
        </p:nvSpPr>
        <p:spPr>
          <a:xfrm>
            <a:off x="1333500" y="2052191"/>
            <a:ext cx="482600" cy="482600"/>
          </a:xfrm>
          <a:prstGeom prst="rect">
            <a:avLst/>
          </a:prstGeom>
          <a:solidFill>
            <a:srgbClr val="FFFDF8"/>
          </a:solidFill>
          <a:ln/>
        </p:spPr>
        <p:txBody>
          <a:bodyPr wrap="square" lIns="0" tIns="0" rIns="0" bIns="0" rtlCol="0" anchor="t">
            <a:normAutofit/>
          </a:bodyPr>
          <a:lstStyle/>
          <a:p>
            <a:pPr algn="ctr" indent="0" marL="0">
              <a:lnSpc>
                <a:spcPts val="3808"/>
              </a:lnSpc>
              <a:buNone/>
            </a:pPr>
            <a:r>
              <a:rPr lang="en-US" sz="1600" dirty="0">
                <a:solidFill>
                  <a:srgbClr val="8B93A0"/>
                </a:solidFill>
                <a:latin typeface="JetBrains Mono" pitchFamily="49" charset="0"/>
                <a:ea typeface="JetBrains Mono" pitchFamily="49" charset="-122"/>
                <a:cs typeface="JetBrains Mono" pitchFamily="49" charset="-120"/>
              </a:rPr>
              <a:t>0</a:t>
            </a:r>
            <a:endParaRPr lang="en-US" sz="1600" dirty="0"/>
          </a:p>
        </p:txBody>
      </p:sp>
      <p:sp>
        <p:nvSpPr>
          <p:cNvPr id="37" name="Text 35"/>
          <p:cNvSpPr/>
          <p:nvPr/>
        </p:nvSpPr>
        <p:spPr>
          <a:xfrm>
            <a:off x="1854200" y="2052191"/>
            <a:ext cx="482600" cy="482600"/>
          </a:xfrm>
          <a:prstGeom prst="rect">
            <a:avLst/>
          </a:prstGeom>
          <a:solidFill>
            <a:srgbClr val="2E3846"/>
          </a:solidFill>
          <a:ln/>
        </p:spPr>
        <p:txBody>
          <a:bodyPr wrap="square" lIns="0" tIns="0" rIns="0" bIns="0" rtlCol="0" anchor="t">
            <a:normAutofit/>
          </a:bodyPr>
          <a:lstStyle/>
          <a:p>
            <a:pPr algn="ctr" indent="0" marL="0">
              <a:lnSpc>
                <a:spcPts val="3808"/>
              </a:lnSpc>
              <a:buNone/>
            </a:pPr>
            <a:r>
              <a:rPr lang="en-US" sz="1600" dirty="0">
                <a:solidFill>
                  <a:srgbClr val="F7F5F0"/>
                </a:solidFill>
                <a:latin typeface="JetBrains Mono" pitchFamily="49" charset="0"/>
                <a:ea typeface="JetBrains Mono" pitchFamily="49" charset="-122"/>
                <a:cs typeface="JetBrains Mono" pitchFamily="49" charset="-120"/>
              </a:rPr>
              <a:t>9</a:t>
            </a:r>
            <a:endParaRPr lang="en-US" sz="1600" dirty="0"/>
          </a:p>
        </p:txBody>
      </p:sp>
      <p:sp>
        <p:nvSpPr>
          <p:cNvPr id="38" name="Text 36"/>
          <p:cNvSpPr/>
          <p:nvPr/>
        </p:nvSpPr>
        <p:spPr>
          <a:xfrm>
            <a:off x="2374900" y="2052191"/>
            <a:ext cx="482600" cy="482600"/>
          </a:xfrm>
          <a:prstGeom prst="rect">
            <a:avLst/>
          </a:prstGeom>
          <a:solidFill>
            <a:srgbClr val="2E3846"/>
          </a:solidFill>
          <a:ln/>
        </p:spPr>
        <p:txBody>
          <a:bodyPr wrap="square" lIns="0" tIns="0" rIns="0" bIns="0" rtlCol="0" anchor="t">
            <a:normAutofit/>
          </a:bodyPr>
          <a:lstStyle/>
          <a:p>
            <a:pPr algn="ctr" indent="0" marL="0">
              <a:lnSpc>
                <a:spcPts val="3808"/>
              </a:lnSpc>
              <a:buNone/>
            </a:pPr>
            <a:r>
              <a:rPr lang="en-US" sz="1600" dirty="0">
                <a:solidFill>
                  <a:srgbClr val="F7F5F0"/>
                </a:solidFill>
                <a:latin typeface="JetBrains Mono" pitchFamily="49" charset="0"/>
                <a:ea typeface="JetBrains Mono" pitchFamily="49" charset="-122"/>
                <a:cs typeface="JetBrains Mono" pitchFamily="49" charset="-120"/>
              </a:rPr>
              <a:t>9</a:t>
            </a:r>
            <a:endParaRPr lang="en-US" sz="1600" dirty="0"/>
          </a:p>
        </p:txBody>
      </p:sp>
      <p:sp>
        <p:nvSpPr>
          <p:cNvPr id="39" name="Text 37"/>
          <p:cNvSpPr/>
          <p:nvPr/>
        </p:nvSpPr>
        <p:spPr>
          <a:xfrm>
            <a:off x="2895600" y="2052191"/>
            <a:ext cx="482600" cy="482600"/>
          </a:xfrm>
          <a:prstGeom prst="rect">
            <a:avLst/>
          </a:prstGeom>
          <a:solidFill>
            <a:srgbClr val="FFFDF8"/>
          </a:solidFill>
          <a:ln/>
        </p:spPr>
        <p:txBody>
          <a:bodyPr wrap="square" lIns="0" tIns="0" rIns="0" bIns="0" rtlCol="0" anchor="t">
            <a:normAutofit/>
          </a:bodyPr>
          <a:lstStyle/>
          <a:p>
            <a:pPr algn="ctr" indent="0" marL="0">
              <a:lnSpc>
                <a:spcPts val="3808"/>
              </a:lnSpc>
              <a:buNone/>
            </a:pPr>
            <a:r>
              <a:rPr lang="en-US" sz="1600" dirty="0">
                <a:solidFill>
                  <a:srgbClr val="8B93A0"/>
                </a:solidFill>
                <a:latin typeface="JetBrains Mono" pitchFamily="49" charset="0"/>
                <a:ea typeface="JetBrains Mono" pitchFamily="49" charset="-122"/>
                <a:cs typeface="JetBrains Mono" pitchFamily="49" charset="-120"/>
              </a:rPr>
              <a:t>0</a:t>
            </a:r>
            <a:endParaRPr lang="en-US" sz="1600" dirty="0"/>
          </a:p>
        </p:txBody>
      </p:sp>
      <p:sp>
        <p:nvSpPr>
          <p:cNvPr id="40" name="Text 38"/>
          <p:cNvSpPr/>
          <p:nvPr/>
        </p:nvSpPr>
        <p:spPr>
          <a:xfrm>
            <a:off x="3416300" y="2052191"/>
            <a:ext cx="482600" cy="482600"/>
          </a:xfrm>
          <a:prstGeom prst="rect">
            <a:avLst/>
          </a:prstGeom>
          <a:solidFill>
            <a:srgbClr val="FFFDF8"/>
          </a:solidFill>
          <a:ln/>
        </p:spPr>
        <p:txBody>
          <a:bodyPr wrap="square" lIns="0" tIns="0" rIns="0" bIns="0" rtlCol="0" anchor="t">
            <a:normAutofit/>
          </a:bodyPr>
          <a:lstStyle/>
          <a:p>
            <a:pPr algn="ctr" indent="0" marL="0">
              <a:lnSpc>
                <a:spcPts val="3808"/>
              </a:lnSpc>
              <a:buNone/>
            </a:pPr>
            <a:r>
              <a:rPr lang="en-US" sz="1600" dirty="0">
                <a:solidFill>
                  <a:srgbClr val="8B93A0"/>
                </a:solidFill>
                <a:latin typeface="JetBrains Mono" pitchFamily="49" charset="0"/>
                <a:ea typeface="JetBrains Mono" pitchFamily="49" charset="-122"/>
                <a:cs typeface="JetBrains Mono" pitchFamily="49" charset="-120"/>
              </a:rPr>
              <a:t>0</a:t>
            </a:r>
            <a:endParaRPr lang="en-US" sz="1600" dirty="0"/>
          </a:p>
        </p:txBody>
      </p:sp>
      <p:sp>
        <p:nvSpPr>
          <p:cNvPr id="41" name="Text 39"/>
          <p:cNvSpPr/>
          <p:nvPr/>
        </p:nvSpPr>
        <p:spPr>
          <a:xfrm>
            <a:off x="812800" y="2572891"/>
            <a:ext cx="482600" cy="482600"/>
          </a:xfrm>
          <a:prstGeom prst="rect">
            <a:avLst/>
          </a:prstGeom>
          <a:solidFill>
            <a:srgbClr val="FFFDF8"/>
          </a:solidFill>
          <a:ln/>
        </p:spPr>
        <p:txBody>
          <a:bodyPr wrap="square" lIns="0" tIns="0" rIns="0" bIns="0" rtlCol="0" anchor="t">
            <a:normAutofit/>
          </a:bodyPr>
          <a:lstStyle/>
          <a:p>
            <a:pPr algn="ctr" indent="0" marL="0">
              <a:lnSpc>
                <a:spcPts val="3808"/>
              </a:lnSpc>
              <a:buNone/>
            </a:pPr>
            <a:r>
              <a:rPr lang="en-US" sz="1600" dirty="0">
                <a:solidFill>
                  <a:srgbClr val="8B93A0"/>
                </a:solidFill>
                <a:latin typeface="JetBrains Mono" pitchFamily="49" charset="0"/>
                <a:ea typeface="JetBrains Mono" pitchFamily="49" charset="-122"/>
                <a:cs typeface="JetBrains Mono" pitchFamily="49" charset="-120"/>
              </a:rPr>
              <a:t>0</a:t>
            </a:r>
            <a:endParaRPr lang="en-US" sz="1600" dirty="0"/>
          </a:p>
        </p:txBody>
      </p:sp>
      <p:sp>
        <p:nvSpPr>
          <p:cNvPr id="42" name="Text 40"/>
          <p:cNvSpPr/>
          <p:nvPr/>
        </p:nvSpPr>
        <p:spPr>
          <a:xfrm>
            <a:off x="1333500" y="2572891"/>
            <a:ext cx="482600" cy="482600"/>
          </a:xfrm>
          <a:prstGeom prst="rect">
            <a:avLst/>
          </a:prstGeom>
          <a:solidFill>
            <a:srgbClr val="FFFDF8"/>
          </a:solidFill>
          <a:ln/>
        </p:spPr>
        <p:txBody>
          <a:bodyPr wrap="square" lIns="0" tIns="0" rIns="0" bIns="0" rtlCol="0" anchor="t">
            <a:normAutofit/>
          </a:bodyPr>
          <a:lstStyle/>
          <a:p>
            <a:pPr algn="ctr" indent="0" marL="0">
              <a:lnSpc>
                <a:spcPts val="3808"/>
              </a:lnSpc>
              <a:buNone/>
            </a:pPr>
            <a:r>
              <a:rPr lang="en-US" sz="1600" dirty="0">
                <a:solidFill>
                  <a:srgbClr val="8B93A0"/>
                </a:solidFill>
                <a:latin typeface="JetBrains Mono" pitchFamily="49" charset="0"/>
                <a:ea typeface="JetBrains Mono" pitchFamily="49" charset="-122"/>
                <a:cs typeface="JetBrains Mono" pitchFamily="49" charset="-120"/>
              </a:rPr>
              <a:t>0</a:t>
            </a:r>
            <a:endParaRPr lang="en-US" sz="1600" dirty="0"/>
          </a:p>
        </p:txBody>
      </p:sp>
      <p:sp>
        <p:nvSpPr>
          <p:cNvPr id="43" name="Text 41"/>
          <p:cNvSpPr/>
          <p:nvPr/>
        </p:nvSpPr>
        <p:spPr>
          <a:xfrm>
            <a:off x="1854200" y="2572891"/>
            <a:ext cx="482600" cy="482600"/>
          </a:xfrm>
          <a:prstGeom prst="rect">
            <a:avLst/>
          </a:prstGeom>
          <a:solidFill>
            <a:srgbClr val="2E3846"/>
          </a:solidFill>
          <a:ln/>
        </p:spPr>
        <p:txBody>
          <a:bodyPr wrap="square" lIns="0" tIns="0" rIns="0" bIns="0" rtlCol="0" anchor="t">
            <a:normAutofit/>
          </a:bodyPr>
          <a:lstStyle/>
          <a:p>
            <a:pPr algn="ctr" indent="0" marL="0">
              <a:lnSpc>
                <a:spcPts val="3808"/>
              </a:lnSpc>
              <a:buNone/>
            </a:pPr>
            <a:r>
              <a:rPr lang="en-US" sz="1600" dirty="0">
                <a:solidFill>
                  <a:srgbClr val="F7F5F0"/>
                </a:solidFill>
                <a:latin typeface="JetBrains Mono" pitchFamily="49" charset="0"/>
                <a:ea typeface="JetBrains Mono" pitchFamily="49" charset="-122"/>
                <a:cs typeface="JetBrains Mono" pitchFamily="49" charset="-120"/>
              </a:rPr>
              <a:t>9</a:t>
            </a:r>
            <a:endParaRPr lang="en-US" sz="1600" dirty="0"/>
          </a:p>
        </p:txBody>
      </p:sp>
      <p:sp>
        <p:nvSpPr>
          <p:cNvPr id="44" name="Text 42"/>
          <p:cNvSpPr/>
          <p:nvPr/>
        </p:nvSpPr>
        <p:spPr>
          <a:xfrm>
            <a:off x="2374900" y="2572891"/>
            <a:ext cx="482600" cy="482600"/>
          </a:xfrm>
          <a:prstGeom prst="rect">
            <a:avLst/>
          </a:prstGeom>
          <a:solidFill>
            <a:srgbClr val="2E3846"/>
          </a:solidFill>
          <a:ln/>
        </p:spPr>
        <p:txBody>
          <a:bodyPr wrap="square" lIns="0" tIns="0" rIns="0" bIns="0" rtlCol="0" anchor="t">
            <a:normAutofit/>
          </a:bodyPr>
          <a:lstStyle/>
          <a:p>
            <a:pPr algn="ctr" indent="0" marL="0">
              <a:lnSpc>
                <a:spcPts val="3808"/>
              </a:lnSpc>
              <a:buNone/>
            </a:pPr>
            <a:r>
              <a:rPr lang="en-US" sz="1600" dirty="0">
                <a:solidFill>
                  <a:srgbClr val="F7F5F0"/>
                </a:solidFill>
                <a:latin typeface="JetBrains Mono" pitchFamily="49" charset="0"/>
                <a:ea typeface="JetBrains Mono" pitchFamily="49" charset="-122"/>
                <a:cs typeface="JetBrains Mono" pitchFamily="49" charset="-120"/>
              </a:rPr>
              <a:t>9</a:t>
            </a:r>
            <a:endParaRPr lang="en-US" sz="1600" dirty="0"/>
          </a:p>
        </p:txBody>
      </p:sp>
      <p:sp>
        <p:nvSpPr>
          <p:cNvPr id="45" name="Text 43"/>
          <p:cNvSpPr/>
          <p:nvPr/>
        </p:nvSpPr>
        <p:spPr>
          <a:xfrm>
            <a:off x="2895600" y="2572891"/>
            <a:ext cx="482600" cy="482600"/>
          </a:xfrm>
          <a:prstGeom prst="rect">
            <a:avLst/>
          </a:prstGeom>
          <a:solidFill>
            <a:srgbClr val="FFFDF8"/>
          </a:solidFill>
          <a:ln/>
        </p:spPr>
        <p:txBody>
          <a:bodyPr wrap="square" lIns="0" tIns="0" rIns="0" bIns="0" rtlCol="0" anchor="t">
            <a:normAutofit/>
          </a:bodyPr>
          <a:lstStyle/>
          <a:p>
            <a:pPr algn="ctr" indent="0" marL="0">
              <a:lnSpc>
                <a:spcPts val="3808"/>
              </a:lnSpc>
              <a:buNone/>
            </a:pPr>
            <a:r>
              <a:rPr lang="en-US" sz="1600" dirty="0">
                <a:solidFill>
                  <a:srgbClr val="8B93A0"/>
                </a:solidFill>
                <a:latin typeface="JetBrains Mono" pitchFamily="49" charset="0"/>
                <a:ea typeface="JetBrains Mono" pitchFamily="49" charset="-122"/>
                <a:cs typeface="JetBrains Mono" pitchFamily="49" charset="-120"/>
              </a:rPr>
              <a:t>0</a:t>
            </a:r>
            <a:endParaRPr lang="en-US" sz="1600" dirty="0"/>
          </a:p>
        </p:txBody>
      </p:sp>
      <p:sp>
        <p:nvSpPr>
          <p:cNvPr id="46" name="Text 44"/>
          <p:cNvSpPr/>
          <p:nvPr/>
        </p:nvSpPr>
        <p:spPr>
          <a:xfrm>
            <a:off x="3416300" y="2572891"/>
            <a:ext cx="482600" cy="482600"/>
          </a:xfrm>
          <a:prstGeom prst="rect">
            <a:avLst/>
          </a:prstGeom>
          <a:solidFill>
            <a:srgbClr val="FFFDF8"/>
          </a:solidFill>
          <a:ln/>
        </p:spPr>
        <p:txBody>
          <a:bodyPr wrap="square" lIns="0" tIns="0" rIns="0" bIns="0" rtlCol="0" anchor="t">
            <a:normAutofit/>
          </a:bodyPr>
          <a:lstStyle/>
          <a:p>
            <a:pPr algn="ctr" indent="0" marL="0">
              <a:lnSpc>
                <a:spcPts val="3808"/>
              </a:lnSpc>
              <a:buNone/>
            </a:pPr>
            <a:r>
              <a:rPr lang="en-US" sz="1600" dirty="0">
                <a:solidFill>
                  <a:srgbClr val="8B93A0"/>
                </a:solidFill>
                <a:latin typeface="JetBrains Mono" pitchFamily="49" charset="0"/>
                <a:ea typeface="JetBrains Mono" pitchFamily="49" charset="-122"/>
                <a:cs typeface="JetBrains Mono" pitchFamily="49" charset="-120"/>
              </a:rPr>
              <a:t>0</a:t>
            </a:r>
            <a:endParaRPr lang="en-US" sz="1600" dirty="0"/>
          </a:p>
        </p:txBody>
      </p:sp>
      <p:sp>
        <p:nvSpPr>
          <p:cNvPr id="47" name="Text 45"/>
          <p:cNvSpPr/>
          <p:nvPr/>
        </p:nvSpPr>
        <p:spPr>
          <a:xfrm>
            <a:off x="812800" y="3093591"/>
            <a:ext cx="482600" cy="482600"/>
          </a:xfrm>
          <a:prstGeom prst="rect">
            <a:avLst/>
          </a:prstGeom>
          <a:solidFill>
            <a:srgbClr val="FFFDF8"/>
          </a:solidFill>
          <a:ln/>
        </p:spPr>
        <p:txBody>
          <a:bodyPr wrap="square" lIns="0" tIns="0" rIns="0" bIns="0" rtlCol="0" anchor="t">
            <a:normAutofit/>
          </a:bodyPr>
          <a:lstStyle/>
          <a:p>
            <a:pPr algn="ctr" indent="0" marL="0">
              <a:lnSpc>
                <a:spcPts val="3808"/>
              </a:lnSpc>
              <a:buNone/>
            </a:pPr>
            <a:r>
              <a:rPr lang="en-US" sz="1600" dirty="0">
                <a:solidFill>
                  <a:srgbClr val="8B93A0"/>
                </a:solidFill>
                <a:latin typeface="JetBrains Mono" pitchFamily="49" charset="0"/>
                <a:ea typeface="JetBrains Mono" pitchFamily="49" charset="-122"/>
                <a:cs typeface="JetBrains Mono" pitchFamily="49" charset="-120"/>
              </a:rPr>
              <a:t>0</a:t>
            </a:r>
            <a:endParaRPr lang="en-US" sz="1600" dirty="0"/>
          </a:p>
        </p:txBody>
      </p:sp>
      <p:sp>
        <p:nvSpPr>
          <p:cNvPr id="48" name="Text 46"/>
          <p:cNvSpPr/>
          <p:nvPr/>
        </p:nvSpPr>
        <p:spPr>
          <a:xfrm>
            <a:off x="1333500" y="3093591"/>
            <a:ext cx="482600" cy="482600"/>
          </a:xfrm>
          <a:prstGeom prst="rect">
            <a:avLst/>
          </a:prstGeom>
          <a:solidFill>
            <a:srgbClr val="FFFDF8"/>
          </a:solidFill>
          <a:ln/>
        </p:spPr>
        <p:txBody>
          <a:bodyPr wrap="square" lIns="0" tIns="0" rIns="0" bIns="0" rtlCol="0" anchor="t">
            <a:normAutofit/>
          </a:bodyPr>
          <a:lstStyle/>
          <a:p>
            <a:pPr algn="ctr" indent="0" marL="0">
              <a:lnSpc>
                <a:spcPts val="3808"/>
              </a:lnSpc>
              <a:buNone/>
            </a:pPr>
            <a:r>
              <a:rPr lang="en-US" sz="1600" dirty="0">
                <a:solidFill>
                  <a:srgbClr val="8B93A0"/>
                </a:solidFill>
                <a:latin typeface="JetBrains Mono" pitchFamily="49" charset="0"/>
                <a:ea typeface="JetBrains Mono" pitchFamily="49" charset="-122"/>
                <a:cs typeface="JetBrains Mono" pitchFamily="49" charset="-120"/>
              </a:rPr>
              <a:t>0</a:t>
            </a:r>
            <a:endParaRPr lang="en-US" sz="1600" dirty="0"/>
          </a:p>
        </p:txBody>
      </p:sp>
      <p:sp>
        <p:nvSpPr>
          <p:cNvPr id="49" name="Text 47"/>
          <p:cNvSpPr/>
          <p:nvPr/>
        </p:nvSpPr>
        <p:spPr>
          <a:xfrm>
            <a:off x="1854200" y="3093591"/>
            <a:ext cx="482600" cy="482600"/>
          </a:xfrm>
          <a:prstGeom prst="rect">
            <a:avLst/>
          </a:prstGeom>
          <a:solidFill>
            <a:srgbClr val="2E3846"/>
          </a:solidFill>
          <a:ln/>
        </p:spPr>
        <p:txBody>
          <a:bodyPr wrap="square" lIns="0" tIns="0" rIns="0" bIns="0" rtlCol="0" anchor="t">
            <a:normAutofit/>
          </a:bodyPr>
          <a:lstStyle/>
          <a:p>
            <a:pPr algn="ctr" indent="0" marL="0">
              <a:lnSpc>
                <a:spcPts val="3808"/>
              </a:lnSpc>
              <a:buNone/>
            </a:pPr>
            <a:r>
              <a:rPr lang="en-US" sz="1600" dirty="0">
                <a:solidFill>
                  <a:srgbClr val="F7F5F0"/>
                </a:solidFill>
                <a:latin typeface="JetBrains Mono" pitchFamily="49" charset="0"/>
                <a:ea typeface="JetBrains Mono" pitchFamily="49" charset="-122"/>
                <a:cs typeface="JetBrains Mono" pitchFamily="49" charset="-120"/>
              </a:rPr>
              <a:t>9</a:t>
            </a:r>
            <a:endParaRPr lang="en-US" sz="1600" dirty="0"/>
          </a:p>
        </p:txBody>
      </p:sp>
      <p:sp>
        <p:nvSpPr>
          <p:cNvPr id="50" name="Text 48"/>
          <p:cNvSpPr/>
          <p:nvPr/>
        </p:nvSpPr>
        <p:spPr>
          <a:xfrm>
            <a:off x="2374900" y="3093591"/>
            <a:ext cx="482600" cy="482600"/>
          </a:xfrm>
          <a:prstGeom prst="rect">
            <a:avLst/>
          </a:prstGeom>
          <a:solidFill>
            <a:srgbClr val="2E3846"/>
          </a:solidFill>
          <a:ln/>
        </p:spPr>
        <p:txBody>
          <a:bodyPr wrap="square" lIns="0" tIns="0" rIns="0" bIns="0" rtlCol="0" anchor="t">
            <a:normAutofit/>
          </a:bodyPr>
          <a:lstStyle/>
          <a:p>
            <a:pPr algn="ctr" indent="0" marL="0">
              <a:lnSpc>
                <a:spcPts val="3808"/>
              </a:lnSpc>
              <a:buNone/>
            </a:pPr>
            <a:r>
              <a:rPr lang="en-US" sz="1600" dirty="0">
                <a:solidFill>
                  <a:srgbClr val="F7F5F0"/>
                </a:solidFill>
                <a:latin typeface="JetBrains Mono" pitchFamily="49" charset="0"/>
                <a:ea typeface="JetBrains Mono" pitchFamily="49" charset="-122"/>
                <a:cs typeface="JetBrains Mono" pitchFamily="49" charset="-120"/>
              </a:rPr>
              <a:t>9</a:t>
            </a:r>
            <a:endParaRPr lang="en-US" sz="1600" dirty="0"/>
          </a:p>
        </p:txBody>
      </p:sp>
      <p:sp>
        <p:nvSpPr>
          <p:cNvPr id="51" name="Text 49"/>
          <p:cNvSpPr/>
          <p:nvPr/>
        </p:nvSpPr>
        <p:spPr>
          <a:xfrm>
            <a:off x="2895600" y="3093591"/>
            <a:ext cx="482600" cy="482600"/>
          </a:xfrm>
          <a:prstGeom prst="rect">
            <a:avLst/>
          </a:prstGeom>
          <a:solidFill>
            <a:srgbClr val="FFFDF8"/>
          </a:solidFill>
          <a:ln/>
        </p:spPr>
        <p:txBody>
          <a:bodyPr wrap="square" lIns="0" tIns="0" rIns="0" bIns="0" rtlCol="0" anchor="t">
            <a:normAutofit/>
          </a:bodyPr>
          <a:lstStyle/>
          <a:p>
            <a:pPr algn="ctr" indent="0" marL="0">
              <a:lnSpc>
                <a:spcPts val="3808"/>
              </a:lnSpc>
              <a:buNone/>
            </a:pPr>
            <a:r>
              <a:rPr lang="en-US" sz="1600" dirty="0">
                <a:solidFill>
                  <a:srgbClr val="8B93A0"/>
                </a:solidFill>
                <a:latin typeface="JetBrains Mono" pitchFamily="49" charset="0"/>
                <a:ea typeface="JetBrains Mono" pitchFamily="49" charset="-122"/>
                <a:cs typeface="JetBrains Mono" pitchFamily="49" charset="-120"/>
              </a:rPr>
              <a:t>0</a:t>
            </a:r>
            <a:endParaRPr lang="en-US" sz="1600" dirty="0"/>
          </a:p>
        </p:txBody>
      </p:sp>
      <p:sp>
        <p:nvSpPr>
          <p:cNvPr id="52" name="Text 50"/>
          <p:cNvSpPr/>
          <p:nvPr/>
        </p:nvSpPr>
        <p:spPr>
          <a:xfrm>
            <a:off x="3416300" y="3093591"/>
            <a:ext cx="482600" cy="482600"/>
          </a:xfrm>
          <a:prstGeom prst="rect">
            <a:avLst/>
          </a:prstGeom>
          <a:solidFill>
            <a:srgbClr val="FFFDF8"/>
          </a:solidFill>
          <a:ln/>
        </p:spPr>
        <p:txBody>
          <a:bodyPr wrap="square" lIns="0" tIns="0" rIns="0" bIns="0" rtlCol="0" anchor="t">
            <a:normAutofit/>
          </a:bodyPr>
          <a:lstStyle/>
          <a:p>
            <a:pPr algn="ctr" indent="0" marL="0">
              <a:lnSpc>
                <a:spcPts val="3808"/>
              </a:lnSpc>
              <a:buNone/>
            </a:pPr>
            <a:r>
              <a:rPr lang="en-US" sz="1600" dirty="0">
                <a:solidFill>
                  <a:srgbClr val="8B93A0"/>
                </a:solidFill>
                <a:latin typeface="JetBrains Mono" pitchFamily="49" charset="0"/>
                <a:ea typeface="JetBrains Mono" pitchFamily="49" charset="-122"/>
                <a:cs typeface="JetBrains Mono" pitchFamily="49" charset="-120"/>
              </a:rPr>
              <a:t>0</a:t>
            </a:r>
            <a:endParaRPr lang="en-US" sz="1600" dirty="0"/>
          </a:p>
        </p:txBody>
      </p:sp>
      <p:sp>
        <p:nvSpPr>
          <p:cNvPr id="53" name="Text 51"/>
          <p:cNvSpPr/>
          <p:nvPr/>
        </p:nvSpPr>
        <p:spPr>
          <a:xfrm>
            <a:off x="812800" y="3614291"/>
            <a:ext cx="482600" cy="482600"/>
          </a:xfrm>
          <a:prstGeom prst="rect">
            <a:avLst/>
          </a:prstGeom>
          <a:solidFill>
            <a:srgbClr val="FFFDF8"/>
          </a:solidFill>
          <a:ln/>
        </p:spPr>
        <p:txBody>
          <a:bodyPr wrap="square" lIns="0" tIns="0" rIns="0" bIns="0" rtlCol="0" anchor="t">
            <a:normAutofit/>
          </a:bodyPr>
          <a:lstStyle/>
          <a:p>
            <a:pPr algn="ctr" indent="0" marL="0">
              <a:lnSpc>
                <a:spcPts val="3808"/>
              </a:lnSpc>
              <a:buNone/>
            </a:pPr>
            <a:r>
              <a:rPr lang="en-US" sz="1600" dirty="0">
                <a:solidFill>
                  <a:srgbClr val="8B93A0"/>
                </a:solidFill>
                <a:latin typeface="JetBrains Mono" pitchFamily="49" charset="0"/>
                <a:ea typeface="JetBrains Mono" pitchFamily="49" charset="-122"/>
                <a:cs typeface="JetBrains Mono" pitchFamily="49" charset="-120"/>
              </a:rPr>
              <a:t>0</a:t>
            </a:r>
            <a:endParaRPr lang="en-US" sz="1600" dirty="0"/>
          </a:p>
        </p:txBody>
      </p:sp>
      <p:sp>
        <p:nvSpPr>
          <p:cNvPr id="54" name="Text 52"/>
          <p:cNvSpPr/>
          <p:nvPr/>
        </p:nvSpPr>
        <p:spPr>
          <a:xfrm>
            <a:off x="1333500" y="3614291"/>
            <a:ext cx="482600" cy="482600"/>
          </a:xfrm>
          <a:prstGeom prst="rect">
            <a:avLst/>
          </a:prstGeom>
          <a:solidFill>
            <a:srgbClr val="FFFDF8"/>
          </a:solidFill>
          <a:ln/>
        </p:spPr>
        <p:txBody>
          <a:bodyPr wrap="square" lIns="0" tIns="0" rIns="0" bIns="0" rtlCol="0" anchor="t">
            <a:normAutofit/>
          </a:bodyPr>
          <a:lstStyle/>
          <a:p>
            <a:pPr algn="ctr" indent="0" marL="0">
              <a:lnSpc>
                <a:spcPts val="3808"/>
              </a:lnSpc>
              <a:buNone/>
            </a:pPr>
            <a:r>
              <a:rPr lang="en-US" sz="1600" dirty="0">
                <a:solidFill>
                  <a:srgbClr val="8B93A0"/>
                </a:solidFill>
                <a:latin typeface="JetBrains Mono" pitchFamily="49" charset="0"/>
                <a:ea typeface="JetBrains Mono" pitchFamily="49" charset="-122"/>
                <a:cs typeface="JetBrains Mono" pitchFamily="49" charset="-120"/>
              </a:rPr>
              <a:t>0</a:t>
            </a:r>
            <a:endParaRPr lang="en-US" sz="1600" dirty="0"/>
          </a:p>
        </p:txBody>
      </p:sp>
      <p:sp>
        <p:nvSpPr>
          <p:cNvPr id="55" name="Text 53"/>
          <p:cNvSpPr/>
          <p:nvPr/>
        </p:nvSpPr>
        <p:spPr>
          <a:xfrm>
            <a:off x="1854200" y="3614291"/>
            <a:ext cx="482600" cy="482600"/>
          </a:xfrm>
          <a:prstGeom prst="rect">
            <a:avLst/>
          </a:prstGeom>
          <a:solidFill>
            <a:srgbClr val="2E3846"/>
          </a:solidFill>
          <a:ln/>
        </p:spPr>
        <p:txBody>
          <a:bodyPr wrap="square" lIns="0" tIns="0" rIns="0" bIns="0" rtlCol="0" anchor="t">
            <a:normAutofit/>
          </a:bodyPr>
          <a:lstStyle/>
          <a:p>
            <a:pPr algn="ctr" indent="0" marL="0">
              <a:lnSpc>
                <a:spcPts val="3808"/>
              </a:lnSpc>
              <a:buNone/>
            </a:pPr>
            <a:r>
              <a:rPr lang="en-US" sz="1600" dirty="0">
                <a:solidFill>
                  <a:srgbClr val="F7F5F0"/>
                </a:solidFill>
                <a:latin typeface="JetBrains Mono" pitchFamily="49" charset="0"/>
                <a:ea typeface="JetBrains Mono" pitchFamily="49" charset="-122"/>
                <a:cs typeface="JetBrains Mono" pitchFamily="49" charset="-120"/>
              </a:rPr>
              <a:t>9</a:t>
            </a:r>
            <a:endParaRPr lang="en-US" sz="1600" dirty="0"/>
          </a:p>
        </p:txBody>
      </p:sp>
      <p:sp>
        <p:nvSpPr>
          <p:cNvPr id="56" name="Text 54"/>
          <p:cNvSpPr/>
          <p:nvPr/>
        </p:nvSpPr>
        <p:spPr>
          <a:xfrm>
            <a:off x="2374900" y="3614291"/>
            <a:ext cx="482600" cy="482600"/>
          </a:xfrm>
          <a:prstGeom prst="rect">
            <a:avLst/>
          </a:prstGeom>
          <a:solidFill>
            <a:srgbClr val="2E3846"/>
          </a:solidFill>
          <a:ln/>
        </p:spPr>
        <p:txBody>
          <a:bodyPr wrap="square" lIns="0" tIns="0" rIns="0" bIns="0" rtlCol="0" anchor="t">
            <a:normAutofit/>
          </a:bodyPr>
          <a:lstStyle/>
          <a:p>
            <a:pPr algn="ctr" indent="0" marL="0">
              <a:lnSpc>
                <a:spcPts val="3808"/>
              </a:lnSpc>
              <a:buNone/>
            </a:pPr>
            <a:r>
              <a:rPr lang="en-US" sz="1600" dirty="0">
                <a:solidFill>
                  <a:srgbClr val="F7F5F0"/>
                </a:solidFill>
                <a:latin typeface="JetBrains Mono" pitchFamily="49" charset="0"/>
                <a:ea typeface="JetBrains Mono" pitchFamily="49" charset="-122"/>
                <a:cs typeface="JetBrains Mono" pitchFamily="49" charset="-120"/>
              </a:rPr>
              <a:t>9</a:t>
            </a:r>
            <a:endParaRPr lang="en-US" sz="1600" dirty="0"/>
          </a:p>
        </p:txBody>
      </p:sp>
      <p:sp>
        <p:nvSpPr>
          <p:cNvPr id="57" name="Text 55"/>
          <p:cNvSpPr/>
          <p:nvPr/>
        </p:nvSpPr>
        <p:spPr>
          <a:xfrm>
            <a:off x="2895600" y="3614291"/>
            <a:ext cx="482600" cy="482600"/>
          </a:xfrm>
          <a:prstGeom prst="rect">
            <a:avLst/>
          </a:prstGeom>
          <a:solidFill>
            <a:srgbClr val="FFFDF8"/>
          </a:solidFill>
          <a:ln/>
        </p:spPr>
        <p:txBody>
          <a:bodyPr wrap="square" lIns="0" tIns="0" rIns="0" bIns="0" rtlCol="0" anchor="t">
            <a:normAutofit/>
          </a:bodyPr>
          <a:lstStyle/>
          <a:p>
            <a:pPr algn="ctr" indent="0" marL="0">
              <a:lnSpc>
                <a:spcPts val="3808"/>
              </a:lnSpc>
              <a:buNone/>
            </a:pPr>
            <a:r>
              <a:rPr lang="en-US" sz="1600" dirty="0">
                <a:solidFill>
                  <a:srgbClr val="8B93A0"/>
                </a:solidFill>
                <a:latin typeface="JetBrains Mono" pitchFamily="49" charset="0"/>
                <a:ea typeface="JetBrains Mono" pitchFamily="49" charset="-122"/>
                <a:cs typeface="JetBrains Mono" pitchFamily="49" charset="-120"/>
              </a:rPr>
              <a:t>0</a:t>
            </a:r>
            <a:endParaRPr lang="en-US" sz="1600" dirty="0"/>
          </a:p>
        </p:txBody>
      </p:sp>
      <p:sp>
        <p:nvSpPr>
          <p:cNvPr id="58" name="Text 56"/>
          <p:cNvSpPr/>
          <p:nvPr/>
        </p:nvSpPr>
        <p:spPr>
          <a:xfrm>
            <a:off x="3416300" y="3614291"/>
            <a:ext cx="482600" cy="482600"/>
          </a:xfrm>
          <a:prstGeom prst="rect">
            <a:avLst/>
          </a:prstGeom>
          <a:solidFill>
            <a:srgbClr val="FFFDF8"/>
          </a:solidFill>
          <a:ln/>
        </p:spPr>
        <p:txBody>
          <a:bodyPr wrap="square" lIns="0" tIns="0" rIns="0" bIns="0" rtlCol="0" anchor="t">
            <a:normAutofit/>
          </a:bodyPr>
          <a:lstStyle/>
          <a:p>
            <a:pPr algn="ctr" indent="0" marL="0">
              <a:lnSpc>
                <a:spcPts val="3808"/>
              </a:lnSpc>
              <a:buNone/>
            </a:pPr>
            <a:r>
              <a:rPr lang="en-US" sz="1600" dirty="0">
                <a:solidFill>
                  <a:srgbClr val="8B93A0"/>
                </a:solidFill>
                <a:latin typeface="JetBrains Mono" pitchFamily="49" charset="0"/>
                <a:ea typeface="JetBrains Mono" pitchFamily="49" charset="-122"/>
                <a:cs typeface="JetBrains Mono" pitchFamily="49" charset="-120"/>
              </a:rPr>
              <a:t>0</a:t>
            </a:r>
            <a:endParaRPr lang="en-US" sz="1600" dirty="0"/>
          </a:p>
        </p:txBody>
      </p:sp>
      <p:sp>
        <p:nvSpPr>
          <p:cNvPr id="59" name="Text 57"/>
          <p:cNvSpPr/>
          <p:nvPr/>
        </p:nvSpPr>
        <p:spPr>
          <a:xfrm>
            <a:off x="812800" y="4134991"/>
            <a:ext cx="482600" cy="482600"/>
          </a:xfrm>
          <a:prstGeom prst="rect">
            <a:avLst/>
          </a:prstGeom>
          <a:solidFill>
            <a:srgbClr val="FFFDF8"/>
          </a:solidFill>
          <a:ln/>
        </p:spPr>
        <p:txBody>
          <a:bodyPr wrap="square" lIns="0" tIns="0" rIns="0" bIns="0" rtlCol="0" anchor="t">
            <a:normAutofit/>
          </a:bodyPr>
          <a:lstStyle/>
          <a:p>
            <a:pPr algn="ctr" indent="0" marL="0">
              <a:lnSpc>
                <a:spcPts val="3808"/>
              </a:lnSpc>
              <a:buNone/>
            </a:pPr>
            <a:r>
              <a:rPr lang="en-US" sz="1600" dirty="0">
                <a:solidFill>
                  <a:srgbClr val="8B93A0"/>
                </a:solidFill>
                <a:latin typeface="JetBrains Mono" pitchFamily="49" charset="0"/>
                <a:ea typeface="JetBrains Mono" pitchFamily="49" charset="-122"/>
                <a:cs typeface="JetBrains Mono" pitchFamily="49" charset="-120"/>
              </a:rPr>
              <a:t>0</a:t>
            </a:r>
            <a:endParaRPr lang="en-US" sz="1600" dirty="0"/>
          </a:p>
        </p:txBody>
      </p:sp>
      <p:sp>
        <p:nvSpPr>
          <p:cNvPr id="60" name="Text 58"/>
          <p:cNvSpPr/>
          <p:nvPr/>
        </p:nvSpPr>
        <p:spPr>
          <a:xfrm>
            <a:off x="1333500" y="4134991"/>
            <a:ext cx="482600" cy="482600"/>
          </a:xfrm>
          <a:prstGeom prst="rect">
            <a:avLst/>
          </a:prstGeom>
          <a:solidFill>
            <a:srgbClr val="FFFDF8"/>
          </a:solidFill>
          <a:ln/>
        </p:spPr>
        <p:txBody>
          <a:bodyPr wrap="square" lIns="0" tIns="0" rIns="0" bIns="0" rtlCol="0" anchor="t">
            <a:normAutofit/>
          </a:bodyPr>
          <a:lstStyle/>
          <a:p>
            <a:pPr algn="ctr" indent="0" marL="0">
              <a:lnSpc>
                <a:spcPts val="3808"/>
              </a:lnSpc>
              <a:buNone/>
            </a:pPr>
            <a:r>
              <a:rPr lang="en-US" sz="1600" dirty="0">
                <a:solidFill>
                  <a:srgbClr val="8B93A0"/>
                </a:solidFill>
                <a:latin typeface="JetBrains Mono" pitchFamily="49" charset="0"/>
                <a:ea typeface="JetBrains Mono" pitchFamily="49" charset="-122"/>
                <a:cs typeface="JetBrains Mono" pitchFamily="49" charset="-120"/>
              </a:rPr>
              <a:t>0</a:t>
            </a:r>
            <a:endParaRPr lang="en-US" sz="1600" dirty="0"/>
          </a:p>
        </p:txBody>
      </p:sp>
      <p:sp>
        <p:nvSpPr>
          <p:cNvPr id="61" name="Text 59"/>
          <p:cNvSpPr/>
          <p:nvPr/>
        </p:nvSpPr>
        <p:spPr>
          <a:xfrm>
            <a:off x="1854200" y="4134991"/>
            <a:ext cx="482600" cy="482600"/>
          </a:xfrm>
          <a:prstGeom prst="rect">
            <a:avLst/>
          </a:prstGeom>
          <a:solidFill>
            <a:srgbClr val="2E3846"/>
          </a:solidFill>
          <a:ln/>
        </p:spPr>
        <p:txBody>
          <a:bodyPr wrap="square" lIns="0" tIns="0" rIns="0" bIns="0" rtlCol="0" anchor="t">
            <a:normAutofit/>
          </a:bodyPr>
          <a:lstStyle/>
          <a:p>
            <a:pPr algn="ctr" indent="0" marL="0">
              <a:lnSpc>
                <a:spcPts val="3808"/>
              </a:lnSpc>
              <a:buNone/>
            </a:pPr>
            <a:r>
              <a:rPr lang="en-US" sz="1600" dirty="0">
                <a:solidFill>
                  <a:srgbClr val="F7F5F0"/>
                </a:solidFill>
                <a:latin typeface="JetBrains Mono" pitchFamily="49" charset="0"/>
                <a:ea typeface="JetBrains Mono" pitchFamily="49" charset="-122"/>
                <a:cs typeface="JetBrains Mono" pitchFamily="49" charset="-120"/>
              </a:rPr>
              <a:t>9</a:t>
            </a:r>
            <a:endParaRPr lang="en-US" sz="1600" dirty="0"/>
          </a:p>
        </p:txBody>
      </p:sp>
      <p:sp>
        <p:nvSpPr>
          <p:cNvPr id="62" name="Text 60"/>
          <p:cNvSpPr/>
          <p:nvPr/>
        </p:nvSpPr>
        <p:spPr>
          <a:xfrm>
            <a:off x="2374900" y="4134991"/>
            <a:ext cx="482600" cy="482600"/>
          </a:xfrm>
          <a:prstGeom prst="rect">
            <a:avLst/>
          </a:prstGeom>
          <a:solidFill>
            <a:srgbClr val="2E3846"/>
          </a:solidFill>
          <a:ln/>
        </p:spPr>
        <p:txBody>
          <a:bodyPr wrap="square" lIns="0" tIns="0" rIns="0" bIns="0" rtlCol="0" anchor="t">
            <a:normAutofit/>
          </a:bodyPr>
          <a:lstStyle/>
          <a:p>
            <a:pPr algn="ctr" indent="0" marL="0">
              <a:lnSpc>
                <a:spcPts val="3808"/>
              </a:lnSpc>
              <a:buNone/>
            </a:pPr>
            <a:r>
              <a:rPr lang="en-US" sz="1600" dirty="0">
                <a:solidFill>
                  <a:srgbClr val="F7F5F0"/>
                </a:solidFill>
                <a:latin typeface="JetBrains Mono" pitchFamily="49" charset="0"/>
                <a:ea typeface="JetBrains Mono" pitchFamily="49" charset="-122"/>
                <a:cs typeface="JetBrains Mono" pitchFamily="49" charset="-120"/>
              </a:rPr>
              <a:t>9</a:t>
            </a:r>
            <a:endParaRPr lang="en-US" sz="1600" dirty="0"/>
          </a:p>
        </p:txBody>
      </p:sp>
      <p:sp>
        <p:nvSpPr>
          <p:cNvPr id="63" name="Text 61"/>
          <p:cNvSpPr/>
          <p:nvPr/>
        </p:nvSpPr>
        <p:spPr>
          <a:xfrm>
            <a:off x="2895600" y="4134991"/>
            <a:ext cx="482600" cy="482600"/>
          </a:xfrm>
          <a:prstGeom prst="rect">
            <a:avLst/>
          </a:prstGeom>
          <a:solidFill>
            <a:srgbClr val="FFFDF8"/>
          </a:solidFill>
          <a:ln/>
        </p:spPr>
        <p:txBody>
          <a:bodyPr wrap="square" lIns="0" tIns="0" rIns="0" bIns="0" rtlCol="0" anchor="t">
            <a:normAutofit/>
          </a:bodyPr>
          <a:lstStyle/>
          <a:p>
            <a:pPr algn="ctr" indent="0" marL="0">
              <a:lnSpc>
                <a:spcPts val="3808"/>
              </a:lnSpc>
              <a:buNone/>
            </a:pPr>
            <a:r>
              <a:rPr lang="en-US" sz="1600" dirty="0">
                <a:solidFill>
                  <a:srgbClr val="8B93A0"/>
                </a:solidFill>
                <a:latin typeface="JetBrains Mono" pitchFamily="49" charset="0"/>
                <a:ea typeface="JetBrains Mono" pitchFamily="49" charset="-122"/>
                <a:cs typeface="JetBrains Mono" pitchFamily="49" charset="-120"/>
              </a:rPr>
              <a:t>0</a:t>
            </a:r>
            <a:endParaRPr lang="en-US" sz="1600" dirty="0"/>
          </a:p>
        </p:txBody>
      </p:sp>
      <p:sp>
        <p:nvSpPr>
          <p:cNvPr id="64" name="Text 62"/>
          <p:cNvSpPr/>
          <p:nvPr/>
        </p:nvSpPr>
        <p:spPr>
          <a:xfrm>
            <a:off x="3416300" y="4134991"/>
            <a:ext cx="482600" cy="482600"/>
          </a:xfrm>
          <a:prstGeom prst="rect">
            <a:avLst/>
          </a:prstGeom>
          <a:solidFill>
            <a:srgbClr val="FFFDF8"/>
          </a:solidFill>
          <a:ln/>
        </p:spPr>
        <p:txBody>
          <a:bodyPr wrap="square" lIns="0" tIns="0" rIns="0" bIns="0" rtlCol="0" anchor="t">
            <a:normAutofit/>
          </a:bodyPr>
          <a:lstStyle/>
          <a:p>
            <a:pPr algn="ctr" indent="0" marL="0">
              <a:lnSpc>
                <a:spcPts val="3808"/>
              </a:lnSpc>
              <a:buNone/>
            </a:pPr>
            <a:r>
              <a:rPr lang="en-US" sz="1600" dirty="0">
                <a:solidFill>
                  <a:srgbClr val="8B93A0"/>
                </a:solidFill>
                <a:latin typeface="JetBrains Mono" pitchFamily="49" charset="0"/>
                <a:ea typeface="JetBrains Mono" pitchFamily="49" charset="-122"/>
                <a:cs typeface="JetBrains Mono" pitchFamily="49" charset="-120"/>
              </a:rPr>
              <a:t>0</a:t>
            </a:r>
            <a:endParaRPr lang="en-US" sz="1600" dirty="0"/>
          </a:p>
        </p:txBody>
      </p:sp>
      <p:sp>
        <p:nvSpPr>
          <p:cNvPr id="65" name="Text 63"/>
          <p:cNvSpPr/>
          <p:nvPr/>
        </p:nvSpPr>
        <p:spPr>
          <a:xfrm>
            <a:off x="812800" y="4655691"/>
            <a:ext cx="482600" cy="482600"/>
          </a:xfrm>
          <a:prstGeom prst="rect">
            <a:avLst/>
          </a:prstGeom>
          <a:solidFill>
            <a:srgbClr val="FFFDF8"/>
          </a:solidFill>
          <a:ln/>
        </p:spPr>
        <p:txBody>
          <a:bodyPr wrap="square" lIns="0" tIns="0" rIns="0" bIns="0" rtlCol="0" anchor="t">
            <a:normAutofit/>
          </a:bodyPr>
          <a:lstStyle/>
          <a:p>
            <a:pPr algn="ctr" indent="0" marL="0">
              <a:lnSpc>
                <a:spcPts val="3808"/>
              </a:lnSpc>
              <a:buNone/>
            </a:pPr>
            <a:r>
              <a:rPr lang="en-US" sz="1600" dirty="0">
                <a:solidFill>
                  <a:srgbClr val="8B93A0"/>
                </a:solidFill>
                <a:latin typeface="JetBrains Mono" pitchFamily="49" charset="0"/>
                <a:ea typeface="JetBrains Mono" pitchFamily="49" charset="-122"/>
                <a:cs typeface="JetBrains Mono" pitchFamily="49" charset="-120"/>
              </a:rPr>
              <a:t>0</a:t>
            </a:r>
            <a:endParaRPr lang="en-US" sz="1600" dirty="0"/>
          </a:p>
        </p:txBody>
      </p:sp>
      <p:sp>
        <p:nvSpPr>
          <p:cNvPr id="66" name="Text 64"/>
          <p:cNvSpPr/>
          <p:nvPr/>
        </p:nvSpPr>
        <p:spPr>
          <a:xfrm>
            <a:off x="1333500" y="4655691"/>
            <a:ext cx="482600" cy="482600"/>
          </a:xfrm>
          <a:prstGeom prst="rect">
            <a:avLst/>
          </a:prstGeom>
          <a:solidFill>
            <a:srgbClr val="FFFDF8"/>
          </a:solidFill>
          <a:ln/>
        </p:spPr>
        <p:txBody>
          <a:bodyPr wrap="square" lIns="0" tIns="0" rIns="0" bIns="0" rtlCol="0" anchor="t">
            <a:normAutofit/>
          </a:bodyPr>
          <a:lstStyle/>
          <a:p>
            <a:pPr algn="ctr" indent="0" marL="0">
              <a:lnSpc>
                <a:spcPts val="3808"/>
              </a:lnSpc>
              <a:buNone/>
            </a:pPr>
            <a:r>
              <a:rPr lang="en-US" sz="1600" dirty="0">
                <a:solidFill>
                  <a:srgbClr val="8B93A0"/>
                </a:solidFill>
                <a:latin typeface="JetBrains Mono" pitchFamily="49" charset="0"/>
                <a:ea typeface="JetBrains Mono" pitchFamily="49" charset="-122"/>
                <a:cs typeface="JetBrains Mono" pitchFamily="49" charset="-120"/>
              </a:rPr>
              <a:t>0</a:t>
            </a:r>
            <a:endParaRPr lang="en-US" sz="1600" dirty="0"/>
          </a:p>
        </p:txBody>
      </p:sp>
      <p:sp>
        <p:nvSpPr>
          <p:cNvPr id="67" name="Text 65"/>
          <p:cNvSpPr/>
          <p:nvPr/>
        </p:nvSpPr>
        <p:spPr>
          <a:xfrm>
            <a:off x="1854200" y="4655691"/>
            <a:ext cx="482600" cy="482600"/>
          </a:xfrm>
          <a:prstGeom prst="rect">
            <a:avLst/>
          </a:prstGeom>
          <a:solidFill>
            <a:srgbClr val="2E3846"/>
          </a:solidFill>
          <a:ln/>
        </p:spPr>
        <p:txBody>
          <a:bodyPr wrap="square" lIns="0" tIns="0" rIns="0" bIns="0" rtlCol="0" anchor="t">
            <a:normAutofit/>
          </a:bodyPr>
          <a:lstStyle/>
          <a:p>
            <a:pPr algn="ctr" indent="0" marL="0">
              <a:lnSpc>
                <a:spcPts val="3808"/>
              </a:lnSpc>
              <a:buNone/>
            </a:pPr>
            <a:r>
              <a:rPr lang="en-US" sz="1600" dirty="0">
                <a:solidFill>
                  <a:srgbClr val="F7F5F0"/>
                </a:solidFill>
                <a:latin typeface="JetBrains Mono" pitchFamily="49" charset="0"/>
                <a:ea typeface="JetBrains Mono" pitchFamily="49" charset="-122"/>
                <a:cs typeface="JetBrains Mono" pitchFamily="49" charset="-120"/>
              </a:rPr>
              <a:t>9</a:t>
            </a:r>
            <a:endParaRPr lang="en-US" sz="1600" dirty="0"/>
          </a:p>
        </p:txBody>
      </p:sp>
      <p:sp>
        <p:nvSpPr>
          <p:cNvPr id="68" name="Text 66"/>
          <p:cNvSpPr/>
          <p:nvPr/>
        </p:nvSpPr>
        <p:spPr>
          <a:xfrm>
            <a:off x="2374900" y="4655691"/>
            <a:ext cx="482600" cy="482600"/>
          </a:xfrm>
          <a:prstGeom prst="rect">
            <a:avLst/>
          </a:prstGeom>
          <a:solidFill>
            <a:srgbClr val="2E3846"/>
          </a:solidFill>
          <a:ln/>
        </p:spPr>
        <p:txBody>
          <a:bodyPr wrap="square" lIns="0" tIns="0" rIns="0" bIns="0" rtlCol="0" anchor="t">
            <a:normAutofit/>
          </a:bodyPr>
          <a:lstStyle/>
          <a:p>
            <a:pPr algn="ctr" indent="0" marL="0">
              <a:lnSpc>
                <a:spcPts val="3808"/>
              </a:lnSpc>
              <a:buNone/>
            </a:pPr>
            <a:r>
              <a:rPr lang="en-US" sz="1600" dirty="0">
                <a:solidFill>
                  <a:srgbClr val="F7F5F0"/>
                </a:solidFill>
                <a:latin typeface="JetBrains Mono" pitchFamily="49" charset="0"/>
                <a:ea typeface="JetBrains Mono" pitchFamily="49" charset="-122"/>
                <a:cs typeface="JetBrains Mono" pitchFamily="49" charset="-120"/>
              </a:rPr>
              <a:t>9</a:t>
            </a:r>
            <a:endParaRPr lang="en-US" sz="1600" dirty="0"/>
          </a:p>
        </p:txBody>
      </p:sp>
      <p:sp>
        <p:nvSpPr>
          <p:cNvPr id="69" name="Text 67"/>
          <p:cNvSpPr/>
          <p:nvPr/>
        </p:nvSpPr>
        <p:spPr>
          <a:xfrm>
            <a:off x="2895600" y="4655691"/>
            <a:ext cx="482600" cy="482600"/>
          </a:xfrm>
          <a:prstGeom prst="rect">
            <a:avLst/>
          </a:prstGeom>
          <a:solidFill>
            <a:srgbClr val="FFFDF8"/>
          </a:solidFill>
          <a:ln/>
        </p:spPr>
        <p:txBody>
          <a:bodyPr wrap="square" lIns="0" tIns="0" rIns="0" bIns="0" rtlCol="0" anchor="t">
            <a:normAutofit/>
          </a:bodyPr>
          <a:lstStyle/>
          <a:p>
            <a:pPr algn="ctr" indent="0" marL="0">
              <a:lnSpc>
                <a:spcPts val="3808"/>
              </a:lnSpc>
              <a:buNone/>
            </a:pPr>
            <a:r>
              <a:rPr lang="en-US" sz="1600" dirty="0">
                <a:solidFill>
                  <a:srgbClr val="8B93A0"/>
                </a:solidFill>
                <a:latin typeface="JetBrains Mono" pitchFamily="49" charset="0"/>
                <a:ea typeface="JetBrains Mono" pitchFamily="49" charset="-122"/>
                <a:cs typeface="JetBrains Mono" pitchFamily="49" charset="-120"/>
              </a:rPr>
              <a:t>0</a:t>
            </a:r>
            <a:endParaRPr lang="en-US" sz="1600" dirty="0"/>
          </a:p>
        </p:txBody>
      </p:sp>
      <p:sp>
        <p:nvSpPr>
          <p:cNvPr id="70" name="Text 68"/>
          <p:cNvSpPr/>
          <p:nvPr/>
        </p:nvSpPr>
        <p:spPr>
          <a:xfrm>
            <a:off x="3416300" y="4655691"/>
            <a:ext cx="482600" cy="482600"/>
          </a:xfrm>
          <a:prstGeom prst="rect">
            <a:avLst/>
          </a:prstGeom>
          <a:solidFill>
            <a:srgbClr val="FFFDF8"/>
          </a:solidFill>
          <a:ln/>
        </p:spPr>
        <p:txBody>
          <a:bodyPr wrap="square" lIns="0" tIns="0" rIns="0" bIns="0" rtlCol="0" anchor="t">
            <a:normAutofit/>
          </a:bodyPr>
          <a:lstStyle/>
          <a:p>
            <a:pPr algn="ctr" indent="0" marL="0">
              <a:lnSpc>
                <a:spcPts val="3808"/>
              </a:lnSpc>
              <a:buNone/>
            </a:pPr>
            <a:r>
              <a:rPr lang="en-US" sz="1600" dirty="0">
                <a:solidFill>
                  <a:srgbClr val="8B93A0"/>
                </a:solidFill>
                <a:latin typeface="JetBrains Mono" pitchFamily="49" charset="0"/>
                <a:ea typeface="JetBrains Mono" pitchFamily="49" charset="-122"/>
                <a:cs typeface="JetBrains Mono" pitchFamily="49" charset="-120"/>
              </a:rPr>
              <a:t>0</a:t>
            </a:r>
            <a:endParaRPr lang="en-US" sz="1600" dirty="0"/>
          </a:p>
        </p:txBody>
      </p:sp>
      <p:sp>
        <p:nvSpPr>
          <p:cNvPr id="71" name="Text 69"/>
          <p:cNvSpPr/>
          <p:nvPr/>
        </p:nvSpPr>
        <p:spPr>
          <a:xfrm>
            <a:off x="1075869" y="5214491"/>
            <a:ext cx="255996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DM Sans" pitchFamily="34" charset="0"/>
                <a:ea typeface="DM Sans" pitchFamily="34" charset="-122"/>
                <a:cs typeface="DM Sans" pitchFamily="34" charset="-120"/>
              </a:rPr>
              <a:t>Our 6×6 picture of the digit “1”</a:t>
            </a:r>
            <a:endParaRPr lang="en-US" sz="1200" dirty="0"/>
          </a:p>
        </p:txBody>
      </p:sp>
      <p:sp>
        <p:nvSpPr>
          <p:cNvPr id="72" name="Shape 70"/>
          <p:cNvSpPr/>
          <p:nvPr/>
        </p:nvSpPr>
        <p:spPr>
          <a:xfrm>
            <a:off x="4406900" y="2052191"/>
            <a:ext cx="6972300" cy="767060"/>
          </a:xfrm>
          <a:prstGeom prst="roundRect">
            <a:avLst>
              <a:gd name="adj" fmla="val 9934"/>
            </a:avLst>
          </a:prstGeom>
          <a:solidFill>
            <a:srgbClr val="FFFDF8"/>
          </a:solidFill>
          <a:ln/>
        </p:spPr>
      </p:sp>
      <p:sp>
        <p:nvSpPr>
          <p:cNvPr id="73" name="Shape 71"/>
          <p:cNvSpPr/>
          <p:nvPr/>
        </p:nvSpPr>
        <p:spPr>
          <a:xfrm>
            <a:off x="4406900" y="2052191"/>
            <a:ext cx="6972300" cy="767060"/>
          </a:xfrm>
          <a:custGeom>
            <a:avLst/>
            <a:gdLst/>
            <a:ahLst/>
            <a:cxnLst/>
            <a:rect l="l" t="t" r="r" b="b"/>
            <a:pathLst>
              <a:path w="6972300" h="767060">
                <a:moveTo>
                  <a:pt x="76200" y="767060"/>
                </a:moveTo>
                <a:lnTo>
                  <a:pt x="76200" y="767060"/>
                </a:lnTo>
                <a:arcTo hR="76200" wR="76200" stAng="5400000" swAng="5400000"/>
                <a:lnTo>
                  <a:pt x="0" y="76200"/>
                </a:lnTo>
                <a:arcTo hR="76200" wR="76200" stAng="10800000" swAng="5400000"/>
                <a:lnTo>
                  <a:pt x="76200" y="0"/>
                </a:lnTo>
                <a:arcTo hR="76200" wR="25400" stAng="16200000" swAng="-5400000"/>
                <a:lnTo>
                  <a:pt x="50800" y="690860"/>
                </a:lnTo>
                <a:arcTo hR="76200" wR="25400" stAng="10800000" swAng="-5400000"/>
                <a:close/>
              </a:path>
            </a:pathLst>
          </a:custGeom>
          <a:solidFill>
            <a:srgbClr val="D9622B"/>
          </a:solidFill>
          <a:ln/>
        </p:spPr>
      </p:sp>
      <p:sp>
        <p:nvSpPr>
          <p:cNvPr id="74" name="Text 72"/>
          <p:cNvSpPr/>
          <p:nvPr/>
        </p:nvSpPr>
        <p:spPr>
          <a:xfrm>
            <a:off x="4635500" y="2179191"/>
            <a:ext cx="676287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0"/>
                </a:solidFill>
                <a:latin typeface="DM Sans" pitchFamily="34" charset="0"/>
                <a:ea typeface="DM Sans" pitchFamily="34" charset="-122"/>
                <a:cs typeface="DM Sans" pitchFamily="34" charset="-120"/>
              </a:rPr>
              <a:t>Pixel</a:t>
            </a:r>
            <a:endParaRPr lang="en-US" sz="1600" dirty="0"/>
          </a:p>
        </p:txBody>
      </p:sp>
      <p:sp>
        <p:nvSpPr>
          <p:cNvPr id="75" name="Text 73"/>
          <p:cNvSpPr/>
          <p:nvPr/>
        </p:nvSpPr>
        <p:spPr>
          <a:xfrm>
            <a:off x="4635500" y="2461121"/>
            <a:ext cx="6762877"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One small square (orange box). It holds one number.</a:t>
            </a:r>
            <a:endParaRPr lang="en-US" sz="1300" dirty="0"/>
          </a:p>
        </p:txBody>
      </p:sp>
      <p:sp>
        <p:nvSpPr>
          <p:cNvPr id="76" name="Shape 74"/>
          <p:cNvSpPr/>
          <p:nvPr/>
        </p:nvSpPr>
        <p:spPr>
          <a:xfrm>
            <a:off x="4406900" y="2920851"/>
            <a:ext cx="6972300" cy="767060"/>
          </a:xfrm>
          <a:prstGeom prst="roundRect">
            <a:avLst>
              <a:gd name="adj" fmla="val 9934"/>
            </a:avLst>
          </a:prstGeom>
          <a:solidFill>
            <a:srgbClr val="FFFDF8"/>
          </a:solidFill>
          <a:ln/>
        </p:spPr>
      </p:sp>
      <p:sp>
        <p:nvSpPr>
          <p:cNvPr id="77" name="Shape 75"/>
          <p:cNvSpPr/>
          <p:nvPr/>
        </p:nvSpPr>
        <p:spPr>
          <a:xfrm>
            <a:off x="4406900" y="2920851"/>
            <a:ext cx="6972300" cy="767060"/>
          </a:xfrm>
          <a:custGeom>
            <a:avLst/>
            <a:gdLst/>
            <a:ahLst/>
            <a:cxnLst/>
            <a:rect l="l" t="t" r="r" b="b"/>
            <a:pathLst>
              <a:path w="6972300" h="767060">
                <a:moveTo>
                  <a:pt x="76200" y="767060"/>
                </a:moveTo>
                <a:lnTo>
                  <a:pt x="76200" y="767060"/>
                </a:lnTo>
                <a:arcTo hR="76200" wR="76200" stAng="5400000" swAng="5400000"/>
                <a:lnTo>
                  <a:pt x="0" y="76200"/>
                </a:lnTo>
                <a:arcTo hR="76200" wR="76200" stAng="10800000" swAng="5400000"/>
                <a:lnTo>
                  <a:pt x="76200" y="0"/>
                </a:lnTo>
                <a:arcTo hR="76200" wR="25400" stAng="16200000" swAng="-5400000"/>
                <a:lnTo>
                  <a:pt x="50800" y="690860"/>
                </a:lnTo>
                <a:arcTo hR="76200" wR="25400" stAng="10800000" swAng="-5400000"/>
                <a:close/>
              </a:path>
            </a:pathLst>
          </a:custGeom>
          <a:solidFill>
            <a:srgbClr val="2E3846"/>
          </a:solidFill>
          <a:ln/>
        </p:spPr>
      </p:sp>
      <p:sp>
        <p:nvSpPr>
          <p:cNvPr id="78" name="Text 76"/>
          <p:cNvSpPr/>
          <p:nvPr/>
        </p:nvSpPr>
        <p:spPr>
          <a:xfrm>
            <a:off x="4635500" y="3047851"/>
            <a:ext cx="676287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0"/>
                </a:solidFill>
                <a:latin typeface="DM Sans" pitchFamily="34" charset="0"/>
                <a:ea typeface="DM Sans" pitchFamily="34" charset="-122"/>
                <a:cs typeface="DM Sans" pitchFamily="34" charset="-120"/>
              </a:rPr>
              <a:t>0 = no ink, 9 = ink</a:t>
            </a:r>
            <a:endParaRPr lang="en-US" sz="1600" dirty="0"/>
          </a:p>
        </p:txBody>
      </p:sp>
      <p:sp>
        <p:nvSpPr>
          <p:cNvPr id="79" name="Text 77"/>
          <p:cNvSpPr/>
          <p:nvPr/>
        </p:nvSpPr>
        <p:spPr>
          <a:xfrm>
            <a:off x="4635500" y="3329781"/>
            <a:ext cx="6762877"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Columns 2 and 3 have ink: a vertical stroke. That is a “1”.</a:t>
            </a:r>
            <a:endParaRPr lang="en-US" sz="1300" dirty="0"/>
          </a:p>
        </p:txBody>
      </p:sp>
      <p:sp>
        <p:nvSpPr>
          <p:cNvPr id="80" name="Shape 78"/>
          <p:cNvSpPr/>
          <p:nvPr/>
        </p:nvSpPr>
        <p:spPr>
          <a:xfrm>
            <a:off x="4406900" y="3789511"/>
            <a:ext cx="6972300" cy="767060"/>
          </a:xfrm>
          <a:prstGeom prst="roundRect">
            <a:avLst>
              <a:gd name="adj" fmla="val 9934"/>
            </a:avLst>
          </a:prstGeom>
          <a:solidFill>
            <a:srgbClr val="FFFDF8"/>
          </a:solidFill>
          <a:ln/>
        </p:spPr>
      </p:sp>
      <p:sp>
        <p:nvSpPr>
          <p:cNvPr id="81" name="Shape 79"/>
          <p:cNvSpPr/>
          <p:nvPr/>
        </p:nvSpPr>
        <p:spPr>
          <a:xfrm>
            <a:off x="4406900" y="3789511"/>
            <a:ext cx="6972300" cy="767060"/>
          </a:xfrm>
          <a:custGeom>
            <a:avLst/>
            <a:gdLst/>
            <a:ahLst/>
            <a:cxnLst/>
            <a:rect l="l" t="t" r="r" b="b"/>
            <a:pathLst>
              <a:path w="6972300" h="767060">
                <a:moveTo>
                  <a:pt x="76200" y="767060"/>
                </a:moveTo>
                <a:lnTo>
                  <a:pt x="76200" y="767060"/>
                </a:lnTo>
                <a:arcTo hR="76200" wR="76200" stAng="5400000" swAng="5400000"/>
                <a:lnTo>
                  <a:pt x="0" y="76200"/>
                </a:lnTo>
                <a:arcTo hR="76200" wR="76200" stAng="10800000" swAng="5400000"/>
                <a:lnTo>
                  <a:pt x="76200" y="0"/>
                </a:lnTo>
                <a:arcTo hR="76200" wR="25400" stAng="16200000" swAng="-5400000"/>
                <a:lnTo>
                  <a:pt x="50800" y="690860"/>
                </a:lnTo>
                <a:arcTo hR="76200" wR="25400" stAng="10800000" swAng="-5400000"/>
                <a:close/>
              </a:path>
            </a:pathLst>
          </a:custGeom>
          <a:solidFill>
            <a:srgbClr val="8B93A0"/>
          </a:solidFill>
          <a:ln/>
        </p:spPr>
      </p:sp>
      <p:sp>
        <p:nvSpPr>
          <p:cNvPr id="82" name="Text 80"/>
          <p:cNvSpPr/>
          <p:nvPr/>
        </p:nvSpPr>
        <p:spPr>
          <a:xfrm>
            <a:off x="4635500" y="3916511"/>
            <a:ext cx="676287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0"/>
                </a:solidFill>
                <a:latin typeface="DM Sans" pitchFamily="34" charset="0"/>
                <a:ea typeface="DM Sans" pitchFamily="34" charset="-122"/>
                <a:cs typeface="DM Sans" pitchFamily="34" charset="-120"/>
              </a:rPr>
              <a:t>Size: 6 × 6 = 36 numbers</a:t>
            </a:r>
            <a:endParaRPr lang="en-US" sz="1600" dirty="0"/>
          </a:p>
        </p:txBody>
      </p:sp>
      <p:sp>
        <p:nvSpPr>
          <p:cNvPr id="83" name="Text 81"/>
          <p:cNvSpPr/>
          <p:nvPr/>
        </p:nvSpPr>
        <p:spPr>
          <a:xfrm>
            <a:off x="4635500" y="4198441"/>
            <a:ext cx="6762877"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One grid, because it is grayscale. A colour picture has 3 grids (red, green, blue).</a:t>
            </a:r>
            <a:endParaRPr lang="en-US" sz="1300" dirty="0"/>
          </a:p>
        </p:txBody>
      </p:sp>
      <p:sp>
        <p:nvSpPr>
          <p:cNvPr id="84" name="Shape 82"/>
          <p:cNvSpPr/>
          <p:nvPr/>
        </p:nvSpPr>
        <p:spPr>
          <a:xfrm>
            <a:off x="4406900" y="4658171"/>
            <a:ext cx="6972300" cy="767060"/>
          </a:xfrm>
          <a:prstGeom prst="roundRect">
            <a:avLst>
              <a:gd name="adj" fmla="val 9934"/>
            </a:avLst>
          </a:prstGeom>
          <a:solidFill>
            <a:srgbClr val="FFFDF8"/>
          </a:solidFill>
          <a:ln/>
        </p:spPr>
      </p:sp>
      <p:sp>
        <p:nvSpPr>
          <p:cNvPr id="85" name="Shape 83"/>
          <p:cNvSpPr/>
          <p:nvPr/>
        </p:nvSpPr>
        <p:spPr>
          <a:xfrm>
            <a:off x="4406900" y="4658171"/>
            <a:ext cx="6972300" cy="767060"/>
          </a:xfrm>
          <a:custGeom>
            <a:avLst/>
            <a:gdLst/>
            <a:ahLst/>
            <a:cxnLst/>
            <a:rect l="l" t="t" r="r" b="b"/>
            <a:pathLst>
              <a:path w="6972300" h="767060">
                <a:moveTo>
                  <a:pt x="76200" y="767060"/>
                </a:moveTo>
                <a:lnTo>
                  <a:pt x="76200" y="767060"/>
                </a:lnTo>
                <a:arcTo hR="76200" wR="76200" stAng="5400000" swAng="5400000"/>
                <a:lnTo>
                  <a:pt x="0" y="76200"/>
                </a:lnTo>
                <a:arcTo hR="76200" wR="76200" stAng="10800000" swAng="5400000"/>
                <a:lnTo>
                  <a:pt x="76200" y="0"/>
                </a:lnTo>
                <a:arcTo hR="76200" wR="25400" stAng="16200000" swAng="-5400000"/>
                <a:lnTo>
                  <a:pt x="50800" y="690860"/>
                </a:lnTo>
                <a:arcTo hR="76200" wR="25400" stAng="10800000" swAng="-5400000"/>
                <a:close/>
              </a:path>
            </a:pathLst>
          </a:custGeom>
          <a:solidFill>
            <a:srgbClr val="2B5FA6"/>
          </a:solidFill>
          <a:ln/>
        </p:spPr>
      </p:sp>
      <p:sp>
        <p:nvSpPr>
          <p:cNvPr id="86" name="Text 84"/>
          <p:cNvSpPr/>
          <p:nvPr/>
        </p:nvSpPr>
        <p:spPr>
          <a:xfrm>
            <a:off x="4635500" y="4785171"/>
            <a:ext cx="676287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0"/>
                </a:solidFill>
                <a:latin typeface="DM Sans" pitchFamily="34" charset="0"/>
                <a:ea typeface="DM Sans" pitchFamily="34" charset="-122"/>
                <a:cs typeface="DM Sans" pitchFamily="34" charset="-120"/>
              </a:rPr>
              <a:t>Real digits (notebook)</a:t>
            </a:r>
            <a:endParaRPr lang="en-US" sz="1600" dirty="0"/>
          </a:p>
        </p:txBody>
      </p:sp>
      <p:sp>
        <p:nvSpPr>
          <p:cNvPr id="87" name="Text 85"/>
          <p:cNvSpPr/>
          <p:nvPr/>
        </p:nvSpPr>
        <p:spPr>
          <a:xfrm>
            <a:off x="4635500" y="5067102"/>
            <a:ext cx="6762877"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8 × 8 pictures, ink from 0 to 16. Same idea.</a:t>
            </a:r>
            <a:endParaRPr lang="en-US" sz="1300" dirty="0"/>
          </a:p>
        </p:txBody>
      </p:sp>
      <p:sp>
        <p:nvSpPr>
          <p:cNvPr id="88" name="Text 8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DM Sans" pitchFamily="34" charset="0"/>
                <a:ea typeface="DM Sans" pitchFamily="34" charset="-122"/>
                <a:cs typeface="DM Sans" pitchFamily="34" charset="-120"/>
              </a:rPr>
              <a:t>CNN step by step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501F"/>
                </a:solidFill>
                <a:latin typeface="DM Sans" pitchFamily="34" charset="0"/>
                <a:ea typeface="DM Sans" pitchFamily="34" charset="-122"/>
                <a:cs typeface="DM Sans" pitchFamily="34" charset="-120"/>
              </a:rPr>
              <a:t>THE PROBLEM</a:t>
            </a:r>
            <a:endParaRPr lang="en-US" sz="1200" dirty="0"/>
          </a:p>
        </p:txBody>
      </p:sp>
      <p:sp>
        <p:nvSpPr>
          <p:cNvPr id="3" name="Text 1"/>
          <p:cNvSpPr/>
          <p:nvPr>
            <p:ph type="title"/>
          </p:nvPr>
        </p:nvSpPr>
        <p:spPr>
          <a:xfrm>
            <a:off x="812800" y="10769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430"/>
                </a:solidFill>
                <a:latin typeface="DM Sans" pitchFamily="34" charset="0"/>
                <a:ea typeface="DM Sans" pitchFamily="34" charset="-122"/>
                <a:cs typeface="DM Sans" pitchFamily="34" charset="-120"/>
              </a:rPr>
              <a:t>Why a normal network struggles with images</a:t>
            </a:r>
            <a:endParaRPr lang="en-US" sz="3200" dirty="0"/>
          </a:p>
        </p:txBody>
      </p:sp>
      <p:sp>
        <p:nvSpPr>
          <p:cNvPr id="4" name="Shape 2"/>
          <p:cNvSpPr/>
          <p:nvPr/>
        </p:nvSpPr>
        <p:spPr>
          <a:xfrm>
            <a:off x="819150" y="1784300"/>
            <a:ext cx="3373934" cy="2621161"/>
          </a:xfrm>
          <a:prstGeom prst="roundRect">
            <a:avLst>
              <a:gd name="adj" fmla="val 3634"/>
            </a:avLst>
          </a:prstGeom>
          <a:solidFill>
            <a:srgbClr val="FFFDF8"/>
          </a:solidFill>
          <a:ln w="12700">
            <a:solidFill>
              <a:srgbClr val="D8D4C8"/>
            </a:solidFill>
            <a:prstDash val="solid"/>
          </a:ln>
        </p:spPr>
      </p:sp>
      <p:sp>
        <p:nvSpPr>
          <p:cNvPr id="5" name="Text 3"/>
          <p:cNvSpPr/>
          <p:nvPr/>
        </p:nvSpPr>
        <p:spPr>
          <a:xfrm>
            <a:off x="1028700" y="2101800"/>
            <a:ext cx="355600" cy="355600"/>
          </a:xfrm>
          <a:prstGeom prst="rect">
            <a:avLst/>
          </a:prstGeom>
          <a:solidFill>
            <a:srgbClr val="E3E1DA"/>
          </a:solidFill>
          <a:ln/>
        </p:spPr>
        <p:txBody>
          <a:bodyPr wrap="square" lIns="0" tIns="0" rIns="0" bIns="0" rtlCol="0" anchor="t">
            <a:normAutofit/>
          </a:bodyPr>
          <a:lstStyle/>
          <a:p>
            <a:pPr algn="ctr" indent="0" marL="0">
              <a:lnSpc>
                <a:spcPts val="2795"/>
              </a:lnSpc>
              <a:buNone/>
            </a:pPr>
            <a:r>
              <a:rPr lang="en-US" sz="1300" dirty="0">
                <a:solidFill>
                  <a:srgbClr val="1B2430"/>
                </a:solidFill>
                <a:latin typeface="JetBrains Mono" pitchFamily="49" charset="0"/>
                <a:ea typeface="JetBrains Mono" pitchFamily="49" charset="-122"/>
                <a:cs typeface="JetBrains Mono" pitchFamily="49" charset="-120"/>
              </a:rPr>
              <a:t>a</a:t>
            </a:r>
            <a:endParaRPr lang="en-US" sz="1300" dirty="0"/>
          </a:p>
        </p:txBody>
      </p:sp>
      <p:sp>
        <p:nvSpPr>
          <p:cNvPr id="6" name="Text 4"/>
          <p:cNvSpPr/>
          <p:nvPr/>
        </p:nvSpPr>
        <p:spPr>
          <a:xfrm>
            <a:off x="1409700" y="2101800"/>
            <a:ext cx="355600" cy="355600"/>
          </a:xfrm>
          <a:prstGeom prst="rect">
            <a:avLst/>
          </a:prstGeom>
          <a:solidFill>
            <a:srgbClr val="F8D9C4"/>
          </a:solidFill>
          <a:ln/>
        </p:spPr>
        <p:txBody>
          <a:bodyPr wrap="square" lIns="0" tIns="0" rIns="0" bIns="0" rtlCol="0" anchor="t">
            <a:normAutofit/>
          </a:bodyPr>
          <a:lstStyle/>
          <a:p>
            <a:pPr algn="ctr" indent="0" marL="0">
              <a:lnSpc>
                <a:spcPts val="2795"/>
              </a:lnSpc>
              <a:buNone/>
            </a:pPr>
            <a:r>
              <a:rPr lang="en-US" sz="1300" dirty="0">
                <a:solidFill>
                  <a:srgbClr val="1B2430"/>
                </a:solidFill>
                <a:latin typeface="JetBrains Mono" pitchFamily="49" charset="0"/>
                <a:ea typeface="JetBrains Mono" pitchFamily="49" charset="-122"/>
                <a:cs typeface="JetBrains Mono" pitchFamily="49" charset="-120"/>
              </a:rPr>
              <a:t>b</a:t>
            </a:r>
            <a:endParaRPr lang="en-US" sz="1300" dirty="0"/>
          </a:p>
        </p:txBody>
      </p:sp>
      <p:sp>
        <p:nvSpPr>
          <p:cNvPr id="7" name="Text 5"/>
          <p:cNvSpPr/>
          <p:nvPr/>
        </p:nvSpPr>
        <p:spPr>
          <a:xfrm>
            <a:off x="1028700" y="2482800"/>
            <a:ext cx="355600" cy="355600"/>
          </a:xfrm>
          <a:prstGeom prst="rect">
            <a:avLst/>
          </a:prstGeom>
          <a:solidFill>
            <a:srgbClr val="E3E1DA"/>
          </a:solidFill>
          <a:ln/>
        </p:spPr>
        <p:txBody>
          <a:bodyPr wrap="square" lIns="0" tIns="0" rIns="0" bIns="0" rtlCol="0" anchor="t">
            <a:normAutofit/>
          </a:bodyPr>
          <a:lstStyle/>
          <a:p>
            <a:pPr algn="ctr" indent="0" marL="0">
              <a:lnSpc>
                <a:spcPts val="2795"/>
              </a:lnSpc>
              <a:buNone/>
            </a:pPr>
            <a:r>
              <a:rPr lang="en-US" sz="1300" dirty="0">
                <a:solidFill>
                  <a:srgbClr val="1B2430"/>
                </a:solidFill>
                <a:latin typeface="JetBrains Mono" pitchFamily="49" charset="0"/>
                <a:ea typeface="JetBrains Mono" pitchFamily="49" charset="-122"/>
                <a:cs typeface="JetBrains Mono" pitchFamily="49" charset="-120"/>
              </a:rPr>
              <a:t>c</a:t>
            </a:r>
            <a:endParaRPr lang="en-US" sz="1300" dirty="0"/>
          </a:p>
        </p:txBody>
      </p:sp>
      <p:sp>
        <p:nvSpPr>
          <p:cNvPr id="8" name="Text 6"/>
          <p:cNvSpPr/>
          <p:nvPr/>
        </p:nvSpPr>
        <p:spPr>
          <a:xfrm>
            <a:off x="1409700" y="2482800"/>
            <a:ext cx="355600" cy="355600"/>
          </a:xfrm>
          <a:prstGeom prst="rect">
            <a:avLst/>
          </a:prstGeom>
          <a:solidFill>
            <a:srgbClr val="F8D9C4"/>
          </a:solidFill>
          <a:ln/>
        </p:spPr>
        <p:txBody>
          <a:bodyPr wrap="square" lIns="0" tIns="0" rIns="0" bIns="0" rtlCol="0" anchor="t">
            <a:normAutofit/>
          </a:bodyPr>
          <a:lstStyle/>
          <a:p>
            <a:pPr algn="ctr" indent="0" marL="0">
              <a:lnSpc>
                <a:spcPts val="2795"/>
              </a:lnSpc>
              <a:buNone/>
            </a:pPr>
            <a:r>
              <a:rPr lang="en-US" sz="1300" dirty="0">
                <a:solidFill>
                  <a:srgbClr val="1B2430"/>
                </a:solidFill>
                <a:latin typeface="JetBrains Mono" pitchFamily="49" charset="0"/>
                <a:ea typeface="JetBrains Mono" pitchFamily="49" charset="-122"/>
                <a:cs typeface="JetBrains Mono" pitchFamily="49" charset="-120"/>
              </a:rPr>
              <a:t>d</a:t>
            </a:r>
            <a:endParaRPr lang="en-US" sz="1300" dirty="0"/>
          </a:p>
        </p:txBody>
      </p:sp>
      <p:pic>
        <p:nvPicPr>
          <p:cNvPr id="9" name="Image 0" descr="arrow-right">    </p:cNvPr>
          <p:cNvPicPr>
            <a:picLocks noChangeAspect="1"/>
          </p:cNvPicPr>
          <p:nvPr/>
        </p:nvPicPr>
        <p:blipFill>
          <a:blip r:embed="rId1"/>
          <a:srcRect l="0" r="0" t="0" b="0"/>
          <a:stretch/>
        </p:blipFill>
        <p:spPr>
          <a:xfrm>
            <a:off x="1892300" y="2406600"/>
            <a:ext cx="254000" cy="127000"/>
          </a:xfrm>
          <a:prstGeom prst="rect">
            <a:avLst/>
          </a:prstGeom>
        </p:spPr>
      </p:pic>
      <p:sp>
        <p:nvSpPr>
          <p:cNvPr id="10" name="Text 7"/>
          <p:cNvSpPr/>
          <p:nvPr/>
        </p:nvSpPr>
        <p:spPr>
          <a:xfrm>
            <a:off x="2273300" y="2292300"/>
            <a:ext cx="355600" cy="355600"/>
          </a:xfrm>
          <a:prstGeom prst="rect">
            <a:avLst/>
          </a:prstGeom>
          <a:solidFill>
            <a:srgbClr val="E3E1DA"/>
          </a:solidFill>
          <a:ln/>
        </p:spPr>
        <p:txBody>
          <a:bodyPr wrap="square" lIns="0" tIns="0" rIns="0" bIns="0" rtlCol="0" anchor="t">
            <a:normAutofit/>
          </a:bodyPr>
          <a:lstStyle/>
          <a:p>
            <a:pPr algn="ctr" indent="0" marL="0">
              <a:lnSpc>
                <a:spcPts val="2795"/>
              </a:lnSpc>
              <a:buNone/>
            </a:pPr>
            <a:r>
              <a:rPr lang="en-US" sz="1300" dirty="0">
                <a:solidFill>
                  <a:srgbClr val="1B2430"/>
                </a:solidFill>
                <a:latin typeface="JetBrains Mono" pitchFamily="49" charset="0"/>
                <a:ea typeface="JetBrains Mono" pitchFamily="49" charset="-122"/>
                <a:cs typeface="JetBrains Mono" pitchFamily="49" charset="-120"/>
              </a:rPr>
              <a:t>a</a:t>
            </a:r>
            <a:endParaRPr lang="en-US" sz="1300" dirty="0"/>
          </a:p>
        </p:txBody>
      </p:sp>
      <p:sp>
        <p:nvSpPr>
          <p:cNvPr id="11" name="Text 8"/>
          <p:cNvSpPr/>
          <p:nvPr/>
        </p:nvSpPr>
        <p:spPr>
          <a:xfrm>
            <a:off x="2654300" y="2292300"/>
            <a:ext cx="355600" cy="355600"/>
          </a:xfrm>
          <a:prstGeom prst="rect">
            <a:avLst/>
          </a:prstGeom>
          <a:solidFill>
            <a:srgbClr val="F8D9C4"/>
          </a:solidFill>
          <a:ln/>
        </p:spPr>
        <p:txBody>
          <a:bodyPr wrap="square" lIns="0" tIns="0" rIns="0" bIns="0" rtlCol="0" anchor="t">
            <a:normAutofit/>
          </a:bodyPr>
          <a:lstStyle/>
          <a:p>
            <a:pPr algn="ctr" indent="0" marL="0">
              <a:lnSpc>
                <a:spcPts val="2795"/>
              </a:lnSpc>
              <a:buNone/>
            </a:pPr>
            <a:r>
              <a:rPr lang="en-US" sz="1300" dirty="0">
                <a:solidFill>
                  <a:srgbClr val="1B2430"/>
                </a:solidFill>
                <a:latin typeface="JetBrains Mono" pitchFamily="49" charset="0"/>
                <a:ea typeface="JetBrains Mono" pitchFamily="49" charset="-122"/>
                <a:cs typeface="JetBrains Mono" pitchFamily="49" charset="-120"/>
              </a:rPr>
              <a:t>b</a:t>
            </a:r>
            <a:endParaRPr lang="en-US" sz="1300" dirty="0"/>
          </a:p>
        </p:txBody>
      </p:sp>
      <p:sp>
        <p:nvSpPr>
          <p:cNvPr id="12" name="Text 9"/>
          <p:cNvSpPr/>
          <p:nvPr/>
        </p:nvSpPr>
        <p:spPr>
          <a:xfrm>
            <a:off x="3035300" y="2292300"/>
            <a:ext cx="355600" cy="355600"/>
          </a:xfrm>
          <a:prstGeom prst="rect">
            <a:avLst/>
          </a:prstGeom>
          <a:solidFill>
            <a:srgbClr val="E3E1DA"/>
          </a:solidFill>
          <a:ln/>
        </p:spPr>
        <p:txBody>
          <a:bodyPr wrap="square" lIns="0" tIns="0" rIns="0" bIns="0" rtlCol="0" anchor="t">
            <a:normAutofit/>
          </a:bodyPr>
          <a:lstStyle/>
          <a:p>
            <a:pPr algn="ctr" indent="0" marL="0">
              <a:lnSpc>
                <a:spcPts val="2795"/>
              </a:lnSpc>
              <a:buNone/>
            </a:pPr>
            <a:r>
              <a:rPr lang="en-US" sz="1300" dirty="0">
                <a:solidFill>
                  <a:srgbClr val="1B2430"/>
                </a:solidFill>
                <a:latin typeface="JetBrains Mono" pitchFamily="49" charset="0"/>
                <a:ea typeface="JetBrains Mono" pitchFamily="49" charset="-122"/>
                <a:cs typeface="JetBrains Mono" pitchFamily="49" charset="-120"/>
              </a:rPr>
              <a:t>c</a:t>
            </a:r>
            <a:endParaRPr lang="en-US" sz="1300" dirty="0"/>
          </a:p>
        </p:txBody>
      </p:sp>
      <p:sp>
        <p:nvSpPr>
          <p:cNvPr id="13" name="Text 10"/>
          <p:cNvSpPr/>
          <p:nvPr/>
        </p:nvSpPr>
        <p:spPr>
          <a:xfrm>
            <a:off x="3416300" y="2292300"/>
            <a:ext cx="355600" cy="355600"/>
          </a:xfrm>
          <a:prstGeom prst="rect">
            <a:avLst/>
          </a:prstGeom>
          <a:solidFill>
            <a:srgbClr val="F8D9C4"/>
          </a:solidFill>
          <a:ln/>
        </p:spPr>
        <p:txBody>
          <a:bodyPr wrap="square" lIns="0" tIns="0" rIns="0" bIns="0" rtlCol="0" anchor="t">
            <a:normAutofit/>
          </a:bodyPr>
          <a:lstStyle/>
          <a:p>
            <a:pPr algn="ctr" indent="0" marL="0">
              <a:lnSpc>
                <a:spcPts val="2795"/>
              </a:lnSpc>
              <a:buNone/>
            </a:pPr>
            <a:r>
              <a:rPr lang="en-US" sz="1300" dirty="0">
                <a:solidFill>
                  <a:srgbClr val="1B2430"/>
                </a:solidFill>
                <a:latin typeface="JetBrains Mono" pitchFamily="49" charset="0"/>
                <a:ea typeface="JetBrains Mono" pitchFamily="49" charset="-122"/>
                <a:cs typeface="JetBrains Mono" pitchFamily="49" charset="-120"/>
              </a:rPr>
              <a:t>d</a:t>
            </a:r>
            <a:endParaRPr lang="en-US" sz="1300" dirty="0"/>
          </a:p>
        </p:txBody>
      </p:sp>
      <p:sp>
        <p:nvSpPr>
          <p:cNvPr id="14" name="Text 11"/>
          <p:cNvSpPr/>
          <p:nvPr/>
        </p:nvSpPr>
        <p:spPr>
          <a:xfrm>
            <a:off x="1028700" y="3047950"/>
            <a:ext cx="3043479" cy="57398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0"/>
                </a:solidFill>
                <a:latin typeface="DM Sans" pitchFamily="34" charset="0"/>
                <a:ea typeface="DM Sans" pitchFamily="34" charset="-122"/>
                <a:cs typeface="DM Sans" pitchFamily="34" charset="-120"/>
              </a:rPr>
              <a:t>1. Flattening loses neighbours</a:t>
            </a:r>
            <a:endParaRPr lang="en-US" sz="1800" dirty="0"/>
          </a:p>
        </p:txBody>
      </p:sp>
      <p:sp>
        <p:nvSpPr>
          <p:cNvPr id="15" name="Text 12"/>
          <p:cNvSpPr/>
          <p:nvPr/>
        </p:nvSpPr>
        <p:spPr>
          <a:xfrm>
            <a:off x="1028700" y="3698131"/>
            <a:ext cx="3043479"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b and d were touching. In one long row, they are far apart.</a:t>
            </a:r>
            <a:endParaRPr lang="en-US" sz="1400" dirty="0"/>
          </a:p>
        </p:txBody>
      </p:sp>
      <p:sp>
        <p:nvSpPr>
          <p:cNvPr id="16" name="Shape 13"/>
          <p:cNvSpPr/>
          <p:nvPr/>
        </p:nvSpPr>
        <p:spPr>
          <a:xfrm>
            <a:off x="4408984" y="1784300"/>
            <a:ext cx="3373983" cy="2621161"/>
          </a:xfrm>
          <a:prstGeom prst="roundRect">
            <a:avLst>
              <a:gd name="adj" fmla="val 3634"/>
            </a:avLst>
          </a:prstGeom>
          <a:solidFill>
            <a:srgbClr val="FFFDF8"/>
          </a:solidFill>
          <a:ln w="12700">
            <a:solidFill>
              <a:srgbClr val="D8D4C8"/>
            </a:solidFill>
            <a:prstDash val="solid"/>
          </a:ln>
        </p:spPr>
      </p:sp>
      <p:sp>
        <p:nvSpPr>
          <p:cNvPr id="17" name="Text 14"/>
          <p:cNvSpPr/>
          <p:nvPr/>
        </p:nvSpPr>
        <p:spPr>
          <a:xfrm>
            <a:off x="4618534" y="2185640"/>
            <a:ext cx="3158083"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B8501F"/>
                </a:solidFill>
                <a:latin typeface="JetBrains Mono" pitchFamily="49" charset="0"/>
                <a:ea typeface="JetBrains Mono" pitchFamily="49" charset="-122"/>
                <a:cs typeface="JetBrains Mono" pitchFamily="49" charset="-120"/>
              </a:rPr>
              <a:t>384 million</a:t>
            </a:r>
            <a:endParaRPr lang="en-US" sz="3200" dirty="0"/>
          </a:p>
        </p:txBody>
      </p:sp>
      <p:sp>
        <p:nvSpPr>
          <p:cNvPr id="18" name="Text 15"/>
          <p:cNvSpPr/>
          <p:nvPr/>
        </p:nvSpPr>
        <p:spPr>
          <a:xfrm>
            <a:off x="4618534" y="3047950"/>
            <a:ext cx="304353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0"/>
                </a:solidFill>
                <a:latin typeface="DM Sans" pitchFamily="34" charset="0"/>
                <a:ea typeface="DM Sans" pitchFamily="34" charset="-122"/>
                <a:cs typeface="DM Sans" pitchFamily="34" charset="-120"/>
              </a:rPr>
              <a:t>2. Too many weights</a:t>
            </a:r>
            <a:endParaRPr lang="en-US" sz="1800" dirty="0"/>
          </a:p>
        </p:txBody>
      </p:sp>
      <p:sp>
        <p:nvSpPr>
          <p:cNvPr id="19" name="Text 16"/>
          <p:cNvSpPr/>
          <p:nvPr/>
        </p:nvSpPr>
        <p:spPr>
          <a:xfrm>
            <a:off x="4618534" y="3423841"/>
            <a:ext cx="3043530"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Weights for one 1000×1000 colour photo into 128 neurons. A 3×3 filter has only 9.</a:t>
            </a:r>
            <a:endParaRPr lang="en-US" sz="1400" dirty="0"/>
          </a:p>
        </p:txBody>
      </p:sp>
      <p:sp>
        <p:nvSpPr>
          <p:cNvPr id="20" name="Shape 17"/>
          <p:cNvSpPr/>
          <p:nvPr/>
        </p:nvSpPr>
        <p:spPr>
          <a:xfrm>
            <a:off x="7998867" y="1784300"/>
            <a:ext cx="3373983" cy="2621161"/>
          </a:xfrm>
          <a:prstGeom prst="roundRect">
            <a:avLst>
              <a:gd name="adj" fmla="val 3634"/>
            </a:avLst>
          </a:prstGeom>
          <a:solidFill>
            <a:srgbClr val="FFFDF8"/>
          </a:solidFill>
          <a:ln w="12700">
            <a:solidFill>
              <a:srgbClr val="D8D4C8"/>
            </a:solidFill>
            <a:prstDash val="solid"/>
          </a:ln>
        </p:spPr>
      </p:sp>
      <p:sp>
        <p:nvSpPr>
          <p:cNvPr id="21" name="Shape 18"/>
          <p:cNvSpPr/>
          <p:nvPr/>
        </p:nvSpPr>
        <p:spPr>
          <a:xfrm>
            <a:off x="8208417" y="2009725"/>
            <a:ext cx="215900" cy="215900"/>
          </a:xfrm>
          <a:prstGeom prst="rect">
            <a:avLst/>
          </a:prstGeom>
          <a:solidFill>
            <a:srgbClr val="E3E1DA"/>
          </a:solidFill>
          <a:ln/>
        </p:spPr>
      </p:sp>
      <p:sp>
        <p:nvSpPr>
          <p:cNvPr id="22" name="Shape 19"/>
          <p:cNvSpPr/>
          <p:nvPr/>
        </p:nvSpPr>
        <p:spPr>
          <a:xfrm>
            <a:off x="8443367" y="2009725"/>
            <a:ext cx="215900" cy="215900"/>
          </a:xfrm>
          <a:prstGeom prst="rect">
            <a:avLst/>
          </a:prstGeom>
          <a:solidFill>
            <a:srgbClr val="E3E1DA"/>
          </a:solidFill>
          <a:ln/>
        </p:spPr>
      </p:sp>
      <p:sp>
        <p:nvSpPr>
          <p:cNvPr id="23" name="Shape 20"/>
          <p:cNvSpPr/>
          <p:nvPr/>
        </p:nvSpPr>
        <p:spPr>
          <a:xfrm>
            <a:off x="8678317" y="2009725"/>
            <a:ext cx="215900" cy="215900"/>
          </a:xfrm>
          <a:prstGeom prst="rect">
            <a:avLst/>
          </a:prstGeom>
          <a:solidFill>
            <a:srgbClr val="E3E1DA"/>
          </a:solidFill>
          <a:ln/>
        </p:spPr>
      </p:sp>
      <p:sp>
        <p:nvSpPr>
          <p:cNvPr id="24" name="Shape 21"/>
          <p:cNvSpPr/>
          <p:nvPr/>
        </p:nvSpPr>
        <p:spPr>
          <a:xfrm>
            <a:off x="8913267" y="2009725"/>
            <a:ext cx="215900" cy="215900"/>
          </a:xfrm>
          <a:prstGeom prst="rect">
            <a:avLst/>
          </a:prstGeom>
          <a:solidFill>
            <a:srgbClr val="E3E1DA"/>
          </a:solidFill>
          <a:ln/>
        </p:spPr>
      </p:sp>
      <p:sp>
        <p:nvSpPr>
          <p:cNvPr id="25" name="Shape 22"/>
          <p:cNvSpPr/>
          <p:nvPr/>
        </p:nvSpPr>
        <p:spPr>
          <a:xfrm>
            <a:off x="8208417" y="2244675"/>
            <a:ext cx="215900" cy="215900"/>
          </a:xfrm>
          <a:prstGeom prst="rect">
            <a:avLst/>
          </a:prstGeom>
          <a:solidFill>
            <a:srgbClr val="E3E1DA"/>
          </a:solidFill>
          <a:ln/>
        </p:spPr>
      </p:sp>
      <p:sp>
        <p:nvSpPr>
          <p:cNvPr id="26" name="Shape 23"/>
          <p:cNvSpPr/>
          <p:nvPr/>
        </p:nvSpPr>
        <p:spPr>
          <a:xfrm>
            <a:off x="8443367" y="2244675"/>
            <a:ext cx="215900" cy="215900"/>
          </a:xfrm>
          <a:prstGeom prst="rect">
            <a:avLst/>
          </a:prstGeom>
          <a:solidFill>
            <a:srgbClr val="D9622B"/>
          </a:solidFill>
          <a:ln/>
        </p:spPr>
      </p:sp>
      <p:sp>
        <p:nvSpPr>
          <p:cNvPr id="27" name="Shape 24"/>
          <p:cNvSpPr/>
          <p:nvPr/>
        </p:nvSpPr>
        <p:spPr>
          <a:xfrm>
            <a:off x="8678317" y="2244675"/>
            <a:ext cx="215900" cy="215900"/>
          </a:xfrm>
          <a:prstGeom prst="rect">
            <a:avLst/>
          </a:prstGeom>
          <a:solidFill>
            <a:srgbClr val="D9622B"/>
          </a:solidFill>
          <a:ln/>
        </p:spPr>
      </p:sp>
      <p:sp>
        <p:nvSpPr>
          <p:cNvPr id="28" name="Shape 25"/>
          <p:cNvSpPr/>
          <p:nvPr/>
        </p:nvSpPr>
        <p:spPr>
          <a:xfrm>
            <a:off x="8913267" y="2244675"/>
            <a:ext cx="215900" cy="215900"/>
          </a:xfrm>
          <a:prstGeom prst="rect">
            <a:avLst/>
          </a:prstGeom>
          <a:solidFill>
            <a:srgbClr val="E3E1DA"/>
          </a:solidFill>
          <a:ln/>
        </p:spPr>
      </p:sp>
      <p:sp>
        <p:nvSpPr>
          <p:cNvPr id="29" name="Shape 26"/>
          <p:cNvSpPr/>
          <p:nvPr/>
        </p:nvSpPr>
        <p:spPr>
          <a:xfrm>
            <a:off x="8208417" y="2479625"/>
            <a:ext cx="215900" cy="215900"/>
          </a:xfrm>
          <a:prstGeom prst="rect">
            <a:avLst/>
          </a:prstGeom>
          <a:solidFill>
            <a:srgbClr val="E3E1DA"/>
          </a:solidFill>
          <a:ln/>
        </p:spPr>
      </p:sp>
      <p:sp>
        <p:nvSpPr>
          <p:cNvPr id="30" name="Shape 27"/>
          <p:cNvSpPr/>
          <p:nvPr/>
        </p:nvSpPr>
        <p:spPr>
          <a:xfrm>
            <a:off x="8443367" y="2479625"/>
            <a:ext cx="215900" cy="215900"/>
          </a:xfrm>
          <a:prstGeom prst="rect">
            <a:avLst/>
          </a:prstGeom>
          <a:solidFill>
            <a:srgbClr val="E3E1DA"/>
          </a:solidFill>
          <a:ln/>
        </p:spPr>
      </p:sp>
      <p:sp>
        <p:nvSpPr>
          <p:cNvPr id="31" name="Shape 28"/>
          <p:cNvSpPr/>
          <p:nvPr/>
        </p:nvSpPr>
        <p:spPr>
          <a:xfrm>
            <a:off x="8678317" y="2479625"/>
            <a:ext cx="215900" cy="215900"/>
          </a:xfrm>
          <a:prstGeom prst="rect">
            <a:avLst/>
          </a:prstGeom>
          <a:solidFill>
            <a:srgbClr val="D9622B"/>
          </a:solidFill>
          <a:ln/>
        </p:spPr>
      </p:sp>
      <p:sp>
        <p:nvSpPr>
          <p:cNvPr id="32" name="Shape 29"/>
          <p:cNvSpPr/>
          <p:nvPr/>
        </p:nvSpPr>
        <p:spPr>
          <a:xfrm>
            <a:off x="8913267" y="2479625"/>
            <a:ext cx="215900" cy="215900"/>
          </a:xfrm>
          <a:prstGeom prst="rect">
            <a:avLst/>
          </a:prstGeom>
          <a:solidFill>
            <a:srgbClr val="E3E1DA"/>
          </a:solidFill>
          <a:ln/>
        </p:spPr>
      </p:sp>
      <p:sp>
        <p:nvSpPr>
          <p:cNvPr id="33" name="Shape 30"/>
          <p:cNvSpPr/>
          <p:nvPr/>
        </p:nvSpPr>
        <p:spPr>
          <a:xfrm>
            <a:off x="8208417" y="2714575"/>
            <a:ext cx="215900" cy="215900"/>
          </a:xfrm>
          <a:prstGeom prst="rect">
            <a:avLst/>
          </a:prstGeom>
          <a:solidFill>
            <a:srgbClr val="E3E1DA"/>
          </a:solidFill>
          <a:ln/>
        </p:spPr>
      </p:sp>
      <p:sp>
        <p:nvSpPr>
          <p:cNvPr id="34" name="Shape 31"/>
          <p:cNvSpPr/>
          <p:nvPr/>
        </p:nvSpPr>
        <p:spPr>
          <a:xfrm>
            <a:off x="8443367" y="2714575"/>
            <a:ext cx="215900" cy="215900"/>
          </a:xfrm>
          <a:prstGeom prst="rect">
            <a:avLst/>
          </a:prstGeom>
          <a:solidFill>
            <a:srgbClr val="E3E1DA"/>
          </a:solidFill>
          <a:ln/>
        </p:spPr>
      </p:sp>
      <p:sp>
        <p:nvSpPr>
          <p:cNvPr id="35" name="Shape 32"/>
          <p:cNvSpPr/>
          <p:nvPr/>
        </p:nvSpPr>
        <p:spPr>
          <a:xfrm>
            <a:off x="8678317" y="2714575"/>
            <a:ext cx="215900" cy="215900"/>
          </a:xfrm>
          <a:prstGeom prst="rect">
            <a:avLst/>
          </a:prstGeom>
          <a:solidFill>
            <a:srgbClr val="E3E1DA"/>
          </a:solidFill>
          <a:ln/>
        </p:spPr>
      </p:sp>
      <p:sp>
        <p:nvSpPr>
          <p:cNvPr id="36" name="Shape 33"/>
          <p:cNvSpPr/>
          <p:nvPr/>
        </p:nvSpPr>
        <p:spPr>
          <a:xfrm>
            <a:off x="8913267" y="2714575"/>
            <a:ext cx="215900" cy="215900"/>
          </a:xfrm>
          <a:prstGeom prst="rect">
            <a:avLst/>
          </a:prstGeom>
          <a:solidFill>
            <a:srgbClr val="E3E1DA"/>
          </a:solidFill>
          <a:ln/>
        </p:spPr>
      </p:sp>
      <p:sp>
        <p:nvSpPr>
          <p:cNvPr id="37" name="Shape 34"/>
          <p:cNvSpPr/>
          <p:nvPr/>
        </p:nvSpPr>
        <p:spPr>
          <a:xfrm>
            <a:off x="9332367" y="2009725"/>
            <a:ext cx="215900" cy="215900"/>
          </a:xfrm>
          <a:prstGeom prst="rect">
            <a:avLst/>
          </a:prstGeom>
          <a:solidFill>
            <a:srgbClr val="E3E1DA"/>
          </a:solidFill>
          <a:ln/>
        </p:spPr>
      </p:sp>
      <p:sp>
        <p:nvSpPr>
          <p:cNvPr id="38" name="Shape 35"/>
          <p:cNvSpPr/>
          <p:nvPr/>
        </p:nvSpPr>
        <p:spPr>
          <a:xfrm>
            <a:off x="9567317" y="2009725"/>
            <a:ext cx="215900" cy="215900"/>
          </a:xfrm>
          <a:prstGeom prst="rect">
            <a:avLst/>
          </a:prstGeom>
          <a:solidFill>
            <a:srgbClr val="E3E1DA"/>
          </a:solidFill>
          <a:ln/>
        </p:spPr>
      </p:sp>
      <p:sp>
        <p:nvSpPr>
          <p:cNvPr id="39" name="Shape 36"/>
          <p:cNvSpPr/>
          <p:nvPr/>
        </p:nvSpPr>
        <p:spPr>
          <a:xfrm>
            <a:off x="9802267" y="2009725"/>
            <a:ext cx="215900" cy="215900"/>
          </a:xfrm>
          <a:prstGeom prst="rect">
            <a:avLst/>
          </a:prstGeom>
          <a:solidFill>
            <a:srgbClr val="E3E1DA"/>
          </a:solidFill>
          <a:ln/>
        </p:spPr>
      </p:sp>
      <p:sp>
        <p:nvSpPr>
          <p:cNvPr id="40" name="Shape 37"/>
          <p:cNvSpPr/>
          <p:nvPr/>
        </p:nvSpPr>
        <p:spPr>
          <a:xfrm>
            <a:off x="10037217" y="2009725"/>
            <a:ext cx="215900" cy="215900"/>
          </a:xfrm>
          <a:prstGeom prst="rect">
            <a:avLst/>
          </a:prstGeom>
          <a:solidFill>
            <a:srgbClr val="E3E1DA"/>
          </a:solidFill>
          <a:ln/>
        </p:spPr>
      </p:sp>
      <p:sp>
        <p:nvSpPr>
          <p:cNvPr id="41" name="Shape 38"/>
          <p:cNvSpPr/>
          <p:nvPr/>
        </p:nvSpPr>
        <p:spPr>
          <a:xfrm>
            <a:off x="9332367" y="2244675"/>
            <a:ext cx="215900" cy="215900"/>
          </a:xfrm>
          <a:prstGeom prst="rect">
            <a:avLst/>
          </a:prstGeom>
          <a:solidFill>
            <a:srgbClr val="E3E1DA"/>
          </a:solidFill>
          <a:ln/>
        </p:spPr>
      </p:sp>
      <p:sp>
        <p:nvSpPr>
          <p:cNvPr id="42" name="Shape 39"/>
          <p:cNvSpPr/>
          <p:nvPr/>
        </p:nvSpPr>
        <p:spPr>
          <a:xfrm>
            <a:off x="9567317" y="2244675"/>
            <a:ext cx="215900" cy="215900"/>
          </a:xfrm>
          <a:prstGeom prst="rect">
            <a:avLst/>
          </a:prstGeom>
          <a:solidFill>
            <a:srgbClr val="E3E1DA"/>
          </a:solidFill>
          <a:ln/>
        </p:spPr>
      </p:sp>
      <p:sp>
        <p:nvSpPr>
          <p:cNvPr id="43" name="Shape 40"/>
          <p:cNvSpPr/>
          <p:nvPr/>
        </p:nvSpPr>
        <p:spPr>
          <a:xfrm>
            <a:off x="9802267" y="2244675"/>
            <a:ext cx="215900" cy="215900"/>
          </a:xfrm>
          <a:prstGeom prst="rect">
            <a:avLst/>
          </a:prstGeom>
          <a:solidFill>
            <a:srgbClr val="E3E1DA"/>
          </a:solidFill>
          <a:ln/>
        </p:spPr>
      </p:sp>
      <p:sp>
        <p:nvSpPr>
          <p:cNvPr id="44" name="Shape 41"/>
          <p:cNvSpPr/>
          <p:nvPr/>
        </p:nvSpPr>
        <p:spPr>
          <a:xfrm>
            <a:off x="10037217" y="2244675"/>
            <a:ext cx="215900" cy="215900"/>
          </a:xfrm>
          <a:prstGeom prst="rect">
            <a:avLst/>
          </a:prstGeom>
          <a:solidFill>
            <a:srgbClr val="E3E1DA"/>
          </a:solidFill>
          <a:ln/>
        </p:spPr>
      </p:sp>
      <p:sp>
        <p:nvSpPr>
          <p:cNvPr id="45" name="Shape 42"/>
          <p:cNvSpPr/>
          <p:nvPr/>
        </p:nvSpPr>
        <p:spPr>
          <a:xfrm>
            <a:off x="9332367" y="2479625"/>
            <a:ext cx="215900" cy="215900"/>
          </a:xfrm>
          <a:prstGeom prst="rect">
            <a:avLst/>
          </a:prstGeom>
          <a:solidFill>
            <a:srgbClr val="E3E1DA"/>
          </a:solidFill>
          <a:ln/>
        </p:spPr>
      </p:sp>
      <p:sp>
        <p:nvSpPr>
          <p:cNvPr id="46" name="Shape 43"/>
          <p:cNvSpPr/>
          <p:nvPr/>
        </p:nvSpPr>
        <p:spPr>
          <a:xfrm>
            <a:off x="9567317" y="2479625"/>
            <a:ext cx="215900" cy="215900"/>
          </a:xfrm>
          <a:prstGeom prst="rect">
            <a:avLst/>
          </a:prstGeom>
          <a:solidFill>
            <a:srgbClr val="E3E1DA"/>
          </a:solidFill>
          <a:ln/>
        </p:spPr>
      </p:sp>
      <p:sp>
        <p:nvSpPr>
          <p:cNvPr id="47" name="Shape 44"/>
          <p:cNvSpPr/>
          <p:nvPr/>
        </p:nvSpPr>
        <p:spPr>
          <a:xfrm>
            <a:off x="9802267" y="2479625"/>
            <a:ext cx="215900" cy="215900"/>
          </a:xfrm>
          <a:prstGeom prst="rect">
            <a:avLst/>
          </a:prstGeom>
          <a:solidFill>
            <a:srgbClr val="D9622B"/>
          </a:solidFill>
          <a:ln/>
        </p:spPr>
      </p:sp>
      <p:sp>
        <p:nvSpPr>
          <p:cNvPr id="48" name="Shape 45"/>
          <p:cNvSpPr/>
          <p:nvPr/>
        </p:nvSpPr>
        <p:spPr>
          <a:xfrm>
            <a:off x="10037217" y="2479625"/>
            <a:ext cx="215900" cy="215900"/>
          </a:xfrm>
          <a:prstGeom prst="rect">
            <a:avLst/>
          </a:prstGeom>
          <a:solidFill>
            <a:srgbClr val="D9622B"/>
          </a:solidFill>
          <a:ln/>
        </p:spPr>
      </p:sp>
      <p:sp>
        <p:nvSpPr>
          <p:cNvPr id="49" name="Shape 46"/>
          <p:cNvSpPr/>
          <p:nvPr/>
        </p:nvSpPr>
        <p:spPr>
          <a:xfrm>
            <a:off x="9332367" y="2714575"/>
            <a:ext cx="215900" cy="215900"/>
          </a:xfrm>
          <a:prstGeom prst="rect">
            <a:avLst/>
          </a:prstGeom>
          <a:solidFill>
            <a:srgbClr val="E3E1DA"/>
          </a:solidFill>
          <a:ln/>
        </p:spPr>
      </p:sp>
      <p:sp>
        <p:nvSpPr>
          <p:cNvPr id="50" name="Shape 47"/>
          <p:cNvSpPr/>
          <p:nvPr/>
        </p:nvSpPr>
        <p:spPr>
          <a:xfrm>
            <a:off x="9567317" y="2714575"/>
            <a:ext cx="215900" cy="215900"/>
          </a:xfrm>
          <a:prstGeom prst="rect">
            <a:avLst/>
          </a:prstGeom>
          <a:solidFill>
            <a:srgbClr val="E3E1DA"/>
          </a:solidFill>
          <a:ln/>
        </p:spPr>
      </p:sp>
      <p:sp>
        <p:nvSpPr>
          <p:cNvPr id="51" name="Shape 48"/>
          <p:cNvSpPr/>
          <p:nvPr/>
        </p:nvSpPr>
        <p:spPr>
          <a:xfrm>
            <a:off x="9802267" y="2714575"/>
            <a:ext cx="215900" cy="215900"/>
          </a:xfrm>
          <a:prstGeom prst="rect">
            <a:avLst/>
          </a:prstGeom>
          <a:solidFill>
            <a:srgbClr val="E3E1DA"/>
          </a:solidFill>
          <a:ln/>
        </p:spPr>
      </p:sp>
      <p:sp>
        <p:nvSpPr>
          <p:cNvPr id="52" name="Shape 49"/>
          <p:cNvSpPr/>
          <p:nvPr/>
        </p:nvSpPr>
        <p:spPr>
          <a:xfrm>
            <a:off x="10037217" y="2714575"/>
            <a:ext cx="215900" cy="215900"/>
          </a:xfrm>
          <a:prstGeom prst="rect">
            <a:avLst/>
          </a:prstGeom>
          <a:solidFill>
            <a:srgbClr val="D9622B"/>
          </a:solidFill>
          <a:ln/>
        </p:spPr>
      </p:sp>
      <p:sp>
        <p:nvSpPr>
          <p:cNvPr id="53" name="Text 50"/>
          <p:cNvSpPr/>
          <p:nvPr/>
        </p:nvSpPr>
        <p:spPr>
          <a:xfrm>
            <a:off x="8208417" y="3047950"/>
            <a:ext cx="3043530" cy="57398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0"/>
                </a:solidFill>
                <a:latin typeface="DM Sans" pitchFamily="34" charset="0"/>
                <a:ea typeface="DM Sans" pitchFamily="34" charset="-122"/>
                <a:cs typeface="DM Sans" pitchFamily="34" charset="-120"/>
              </a:rPr>
              <a:t>3. A moved shape looks new</a:t>
            </a:r>
            <a:endParaRPr lang="en-US" sz="1800" dirty="0"/>
          </a:p>
        </p:txBody>
      </p:sp>
      <p:sp>
        <p:nvSpPr>
          <p:cNvPr id="54" name="Text 51"/>
          <p:cNvSpPr/>
          <p:nvPr/>
        </p:nvSpPr>
        <p:spPr>
          <a:xfrm>
            <a:off x="8208417" y="3698131"/>
            <a:ext cx="304353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Same shape, new place: all different numbers to a dense network.</a:t>
            </a:r>
            <a:endParaRPr lang="en-US" sz="1400" dirty="0"/>
          </a:p>
        </p:txBody>
      </p:sp>
      <p:sp>
        <p:nvSpPr>
          <p:cNvPr id="55" name="Text 52"/>
          <p:cNvSpPr/>
          <p:nvPr/>
        </p:nvSpPr>
        <p:spPr>
          <a:xfrm>
            <a:off x="812800" y="4665811"/>
            <a:ext cx="10566400" cy="924520"/>
          </a:xfrm>
          <a:prstGeom prst="roundRect">
            <a:avLst>
              <a:gd name="adj" fmla="val 10989"/>
            </a:avLst>
          </a:prstGeom>
          <a:solidFill>
            <a:srgbClr val="1B2430"/>
          </a:solidFill>
          <a:ln/>
        </p:spPr>
        <p:txBody>
          <a:bodyPr wrap="square" lIns="224242" tIns="148042" rIns="0" bIns="122642" rtlCol="0" anchor="t">
            <a:normAutofit/>
          </a:bodyPr>
          <a:lstStyle/>
          <a:p>
            <a:pPr algn="l" indent="0" marL="0">
              <a:lnSpc>
                <a:spcPts val="2240"/>
              </a:lnSpc>
              <a:buNone/>
            </a:pPr>
            <a:r>
              <a:rPr lang="en-US" sz="1600" dirty="0">
                <a:solidFill>
                  <a:srgbClr val="F0A070"/>
                </a:solidFill>
                <a:latin typeface="DM Sans" pitchFamily="34" charset="0"/>
                <a:ea typeface="DM Sans" pitchFamily="34" charset="-122"/>
                <a:cs typeface="DM Sans" pitchFamily="34" charset="-120"/>
              </a:rPr>
              <a:t>CNN idea:</a:t>
            </a:r>
            <a:r>
              <a:rPr lang="en-US" sz="1600" dirty="0">
                <a:solidFill>
                  <a:srgbClr val="F7F5F0"/>
                </a:solidFill>
                <a:latin typeface="DM Sans" pitchFamily="34" charset="0"/>
                <a:ea typeface="DM Sans" pitchFamily="34" charset="-122"/>
                <a:cs typeface="DM Sans" pitchFamily="34" charset="-120"/>
              </a:rPr>
              <a:t> slide a small window over the image and ask the same question everywhere: “Is my pattern here?”</a:t>
            </a:r>
            <a:endParaRPr lang="en-US" sz="1600" dirty="0"/>
          </a:p>
        </p:txBody>
      </p:sp>
      <p:sp>
        <p:nvSpPr>
          <p:cNvPr id="56" name="Text 5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DM Sans" pitchFamily="34" charset="0"/>
                <a:ea typeface="DM Sans" pitchFamily="34" charset="-122"/>
                <a:cs typeface="DM Sans" pitchFamily="34" charset="-120"/>
              </a:rPr>
              <a:t>CNN step by step · 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819150" y="412750"/>
            <a:ext cx="1108075" cy="515541"/>
          </a:xfrm>
          <a:prstGeom prst="roundRect">
            <a:avLst>
              <a:gd name="adj" fmla="val 11085"/>
            </a:avLst>
          </a:prstGeom>
          <a:solidFill>
            <a:srgbClr val="E8E3D6"/>
          </a:solidFill>
          <a:ln w="12700">
            <a:solidFill>
              <a:srgbClr val="E8E3D6"/>
            </a:solidFill>
            <a:prstDash val="solid"/>
          </a:ln>
        </p:spPr>
      </p:sp>
      <p:sp>
        <p:nvSpPr>
          <p:cNvPr id="3" name="Text 1"/>
          <p:cNvSpPr/>
          <p:nvPr/>
        </p:nvSpPr>
        <p:spPr>
          <a:xfrm>
            <a:off x="85090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2430"/>
                </a:solidFill>
                <a:latin typeface="DM Sans" pitchFamily="34" charset="0"/>
                <a:ea typeface="DM Sans" pitchFamily="34" charset="-122"/>
                <a:cs typeface="DM Sans" pitchFamily="34" charset="-120"/>
              </a:rPr>
              <a:t>Image</a:t>
            </a:r>
            <a:endParaRPr lang="en-US" sz="1200" dirty="0"/>
          </a:p>
        </p:txBody>
      </p:sp>
      <p:sp>
        <p:nvSpPr>
          <p:cNvPr id="4" name="Text 2"/>
          <p:cNvSpPr/>
          <p:nvPr/>
        </p:nvSpPr>
        <p:spPr>
          <a:xfrm>
            <a:off x="85090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JetBrains Mono" pitchFamily="49" charset="0"/>
                <a:ea typeface="JetBrains Mono" pitchFamily="49" charset="-122"/>
                <a:cs typeface="JetBrains Mono" pitchFamily="49" charset="-120"/>
              </a:rPr>
              <a:t>6×6</a:t>
            </a:r>
            <a:endParaRPr lang="en-US" sz="1200" dirty="0"/>
          </a:p>
        </p:txBody>
      </p:sp>
      <p:sp>
        <p:nvSpPr>
          <p:cNvPr id="5" name="Text 3"/>
          <p:cNvSpPr/>
          <p:nvPr/>
        </p:nvSpPr>
        <p:spPr>
          <a:xfrm>
            <a:off x="197167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6" name="Shape 4"/>
          <p:cNvSpPr/>
          <p:nvPr/>
        </p:nvSpPr>
        <p:spPr>
          <a:xfrm>
            <a:off x="2168525" y="412750"/>
            <a:ext cx="1108075" cy="515541"/>
          </a:xfrm>
          <a:prstGeom prst="roundRect">
            <a:avLst>
              <a:gd name="adj" fmla="val 11085"/>
            </a:avLst>
          </a:prstGeom>
          <a:solidFill>
            <a:srgbClr val="B8501F"/>
          </a:solidFill>
          <a:ln w="12700">
            <a:solidFill>
              <a:srgbClr val="B8501F"/>
            </a:solidFill>
            <a:prstDash val="solid"/>
          </a:ln>
        </p:spPr>
      </p:sp>
      <p:sp>
        <p:nvSpPr>
          <p:cNvPr id="7" name="Text 5"/>
          <p:cNvSpPr/>
          <p:nvPr/>
        </p:nvSpPr>
        <p:spPr>
          <a:xfrm>
            <a:off x="220027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FFDF8"/>
                </a:solidFill>
                <a:latin typeface="DM Sans" pitchFamily="34" charset="0"/>
                <a:ea typeface="DM Sans" pitchFamily="34" charset="-122"/>
                <a:cs typeface="DM Sans" pitchFamily="34" charset="-120"/>
              </a:rPr>
              <a:t>Conv</a:t>
            </a:r>
            <a:endParaRPr lang="en-US" sz="1200" dirty="0"/>
          </a:p>
        </p:txBody>
      </p:sp>
      <p:sp>
        <p:nvSpPr>
          <p:cNvPr id="8" name="Text 6"/>
          <p:cNvSpPr/>
          <p:nvPr/>
        </p:nvSpPr>
        <p:spPr>
          <a:xfrm>
            <a:off x="220027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FFDF8"/>
                </a:solidFill>
                <a:latin typeface="JetBrains Mono" pitchFamily="49" charset="0"/>
                <a:ea typeface="JetBrains Mono" pitchFamily="49" charset="-122"/>
                <a:cs typeface="JetBrains Mono" pitchFamily="49" charset="-120"/>
              </a:rPr>
              <a:t>4×4</a:t>
            </a:r>
            <a:endParaRPr lang="en-US" sz="1200" dirty="0"/>
          </a:p>
        </p:txBody>
      </p:sp>
      <p:sp>
        <p:nvSpPr>
          <p:cNvPr id="9" name="Text 7"/>
          <p:cNvSpPr/>
          <p:nvPr/>
        </p:nvSpPr>
        <p:spPr>
          <a:xfrm>
            <a:off x="3321050"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10" name="Shape 8"/>
          <p:cNvSpPr/>
          <p:nvPr/>
        </p:nvSpPr>
        <p:spPr>
          <a:xfrm>
            <a:off x="3517900" y="412750"/>
            <a:ext cx="1108075" cy="515541"/>
          </a:xfrm>
          <a:prstGeom prst="roundRect">
            <a:avLst>
              <a:gd name="adj" fmla="val 11085"/>
            </a:avLst>
          </a:prstGeom>
          <a:noFill/>
          <a:ln w="12700">
            <a:solidFill>
              <a:srgbClr val="D8D4C8"/>
            </a:solidFill>
            <a:prstDash val="solid"/>
          </a:ln>
        </p:spPr>
      </p:sp>
      <p:sp>
        <p:nvSpPr>
          <p:cNvPr id="11" name="Text 9"/>
          <p:cNvSpPr/>
          <p:nvPr/>
        </p:nvSpPr>
        <p:spPr>
          <a:xfrm>
            <a:off x="354965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ReLU</a:t>
            </a:r>
            <a:endParaRPr lang="en-US" sz="1200" dirty="0"/>
          </a:p>
        </p:txBody>
      </p:sp>
      <p:sp>
        <p:nvSpPr>
          <p:cNvPr id="12" name="Text 10"/>
          <p:cNvSpPr/>
          <p:nvPr/>
        </p:nvSpPr>
        <p:spPr>
          <a:xfrm>
            <a:off x="354965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4×4</a:t>
            </a:r>
            <a:endParaRPr lang="en-US" sz="1200" dirty="0"/>
          </a:p>
        </p:txBody>
      </p:sp>
      <p:sp>
        <p:nvSpPr>
          <p:cNvPr id="13" name="Text 11"/>
          <p:cNvSpPr/>
          <p:nvPr/>
        </p:nvSpPr>
        <p:spPr>
          <a:xfrm>
            <a:off x="467042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14" name="Shape 12"/>
          <p:cNvSpPr/>
          <p:nvPr/>
        </p:nvSpPr>
        <p:spPr>
          <a:xfrm>
            <a:off x="4867275" y="412750"/>
            <a:ext cx="1108075" cy="515541"/>
          </a:xfrm>
          <a:prstGeom prst="roundRect">
            <a:avLst>
              <a:gd name="adj" fmla="val 11085"/>
            </a:avLst>
          </a:prstGeom>
          <a:noFill/>
          <a:ln w="12700">
            <a:solidFill>
              <a:srgbClr val="D8D4C8"/>
            </a:solidFill>
            <a:prstDash val="solid"/>
          </a:ln>
        </p:spPr>
      </p:sp>
      <p:sp>
        <p:nvSpPr>
          <p:cNvPr id="15" name="Text 13"/>
          <p:cNvSpPr/>
          <p:nvPr/>
        </p:nvSpPr>
        <p:spPr>
          <a:xfrm>
            <a:off x="489902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Pool</a:t>
            </a:r>
            <a:endParaRPr lang="en-US" sz="1200" dirty="0"/>
          </a:p>
        </p:txBody>
      </p:sp>
      <p:sp>
        <p:nvSpPr>
          <p:cNvPr id="16" name="Text 14"/>
          <p:cNvSpPr/>
          <p:nvPr/>
        </p:nvSpPr>
        <p:spPr>
          <a:xfrm>
            <a:off x="489902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2×2</a:t>
            </a:r>
            <a:endParaRPr lang="en-US" sz="1200" dirty="0"/>
          </a:p>
        </p:txBody>
      </p:sp>
      <p:sp>
        <p:nvSpPr>
          <p:cNvPr id="17" name="Text 15"/>
          <p:cNvSpPr/>
          <p:nvPr/>
        </p:nvSpPr>
        <p:spPr>
          <a:xfrm>
            <a:off x="6019800"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18" name="Shape 16"/>
          <p:cNvSpPr/>
          <p:nvPr/>
        </p:nvSpPr>
        <p:spPr>
          <a:xfrm>
            <a:off x="6216650" y="412750"/>
            <a:ext cx="1108075" cy="515541"/>
          </a:xfrm>
          <a:prstGeom prst="roundRect">
            <a:avLst>
              <a:gd name="adj" fmla="val 11085"/>
            </a:avLst>
          </a:prstGeom>
          <a:noFill/>
          <a:ln w="12700">
            <a:solidFill>
              <a:srgbClr val="D8D4C8"/>
            </a:solidFill>
            <a:prstDash val="solid"/>
          </a:ln>
        </p:spPr>
      </p:sp>
      <p:sp>
        <p:nvSpPr>
          <p:cNvPr id="19" name="Text 17"/>
          <p:cNvSpPr/>
          <p:nvPr/>
        </p:nvSpPr>
        <p:spPr>
          <a:xfrm>
            <a:off x="624840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Flatten</a:t>
            </a:r>
            <a:endParaRPr lang="en-US" sz="1200" dirty="0"/>
          </a:p>
        </p:txBody>
      </p:sp>
      <p:sp>
        <p:nvSpPr>
          <p:cNvPr id="20" name="Text 18"/>
          <p:cNvSpPr/>
          <p:nvPr/>
        </p:nvSpPr>
        <p:spPr>
          <a:xfrm>
            <a:off x="624840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4 nums</a:t>
            </a:r>
            <a:endParaRPr lang="en-US" sz="1200" dirty="0"/>
          </a:p>
        </p:txBody>
      </p:sp>
      <p:sp>
        <p:nvSpPr>
          <p:cNvPr id="21" name="Text 19"/>
          <p:cNvSpPr/>
          <p:nvPr/>
        </p:nvSpPr>
        <p:spPr>
          <a:xfrm>
            <a:off x="736917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22" name="Shape 20"/>
          <p:cNvSpPr/>
          <p:nvPr/>
        </p:nvSpPr>
        <p:spPr>
          <a:xfrm>
            <a:off x="7566025" y="412750"/>
            <a:ext cx="1108075" cy="515541"/>
          </a:xfrm>
          <a:prstGeom prst="roundRect">
            <a:avLst>
              <a:gd name="adj" fmla="val 11085"/>
            </a:avLst>
          </a:prstGeom>
          <a:noFill/>
          <a:ln w="12700">
            <a:solidFill>
              <a:srgbClr val="D8D4C8"/>
            </a:solidFill>
            <a:prstDash val="solid"/>
          </a:ln>
        </p:spPr>
      </p:sp>
      <p:sp>
        <p:nvSpPr>
          <p:cNvPr id="23" name="Text 21"/>
          <p:cNvSpPr/>
          <p:nvPr/>
        </p:nvSpPr>
        <p:spPr>
          <a:xfrm>
            <a:off x="759777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Dense</a:t>
            </a:r>
            <a:endParaRPr lang="en-US" sz="1200" dirty="0"/>
          </a:p>
        </p:txBody>
      </p:sp>
      <p:sp>
        <p:nvSpPr>
          <p:cNvPr id="24" name="Text 22"/>
          <p:cNvSpPr/>
          <p:nvPr/>
        </p:nvSpPr>
        <p:spPr>
          <a:xfrm>
            <a:off x="759777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3 scores</a:t>
            </a:r>
            <a:endParaRPr lang="en-US" sz="1200" dirty="0"/>
          </a:p>
        </p:txBody>
      </p:sp>
      <p:sp>
        <p:nvSpPr>
          <p:cNvPr id="25" name="Text 23"/>
          <p:cNvSpPr/>
          <p:nvPr/>
        </p:nvSpPr>
        <p:spPr>
          <a:xfrm>
            <a:off x="8718550"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26" name="Shape 24"/>
          <p:cNvSpPr/>
          <p:nvPr/>
        </p:nvSpPr>
        <p:spPr>
          <a:xfrm>
            <a:off x="8915400" y="412750"/>
            <a:ext cx="1108075" cy="515541"/>
          </a:xfrm>
          <a:prstGeom prst="roundRect">
            <a:avLst>
              <a:gd name="adj" fmla="val 11085"/>
            </a:avLst>
          </a:prstGeom>
          <a:noFill/>
          <a:ln w="12700">
            <a:solidFill>
              <a:srgbClr val="D8D4C8"/>
            </a:solidFill>
            <a:prstDash val="solid"/>
          </a:ln>
        </p:spPr>
      </p:sp>
      <p:sp>
        <p:nvSpPr>
          <p:cNvPr id="27" name="Text 25"/>
          <p:cNvSpPr/>
          <p:nvPr/>
        </p:nvSpPr>
        <p:spPr>
          <a:xfrm>
            <a:off x="894715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Softmax</a:t>
            </a:r>
            <a:endParaRPr lang="en-US" sz="1200" dirty="0"/>
          </a:p>
        </p:txBody>
      </p:sp>
      <p:sp>
        <p:nvSpPr>
          <p:cNvPr id="28" name="Text 26"/>
          <p:cNvSpPr/>
          <p:nvPr/>
        </p:nvSpPr>
        <p:spPr>
          <a:xfrm>
            <a:off x="894715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3 chances</a:t>
            </a:r>
            <a:endParaRPr lang="en-US" sz="1200" dirty="0"/>
          </a:p>
        </p:txBody>
      </p:sp>
      <p:sp>
        <p:nvSpPr>
          <p:cNvPr id="29" name="Text 27"/>
          <p:cNvSpPr/>
          <p:nvPr/>
        </p:nvSpPr>
        <p:spPr>
          <a:xfrm>
            <a:off x="1006792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30" name="Shape 28"/>
          <p:cNvSpPr/>
          <p:nvPr/>
        </p:nvSpPr>
        <p:spPr>
          <a:xfrm>
            <a:off x="10264775" y="412750"/>
            <a:ext cx="1108075" cy="515541"/>
          </a:xfrm>
          <a:prstGeom prst="roundRect">
            <a:avLst>
              <a:gd name="adj" fmla="val 11085"/>
            </a:avLst>
          </a:prstGeom>
          <a:noFill/>
          <a:ln w="12700">
            <a:solidFill>
              <a:srgbClr val="D8D4C8"/>
            </a:solidFill>
            <a:prstDash val="solid"/>
          </a:ln>
        </p:spPr>
      </p:sp>
      <p:sp>
        <p:nvSpPr>
          <p:cNvPr id="31" name="Text 29"/>
          <p:cNvSpPr/>
          <p:nvPr/>
        </p:nvSpPr>
        <p:spPr>
          <a:xfrm>
            <a:off x="1029652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Answer</a:t>
            </a:r>
            <a:endParaRPr lang="en-US" sz="1200" dirty="0"/>
          </a:p>
        </p:txBody>
      </p:sp>
      <p:sp>
        <p:nvSpPr>
          <p:cNvPr id="32" name="Text 30"/>
          <p:cNvSpPr/>
          <p:nvPr/>
        </p:nvSpPr>
        <p:spPr>
          <a:xfrm>
            <a:off x="1029652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“1”</a:t>
            </a:r>
            <a:endParaRPr lang="en-US" sz="1200" dirty="0"/>
          </a:p>
        </p:txBody>
      </p:sp>
      <p:sp>
        <p:nvSpPr>
          <p:cNvPr id="33" name="Text 31"/>
          <p:cNvSpPr/>
          <p:nvPr/>
        </p:nvSpPr>
        <p:spPr>
          <a:xfrm>
            <a:off x="812800" y="113784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501F"/>
                </a:solidFill>
                <a:latin typeface="DM Sans" pitchFamily="34" charset="0"/>
                <a:ea typeface="DM Sans" pitchFamily="34" charset="-122"/>
                <a:cs typeface="DM Sans" pitchFamily="34" charset="-120"/>
              </a:rPr>
              <a:t>STEP 1 · FILTER = KERNEL</a:t>
            </a:r>
            <a:endParaRPr lang="en-US" sz="1200" dirty="0"/>
          </a:p>
        </p:txBody>
      </p:sp>
      <p:sp>
        <p:nvSpPr>
          <p:cNvPr id="34" name="Text 32"/>
          <p:cNvSpPr/>
          <p:nvPr>
            <p:ph type="title"/>
          </p:nvPr>
        </p:nvSpPr>
        <p:spPr>
          <a:xfrm>
            <a:off x="812800" y="1401961"/>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430"/>
                </a:solidFill>
                <a:latin typeface="DM Sans" pitchFamily="34" charset="0"/>
                <a:ea typeface="DM Sans" pitchFamily="34" charset="-122"/>
                <a:cs typeface="DM Sans" pitchFamily="34" charset="-120"/>
              </a:rPr>
              <a:t>A filter is a small grid that looks for one pattern</a:t>
            </a:r>
            <a:endParaRPr lang="en-US" sz="3200" dirty="0"/>
          </a:p>
        </p:txBody>
      </p:sp>
      <p:sp>
        <p:nvSpPr>
          <p:cNvPr id="35" name="Text 33"/>
          <p:cNvSpPr/>
          <p:nvPr/>
        </p:nvSpPr>
        <p:spPr>
          <a:xfrm>
            <a:off x="787400" y="2052191"/>
            <a:ext cx="8763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B5FA6"/>
                </a:solidFill>
                <a:latin typeface="DM Sans" pitchFamily="34" charset="0"/>
                <a:ea typeface="DM Sans" pitchFamily="34" charset="-122"/>
                <a:cs typeface="DM Sans" pitchFamily="34" charset="-120"/>
              </a:rPr>
              <a:t>left</a:t>
            </a:r>
            <a:endParaRPr lang="en-US" sz="1200" dirty="0"/>
          </a:p>
        </p:txBody>
      </p:sp>
      <p:sp>
        <p:nvSpPr>
          <p:cNvPr id="36" name="Text 34"/>
          <p:cNvSpPr/>
          <p:nvPr/>
        </p:nvSpPr>
        <p:spPr>
          <a:xfrm>
            <a:off x="1663700" y="2052191"/>
            <a:ext cx="8763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middle</a:t>
            </a:r>
            <a:endParaRPr lang="en-US" sz="1200" dirty="0"/>
          </a:p>
        </p:txBody>
      </p:sp>
      <p:sp>
        <p:nvSpPr>
          <p:cNvPr id="37" name="Text 35"/>
          <p:cNvSpPr/>
          <p:nvPr/>
        </p:nvSpPr>
        <p:spPr>
          <a:xfrm>
            <a:off x="2540000" y="2052191"/>
            <a:ext cx="8763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8501F"/>
                </a:solidFill>
                <a:latin typeface="DM Sans" pitchFamily="34" charset="0"/>
                <a:ea typeface="DM Sans" pitchFamily="34" charset="-122"/>
                <a:cs typeface="DM Sans" pitchFamily="34" charset="-120"/>
              </a:rPr>
              <a:t>right</a:t>
            </a:r>
            <a:endParaRPr lang="en-US" sz="1200" dirty="0"/>
          </a:p>
        </p:txBody>
      </p:sp>
      <p:sp>
        <p:nvSpPr>
          <p:cNvPr id="38" name="Text 36"/>
          <p:cNvSpPr/>
          <p:nvPr/>
        </p:nvSpPr>
        <p:spPr>
          <a:xfrm>
            <a:off x="812800" y="2341711"/>
            <a:ext cx="825500" cy="825500"/>
          </a:xfrm>
          <a:prstGeom prst="rect">
            <a:avLst/>
          </a:prstGeom>
          <a:solidFill>
            <a:srgbClr val="D6E3F5"/>
          </a:solidFill>
          <a:ln/>
        </p:spPr>
        <p:txBody>
          <a:bodyPr wrap="square" lIns="0" tIns="0" rIns="0" bIns="0" rtlCol="0" anchor="t">
            <a:normAutofit/>
          </a:bodyPr>
          <a:lstStyle/>
          <a:p>
            <a:pPr algn="ctr" indent="0" marL="0">
              <a:lnSpc>
                <a:spcPts val="6490"/>
              </a:lnSpc>
              <a:buNone/>
            </a:pPr>
            <a:r>
              <a:rPr lang="en-US" sz="2200" dirty="0">
                <a:solidFill>
                  <a:srgbClr val="1B2430"/>
                </a:solidFill>
                <a:latin typeface="JetBrains Mono" pitchFamily="49" charset="0"/>
                <a:ea typeface="JetBrains Mono" pitchFamily="49" charset="-122"/>
                <a:cs typeface="JetBrains Mono" pitchFamily="49" charset="-120"/>
              </a:rPr>
              <a:t>−1</a:t>
            </a:r>
            <a:endParaRPr lang="en-US" sz="2200" dirty="0"/>
          </a:p>
        </p:txBody>
      </p:sp>
      <p:sp>
        <p:nvSpPr>
          <p:cNvPr id="39" name="Text 37"/>
          <p:cNvSpPr/>
          <p:nvPr/>
        </p:nvSpPr>
        <p:spPr>
          <a:xfrm>
            <a:off x="1689100" y="2341711"/>
            <a:ext cx="825500" cy="825500"/>
          </a:xfrm>
          <a:prstGeom prst="rect">
            <a:avLst/>
          </a:prstGeom>
          <a:solidFill>
            <a:srgbClr val="E3E1DA"/>
          </a:solidFill>
          <a:ln/>
        </p:spPr>
        <p:txBody>
          <a:bodyPr wrap="square" lIns="0" tIns="0" rIns="0" bIns="0" rtlCol="0" anchor="t">
            <a:normAutofit/>
          </a:bodyPr>
          <a:lstStyle/>
          <a:p>
            <a:pPr algn="ctr" indent="0" marL="0">
              <a:lnSpc>
                <a:spcPts val="6490"/>
              </a:lnSpc>
              <a:buNone/>
            </a:pPr>
            <a:r>
              <a:rPr lang="en-US" sz="2200" dirty="0">
                <a:solidFill>
                  <a:srgbClr val="1B2430"/>
                </a:solidFill>
                <a:latin typeface="JetBrains Mono" pitchFamily="49" charset="0"/>
                <a:ea typeface="JetBrains Mono" pitchFamily="49" charset="-122"/>
                <a:cs typeface="JetBrains Mono" pitchFamily="49" charset="-120"/>
              </a:rPr>
              <a:t>0</a:t>
            </a:r>
            <a:endParaRPr lang="en-US" sz="2200" dirty="0"/>
          </a:p>
        </p:txBody>
      </p:sp>
      <p:sp>
        <p:nvSpPr>
          <p:cNvPr id="40" name="Text 38"/>
          <p:cNvSpPr/>
          <p:nvPr/>
        </p:nvSpPr>
        <p:spPr>
          <a:xfrm>
            <a:off x="2565400" y="2341711"/>
            <a:ext cx="825500" cy="825500"/>
          </a:xfrm>
          <a:prstGeom prst="rect">
            <a:avLst/>
          </a:prstGeom>
          <a:solidFill>
            <a:srgbClr val="F8D9C4"/>
          </a:solidFill>
          <a:ln/>
        </p:spPr>
        <p:txBody>
          <a:bodyPr wrap="square" lIns="0" tIns="0" rIns="0" bIns="0" rtlCol="0" anchor="t">
            <a:normAutofit/>
          </a:bodyPr>
          <a:lstStyle/>
          <a:p>
            <a:pPr algn="ctr" indent="0" marL="0">
              <a:lnSpc>
                <a:spcPts val="6490"/>
              </a:lnSpc>
              <a:buNone/>
            </a:pPr>
            <a:r>
              <a:rPr lang="en-US" sz="2200" dirty="0">
                <a:solidFill>
                  <a:srgbClr val="1B2430"/>
                </a:solidFill>
                <a:latin typeface="JetBrains Mono" pitchFamily="49" charset="0"/>
                <a:ea typeface="JetBrains Mono" pitchFamily="49" charset="-122"/>
                <a:cs typeface="JetBrains Mono" pitchFamily="49" charset="-120"/>
              </a:rPr>
              <a:t>+1</a:t>
            </a:r>
            <a:endParaRPr lang="en-US" sz="2200" dirty="0"/>
          </a:p>
        </p:txBody>
      </p:sp>
      <p:sp>
        <p:nvSpPr>
          <p:cNvPr id="41" name="Text 39"/>
          <p:cNvSpPr/>
          <p:nvPr/>
        </p:nvSpPr>
        <p:spPr>
          <a:xfrm>
            <a:off x="812800" y="3218011"/>
            <a:ext cx="825500" cy="825500"/>
          </a:xfrm>
          <a:prstGeom prst="rect">
            <a:avLst/>
          </a:prstGeom>
          <a:solidFill>
            <a:srgbClr val="D6E3F5"/>
          </a:solidFill>
          <a:ln/>
        </p:spPr>
        <p:txBody>
          <a:bodyPr wrap="square" lIns="0" tIns="0" rIns="0" bIns="0" rtlCol="0" anchor="t">
            <a:normAutofit/>
          </a:bodyPr>
          <a:lstStyle/>
          <a:p>
            <a:pPr algn="ctr" indent="0" marL="0">
              <a:lnSpc>
                <a:spcPts val="6490"/>
              </a:lnSpc>
              <a:buNone/>
            </a:pPr>
            <a:r>
              <a:rPr lang="en-US" sz="2200" dirty="0">
                <a:solidFill>
                  <a:srgbClr val="1B2430"/>
                </a:solidFill>
                <a:latin typeface="JetBrains Mono" pitchFamily="49" charset="0"/>
                <a:ea typeface="JetBrains Mono" pitchFamily="49" charset="-122"/>
                <a:cs typeface="JetBrains Mono" pitchFamily="49" charset="-120"/>
              </a:rPr>
              <a:t>−1</a:t>
            </a:r>
            <a:endParaRPr lang="en-US" sz="2200" dirty="0"/>
          </a:p>
        </p:txBody>
      </p:sp>
      <p:sp>
        <p:nvSpPr>
          <p:cNvPr id="42" name="Text 40"/>
          <p:cNvSpPr/>
          <p:nvPr/>
        </p:nvSpPr>
        <p:spPr>
          <a:xfrm>
            <a:off x="1689100" y="3218011"/>
            <a:ext cx="825500" cy="825500"/>
          </a:xfrm>
          <a:prstGeom prst="rect">
            <a:avLst/>
          </a:prstGeom>
          <a:solidFill>
            <a:srgbClr val="E3E1DA"/>
          </a:solidFill>
          <a:ln/>
        </p:spPr>
        <p:txBody>
          <a:bodyPr wrap="square" lIns="0" tIns="0" rIns="0" bIns="0" rtlCol="0" anchor="t">
            <a:normAutofit/>
          </a:bodyPr>
          <a:lstStyle/>
          <a:p>
            <a:pPr algn="ctr" indent="0" marL="0">
              <a:lnSpc>
                <a:spcPts val="6490"/>
              </a:lnSpc>
              <a:buNone/>
            </a:pPr>
            <a:r>
              <a:rPr lang="en-US" sz="2200" dirty="0">
                <a:solidFill>
                  <a:srgbClr val="1B2430"/>
                </a:solidFill>
                <a:latin typeface="JetBrains Mono" pitchFamily="49" charset="0"/>
                <a:ea typeface="JetBrains Mono" pitchFamily="49" charset="-122"/>
                <a:cs typeface="JetBrains Mono" pitchFamily="49" charset="-120"/>
              </a:rPr>
              <a:t>0</a:t>
            </a:r>
            <a:endParaRPr lang="en-US" sz="2200" dirty="0"/>
          </a:p>
        </p:txBody>
      </p:sp>
      <p:sp>
        <p:nvSpPr>
          <p:cNvPr id="43" name="Text 41"/>
          <p:cNvSpPr/>
          <p:nvPr/>
        </p:nvSpPr>
        <p:spPr>
          <a:xfrm>
            <a:off x="2565400" y="3218011"/>
            <a:ext cx="825500" cy="825500"/>
          </a:xfrm>
          <a:prstGeom prst="rect">
            <a:avLst/>
          </a:prstGeom>
          <a:solidFill>
            <a:srgbClr val="F8D9C4"/>
          </a:solidFill>
          <a:ln/>
        </p:spPr>
        <p:txBody>
          <a:bodyPr wrap="square" lIns="0" tIns="0" rIns="0" bIns="0" rtlCol="0" anchor="t">
            <a:normAutofit/>
          </a:bodyPr>
          <a:lstStyle/>
          <a:p>
            <a:pPr algn="ctr" indent="0" marL="0">
              <a:lnSpc>
                <a:spcPts val="6490"/>
              </a:lnSpc>
              <a:buNone/>
            </a:pPr>
            <a:r>
              <a:rPr lang="en-US" sz="2200" dirty="0">
                <a:solidFill>
                  <a:srgbClr val="1B2430"/>
                </a:solidFill>
                <a:latin typeface="JetBrains Mono" pitchFamily="49" charset="0"/>
                <a:ea typeface="JetBrains Mono" pitchFamily="49" charset="-122"/>
                <a:cs typeface="JetBrains Mono" pitchFamily="49" charset="-120"/>
              </a:rPr>
              <a:t>+1</a:t>
            </a:r>
            <a:endParaRPr lang="en-US" sz="2200" dirty="0"/>
          </a:p>
        </p:txBody>
      </p:sp>
      <p:sp>
        <p:nvSpPr>
          <p:cNvPr id="44" name="Text 42"/>
          <p:cNvSpPr/>
          <p:nvPr/>
        </p:nvSpPr>
        <p:spPr>
          <a:xfrm>
            <a:off x="812800" y="4094311"/>
            <a:ext cx="825500" cy="825500"/>
          </a:xfrm>
          <a:prstGeom prst="rect">
            <a:avLst/>
          </a:prstGeom>
          <a:solidFill>
            <a:srgbClr val="D6E3F5"/>
          </a:solidFill>
          <a:ln/>
        </p:spPr>
        <p:txBody>
          <a:bodyPr wrap="square" lIns="0" tIns="0" rIns="0" bIns="0" rtlCol="0" anchor="t">
            <a:normAutofit/>
          </a:bodyPr>
          <a:lstStyle/>
          <a:p>
            <a:pPr algn="ctr" indent="0" marL="0">
              <a:lnSpc>
                <a:spcPts val="6490"/>
              </a:lnSpc>
              <a:buNone/>
            </a:pPr>
            <a:r>
              <a:rPr lang="en-US" sz="2200" dirty="0">
                <a:solidFill>
                  <a:srgbClr val="1B2430"/>
                </a:solidFill>
                <a:latin typeface="JetBrains Mono" pitchFamily="49" charset="0"/>
                <a:ea typeface="JetBrains Mono" pitchFamily="49" charset="-122"/>
                <a:cs typeface="JetBrains Mono" pitchFamily="49" charset="-120"/>
              </a:rPr>
              <a:t>−1</a:t>
            </a:r>
            <a:endParaRPr lang="en-US" sz="2200" dirty="0"/>
          </a:p>
        </p:txBody>
      </p:sp>
      <p:sp>
        <p:nvSpPr>
          <p:cNvPr id="45" name="Text 43"/>
          <p:cNvSpPr/>
          <p:nvPr/>
        </p:nvSpPr>
        <p:spPr>
          <a:xfrm>
            <a:off x="1689100" y="4094311"/>
            <a:ext cx="825500" cy="825500"/>
          </a:xfrm>
          <a:prstGeom prst="rect">
            <a:avLst/>
          </a:prstGeom>
          <a:solidFill>
            <a:srgbClr val="E3E1DA"/>
          </a:solidFill>
          <a:ln/>
        </p:spPr>
        <p:txBody>
          <a:bodyPr wrap="square" lIns="0" tIns="0" rIns="0" bIns="0" rtlCol="0" anchor="t">
            <a:normAutofit/>
          </a:bodyPr>
          <a:lstStyle/>
          <a:p>
            <a:pPr algn="ctr" indent="0" marL="0">
              <a:lnSpc>
                <a:spcPts val="6490"/>
              </a:lnSpc>
              <a:buNone/>
            </a:pPr>
            <a:r>
              <a:rPr lang="en-US" sz="2200" dirty="0">
                <a:solidFill>
                  <a:srgbClr val="1B2430"/>
                </a:solidFill>
                <a:latin typeface="JetBrains Mono" pitchFamily="49" charset="0"/>
                <a:ea typeface="JetBrains Mono" pitchFamily="49" charset="-122"/>
                <a:cs typeface="JetBrains Mono" pitchFamily="49" charset="-120"/>
              </a:rPr>
              <a:t>0</a:t>
            </a:r>
            <a:endParaRPr lang="en-US" sz="2200" dirty="0"/>
          </a:p>
        </p:txBody>
      </p:sp>
      <p:sp>
        <p:nvSpPr>
          <p:cNvPr id="46" name="Text 44"/>
          <p:cNvSpPr/>
          <p:nvPr/>
        </p:nvSpPr>
        <p:spPr>
          <a:xfrm>
            <a:off x="2565400" y="4094311"/>
            <a:ext cx="825500" cy="825500"/>
          </a:xfrm>
          <a:prstGeom prst="rect">
            <a:avLst/>
          </a:prstGeom>
          <a:solidFill>
            <a:srgbClr val="F8D9C4"/>
          </a:solidFill>
          <a:ln/>
        </p:spPr>
        <p:txBody>
          <a:bodyPr wrap="square" lIns="0" tIns="0" rIns="0" bIns="0" rtlCol="0" anchor="t">
            <a:normAutofit/>
          </a:bodyPr>
          <a:lstStyle/>
          <a:p>
            <a:pPr algn="ctr" indent="0" marL="0">
              <a:lnSpc>
                <a:spcPts val="6490"/>
              </a:lnSpc>
              <a:buNone/>
            </a:pPr>
            <a:r>
              <a:rPr lang="en-US" sz="2200" dirty="0">
                <a:solidFill>
                  <a:srgbClr val="1B2430"/>
                </a:solidFill>
                <a:latin typeface="JetBrains Mono" pitchFamily="49" charset="0"/>
                <a:ea typeface="JetBrains Mono" pitchFamily="49" charset="-122"/>
                <a:cs typeface="JetBrains Mono" pitchFamily="49" charset="-120"/>
              </a:rPr>
              <a:t>+1</a:t>
            </a:r>
            <a:endParaRPr lang="en-US" sz="2200" dirty="0"/>
          </a:p>
        </p:txBody>
      </p:sp>
      <p:sp>
        <p:nvSpPr>
          <p:cNvPr id="47" name="Text 45"/>
          <p:cNvSpPr/>
          <p:nvPr/>
        </p:nvSpPr>
        <p:spPr>
          <a:xfrm>
            <a:off x="774129" y="4996011"/>
            <a:ext cx="265544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DM Sans" pitchFamily="34" charset="0"/>
                <a:ea typeface="DM Sans" pitchFamily="34" charset="-122"/>
                <a:cs typeface="DM Sans" pitchFamily="34" charset="-120"/>
              </a:rPr>
              <a:t>3×3 filter · the middle is ignored</a:t>
            </a:r>
            <a:endParaRPr lang="en-US" sz="1200" dirty="0"/>
          </a:p>
        </p:txBody>
      </p:sp>
      <p:sp>
        <p:nvSpPr>
          <p:cNvPr id="48" name="Shape 46"/>
          <p:cNvSpPr/>
          <p:nvPr/>
        </p:nvSpPr>
        <p:spPr>
          <a:xfrm>
            <a:off x="3898900" y="2052191"/>
            <a:ext cx="7480300" cy="728960"/>
          </a:xfrm>
          <a:prstGeom prst="roundRect">
            <a:avLst>
              <a:gd name="adj" fmla="val 10453"/>
            </a:avLst>
          </a:prstGeom>
          <a:solidFill>
            <a:srgbClr val="FFFDF8"/>
          </a:solidFill>
          <a:ln/>
        </p:spPr>
      </p:sp>
      <p:sp>
        <p:nvSpPr>
          <p:cNvPr id="49" name="Shape 47"/>
          <p:cNvSpPr/>
          <p:nvPr/>
        </p:nvSpPr>
        <p:spPr>
          <a:xfrm>
            <a:off x="3898900" y="2052191"/>
            <a:ext cx="7480300" cy="728960"/>
          </a:xfrm>
          <a:custGeom>
            <a:avLst/>
            <a:gdLst/>
            <a:ahLst/>
            <a:cxnLst/>
            <a:rect l="l" t="t" r="r" b="b"/>
            <a:pathLst>
              <a:path w="7480300" h="728960">
                <a:moveTo>
                  <a:pt x="76200" y="728960"/>
                </a:moveTo>
                <a:lnTo>
                  <a:pt x="76200" y="728960"/>
                </a:lnTo>
                <a:arcTo hR="76200" wR="76200" stAng="5400000" swAng="5400000"/>
                <a:lnTo>
                  <a:pt x="0" y="76200"/>
                </a:lnTo>
                <a:arcTo hR="76200" wR="76200" stAng="10800000" swAng="5400000"/>
                <a:lnTo>
                  <a:pt x="76200" y="0"/>
                </a:lnTo>
                <a:arcTo hR="76200" wR="25400" stAng="16200000" swAng="-5400000"/>
                <a:lnTo>
                  <a:pt x="50800" y="652760"/>
                </a:lnTo>
                <a:arcTo hR="76200" wR="25400" stAng="10800000" swAng="-5400000"/>
                <a:close/>
              </a:path>
            </a:pathLst>
          </a:custGeom>
          <a:solidFill>
            <a:srgbClr val="2B5FA6"/>
          </a:solidFill>
          <a:ln/>
        </p:spPr>
      </p:sp>
      <p:sp>
        <p:nvSpPr>
          <p:cNvPr id="50" name="Text 48"/>
          <p:cNvSpPr/>
          <p:nvPr/>
        </p:nvSpPr>
        <p:spPr>
          <a:xfrm>
            <a:off x="4127500" y="2166491"/>
            <a:ext cx="728611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0"/>
                </a:solidFill>
                <a:latin typeface="DM Sans" pitchFamily="34" charset="0"/>
                <a:ea typeface="DM Sans" pitchFamily="34" charset="-122"/>
                <a:cs typeface="DM Sans" pitchFamily="34" charset="-120"/>
              </a:rPr>
              <a:t>Left column = −1</a:t>
            </a:r>
            <a:endParaRPr lang="en-US" sz="1600" dirty="0"/>
          </a:p>
        </p:txBody>
      </p:sp>
      <p:sp>
        <p:nvSpPr>
          <p:cNvPr id="51" name="Text 49"/>
          <p:cNvSpPr/>
          <p:nvPr/>
        </p:nvSpPr>
        <p:spPr>
          <a:xfrm>
            <a:off x="4127500" y="2435721"/>
            <a:ext cx="7286117"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Ink on the left makes the answer smaller.</a:t>
            </a:r>
            <a:endParaRPr lang="en-US" sz="1300" dirty="0"/>
          </a:p>
        </p:txBody>
      </p:sp>
      <p:sp>
        <p:nvSpPr>
          <p:cNvPr id="52" name="Shape 50"/>
          <p:cNvSpPr/>
          <p:nvPr/>
        </p:nvSpPr>
        <p:spPr>
          <a:xfrm>
            <a:off x="3898900" y="2882751"/>
            <a:ext cx="7480300" cy="728960"/>
          </a:xfrm>
          <a:prstGeom prst="roundRect">
            <a:avLst>
              <a:gd name="adj" fmla="val 10453"/>
            </a:avLst>
          </a:prstGeom>
          <a:solidFill>
            <a:srgbClr val="FFFDF8"/>
          </a:solidFill>
          <a:ln/>
        </p:spPr>
      </p:sp>
      <p:sp>
        <p:nvSpPr>
          <p:cNvPr id="53" name="Shape 51"/>
          <p:cNvSpPr/>
          <p:nvPr/>
        </p:nvSpPr>
        <p:spPr>
          <a:xfrm>
            <a:off x="3898900" y="2882751"/>
            <a:ext cx="7480300" cy="728960"/>
          </a:xfrm>
          <a:custGeom>
            <a:avLst/>
            <a:gdLst/>
            <a:ahLst/>
            <a:cxnLst/>
            <a:rect l="l" t="t" r="r" b="b"/>
            <a:pathLst>
              <a:path w="7480300" h="728960">
                <a:moveTo>
                  <a:pt x="76200" y="728960"/>
                </a:moveTo>
                <a:lnTo>
                  <a:pt x="76200" y="728960"/>
                </a:lnTo>
                <a:arcTo hR="76200" wR="76200" stAng="5400000" swAng="5400000"/>
                <a:lnTo>
                  <a:pt x="0" y="76200"/>
                </a:lnTo>
                <a:arcTo hR="76200" wR="76200" stAng="10800000" swAng="5400000"/>
                <a:lnTo>
                  <a:pt x="76200" y="0"/>
                </a:lnTo>
                <a:arcTo hR="76200" wR="25400" stAng="16200000" swAng="-5400000"/>
                <a:lnTo>
                  <a:pt x="50800" y="652760"/>
                </a:lnTo>
                <a:arcTo hR="76200" wR="25400" stAng="10800000" swAng="-5400000"/>
                <a:close/>
              </a:path>
            </a:pathLst>
          </a:custGeom>
          <a:solidFill>
            <a:srgbClr val="D9622B"/>
          </a:solidFill>
          <a:ln/>
        </p:spPr>
      </p:sp>
      <p:sp>
        <p:nvSpPr>
          <p:cNvPr id="54" name="Text 52"/>
          <p:cNvSpPr/>
          <p:nvPr/>
        </p:nvSpPr>
        <p:spPr>
          <a:xfrm>
            <a:off x="4127500" y="2997051"/>
            <a:ext cx="728611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0"/>
                </a:solidFill>
                <a:latin typeface="DM Sans" pitchFamily="34" charset="0"/>
                <a:ea typeface="DM Sans" pitchFamily="34" charset="-122"/>
                <a:cs typeface="DM Sans" pitchFamily="34" charset="-120"/>
              </a:rPr>
              <a:t>Right column = +1</a:t>
            </a:r>
            <a:endParaRPr lang="en-US" sz="1600" dirty="0"/>
          </a:p>
        </p:txBody>
      </p:sp>
      <p:sp>
        <p:nvSpPr>
          <p:cNvPr id="55" name="Text 53"/>
          <p:cNvSpPr/>
          <p:nvPr/>
        </p:nvSpPr>
        <p:spPr>
          <a:xfrm>
            <a:off x="4127500" y="3266281"/>
            <a:ext cx="7286117"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Ink on the right makes the answer bigger.</a:t>
            </a:r>
            <a:endParaRPr lang="en-US" sz="1300" dirty="0"/>
          </a:p>
        </p:txBody>
      </p:sp>
      <p:sp>
        <p:nvSpPr>
          <p:cNvPr id="56" name="Text 54"/>
          <p:cNvSpPr/>
          <p:nvPr/>
        </p:nvSpPr>
        <p:spPr>
          <a:xfrm>
            <a:off x="3898900" y="3713311"/>
            <a:ext cx="7480300" cy="1026071"/>
          </a:xfrm>
          <a:prstGeom prst="roundRect">
            <a:avLst>
              <a:gd name="adj" fmla="val 7426"/>
            </a:avLst>
          </a:prstGeom>
          <a:solidFill>
            <a:srgbClr val="1B2430"/>
          </a:solidFill>
          <a:ln/>
        </p:spPr>
        <p:txBody>
          <a:bodyPr wrap="square" lIns="155482" tIns="117382" rIns="0" bIns="91982" rtlCol="0" anchor="t">
            <a:normAutofit/>
          </a:bodyPr>
          <a:lstStyle/>
          <a:p>
            <a:pPr algn="l" indent="0" marL="0">
              <a:lnSpc>
                <a:spcPts val="1960"/>
              </a:lnSpc>
              <a:buNone/>
            </a:pPr>
            <a:r>
              <a:rPr lang="en-US" sz="1400" dirty="0">
                <a:solidFill>
                  <a:srgbClr val="F0A070"/>
                </a:solidFill>
                <a:latin typeface="DM Sans" pitchFamily="34" charset="0"/>
                <a:ea typeface="DM Sans" pitchFamily="34" charset="-122"/>
                <a:cs typeface="DM Sans" pitchFamily="34" charset="-120"/>
              </a:rPr>
              <a:t>Big +</a:t>
            </a:r>
            <a:r>
              <a:rPr lang="en-US" sz="1400" dirty="0">
                <a:solidFill>
                  <a:srgbClr val="F7F5F0"/>
                </a:solidFill>
                <a:latin typeface="DM Sans" pitchFamily="34" charset="0"/>
                <a:ea typeface="DM Sans" pitchFamily="34" charset="-122"/>
                <a:cs typeface="DM Sans" pitchFamily="34" charset="-120"/>
              </a:rPr>
              <a:t> where ink starts (empty → ink).</a:t>
            </a:r>
            <a:endParaRPr lang="en-US" sz="1400" dirty="0"/>
          </a:p>
          <a:p>
            <a:pPr algn="l" indent="0" marL="0">
              <a:lnSpc>
                <a:spcPts val="1960"/>
              </a:lnSpc>
              <a:buNone/>
            </a:pPr>
            <a:r>
              <a:rPr lang="en-US" sz="1400" dirty="0">
                <a:solidFill>
                  <a:srgbClr val="8FB4E8"/>
                </a:solidFill>
                <a:latin typeface="DM Sans" pitchFamily="34" charset="0"/>
                <a:ea typeface="DM Sans" pitchFamily="34" charset="-122"/>
                <a:cs typeface="DM Sans" pitchFamily="34" charset="-120"/>
              </a:rPr>
              <a:t>Big −</a:t>
            </a:r>
            <a:r>
              <a:rPr lang="en-US" sz="1400" dirty="0">
                <a:solidFill>
                  <a:srgbClr val="F7F5F0"/>
                </a:solidFill>
                <a:latin typeface="DM Sans" pitchFamily="34" charset="0"/>
                <a:ea typeface="DM Sans" pitchFamily="34" charset="-122"/>
                <a:cs typeface="DM Sans" pitchFamily="34" charset="-120"/>
              </a:rPr>
              <a:t> where ink ends (ink → empty).</a:t>
            </a:r>
            <a:endParaRPr lang="en-US" sz="1400" dirty="0"/>
          </a:p>
          <a:p>
            <a:pPr algn="l" indent="0" marL="0">
              <a:lnSpc>
                <a:spcPts val="1960"/>
              </a:lnSpc>
              <a:buNone/>
            </a:pPr>
            <a:r>
              <a:rPr lang="en-US" sz="1400" dirty="0">
                <a:solidFill>
                  <a:srgbClr val="F7F5F0"/>
                </a:solidFill>
                <a:latin typeface="DM Sans" pitchFamily="34" charset="0"/>
                <a:ea typeface="DM Sans" pitchFamily="34" charset="-122"/>
                <a:cs typeface="DM Sans" pitchFamily="34" charset="-120"/>
              </a:rPr>
              <a:t>These are the two edges of our “1”.</a:t>
            </a:r>
            <a:endParaRPr lang="en-US" sz="1400" dirty="0"/>
          </a:p>
        </p:txBody>
      </p:sp>
      <p:sp>
        <p:nvSpPr>
          <p:cNvPr id="57" name="Text 55"/>
          <p:cNvSpPr/>
          <p:nvPr/>
        </p:nvSpPr>
        <p:spPr>
          <a:xfrm>
            <a:off x="3898900" y="4840982"/>
            <a:ext cx="7480300" cy="690860"/>
          </a:xfrm>
          <a:prstGeom prst="roundRect">
            <a:avLst>
              <a:gd name="adj" fmla="val 11030"/>
            </a:avLst>
          </a:prstGeom>
          <a:solidFill>
            <a:srgbClr val="F8D9C4"/>
          </a:solidFill>
          <a:ln/>
        </p:spPr>
        <p:txBody>
          <a:bodyPr wrap="square" lIns="155482" tIns="91982" rIns="0" bIns="66582" rtlCol="0" anchor="t">
            <a:normAutofit/>
          </a:bodyPr>
          <a:lstStyle/>
          <a:p>
            <a:pPr algn="l" indent="0" marL="0">
              <a:lnSpc>
                <a:spcPts val="1820"/>
              </a:lnSpc>
              <a:buNone/>
            </a:pPr>
            <a:r>
              <a:rPr lang="en-US" sz="1300" b="1" dirty="0">
                <a:solidFill>
                  <a:srgbClr val="1B2430"/>
                </a:solidFill>
                <a:latin typeface="DM Sans" pitchFamily="34" charset="0"/>
                <a:ea typeface="DM Sans" pitchFamily="34" charset="-122"/>
                <a:cs typeface="DM Sans" pitchFamily="34" charset="-120"/>
              </a:rPr>
              <a:t>Who decides?</a:t>
            </a:r>
            <a:r>
              <a:rPr lang="en-US" sz="1300" dirty="0">
                <a:solidFill>
                  <a:srgbClr val="1B2430"/>
                </a:solidFill>
                <a:latin typeface="DM Sans" pitchFamily="34" charset="0"/>
                <a:ea typeface="DM Sans" pitchFamily="34" charset="-122"/>
                <a:cs typeface="DM Sans" pitchFamily="34" charset="-120"/>
              </a:rPr>
              <a:t> The size 3×3: </a:t>
            </a:r>
            <a:r>
              <a:rPr lang="en-US" sz="1300" b="1" dirty="0">
                <a:solidFill>
                  <a:srgbClr val="1B2430"/>
                </a:solidFill>
                <a:latin typeface="DM Sans" pitchFamily="34" charset="0"/>
                <a:ea typeface="DM Sans" pitchFamily="34" charset="-122"/>
                <a:cs typeface="DM Sans" pitchFamily="34" charset="-120"/>
              </a:rPr>
              <a:t>we choose</a:t>
            </a:r>
            <a:r>
              <a:rPr lang="en-US" sz="1300" dirty="0">
                <a:solidFill>
                  <a:srgbClr val="1B2430"/>
                </a:solidFill>
                <a:latin typeface="DM Sans" pitchFamily="34" charset="0"/>
                <a:ea typeface="DM Sans" pitchFamily="34" charset="-122"/>
                <a:cs typeface="DM Sans" pitchFamily="34" charset="-120"/>
              </a:rPr>
              <a:t>. The 9 numbers: </a:t>
            </a:r>
            <a:r>
              <a:rPr lang="en-US" sz="1300" b="1" dirty="0">
                <a:solidFill>
                  <a:srgbClr val="1B2430"/>
                </a:solidFill>
                <a:latin typeface="DM Sans" pitchFamily="34" charset="0"/>
                <a:ea typeface="DM Sans" pitchFamily="34" charset="-122"/>
                <a:cs typeface="DM Sans" pitchFamily="34" charset="-120"/>
              </a:rPr>
              <a:t>the model learns</a:t>
            </a:r>
            <a:r>
              <a:rPr lang="en-US" sz="1300" dirty="0">
                <a:solidFill>
                  <a:srgbClr val="1B2430"/>
                </a:solidFill>
                <a:latin typeface="DM Sans" pitchFamily="34" charset="0"/>
                <a:ea typeface="DM Sans" pitchFamily="34" charset="-122"/>
                <a:cs typeface="DM Sans" pitchFamily="34" charset="-120"/>
              </a:rPr>
              <a:t> them. We wrote these ourselves only to understand.</a:t>
            </a:r>
            <a:endParaRPr lang="en-US" sz="1300" dirty="0"/>
          </a:p>
        </p:txBody>
      </p:sp>
      <p:sp>
        <p:nvSpPr>
          <p:cNvPr id="58" name="Text 5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DM Sans" pitchFamily="34" charset="0"/>
                <a:ea typeface="DM Sans" pitchFamily="34" charset="-122"/>
                <a:cs typeface="DM Sans" pitchFamily="34" charset="-120"/>
              </a:rPr>
              <a:t>CNN step by step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819150" y="412750"/>
            <a:ext cx="1108075" cy="515541"/>
          </a:xfrm>
          <a:prstGeom prst="roundRect">
            <a:avLst>
              <a:gd name="adj" fmla="val 11085"/>
            </a:avLst>
          </a:prstGeom>
          <a:solidFill>
            <a:srgbClr val="E8E3D6"/>
          </a:solidFill>
          <a:ln w="12700">
            <a:solidFill>
              <a:srgbClr val="E8E3D6"/>
            </a:solidFill>
            <a:prstDash val="solid"/>
          </a:ln>
        </p:spPr>
      </p:sp>
      <p:sp>
        <p:nvSpPr>
          <p:cNvPr id="3" name="Text 1"/>
          <p:cNvSpPr/>
          <p:nvPr/>
        </p:nvSpPr>
        <p:spPr>
          <a:xfrm>
            <a:off x="85090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2430"/>
                </a:solidFill>
                <a:latin typeface="DM Sans" pitchFamily="34" charset="0"/>
                <a:ea typeface="DM Sans" pitchFamily="34" charset="-122"/>
                <a:cs typeface="DM Sans" pitchFamily="34" charset="-120"/>
              </a:rPr>
              <a:t>Image</a:t>
            </a:r>
            <a:endParaRPr lang="en-US" sz="1200" dirty="0"/>
          </a:p>
        </p:txBody>
      </p:sp>
      <p:sp>
        <p:nvSpPr>
          <p:cNvPr id="4" name="Text 2"/>
          <p:cNvSpPr/>
          <p:nvPr/>
        </p:nvSpPr>
        <p:spPr>
          <a:xfrm>
            <a:off x="85090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JetBrains Mono" pitchFamily="49" charset="0"/>
                <a:ea typeface="JetBrains Mono" pitchFamily="49" charset="-122"/>
                <a:cs typeface="JetBrains Mono" pitchFamily="49" charset="-120"/>
              </a:rPr>
              <a:t>6×6</a:t>
            </a:r>
            <a:endParaRPr lang="en-US" sz="1200" dirty="0"/>
          </a:p>
        </p:txBody>
      </p:sp>
      <p:sp>
        <p:nvSpPr>
          <p:cNvPr id="5" name="Text 3"/>
          <p:cNvSpPr/>
          <p:nvPr/>
        </p:nvSpPr>
        <p:spPr>
          <a:xfrm>
            <a:off x="197167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6" name="Shape 4"/>
          <p:cNvSpPr/>
          <p:nvPr/>
        </p:nvSpPr>
        <p:spPr>
          <a:xfrm>
            <a:off x="2168525" y="412750"/>
            <a:ext cx="1108075" cy="515541"/>
          </a:xfrm>
          <a:prstGeom prst="roundRect">
            <a:avLst>
              <a:gd name="adj" fmla="val 11085"/>
            </a:avLst>
          </a:prstGeom>
          <a:solidFill>
            <a:srgbClr val="B8501F"/>
          </a:solidFill>
          <a:ln w="12700">
            <a:solidFill>
              <a:srgbClr val="B8501F"/>
            </a:solidFill>
            <a:prstDash val="solid"/>
          </a:ln>
        </p:spPr>
      </p:sp>
      <p:sp>
        <p:nvSpPr>
          <p:cNvPr id="7" name="Text 5"/>
          <p:cNvSpPr/>
          <p:nvPr/>
        </p:nvSpPr>
        <p:spPr>
          <a:xfrm>
            <a:off x="220027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FFDF8"/>
                </a:solidFill>
                <a:latin typeface="DM Sans" pitchFamily="34" charset="0"/>
                <a:ea typeface="DM Sans" pitchFamily="34" charset="-122"/>
                <a:cs typeface="DM Sans" pitchFamily="34" charset="-120"/>
              </a:rPr>
              <a:t>Conv</a:t>
            </a:r>
            <a:endParaRPr lang="en-US" sz="1200" dirty="0"/>
          </a:p>
        </p:txBody>
      </p:sp>
      <p:sp>
        <p:nvSpPr>
          <p:cNvPr id="8" name="Text 6"/>
          <p:cNvSpPr/>
          <p:nvPr/>
        </p:nvSpPr>
        <p:spPr>
          <a:xfrm>
            <a:off x="220027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FFDF8"/>
                </a:solidFill>
                <a:latin typeface="JetBrains Mono" pitchFamily="49" charset="0"/>
                <a:ea typeface="JetBrains Mono" pitchFamily="49" charset="-122"/>
                <a:cs typeface="JetBrains Mono" pitchFamily="49" charset="-120"/>
              </a:rPr>
              <a:t>4×4</a:t>
            </a:r>
            <a:endParaRPr lang="en-US" sz="1200" dirty="0"/>
          </a:p>
        </p:txBody>
      </p:sp>
      <p:sp>
        <p:nvSpPr>
          <p:cNvPr id="9" name="Text 7"/>
          <p:cNvSpPr/>
          <p:nvPr/>
        </p:nvSpPr>
        <p:spPr>
          <a:xfrm>
            <a:off x="3321050"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10" name="Shape 8"/>
          <p:cNvSpPr/>
          <p:nvPr/>
        </p:nvSpPr>
        <p:spPr>
          <a:xfrm>
            <a:off x="3517900" y="412750"/>
            <a:ext cx="1108075" cy="515541"/>
          </a:xfrm>
          <a:prstGeom prst="roundRect">
            <a:avLst>
              <a:gd name="adj" fmla="val 11085"/>
            </a:avLst>
          </a:prstGeom>
          <a:noFill/>
          <a:ln w="12700">
            <a:solidFill>
              <a:srgbClr val="D8D4C8"/>
            </a:solidFill>
            <a:prstDash val="solid"/>
          </a:ln>
        </p:spPr>
      </p:sp>
      <p:sp>
        <p:nvSpPr>
          <p:cNvPr id="11" name="Text 9"/>
          <p:cNvSpPr/>
          <p:nvPr/>
        </p:nvSpPr>
        <p:spPr>
          <a:xfrm>
            <a:off x="354965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ReLU</a:t>
            </a:r>
            <a:endParaRPr lang="en-US" sz="1200" dirty="0"/>
          </a:p>
        </p:txBody>
      </p:sp>
      <p:sp>
        <p:nvSpPr>
          <p:cNvPr id="12" name="Text 10"/>
          <p:cNvSpPr/>
          <p:nvPr/>
        </p:nvSpPr>
        <p:spPr>
          <a:xfrm>
            <a:off x="354965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4×4</a:t>
            </a:r>
            <a:endParaRPr lang="en-US" sz="1200" dirty="0"/>
          </a:p>
        </p:txBody>
      </p:sp>
      <p:sp>
        <p:nvSpPr>
          <p:cNvPr id="13" name="Text 11"/>
          <p:cNvSpPr/>
          <p:nvPr/>
        </p:nvSpPr>
        <p:spPr>
          <a:xfrm>
            <a:off x="467042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14" name="Shape 12"/>
          <p:cNvSpPr/>
          <p:nvPr/>
        </p:nvSpPr>
        <p:spPr>
          <a:xfrm>
            <a:off x="4867275" y="412750"/>
            <a:ext cx="1108075" cy="515541"/>
          </a:xfrm>
          <a:prstGeom prst="roundRect">
            <a:avLst>
              <a:gd name="adj" fmla="val 11085"/>
            </a:avLst>
          </a:prstGeom>
          <a:noFill/>
          <a:ln w="12700">
            <a:solidFill>
              <a:srgbClr val="D8D4C8"/>
            </a:solidFill>
            <a:prstDash val="solid"/>
          </a:ln>
        </p:spPr>
      </p:sp>
      <p:sp>
        <p:nvSpPr>
          <p:cNvPr id="15" name="Text 13"/>
          <p:cNvSpPr/>
          <p:nvPr/>
        </p:nvSpPr>
        <p:spPr>
          <a:xfrm>
            <a:off x="489902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Pool</a:t>
            </a:r>
            <a:endParaRPr lang="en-US" sz="1200" dirty="0"/>
          </a:p>
        </p:txBody>
      </p:sp>
      <p:sp>
        <p:nvSpPr>
          <p:cNvPr id="16" name="Text 14"/>
          <p:cNvSpPr/>
          <p:nvPr/>
        </p:nvSpPr>
        <p:spPr>
          <a:xfrm>
            <a:off x="489902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2×2</a:t>
            </a:r>
            <a:endParaRPr lang="en-US" sz="1200" dirty="0"/>
          </a:p>
        </p:txBody>
      </p:sp>
      <p:sp>
        <p:nvSpPr>
          <p:cNvPr id="17" name="Text 15"/>
          <p:cNvSpPr/>
          <p:nvPr/>
        </p:nvSpPr>
        <p:spPr>
          <a:xfrm>
            <a:off x="6019800"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18" name="Shape 16"/>
          <p:cNvSpPr/>
          <p:nvPr/>
        </p:nvSpPr>
        <p:spPr>
          <a:xfrm>
            <a:off x="6216650" y="412750"/>
            <a:ext cx="1108075" cy="515541"/>
          </a:xfrm>
          <a:prstGeom prst="roundRect">
            <a:avLst>
              <a:gd name="adj" fmla="val 11085"/>
            </a:avLst>
          </a:prstGeom>
          <a:noFill/>
          <a:ln w="12700">
            <a:solidFill>
              <a:srgbClr val="D8D4C8"/>
            </a:solidFill>
            <a:prstDash val="solid"/>
          </a:ln>
        </p:spPr>
      </p:sp>
      <p:sp>
        <p:nvSpPr>
          <p:cNvPr id="19" name="Text 17"/>
          <p:cNvSpPr/>
          <p:nvPr/>
        </p:nvSpPr>
        <p:spPr>
          <a:xfrm>
            <a:off x="624840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Flatten</a:t>
            </a:r>
            <a:endParaRPr lang="en-US" sz="1200" dirty="0"/>
          </a:p>
        </p:txBody>
      </p:sp>
      <p:sp>
        <p:nvSpPr>
          <p:cNvPr id="20" name="Text 18"/>
          <p:cNvSpPr/>
          <p:nvPr/>
        </p:nvSpPr>
        <p:spPr>
          <a:xfrm>
            <a:off x="624840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4 nums</a:t>
            </a:r>
            <a:endParaRPr lang="en-US" sz="1200" dirty="0"/>
          </a:p>
        </p:txBody>
      </p:sp>
      <p:sp>
        <p:nvSpPr>
          <p:cNvPr id="21" name="Text 19"/>
          <p:cNvSpPr/>
          <p:nvPr/>
        </p:nvSpPr>
        <p:spPr>
          <a:xfrm>
            <a:off x="736917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22" name="Shape 20"/>
          <p:cNvSpPr/>
          <p:nvPr/>
        </p:nvSpPr>
        <p:spPr>
          <a:xfrm>
            <a:off x="7566025" y="412750"/>
            <a:ext cx="1108075" cy="515541"/>
          </a:xfrm>
          <a:prstGeom prst="roundRect">
            <a:avLst>
              <a:gd name="adj" fmla="val 11085"/>
            </a:avLst>
          </a:prstGeom>
          <a:noFill/>
          <a:ln w="12700">
            <a:solidFill>
              <a:srgbClr val="D8D4C8"/>
            </a:solidFill>
            <a:prstDash val="solid"/>
          </a:ln>
        </p:spPr>
      </p:sp>
      <p:sp>
        <p:nvSpPr>
          <p:cNvPr id="23" name="Text 21"/>
          <p:cNvSpPr/>
          <p:nvPr/>
        </p:nvSpPr>
        <p:spPr>
          <a:xfrm>
            <a:off x="759777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Dense</a:t>
            </a:r>
            <a:endParaRPr lang="en-US" sz="1200" dirty="0"/>
          </a:p>
        </p:txBody>
      </p:sp>
      <p:sp>
        <p:nvSpPr>
          <p:cNvPr id="24" name="Text 22"/>
          <p:cNvSpPr/>
          <p:nvPr/>
        </p:nvSpPr>
        <p:spPr>
          <a:xfrm>
            <a:off x="759777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3 scores</a:t>
            </a:r>
            <a:endParaRPr lang="en-US" sz="1200" dirty="0"/>
          </a:p>
        </p:txBody>
      </p:sp>
      <p:sp>
        <p:nvSpPr>
          <p:cNvPr id="25" name="Text 23"/>
          <p:cNvSpPr/>
          <p:nvPr/>
        </p:nvSpPr>
        <p:spPr>
          <a:xfrm>
            <a:off x="8718550"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26" name="Shape 24"/>
          <p:cNvSpPr/>
          <p:nvPr/>
        </p:nvSpPr>
        <p:spPr>
          <a:xfrm>
            <a:off x="8915400" y="412750"/>
            <a:ext cx="1108075" cy="515541"/>
          </a:xfrm>
          <a:prstGeom prst="roundRect">
            <a:avLst>
              <a:gd name="adj" fmla="val 11085"/>
            </a:avLst>
          </a:prstGeom>
          <a:noFill/>
          <a:ln w="12700">
            <a:solidFill>
              <a:srgbClr val="D8D4C8"/>
            </a:solidFill>
            <a:prstDash val="solid"/>
          </a:ln>
        </p:spPr>
      </p:sp>
      <p:sp>
        <p:nvSpPr>
          <p:cNvPr id="27" name="Text 25"/>
          <p:cNvSpPr/>
          <p:nvPr/>
        </p:nvSpPr>
        <p:spPr>
          <a:xfrm>
            <a:off x="894715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Softmax</a:t>
            </a:r>
            <a:endParaRPr lang="en-US" sz="1200" dirty="0"/>
          </a:p>
        </p:txBody>
      </p:sp>
      <p:sp>
        <p:nvSpPr>
          <p:cNvPr id="28" name="Text 26"/>
          <p:cNvSpPr/>
          <p:nvPr/>
        </p:nvSpPr>
        <p:spPr>
          <a:xfrm>
            <a:off x="894715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3 chances</a:t>
            </a:r>
            <a:endParaRPr lang="en-US" sz="1200" dirty="0"/>
          </a:p>
        </p:txBody>
      </p:sp>
      <p:sp>
        <p:nvSpPr>
          <p:cNvPr id="29" name="Text 27"/>
          <p:cNvSpPr/>
          <p:nvPr/>
        </p:nvSpPr>
        <p:spPr>
          <a:xfrm>
            <a:off x="1006792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30" name="Shape 28"/>
          <p:cNvSpPr/>
          <p:nvPr/>
        </p:nvSpPr>
        <p:spPr>
          <a:xfrm>
            <a:off x="10264775" y="412750"/>
            <a:ext cx="1108075" cy="515541"/>
          </a:xfrm>
          <a:prstGeom prst="roundRect">
            <a:avLst>
              <a:gd name="adj" fmla="val 11085"/>
            </a:avLst>
          </a:prstGeom>
          <a:noFill/>
          <a:ln w="12700">
            <a:solidFill>
              <a:srgbClr val="D8D4C8"/>
            </a:solidFill>
            <a:prstDash val="solid"/>
          </a:ln>
        </p:spPr>
      </p:sp>
      <p:sp>
        <p:nvSpPr>
          <p:cNvPr id="31" name="Text 29"/>
          <p:cNvSpPr/>
          <p:nvPr/>
        </p:nvSpPr>
        <p:spPr>
          <a:xfrm>
            <a:off x="1029652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Answer</a:t>
            </a:r>
            <a:endParaRPr lang="en-US" sz="1200" dirty="0"/>
          </a:p>
        </p:txBody>
      </p:sp>
      <p:sp>
        <p:nvSpPr>
          <p:cNvPr id="32" name="Text 30"/>
          <p:cNvSpPr/>
          <p:nvPr/>
        </p:nvSpPr>
        <p:spPr>
          <a:xfrm>
            <a:off x="1029652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“1”</a:t>
            </a:r>
            <a:endParaRPr lang="en-US" sz="1200" dirty="0"/>
          </a:p>
        </p:txBody>
      </p:sp>
      <p:sp>
        <p:nvSpPr>
          <p:cNvPr id="33" name="Text 31"/>
          <p:cNvSpPr/>
          <p:nvPr/>
        </p:nvSpPr>
        <p:spPr>
          <a:xfrm>
            <a:off x="812800" y="113784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501F"/>
                </a:solidFill>
                <a:latin typeface="DM Sans" pitchFamily="34" charset="0"/>
                <a:ea typeface="DM Sans" pitchFamily="34" charset="-122"/>
                <a:cs typeface="DM Sans" pitchFamily="34" charset="-120"/>
              </a:rPr>
              <a:t>STEP 2 · CONVOLUTION, ONE WINDOW</a:t>
            </a:r>
            <a:endParaRPr lang="en-US" sz="1200" dirty="0"/>
          </a:p>
        </p:txBody>
      </p:sp>
      <p:sp>
        <p:nvSpPr>
          <p:cNvPr id="34" name="Text 32"/>
          <p:cNvSpPr/>
          <p:nvPr>
            <p:ph type="title"/>
          </p:nvPr>
        </p:nvSpPr>
        <p:spPr>
          <a:xfrm>
            <a:off x="812800" y="1401961"/>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430"/>
                </a:solidFill>
                <a:latin typeface="DM Sans" pitchFamily="34" charset="0"/>
                <a:ea typeface="DM Sans" pitchFamily="34" charset="-122"/>
                <a:cs typeface="DM Sans" pitchFamily="34" charset="-120"/>
              </a:rPr>
              <a:t>Convolution = place, multiply, add</a:t>
            </a:r>
            <a:endParaRPr lang="en-US" sz="3200" dirty="0"/>
          </a:p>
        </p:txBody>
      </p:sp>
      <p:sp>
        <p:nvSpPr>
          <p:cNvPr id="35" name="Text 33"/>
          <p:cNvSpPr/>
          <p:nvPr/>
        </p:nvSpPr>
        <p:spPr>
          <a:xfrm>
            <a:off x="812800" y="2052191"/>
            <a:ext cx="2643684" cy="332730"/>
          </a:xfrm>
          <a:prstGeom prst="roundRect">
            <a:avLst>
              <a:gd name="adj" fmla="val 45803"/>
            </a:avLst>
          </a:prstGeom>
          <a:solidFill>
            <a:srgbClr val="F8D9C4"/>
          </a:solidFill>
          <a:ln/>
        </p:spPr>
        <p:txBody>
          <a:bodyPr wrap="none" lIns="0" tIns="0" rIns="0" bIns="0" rtlCol="0" anchor="ctr">
            <a:normAutofit/>
          </a:bodyPr>
          <a:lstStyle/>
          <a:p>
            <a:pPr algn="ctr" indent="0" marL="0">
              <a:lnSpc>
                <a:spcPts val="1820"/>
              </a:lnSpc>
              <a:buNone/>
            </a:pPr>
            <a:r>
              <a:rPr lang="en-US" sz="1300" b="1" dirty="0">
                <a:solidFill>
                  <a:srgbClr val="1B2430"/>
                </a:solidFill>
                <a:latin typeface="DM Sans" pitchFamily="34" charset="0"/>
                <a:ea typeface="DM Sans" pitchFamily="34" charset="-122"/>
                <a:cs typeface="DM Sans" pitchFamily="34" charset="-120"/>
              </a:rPr>
              <a:t>1</a:t>
            </a:r>
            <a:r>
              <a:rPr lang="en-US" sz="1300" dirty="0">
                <a:solidFill>
                  <a:srgbClr val="1B2430"/>
                </a:solidFill>
                <a:latin typeface="DM Sans" pitchFamily="34" charset="0"/>
                <a:ea typeface="DM Sans" pitchFamily="34" charset="-122"/>
                <a:cs typeface="DM Sans" pitchFamily="34" charset="-120"/>
              </a:rPr>
              <a:t> Place the filter on a 3×3 patch</a:t>
            </a:r>
            <a:endParaRPr lang="en-US" sz="1300" dirty="0"/>
          </a:p>
        </p:txBody>
      </p:sp>
      <p:sp>
        <p:nvSpPr>
          <p:cNvPr id="36" name="Text 34"/>
          <p:cNvSpPr/>
          <p:nvPr/>
        </p:nvSpPr>
        <p:spPr>
          <a:xfrm>
            <a:off x="3558084" y="2052191"/>
            <a:ext cx="2478137" cy="332730"/>
          </a:xfrm>
          <a:prstGeom prst="roundRect">
            <a:avLst>
              <a:gd name="adj" fmla="val 45803"/>
            </a:avLst>
          </a:prstGeom>
          <a:solidFill>
            <a:srgbClr val="F8D9C4"/>
          </a:solidFill>
          <a:ln/>
        </p:spPr>
        <p:txBody>
          <a:bodyPr wrap="none" lIns="0" tIns="0" rIns="0" bIns="0" rtlCol="0" anchor="ctr">
            <a:normAutofit/>
          </a:bodyPr>
          <a:lstStyle/>
          <a:p>
            <a:pPr algn="ctr" indent="0" marL="0">
              <a:lnSpc>
                <a:spcPts val="1820"/>
              </a:lnSpc>
              <a:buNone/>
            </a:pPr>
            <a:r>
              <a:rPr lang="en-US" sz="1300" b="1" dirty="0">
                <a:solidFill>
                  <a:srgbClr val="1B2430"/>
                </a:solidFill>
                <a:latin typeface="DM Sans" pitchFamily="34" charset="0"/>
                <a:ea typeface="DM Sans" pitchFamily="34" charset="-122"/>
                <a:cs typeface="DM Sans" pitchFamily="34" charset="-120"/>
              </a:rPr>
              <a:t>2</a:t>
            </a:r>
            <a:r>
              <a:rPr lang="en-US" sz="1300" dirty="0">
                <a:solidFill>
                  <a:srgbClr val="1B2430"/>
                </a:solidFill>
                <a:latin typeface="DM Sans" pitchFamily="34" charset="0"/>
                <a:ea typeface="DM Sans" pitchFamily="34" charset="-122"/>
                <a:cs typeface="DM Sans" pitchFamily="34" charset="-120"/>
              </a:rPr>
              <a:t> Multiply matching numbers</a:t>
            </a:r>
            <a:endParaRPr lang="en-US" sz="1300" dirty="0"/>
          </a:p>
        </p:txBody>
      </p:sp>
      <p:sp>
        <p:nvSpPr>
          <p:cNvPr id="37" name="Text 35"/>
          <p:cNvSpPr/>
          <p:nvPr/>
        </p:nvSpPr>
        <p:spPr>
          <a:xfrm>
            <a:off x="6137821" y="2052191"/>
            <a:ext cx="2539554" cy="332730"/>
          </a:xfrm>
          <a:prstGeom prst="roundRect">
            <a:avLst>
              <a:gd name="adj" fmla="val 45803"/>
            </a:avLst>
          </a:prstGeom>
          <a:solidFill>
            <a:srgbClr val="F8D9C4"/>
          </a:solidFill>
          <a:ln/>
        </p:spPr>
        <p:txBody>
          <a:bodyPr wrap="none" lIns="0" tIns="0" rIns="0" bIns="0" rtlCol="0" anchor="ctr">
            <a:normAutofit/>
          </a:bodyPr>
          <a:lstStyle/>
          <a:p>
            <a:pPr algn="ctr" indent="0" marL="0">
              <a:lnSpc>
                <a:spcPts val="1820"/>
              </a:lnSpc>
              <a:buNone/>
            </a:pPr>
            <a:r>
              <a:rPr lang="en-US" sz="1300" b="1" dirty="0">
                <a:solidFill>
                  <a:srgbClr val="1B2430"/>
                </a:solidFill>
                <a:latin typeface="DM Sans" pitchFamily="34" charset="0"/>
                <a:ea typeface="DM Sans" pitchFamily="34" charset="-122"/>
                <a:cs typeface="DM Sans" pitchFamily="34" charset="-120"/>
              </a:rPr>
              <a:t>3</a:t>
            </a:r>
            <a:r>
              <a:rPr lang="en-US" sz="1300" dirty="0">
                <a:solidFill>
                  <a:srgbClr val="1B2430"/>
                </a:solidFill>
                <a:latin typeface="DM Sans" pitchFamily="34" charset="0"/>
                <a:ea typeface="DM Sans" pitchFamily="34" charset="-122"/>
                <a:cs typeface="DM Sans" pitchFamily="34" charset="-120"/>
              </a:rPr>
              <a:t> Add them all → one number</a:t>
            </a:r>
            <a:endParaRPr lang="en-US" sz="1300" dirty="0"/>
          </a:p>
        </p:txBody>
      </p:sp>
      <p:sp>
        <p:nvSpPr>
          <p:cNvPr id="38" name="Text 36"/>
          <p:cNvSpPr/>
          <p:nvPr/>
        </p:nvSpPr>
        <p:spPr>
          <a:xfrm>
            <a:off x="812800" y="2588121"/>
            <a:ext cx="29022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DM Sans" pitchFamily="34" charset="0"/>
                <a:ea typeface="DM Sans" pitchFamily="34" charset="-122"/>
                <a:cs typeface="DM Sans" pitchFamily="34" charset="-120"/>
              </a:rPr>
              <a:t>Our image 6×6</a:t>
            </a:r>
            <a:endParaRPr lang="en-US" sz="1200" dirty="0"/>
          </a:p>
        </p:txBody>
      </p:sp>
      <p:sp>
        <p:nvSpPr>
          <p:cNvPr id="39" name="Text 37"/>
          <p:cNvSpPr/>
          <p:nvPr/>
        </p:nvSpPr>
        <p:spPr>
          <a:xfrm>
            <a:off x="812800" y="2877641"/>
            <a:ext cx="381000" cy="381000"/>
          </a:xfrm>
          <a:prstGeom prst="rect">
            <a:avLst/>
          </a:prstGeom>
          <a:solidFill>
            <a:srgbClr val="FFFDF8"/>
          </a:solidFill>
          <a:ln/>
        </p:spPr>
        <p:txBody>
          <a:bodyPr wrap="square" lIns="0" tIns="0" rIns="0" bIns="0" rtlCol="0" anchor="t">
            <a:normAutofit/>
          </a:bodyPr>
          <a:lstStyle/>
          <a:p>
            <a:pPr algn="ctr" indent="0" marL="0">
              <a:lnSpc>
                <a:spcPts val="3003"/>
              </a:lnSpc>
              <a:buNone/>
            </a:pPr>
            <a:r>
              <a:rPr lang="en-US" sz="1300" dirty="0">
                <a:solidFill>
                  <a:srgbClr val="8B93A0"/>
                </a:solidFill>
                <a:latin typeface="JetBrains Mono" pitchFamily="49" charset="0"/>
                <a:ea typeface="JetBrains Mono" pitchFamily="49" charset="-122"/>
                <a:cs typeface="JetBrains Mono" pitchFamily="49" charset="-120"/>
              </a:rPr>
              <a:t>0</a:t>
            </a:r>
            <a:endParaRPr lang="en-US" sz="1300" dirty="0"/>
          </a:p>
        </p:txBody>
      </p:sp>
      <p:sp>
        <p:nvSpPr>
          <p:cNvPr id="40" name="Text 38"/>
          <p:cNvSpPr/>
          <p:nvPr/>
        </p:nvSpPr>
        <p:spPr>
          <a:xfrm>
            <a:off x="1219200" y="2877641"/>
            <a:ext cx="381000" cy="381000"/>
          </a:xfrm>
          <a:prstGeom prst="rect">
            <a:avLst/>
          </a:prstGeom>
          <a:solidFill>
            <a:srgbClr val="FFFDF8"/>
          </a:solidFill>
          <a:ln/>
        </p:spPr>
        <p:txBody>
          <a:bodyPr wrap="square" lIns="0" tIns="0" rIns="0" bIns="0" rtlCol="0" anchor="t">
            <a:normAutofit/>
          </a:bodyPr>
          <a:lstStyle/>
          <a:p>
            <a:pPr algn="ctr" indent="0" marL="0">
              <a:lnSpc>
                <a:spcPts val="3003"/>
              </a:lnSpc>
              <a:buNone/>
            </a:pPr>
            <a:r>
              <a:rPr lang="en-US" sz="1300" dirty="0">
                <a:solidFill>
                  <a:srgbClr val="1B2430"/>
                </a:solidFill>
                <a:latin typeface="JetBrains Mono" pitchFamily="49" charset="0"/>
                <a:ea typeface="JetBrains Mono" pitchFamily="49" charset="-122"/>
                <a:cs typeface="JetBrains Mono" pitchFamily="49" charset="-120"/>
              </a:rPr>
              <a:t>0</a:t>
            </a:r>
            <a:endParaRPr lang="en-US" sz="1300" dirty="0"/>
          </a:p>
        </p:txBody>
      </p:sp>
      <p:sp>
        <p:nvSpPr>
          <p:cNvPr id="41" name="Text 39"/>
          <p:cNvSpPr/>
          <p:nvPr/>
        </p:nvSpPr>
        <p:spPr>
          <a:xfrm>
            <a:off x="1625600" y="2877641"/>
            <a:ext cx="381000" cy="381000"/>
          </a:xfrm>
          <a:prstGeom prst="rect">
            <a:avLst/>
          </a:prstGeom>
          <a:solidFill>
            <a:srgbClr val="2E3846"/>
          </a:solidFill>
          <a:ln/>
        </p:spPr>
        <p:txBody>
          <a:bodyPr wrap="square" lIns="0" tIns="0" rIns="0" bIns="0" rtlCol="0" anchor="t">
            <a:normAutofit/>
          </a:bodyPr>
          <a:lstStyle/>
          <a:p>
            <a:pPr algn="ctr" indent="0" marL="0">
              <a:lnSpc>
                <a:spcPts val="3003"/>
              </a:lnSpc>
              <a:buNone/>
            </a:pPr>
            <a:r>
              <a:rPr lang="en-US" sz="1300" dirty="0">
                <a:solidFill>
                  <a:srgbClr val="F7F5F0"/>
                </a:solidFill>
                <a:latin typeface="JetBrains Mono" pitchFamily="49" charset="0"/>
                <a:ea typeface="JetBrains Mono" pitchFamily="49" charset="-122"/>
                <a:cs typeface="JetBrains Mono" pitchFamily="49" charset="-120"/>
              </a:rPr>
              <a:t>9</a:t>
            </a:r>
            <a:endParaRPr lang="en-US" sz="1300" dirty="0"/>
          </a:p>
        </p:txBody>
      </p:sp>
      <p:sp>
        <p:nvSpPr>
          <p:cNvPr id="42" name="Text 40"/>
          <p:cNvSpPr/>
          <p:nvPr/>
        </p:nvSpPr>
        <p:spPr>
          <a:xfrm>
            <a:off x="2032000" y="2877641"/>
            <a:ext cx="381000" cy="381000"/>
          </a:xfrm>
          <a:prstGeom prst="rect">
            <a:avLst/>
          </a:prstGeom>
          <a:solidFill>
            <a:srgbClr val="2E3846"/>
          </a:solidFill>
          <a:ln/>
        </p:spPr>
        <p:txBody>
          <a:bodyPr wrap="square" lIns="0" tIns="0" rIns="0" bIns="0" rtlCol="0" anchor="t">
            <a:normAutofit/>
          </a:bodyPr>
          <a:lstStyle/>
          <a:p>
            <a:pPr algn="ctr" indent="0" marL="0">
              <a:lnSpc>
                <a:spcPts val="3003"/>
              </a:lnSpc>
              <a:buNone/>
            </a:pPr>
            <a:r>
              <a:rPr lang="en-US" sz="1300" dirty="0">
                <a:solidFill>
                  <a:srgbClr val="F7F5F0"/>
                </a:solidFill>
                <a:latin typeface="JetBrains Mono" pitchFamily="49" charset="0"/>
                <a:ea typeface="JetBrains Mono" pitchFamily="49" charset="-122"/>
                <a:cs typeface="JetBrains Mono" pitchFamily="49" charset="-120"/>
              </a:rPr>
              <a:t>9</a:t>
            </a:r>
            <a:endParaRPr lang="en-US" sz="1300" dirty="0"/>
          </a:p>
        </p:txBody>
      </p:sp>
      <p:sp>
        <p:nvSpPr>
          <p:cNvPr id="43" name="Text 41"/>
          <p:cNvSpPr/>
          <p:nvPr/>
        </p:nvSpPr>
        <p:spPr>
          <a:xfrm>
            <a:off x="2438400" y="2877641"/>
            <a:ext cx="381000" cy="381000"/>
          </a:xfrm>
          <a:prstGeom prst="rect">
            <a:avLst/>
          </a:prstGeom>
          <a:solidFill>
            <a:srgbClr val="FFFDF8"/>
          </a:solidFill>
          <a:ln/>
        </p:spPr>
        <p:txBody>
          <a:bodyPr wrap="square" lIns="0" tIns="0" rIns="0" bIns="0" rtlCol="0" anchor="t">
            <a:normAutofit/>
          </a:bodyPr>
          <a:lstStyle/>
          <a:p>
            <a:pPr algn="ctr" indent="0" marL="0">
              <a:lnSpc>
                <a:spcPts val="3003"/>
              </a:lnSpc>
              <a:buNone/>
            </a:pPr>
            <a:r>
              <a:rPr lang="en-US" sz="1300" dirty="0">
                <a:solidFill>
                  <a:srgbClr val="8B93A0"/>
                </a:solidFill>
                <a:latin typeface="JetBrains Mono" pitchFamily="49" charset="0"/>
                <a:ea typeface="JetBrains Mono" pitchFamily="49" charset="-122"/>
                <a:cs typeface="JetBrains Mono" pitchFamily="49" charset="-120"/>
              </a:rPr>
              <a:t>0</a:t>
            </a:r>
            <a:endParaRPr lang="en-US" sz="1300" dirty="0"/>
          </a:p>
        </p:txBody>
      </p:sp>
      <p:sp>
        <p:nvSpPr>
          <p:cNvPr id="44" name="Text 42"/>
          <p:cNvSpPr/>
          <p:nvPr/>
        </p:nvSpPr>
        <p:spPr>
          <a:xfrm>
            <a:off x="2844800" y="2877641"/>
            <a:ext cx="381000" cy="381000"/>
          </a:xfrm>
          <a:prstGeom prst="rect">
            <a:avLst/>
          </a:prstGeom>
          <a:solidFill>
            <a:srgbClr val="FFFDF8"/>
          </a:solidFill>
          <a:ln/>
        </p:spPr>
        <p:txBody>
          <a:bodyPr wrap="square" lIns="0" tIns="0" rIns="0" bIns="0" rtlCol="0" anchor="t">
            <a:normAutofit/>
          </a:bodyPr>
          <a:lstStyle/>
          <a:p>
            <a:pPr algn="ctr" indent="0" marL="0">
              <a:lnSpc>
                <a:spcPts val="3003"/>
              </a:lnSpc>
              <a:buNone/>
            </a:pPr>
            <a:r>
              <a:rPr lang="en-US" sz="1300" dirty="0">
                <a:solidFill>
                  <a:srgbClr val="8B93A0"/>
                </a:solidFill>
                <a:latin typeface="JetBrains Mono" pitchFamily="49" charset="0"/>
                <a:ea typeface="JetBrains Mono" pitchFamily="49" charset="-122"/>
                <a:cs typeface="JetBrains Mono" pitchFamily="49" charset="-120"/>
              </a:rPr>
              <a:t>0</a:t>
            </a:r>
            <a:endParaRPr lang="en-US" sz="1300" dirty="0"/>
          </a:p>
        </p:txBody>
      </p:sp>
      <p:sp>
        <p:nvSpPr>
          <p:cNvPr id="45" name="Text 43"/>
          <p:cNvSpPr/>
          <p:nvPr/>
        </p:nvSpPr>
        <p:spPr>
          <a:xfrm>
            <a:off x="812800" y="3284041"/>
            <a:ext cx="381000" cy="381000"/>
          </a:xfrm>
          <a:prstGeom prst="rect">
            <a:avLst/>
          </a:prstGeom>
          <a:solidFill>
            <a:srgbClr val="FFFDF8"/>
          </a:solidFill>
          <a:ln/>
        </p:spPr>
        <p:txBody>
          <a:bodyPr wrap="square" lIns="0" tIns="0" rIns="0" bIns="0" rtlCol="0" anchor="t">
            <a:normAutofit/>
          </a:bodyPr>
          <a:lstStyle/>
          <a:p>
            <a:pPr algn="ctr" indent="0" marL="0">
              <a:lnSpc>
                <a:spcPts val="3003"/>
              </a:lnSpc>
              <a:buNone/>
            </a:pPr>
            <a:r>
              <a:rPr lang="en-US" sz="1300" dirty="0">
                <a:solidFill>
                  <a:srgbClr val="8B93A0"/>
                </a:solidFill>
                <a:latin typeface="JetBrains Mono" pitchFamily="49" charset="0"/>
                <a:ea typeface="JetBrains Mono" pitchFamily="49" charset="-122"/>
                <a:cs typeface="JetBrains Mono" pitchFamily="49" charset="-120"/>
              </a:rPr>
              <a:t>0</a:t>
            </a:r>
            <a:endParaRPr lang="en-US" sz="1300" dirty="0"/>
          </a:p>
        </p:txBody>
      </p:sp>
      <p:sp>
        <p:nvSpPr>
          <p:cNvPr id="46" name="Text 44"/>
          <p:cNvSpPr/>
          <p:nvPr/>
        </p:nvSpPr>
        <p:spPr>
          <a:xfrm>
            <a:off x="1219200" y="3284041"/>
            <a:ext cx="381000" cy="381000"/>
          </a:xfrm>
          <a:prstGeom prst="rect">
            <a:avLst/>
          </a:prstGeom>
          <a:solidFill>
            <a:srgbClr val="FFFDF8"/>
          </a:solidFill>
          <a:ln/>
        </p:spPr>
        <p:txBody>
          <a:bodyPr wrap="square" lIns="0" tIns="0" rIns="0" bIns="0" rtlCol="0" anchor="t">
            <a:normAutofit/>
          </a:bodyPr>
          <a:lstStyle/>
          <a:p>
            <a:pPr algn="ctr" indent="0" marL="0">
              <a:lnSpc>
                <a:spcPts val="3003"/>
              </a:lnSpc>
              <a:buNone/>
            </a:pPr>
            <a:r>
              <a:rPr lang="en-US" sz="1300" dirty="0">
                <a:solidFill>
                  <a:srgbClr val="1B2430"/>
                </a:solidFill>
                <a:latin typeface="JetBrains Mono" pitchFamily="49" charset="0"/>
                <a:ea typeface="JetBrains Mono" pitchFamily="49" charset="-122"/>
                <a:cs typeface="JetBrains Mono" pitchFamily="49" charset="-120"/>
              </a:rPr>
              <a:t>0</a:t>
            </a:r>
            <a:endParaRPr lang="en-US" sz="1300" dirty="0"/>
          </a:p>
        </p:txBody>
      </p:sp>
      <p:sp>
        <p:nvSpPr>
          <p:cNvPr id="47" name="Text 45"/>
          <p:cNvSpPr/>
          <p:nvPr/>
        </p:nvSpPr>
        <p:spPr>
          <a:xfrm>
            <a:off x="1625600" y="3284041"/>
            <a:ext cx="381000" cy="381000"/>
          </a:xfrm>
          <a:prstGeom prst="rect">
            <a:avLst/>
          </a:prstGeom>
          <a:solidFill>
            <a:srgbClr val="2E3846"/>
          </a:solidFill>
          <a:ln/>
        </p:spPr>
        <p:txBody>
          <a:bodyPr wrap="square" lIns="0" tIns="0" rIns="0" bIns="0" rtlCol="0" anchor="t">
            <a:normAutofit/>
          </a:bodyPr>
          <a:lstStyle/>
          <a:p>
            <a:pPr algn="ctr" indent="0" marL="0">
              <a:lnSpc>
                <a:spcPts val="3003"/>
              </a:lnSpc>
              <a:buNone/>
            </a:pPr>
            <a:r>
              <a:rPr lang="en-US" sz="1300" dirty="0">
                <a:solidFill>
                  <a:srgbClr val="F7F5F0"/>
                </a:solidFill>
                <a:latin typeface="JetBrains Mono" pitchFamily="49" charset="0"/>
                <a:ea typeface="JetBrains Mono" pitchFamily="49" charset="-122"/>
                <a:cs typeface="JetBrains Mono" pitchFamily="49" charset="-120"/>
              </a:rPr>
              <a:t>9</a:t>
            </a:r>
            <a:endParaRPr lang="en-US" sz="1300" dirty="0"/>
          </a:p>
        </p:txBody>
      </p:sp>
      <p:sp>
        <p:nvSpPr>
          <p:cNvPr id="48" name="Text 46"/>
          <p:cNvSpPr/>
          <p:nvPr/>
        </p:nvSpPr>
        <p:spPr>
          <a:xfrm>
            <a:off x="2032000" y="3284041"/>
            <a:ext cx="381000" cy="381000"/>
          </a:xfrm>
          <a:prstGeom prst="rect">
            <a:avLst/>
          </a:prstGeom>
          <a:solidFill>
            <a:srgbClr val="2E3846"/>
          </a:solidFill>
          <a:ln/>
        </p:spPr>
        <p:txBody>
          <a:bodyPr wrap="square" lIns="0" tIns="0" rIns="0" bIns="0" rtlCol="0" anchor="t">
            <a:normAutofit/>
          </a:bodyPr>
          <a:lstStyle/>
          <a:p>
            <a:pPr algn="ctr" indent="0" marL="0">
              <a:lnSpc>
                <a:spcPts val="3003"/>
              </a:lnSpc>
              <a:buNone/>
            </a:pPr>
            <a:r>
              <a:rPr lang="en-US" sz="1300" dirty="0">
                <a:solidFill>
                  <a:srgbClr val="F7F5F0"/>
                </a:solidFill>
                <a:latin typeface="JetBrains Mono" pitchFamily="49" charset="0"/>
                <a:ea typeface="JetBrains Mono" pitchFamily="49" charset="-122"/>
                <a:cs typeface="JetBrains Mono" pitchFamily="49" charset="-120"/>
              </a:rPr>
              <a:t>9</a:t>
            </a:r>
            <a:endParaRPr lang="en-US" sz="1300" dirty="0"/>
          </a:p>
        </p:txBody>
      </p:sp>
      <p:sp>
        <p:nvSpPr>
          <p:cNvPr id="49" name="Text 47"/>
          <p:cNvSpPr/>
          <p:nvPr/>
        </p:nvSpPr>
        <p:spPr>
          <a:xfrm>
            <a:off x="2438400" y="3284041"/>
            <a:ext cx="381000" cy="381000"/>
          </a:xfrm>
          <a:prstGeom prst="rect">
            <a:avLst/>
          </a:prstGeom>
          <a:solidFill>
            <a:srgbClr val="FFFDF8"/>
          </a:solidFill>
          <a:ln/>
        </p:spPr>
        <p:txBody>
          <a:bodyPr wrap="square" lIns="0" tIns="0" rIns="0" bIns="0" rtlCol="0" anchor="t">
            <a:normAutofit/>
          </a:bodyPr>
          <a:lstStyle/>
          <a:p>
            <a:pPr algn="ctr" indent="0" marL="0">
              <a:lnSpc>
                <a:spcPts val="3003"/>
              </a:lnSpc>
              <a:buNone/>
            </a:pPr>
            <a:r>
              <a:rPr lang="en-US" sz="1300" dirty="0">
                <a:solidFill>
                  <a:srgbClr val="8B93A0"/>
                </a:solidFill>
                <a:latin typeface="JetBrains Mono" pitchFamily="49" charset="0"/>
                <a:ea typeface="JetBrains Mono" pitchFamily="49" charset="-122"/>
                <a:cs typeface="JetBrains Mono" pitchFamily="49" charset="-120"/>
              </a:rPr>
              <a:t>0</a:t>
            </a:r>
            <a:endParaRPr lang="en-US" sz="1300" dirty="0"/>
          </a:p>
        </p:txBody>
      </p:sp>
      <p:sp>
        <p:nvSpPr>
          <p:cNvPr id="50" name="Text 48"/>
          <p:cNvSpPr/>
          <p:nvPr/>
        </p:nvSpPr>
        <p:spPr>
          <a:xfrm>
            <a:off x="2844800" y="3284041"/>
            <a:ext cx="381000" cy="381000"/>
          </a:xfrm>
          <a:prstGeom prst="rect">
            <a:avLst/>
          </a:prstGeom>
          <a:solidFill>
            <a:srgbClr val="FFFDF8"/>
          </a:solidFill>
          <a:ln/>
        </p:spPr>
        <p:txBody>
          <a:bodyPr wrap="square" lIns="0" tIns="0" rIns="0" bIns="0" rtlCol="0" anchor="t">
            <a:normAutofit/>
          </a:bodyPr>
          <a:lstStyle/>
          <a:p>
            <a:pPr algn="ctr" indent="0" marL="0">
              <a:lnSpc>
                <a:spcPts val="3003"/>
              </a:lnSpc>
              <a:buNone/>
            </a:pPr>
            <a:r>
              <a:rPr lang="en-US" sz="1300" dirty="0">
                <a:solidFill>
                  <a:srgbClr val="8B93A0"/>
                </a:solidFill>
                <a:latin typeface="JetBrains Mono" pitchFamily="49" charset="0"/>
                <a:ea typeface="JetBrains Mono" pitchFamily="49" charset="-122"/>
                <a:cs typeface="JetBrains Mono" pitchFamily="49" charset="-120"/>
              </a:rPr>
              <a:t>0</a:t>
            </a:r>
            <a:endParaRPr lang="en-US" sz="1300" dirty="0"/>
          </a:p>
        </p:txBody>
      </p:sp>
      <p:sp>
        <p:nvSpPr>
          <p:cNvPr id="51" name="Text 49"/>
          <p:cNvSpPr/>
          <p:nvPr/>
        </p:nvSpPr>
        <p:spPr>
          <a:xfrm>
            <a:off x="812800" y="3690441"/>
            <a:ext cx="381000" cy="381000"/>
          </a:xfrm>
          <a:prstGeom prst="rect">
            <a:avLst/>
          </a:prstGeom>
          <a:solidFill>
            <a:srgbClr val="FFFDF8"/>
          </a:solidFill>
          <a:ln/>
        </p:spPr>
        <p:txBody>
          <a:bodyPr wrap="square" lIns="0" tIns="0" rIns="0" bIns="0" rtlCol="0" anchor="t">
            <a:normAutofit/>
          </a:bodyPr>
          <a:lstStyle/>
          <a:p>
            <a:pPr algn="ctr" indent="0" marL="0">
              <a:lnSpc>
                <a:spcPts val="3003"/>
              </a:lnSpc>
              <a:buNone/>
            </a:pPr>
            <a:r>
              <a:rPr lang="en-US" sz="1300" dirty="0">
                <a:solidFill>
                  <a:srgbClr val="8B93A0"/>
                </a:solidFill>
                <a:latin typeface="JetBrains Mono" pitchFamily="49" charset="0"/>
                <a:ea typeface="JetBrains Mono" pitchFamily="49" charset="-122"/>
                <a:cs typeface="JetBrains Mono" pitchFamily="49" charset="-120"/>
              </a:rPr>
              <a:t>0</a:t>
            </a:r>
            <a:endParaRPr lang="en-US" sz="1300" dirty="0"/>
          </a:p>
        </p:txBody>
      </p:sp>
      <p:sp>
        <p:nvSpPr>
          <p:cNvPr id="52" name="Text 50"/>
          <p:cNvSpPr/>
          <p:nvPr/>
        </p:nvSpPr>
        <p:spPr>
          <a:xfrm>
            <a:off x="1219200" y="3690441"/>
            <a:ext cx="381000" cy="381000"/>
          </a:xfrm>
          <a:prstGeom prst="rect">
            <a:avLst/>
          </a:prstGeom>
          <a:solidFill>
            <a:srgbClr val="FFFDF8"/>
          </a:solidFill>
          <a:ln/>
        </p:spPr>
        <p:txBody>
          <a:bodyPr wrap="square" lIns="0" tIns="0" rIns="0" bIns="0" rtlCol="0" anchor="t">
            <a:normAutofit/>
          </a:bodyPr>
          <a:lstStyle/>
          <a:p>
            <a:pPr algn="ctr" indent="0" marL="0">
              <a:lnSpc>
                <a:spcPts val="3003"/>
              </a:lnSpc>
              <a:buNone/>
            </a:pPr>
            <a:r>
              <a:rPr lang="en-US" sz="1300" dirty="0">
                <a:solidFill>
                  <a:srgbClr val="1B2430"/>
                </a:solidFill>
                <a:latin typeface="JetBrains Mono" pitchFamily="49" charset="0"/>
                <a:ea typeface="JetBrains Mono" pitchFamily="49" charset="-122"/>
                <a:cs typeface="JetBrains Mono" pitchFamily="49" charset="-120"/>
              </a:rPr>
              <a:t>0</a:t>
            </a:r>
            <a:endParaRPr lang="en-US" sz="1300" dirty="0"/>
          </a:p>
        </p:txBody>
      </p:sp>
      <p:sp>
        <p:nvSpPr>
          <p:cNvPr id="53" name="Text 51"/>
          <p:cNvSpPr/>
          <p:nvPr/>
        </p:nvSpPr>
        <p:spPr>
          <a:xfrm>
            <a:off x="1625600" y="3690441"/>
            <a:ext cx="381000" cy="381000"/>
          </a:xfrm>
          <a:prstGeom prst="rect">
            <a:avLst/>
          </a:prstGeom>
          <a:solidFill>
            <a:srgbClr val="2E3846"/>
          </a:solidFill>
          <a:ln/>
        </p:spPr>
        <p:txBody>
          <a:bodyPr wrap="square" lIns="0" tIns="0" rIns="0" bIns="0" rtlCol="0" anchor="t">
            <a:normAutofit/>
          </a:bodyPr>
          <a:lstStyle/>
          <a:p>
            <a:pPr algn="ctr" indent="0" marL="0">
              <a:lnSpc>
                <a:spcPts val="3003"/>
              </a:lnSpc>
              <a:buNone/>
            </a:pPr>
            <a:r>
              <a:rPr lang="en-US" sz="1300" dirty="0">
                <a:solidFill>
                  <a:srgbClr val="F7F5F0"/>
                </a:solidFill>
                <a:latin typeface="JetBrains Mono" pitchFamily="49" charset="0"/>
                <a:ea typeface="JetBrains Mono" pitchFamily="49" charset="-122"/>
                <a:cs typeface="JetBrains Mono" pitchFamily="49" charset="-120"/>
              </a:rPr>
              <a:t>9</a:t>
            </a:r>
            <a:endParaRPr lang="en-US" sz="1300" dirty="0"/>
          </a:p>
        </p:txBody>
      </p:sp>
      <p:sp>
        <p:nvSpPr>
          <p:cNvPr id="54" name="Text 52"/>
          <p:cNvSpPr/>
          <p:nvPr/>
        </p:nvSpPr>
        <p:spPr>
          <a:xfrm>
            <a:off x="2032000" y="3690441"/>
            <a:ext cx="381000" cy="381000"/>
          </a:xfrm>
          <a:prstGeom prst="rect">
            <a:avLst/>
          </a:prstGeom>
          <a:solidFill>
            <a:srgbClr val="2E3846"/>
          </a:solidFill>
          <a:ln/>
        </p:spPr>
        <p:txBody>
          <a:bodyPr wrap="square" lIns="0" tIns="0" rIns="0" bIns="0" rtlCol="0" anchor="t">
            <a:normAutofit/>
          </a:bodyPr>
          <a:lstStyle/>
          <a:p>
            <a:pPr algn="ctr" indent="0" marL="0">
              <a:lnSpc>
                <a:spcPts val="3003"/>
              </a:lnSpc>
              <a:buNone/>
            </a:pPr>
            <a:r>
              <a:rPr lang="en-US" sz="1300" dirty="0">
                <a:solidFill>
                  <a:srgbClr val="F7F5F0"/>
                </a:solidFill>
                <a:latin typeface="JetBrains Mono" pitchFamily="49" charset="0"/>
                <a:ea typeface="JetBrains Mono" pitchFamily="49" charset="-122"/>
                <a:cs typeface="JetBrains Mono" pitchFamily="49" charset="-120"/>
              </a:rPr>
              <a:t>9</a:t>
            </a:r>
            <a:endParaRPr lang="en-US" sz="1300" dirty="0"/>
          </a:p>
        </p:txBody>
      </p:sp>
      <p:sp>
        <p:nvSpPr>
          <p:cNvPr id="55" name="Text 53"/>
          <p:cNvSpPr/>
          <p:nvPr/>
        </p:nvSpPr>
        <p:spPr>
          <a:xfrm>
            <a:off x="2438400" y="3690441"/>
            <a:ext cx="381000" cy="381000"/>
          </a:xfrm>
          <a:prstGeom prst="rect">
            <a:avLst/>
          </a:prstGeom>
          <a:solidFill>
            <a:srgbClr val="FFFDF8"/>
          </a:solidFill>
          <a:ln/>
        </p:spPr>
        <p:txBody>
          <a:bodyPr wrap="square" lIns="0" tIns="0" rIns="0" bIns="0" rtlCol="0" anchor="t">
            <a:normAutofit/>
          </a:bodyPr>
          <a:lstStyle/>
          <a:p>
            <a:pPr algn="ctr" indent="0" marL="0">
              <a:lnSpc>
                <a:spcPts val="3003"/>
              </a:lnSpc>
              <a:buNone/>
            </a:pPr>
            <a:r>
              <a:rPr lang="en-US" sz="1300" dirty="0">
                <a:solidFill>
                  <a:srgbClr val="8B93A0"/>
                </a:solidFill>
                <a:latin typeface="JetBrains Mono" pitchFamily="49" charset="0"/>
                <a:ea typeface="JetBrains Mono" pitchFamily="49" charset="-122"/>
                <a:cs typeface="JetBrains Mono" pitchFamily="49" charset="-120"/>
              </a:rPr>
              <a:t>0</a:t>
            </a:r>
            <a:endParaRPr lang="en-US" sz="1300" dirty="0"/>
          </a:p>
        </p:txBody>
      </p:sp>
      <p:sp>
        <p:nvSpPr>
          <p:cNvPr id="56" name="Text 54"/>
          <p:cNvSpPr/>
          <p:nvPr/>
        </p:nvSpPr>
        <p:spPr>
          <a:xfrm>
            <a:off x="2844800" y="3690441"/>
            <a:ext cx="381000" cy="381000"/>
          </a:xfrm>
          <a:prstGeom prst="rect">
            <a:avLst/>
          </a:prstGeom>
          <a:solidFill>
            <a:srgbClr val="FFFDF8"/>
          </a:solidFill>
          <a:ln/>
        </p:spPr>
        <p:txBody>
          <a:bodyPr wrap="square" lIns="0" tIns="0" rIns="0" bIns="0" rtlCol="0" anchor="t">
            <a:normAutofit/>
          </a:bodyPr>
          <a:lstStyle/>
          <a:p>
            <a:pPr algn="ctr" indent="0" marL="0">
              <a:lnSpc>
                <a:spcPts val="3003"/>
              </a:lnSpc>
              <a:buNone/>
            </a:pPr>
            <a:r>
              <a:rPr lang="en-US" sz="1300" dirty="0">
                <a:solidFill>
                  <a:srgbClr val="8B93A0"/>
                </a:solidFill>
                <a:latin typeface="JetBrains Mono" pitchFamily="49" charset="0"/>
                <a:ea typeface="JetBrains Mono" pitchFamily="49" charset="-122"/>
                <a:cs typeface="JetBrains Mono" pitchFamily="49" charset="-120"/>
              </a:rPr>
              <a:t>0</a:t>
            </a:r>
            <a:endParaRPr lang="en-US" sz="1300" dirty="0"/>
          </a:p>
        </p:txBody>
      </p:sp>
      <p:sp>
        <p:nvSpPr>
          <p:cNvPr id="57" name="Text 55"/>
          <p:cNvSpPr/>
          <p:nvPr/>
        </p:nvSpPr>
        <p:spPr>
          <a:xfrm>
            <a:off x="812800" y="4096841"/>
            <a:ext cx="381000" cy="381000"/>
          </a:xfrm>
          <a:prstGeom prst="rect">
            <a:avLst/>
          </a:prstGeom>
          <a:solidFill>
            <a:srgbClr val="FFFDF8"/>
          </a:solidFill>
          <a:ln/>
        </p:spPr>
        <p:txBody>
          <a:bodyPr wrap="square" lIns="0" tIns="0" rIns="0" bIns="0" rtlCol="0" anchor="t">
            <a:normAutofit/>
          </a:bodyPr>
          <a:lstStyle/>
          <a:p>
            <a:pPr algn="ctr" indent="0" marL="0">
              <a:lnSpc>
                <a:spcPts val="3003"/>
              </a:lnSpc>
              <a:buNone/>
            </a:pPr>
            <a:r>
              <a:rPr lang="en-US" sz="1300" dirty="0">
                <a:solidFill>
                  <a:srgbClr val="8B93A0"/>
                </a:solidFill>
                <a:latin typeface="JetBrains Mono" pitchFamily="49" charset="0"/>
                <a:ea typeface="JetBrains Mono" pitchFamily="49" charset="-122"/>
                <a:cs typeface="JetBrains Mono" pitchFamily="49" charset="-120"/>
              </a:rPr>
              <a:t>0</a:t>
            </a:r>
            <a:endParaRPr lang="en-US" sz="1300" dirty="0"/>
          </a:p>
        </p:txBody>
      </p:sp>
      <p:sp>
        <p:nvSpPr>
          <p:cNvPr id="58" name="Text 56"/>
          <p:cNvSpPr/>
          <p:nvPr/>
        </p:nvSpPr>
        <p:spPr>
          <a:xfrm>
            <a:off x="1219200" y="4096841"/>
            <a:ext cx="381000" cy="381000"/>
          </a:xfrm>
          <a:prstGeom prst="rect">
            <a:avLst/>
          </a:prstGeom>
          <a:solidFill>
            <a:srgbClr val="FFFDF8"/>
          </a:solidFill>
          <a:ln/>
        </p:spPr>
        <p:txBody>
          <a:bodyPr wrap="square" lIns="0" tIns="0" rIns="0" bIns="0" rtlCol="0" anchor="t">
            <a:normAutofit/>
          </a:bodyPr>
          <a:lstStyle/>
          <a:p>
            <a:pPr algn="ctr" indent="0" marL="0">
              <a:lnSpc>
                <a:spcPts val="3003"/>
              </a:lnSpc>
              <a:buNone/>
            </a:pPr>
            <a:r>
              <a:rPr lang="en-US" sz="1300" dirty="0">
                <a:solidFill>
                  <a:srgbClr val="8B93A0"/>
                </a:solidFill>
                <a:latin typeface="JetBrains Mono" pitchFamily="49" charset="0"/>
                <a:ea typeface="JetBrains Mono" pitchFamily="49" charset="-122"/>
                <a:cs typeface="JetBrains Mono" pitchFamily="49" charset="-120"/>
              </a:rPr>
              <a:t>0</a:t>
            </a:r>
            <a:endParaRPr lang="en-US" sz="1300" dirty="0"/>
          </a:p>
        </p:txBody>
      </p:sp>
      <p:sp>
        <p:nvSpPr>
          <p:cNvPr id="59" name="Text 57"/>
          <p:cNvSpPr/>
          <p:nvPr/>
        </p:nvSpPr>
        <p:spPr>
          <a:xfrm>
            <a:off x="1625600" y="4096841"/>
            <a:ext cx="381000" cy="381000"/>
          </a:xfrm>
          <a:prstGeom prst="rect">
            <a:avLst/>
          </a:prstGeom>
          <a:solidFill>
            <a:srgbClr val="2E3846"/>
          </a:solidFill>
          <a:ln/>
        </p:spPr>
        <p:txBody>
          <a:bodyPr wrap="square" lIns="0" tIns="0" rIns="0" bIns="0" rtlCol="0" anchor="t">
            <a:normAutofit/>
          </a:bodyPr>
          <a:lstStyle/>
          <a:p>
            <a:pPr algn="ctr" indent="0" marL="0">
              <a:lnSpc>
                <a:spcPts val="3003"/>
              </a:lnSpc>
              <a:buNone/>
            </a:pPr>
            <a:r>
              <a:rPr lang="en-US" sz="1300" dirty="0">
                <a:solidFill>
                  <a:srgbClr val="F7F5F0"/>
                </a:solidFill>
                <a:latin typeface="JetBrains Mono" pitchFamily="49" charset="0"/>
                <a:ea typeface="JetBrains Mono" pitchFamily="49" charset="-122"/>
                <a:cs typeface="JetBrains Mono" pitchFamily="49" charset="-120"/>
              </a:rPr>
              <a:t>9</a:t>
            </a:r>
            <a:endParaRPr lang="en-US" sz="1300" dirty="0"/>
          </a:p>
        </p:txBody>
      </p:sp>
      <p:sp>
        <p:nvSpPr>
          <p:cNvPr id="60" name="Text 58"/>
          <p:cNvSpPr/>
          <p:nvPr/>
        </p:nvSpPr>
        <p:spPr>
          <a:xfrm>
            <a:off x="2032000" y="4096841"/>
            <a:ext cx="381000" cy="381000"/>
          </a:xfrm>
          <a:prstGeom prst="rect">
            <a:avLst/>
          </a:prstGeom>
          <a:solidFill>
            <a:srgbClr val="2E3846"/>
          </a:solidFill>
          <a:ln/>
        </p:spPr>
        <p:txBody>
          <a:bodyPr wrap="square" lIns="0" tIns="0" rIns="0" bIns="0" rtlCol="0" anchor="t">
            <a:normAutofit/>
          </a:bodyPr>
          <a:lstStyle/>
          <a:p>
            <a:pPr algn="ctr" indent="0" marL="0">
              <a:lnSpc>
                <a:spcPts val="3003"/>
              </a:lnSpc>
              <a:buNone/>
            </a:pPr>
            <a:r>
              <a:rPr lang="en-US" sz="1300" dirty="0">
                <a:solidFill>
                  <a:srgbClr val="F7F5F0"/>
                </a:solidFill>
                <a:latin typeface="JetBrains Mono" pitchFamily="49" charset="0"/>
                <a:ea typeface="JetBrains Mono" pitchFamily="49" charset="-122"/>
                <a:cs typeface="JetBrains Mono" pitchFamily="49" charset="-120"/>
              </a:rPr>
              <a:t>9</a:t>
            </a:r>
            <a:endParaRPr lang="en-US" sz="1300" dirty="0"/>
          </a:p>
        </p:txBody>
      </p:sp>
      <p:sp>
        <p:nvSpPr>
          <p:cNvPr id="61" name="Text 59"/>
          <p:cNvSpPr/>
          <p:nvPr/>
        </p:nvSpPr>
        <p:spPr>
          <a:xfrm>
            <a:off x="2438400" y="4096841"/>
            <a:ext cx="381000" cy="381000"/>
          </a:xfrm>
          <a:prstGeom prst="rect">
            <a:avLst/>
          </a:prstGeom>
          <a:solidFill>
            <a:srgbClr val="FFFDF8"/>
          </a:solidFill>
          <a:ln/>
        </p:spPr>
        <p:txBody>
          <a:bodyPr wrap="square" lIns="0" tIns="0" rIns="0" bIns="0" rtlCol="0" anchor="t">
            <a:normAutofit/>
          </a:bodyPr>
          <a:lstStyle/>
          <a:p>
            <a:pPr algn="ctr" indent="0" marL="0">
              <a:lnSpc>
                <a:spcPts val="3003"/>
              </a:lnSpc>
              <a:buNone/>
            </a:pPr>
            <a:r>
              <a:rPr lang="en-US" sz="1300" dirty="0">
                <a:solidFill>
                  <a:srgbClr val="8B93A0"/>
                </a:solidFill>
                <a:latin typeface="JetBrains Mono" pitchFamily="49" charset="0"/>
                <a:ea typeface="JetBrains Mono" pitchFamily="49" charset="-122"/>
                <a:cs typeface="JetBrains Mono" pitchFamily="49" charset="-120"/>
              </a:rPr>
              <a:t>0</a:t>
            </a:r>
            <a:endParaRPr lang="en-US" sz="1300" dirty="0"/>
          </a:p>
        </p:txBody>
      </p:sp>
      <p:sp>
        <p:nvSpPr>
          <p:cNvPr id="62" name="Text 60"/>
          <p:cNvSpPr/>
          <p:nvPr/>
        </p:nvSpPr>
        <p:spPr>
          <a:xfrm>
            <a:off x="2844800" y="4096841"/>
            <a:ext cx="381000" cy="381000"/>
          </a:xfrm>
          <a:prstGeom prst="rect">
            <a:avLst/>
          </a:prstGeom>
          <a:solidFill>
            <a:srgbClr val="FFFDF8"/>
          </a:solidFill>
          <a:ln/>
        </p:spPr>
        <p:txBody>
          <a:bodyPr wrap="square" lIns="0" tIns="0" rIns="0" bIns="0" rtlCol="0" anchor="t">
            <a:normAutofit/>
          </a:bodyPr>
          <a:lstStyle/>
          <a:p>
            <a:pPr algn="ctr" indent="0" marL="0">
              <a:lnSpc>
                <a:spcPts val="3003"/>
              </a:lnSpc>
              <a:buNone/>
            </a:pPr>
            <a:r>
              <a:rPr lang="en-US" sz="1300" dirty="0">
                <a:solidFill>
                  <a:srgbClr val="8B93A0"/>
                </a:solidFill>
                <a:latin typeface="JetBrains Mono" pitchFamily="49" charset="0"/>
                <a:ea typeface="JetBrains Mono" pitchFamily="49" charset="-122"/>
                <a:cs typeface="JetBrains Mono" pitchFamily="49" charset="-120"/>
              </a:rPr>
              <a:t>0</a:t>
            </a:r>
            <a:endParaRPr lang="en-US" sz="1300" dirty="0"/>
          </a:p>
        </p:txBody>
      </p:sp>
      <p:sp>
        <p:nvSpPr>
          <p:cNvPr id="63" name="Text 61"/>
          <p:cNvSpPr/>
          <p:nvPr/>
        </p:nvSpPr>
        <p:spPr>
          <a:xfrm>
            <a:off x="812800" y="4503241"/>
            <a:ext cx="381000" cy="381000"/>
          </a:xfrm>
          <a:prstGeom prst="rect">
            <a:avLst/>
          </a:prstGeom>
          <a:solidFill>
            <a:srgbClr val="FFFDF8"/>
          </a:solidFill>
          <a:ln/>
        </p:spPr>
        <p:txBody>
          <a:bodyPr wrap="square" lIns="0" tIns="0" rIns="0" bIns="0" rtlCol="0" anchor="t">
            <a:normAutofit/>
          </a:bodyPr>
          <a:lstStyle/>
          <a:p>
            <a:pPr algn="ctr" indent="0" marL="0">
              <a:lnSpc>
                <a:spcPts val="3003"/>
              </a:lnSpc>
              <a:buNone/>
            </a:pPr>
            <a:r>
              <a:rPr lang="en-US" sz="1300" dirty="0">
                <a:solidFill>
                  <a:srgbClr val="8B93A0"/>
                </a:solidFill>
                <a:latin typeface="JetBrains Mono" pitchFamily="49" charset="0"/>
                <a:ea typeface="JetBrains Mono" pitchFamily="49" charset="-122"/>
                <a:cs typeface="JetBrains Mono" pitchFamily="49" charset="-120"/>
              </a:rPr>
              <a:t>0</a:t>
            </a:r>
            <a:endParaRPr lang="en-US" sz="1300" dirty="0"/>
          </a:p>
        </p:txBody>
      </p:sp>
      <p:sp>
        <p:nvSpPr>
          <p:cNvPr id="64" name="Text 62"/>
          <p:cNvSpPr/>
          <p:nvPr/>
        </p:nvSpPr>
        <p:spPr>
          <a:xfrm>
            <a:off x="1219200" y="4503241"/>
            <a:ext cx="381000" cy="381000"/>
          </a:xfrm>
          <a:prstGeom prst="rect">
            <a:avLst/>
          </a:prstGeom>
          <a:solidFill>
            <a:srgbClr val="FFFDF8"/>
          </a:solidFill>
          <a:ln/>
        </p:spPr>
        <p:txBody>
          <a:bodyPr wrap="square" lIns="0" tIns="0" rIns="0" bIns="0" rtlCol="0" anchor="t">
            <a:normAutofit/>
          </a:bodyPr>
          <a:lstStyle/>
          <a:p>
            <a:pPr algn="ctr" indent="0" marL="0">
              <a:lnSpc>
                <a:spcPts val="3003"/>
              </a:lnSpc>
              <a:buNone/>
            </a:pPr>
            <a:r>
              <a:rPr lang="en-US" sz="1300" dirty="0">
                <a:solidFill>
                  <a:srgbClr val="8B93A0"/>
                </a:solidFill>
                <a:latin typeface="JetBrains Mono" pitchFamily="49" charset="0"/>
                <a:ea typeface="JetBrains Mono" pitchFamily="49" charset="-122"/>
                <a:cs typeface="JetBrains Mono" pitchFamily="49" charset="-120"/>
              </a:rPr>
              <a:t>0</a:t>
            </a:r>
            <a:endParaRPr lang="en-US" sz="1300" dirty="0"/>
          </a:p>
        </p:txBody>
      </p:sp>
      <p:sp>
        <p:nvSpPr>
          <p:cNvPr id="65" name="Text 63"/>
          <p:cNvSpPr/>
          <p:nvPr/>
        </p:nvSpPr>
        <p:spPr>
          <a:xfrm>
            <a:off x="1625600" y="4503241"/>
            <a:ext cx="381000" cy="381000"/>
          </a:xfrm>
          <a:prstGeom prst="rect">
            <a:avLst/>
          </a:prstGeom>
          <a:solidFill>
            <a:srgbClr val="2E3846"/>
          </a:solidFill>
          <a:ln/>
        </p:spPr>
        <p:txBody>
          <a:bodyPr wrap="square" lIns="0" tIns="0" rIns="0" bIns="0" rtlCol="0" anchor="t">
            <a:normAutofit/>
          </a:bodyPr>
          <a:lstStyle/>
          <a:p>
            <a:pPr algn="ctr" indent="0" marL="0">
              <a:lnSpc>
                <a:spcPts val="3003"/>
              </a:lnSpc>
              <a:buNone/>
            </a:pPr>
            <a:r>
              <a:rPr lang="en-US" sz="1300" dirty="0">
                <a:solidFill>
                  <a:srgbClr val="F7F5F0"/>
                </a:solidFill>
                <a:latin typeface="JetBrains Mono" pitchFamily="49" charset="0"/>
                <a:ea typeface="JetBrains Mono" pitchFamily="49" charset="-122"/>
                <a:cs typeface="JetBrains Mono" pitchFamily="49" charset="-120"/>
              </a:rPr>
              <a:t>9</a:t>
            </a:r>
            <a:endParaRPr lang="en-US" sz="1300" dirty="0"/>
          </a:p>
        </p:txBody>
      </p:sp>
      <p:sp>
        <p:nvSpPr>
          <p:cNvPr id="66" name="Text 64"/>
          <p:cNvSpPr/>
          <p:nvPr/>
        </p:nvSpPr>
        <p:spPr>
          <a:xfrm>
            <a:off x="2032000" y="4503241"/>
            <a:ext cx="381000" cy="381000"/>
          </a:xfrm>
          <a:prstGeom prst="rect">
            <a:avLst/>
          </a:prstGeom>
          <a:solidFill>
            <a:srgbClr val="2E3846"/>
          </a:solidFill>
          <a:ln/>
        </p:spPr>
        <p:txBody>
          <a:bodyPr wrap="square" lIns="0" tIns="0" rIns="0" bIns="0" rtlCol="0" anchor="t">
            <a:normAutofit/>
          </a:bodyPr>
          <a:lstStyle/>
          <a:p>
            <a:pPr algn="ctr" indent="0" marL="0">
              <a:lnSpc>
                <a:spcPts val="3003"/>
              </a:lnSpc>
              <a:buNone/>
            </a:pPr>
            <a:r>
              <a:rPr lang="en-US" sz="1300" dirty="0">
                <a:solidFill>
                  <a:srgbClr val="F7F5F0"/>
                </a:solidFill>
                <a:latin typeface="JetBrains Mono" pitchFamily="49" charset="0"/>
                <a:ea typeface="JetBrains Mono" pitchFamily="49" charset="-122"/>
                <a:cs typeface="JetBrains Mono" pitchFamily="49" charset="-120"/>
              </a:rPr>
              <a:t>9</a:t>
            </a:r>
            <a:endParaRPr lang="en-US" sz="1300" dirty="0"/>
          </a:p>
        </p:txBody>
      </p:sp>
      <p:sp>
        <p:nvSpPr>
          <p:cNvPr id="67" name="Text 65"/>
          <p:cNvSpPr/>
          <p:nvPr/>
        </p:nvSpPr>
        <p:spPr>
          <a:xfrm>
            <a:off x="2438400" y="4503241"/>
            <a:ext cx="381000" cy="381000"/>
          </a:xfrm>
          <a:prstGeom prst="rect">
            <a:avLst/>
          </a:prstGeom>
          <a:solidFill>
            <a:srgbClr val="FFFDF8"/>
          </a:solidFill>
          <a:ln/>
        </p:spPr>
        <p:txBody>
          <a:bodyPr wrap="square" lIns="0" tIns="0" rIns="0" bIns="0" rtlCol="0" anchor="t">
            <a:normAutofit/>
          </a:bodyPr>
          <a:lstStyle/>
          <a:p>
            <a:pPr algn="ctr" indent="0" marL="0">
              <a:lnSpc>
                <a:spcPts val="3003"/>
              </a:lnSpc>
              <a:buNone/>
            </a:pPr>
            <a:r>
              <a:rPr lang="en-US" sz="1300" dirty="0">
                <a:solidFill>
                  <a:srgbClr val="8B93A0"/>
                </a:solidFill>
                <a:latin typeface="JetBrains Mono" pitchFamily="49" charset="0"/>
                <a:ea typeface="JetBrains Mono" pitchFamily="49" charset="-122"/>
                <a:cs typeface="JetBrains Mono" pitchFamily="49" charset="-120"/>
              </a:rPr>
              <a:t>0</a:t>
            </a:r>
            <a:endParaRPr lang="en-US" sz="1300" dirty="0"/>
          </a:p>
        </p:txBody>
      </p:sp>
      <p:sp>
        <p:nvSpPr>
          <p:cNvPr id="68" name="Text 66"/>
          <p:cNvSpPr/>
          <p:nvPr/>
        </p:nvSpPr>
        <p:spPr>
          <a:xfrm>
            <a:off x="2844800" y="4503241"/>
            <a:ext cx="381000" cy="381000"/>
          </a:xfrm>
          <a:prstGeom prst="rect">
            <a:avLst/>
          </a:prstGeom>
          <a:solidFill>
            <a:srgbClr val="FFFDF8"/>
          </a:solidFill>
          <a:ln/>
        </p:spPr>
        <p:txBody>
          <a:bodyPr wrap="square" lIns="0" tIns="0" rIns="0" bIns="0" rtlCol="0" anchor="t">
            <a:normAutofit/>
          </a:bodyPr>
          <a:lstStyle/>
          <a:p>
            <a:pPr algn="ctr" indent="0" marL="0">
              <a:lnSpc>
                <a:spcPts val="3003"/>
              </a:lnSpc>
              <a:buNone/>
            </a:pPr>
            <a:r>
              <a:rPr lang="en-US" sz="1300" dirty="0">
                <a:solidFill>
                  <a:srgbClr val="8B93A0"/>
                </a:solidFill>
                <a:latin typeface="JetBrains Mono" pitchFamily="49" charset="0"/>
                <a:ea typeface="JetBrains Mono" pitchFamily="49" charset="-122"/>
                <a:cs typeface="JetBrains Mono" pitchFamily="49" charset="-120"/>
              </a:rPr>
              <a:t>0</a:t>
            </a:r>
            <a:endParaRPr lang="en-US" sz="1300" dirty="0"/>
          </a:p>
        </p:txBody>
      </p:sp>
      <p:sp>
        <p:nvSpPr>
          <p:cNvPr id="69" name="Text 67"/>
          <p:cNvSpPr/>
          <p:nvPr/>
        </p:nvSpPr>
        <p:spPr>
          <a:xfrm>
            <a:off x="812800" y="4909641"/>
            <a:ext cx="381000" cy="381000"/>
          </a:xfrm>
          <a:prstGeom prst="rect">
            <a:avLst/>
          </a:prstGeom>
          <a:solidFill>
            <a:srgbClr val="FFFDF8"/>
          </a:solidFill>
          <a:ln/>
        </p:spPr>
        <p:txBody>
          <a:bodyPr wrap="square" lIns="0" tIns="0" rIns="0" bIns="0" rtlCol="0" anchor="t">
            <a:normAutofit/>
          </a:bodyPr>
          <a:lstStyle/>
          <a:p>
            <a:pPr algn="ctr" indent="0" marL="0">
              <a:lnSpc>
                <a:spcPts val="3003"/>
              </a:lnSpc>
              <a:buNone/>
            </a:pPr>
            <a:r>
              <a:rPr lang="en-US" sz="1300" dirty="0">
                <a:solidFill>
                  <a:srgbClr val="8B93A0"/>
                </a:solidFill>
                <a:latin typeface="JetBrains Mono" pitchFamily="49" charset="0"/>
                <a:ea typeface="JetBrains Mono" pitchFamily="49" charset="-122"/>
                <a:cs typeface="JetBrains Mono" pitchFamily="49" charset="-120"/>
              </a:rPr>
              <a:t>0</a:t>
            </a:r>
            <a:endParaRPr lang="en-US" sz="1300" dirty="0"/>
          </a:p>
        </p:txBody>
      </p:sp>
      <p:sp>
        <p:nvSpPr>
          <p:cNvPr id="70" name="Text 68"/>
          <p:cNvSpPr/>
          <p:nvPr/>
        </p:nvSpPr>
        <p:spPr>
          <a:xfrm>
            <a:off x="1219200" y="4909641"/>
            <a:ext cx="381000" cy="381000"/>
          </a:xfrm>
          <a:prstGeom prst="rect">
            <a:avLst/>
          </a:prstGeom>
          <a:solidFill>
            <a:srgbClr val="FFFDF8"/>
          </a:solidFill>
          <a:ln/>
        </p:spPr>
        <p:txBody>
          <a:bodyPr wrap="square" lIns="0" tIns="0" rIns="0" bIns="0" rtlCol="0" anchor="t">
            <a:normAutofit/>
          </a:bodyPr>
          <a:lstStyle/>
          <a:p>
            <a:pPr algn="ctr" indent="0" marL="0">
              <a:lnSpc>
                <a:spcPts val="3003"/>
              </a:lnSpc>
              <a:buNone/>
            </a:pPr>
            <a:r>
              <a:rPr lang="en-US" sz="1300" dirty="0">
                <a:solidFill>
                  <a:srgbClr val="8B93A0"/>
                </a:solidFill>
                <a:latin typeface="JetBrains Mono" pitchFamily="49" charset="0"/>
                <a:ea typeface="JetBrains Mono" pitchFamily="49" charset="-122"/>
                <a:cs typeface="JetBrains Mono" pitchFamily="49" charset="-120"/>
              </a:rPr>
              <a:t>0</a:t>
            </a:r>
            <a:endParaRPr lang="en-US" sz="1300" dirty="0"/>
          </a:p>
        </p:txBody>
      </p:sp>
      <p:sp>
        <p:nvSpPr>
          <p:cNvPr id="71" name="Text 69"/>
          <p:cNvSpPr/>
          <p:nvPr/>
        </p:nvSpPr>
        <p:spPr>
          <a:xfrm>
            <a:off x="1625600" y="4909641"/>
            <a:ext cx="381000" cy="381000"/>
          </a:xfrm>
          <a:prstGeom prst="rect">
            <a:avLst/>
          </a:prstGeom>
          <a:solidFill>
            <a:srgbClr val="2E3846"/>
          </a:solidFill>
          <a:ln/>
        </p:spPr>
        <p:txBody>
          <a:bodyPr wrap="square" lIns="0" tIns="0" rIns="0" bIns="0" rtlCol="0" anchor="t">
            <a:normAutofit/>
          </a:bodyPr>
          <a:lstStyle/>
          <a:p>
            <a:pPr algn="ctr" indent="0" marL="0">
              <a:lnSpc>
                <a:spcPts val="3003"/>
              </a:lnSpc>
              <a:buNone/>
            </a:pPr>
            <a:r>
              <a:rPr lang="en-US" sz="1300" dirty="0">
                <a:solidFill>
                  <a:srgbClr val="F7F5F0"/>
                </a:solidFill>
                <a:latin typeface="JetBrains Mono" pitchFamily="49" charset="0"/>
                <a:ea typeface="JetBrains Mono" pitchFamily="49" charset="-122"/>
                <a:cs typeface="JetBrains Mono" pitchFamily="49" charset="-120"/>
              </a:rPr>
              <a:t>9</a:t>
            </a:r>
            <a:endParaRPr lang="en-US" sz="1300" dirty="0"/>
          </a:p>
        </p:txBody>
      </p:sp>
      <p:sp>
        <p:nvSpPr>
          <p:cNvPr id="72" name="Text 70"/>
          <p:cNvSpPr/>
          <p:nvPr/>
        </p:nvSpPr>
        <p:spPr>
          <a:xfrm>
            <a:off x="2032000" y="4909641"/>
            <a:ext cx="381000" cy="381000"/>
          </a:xfrm>
          <a:prstGeom prst="rect">
            <a:avLst/>
          </a:prstGeom>
          <a:solidFill>
            <a:srgbClr val="2E3846"/>
          </a:solidFill>
          <a:ln/>
        </p:spPr>
        <p:txBody>
          <a:bodyPr wrap="square" lIns="0" tIns="0" rIns="0" bIns="0" rtlCol="0" anchor="t">
            <a:normAutofit/>
          </a:bodyPr>
          <a:lstStyle/>
          <a:p>
            <a:pPr algn="ctr" indent="0" marL="0">
              <a:lnSpc>
                <a:spcPts val="3003"/>
              </a:lnSpc>
              <a:buNone/>
            </a:pPr>
            <a:r>
              <a:rPr lang="en-US" sz="1300" dirty="0">
                <a:solidFill>
                  <a:srgbClr val="F7F5F0"/>
                </a:solidFill>
                <a:latin typeface="JetBrains Mono" pitchFamily="49" charset="0"/>
                <a:ea typeface="JetBrains Mono" pitchFamily="49" charset="-122"/>
                <a:cs typeface="JetBrains Mono" pitchFamily="49" charset="-120"/>
              </a:rPr>
              <a:t>9</a:t>
            </a:r>
            <a:endParaRPr lang="en-US" sz="1300" dirty="0"/>
          </a:p>
        </p:txBody>
      </p:sp>
      <p:sp>
        <p:nvSpPr>
          <p:cNvPr id="73" name="Text 71"/>
          <p:cNvSpPr/>
          <p:nvPr/>
        </p:nvSpPr>
        <p:spPr>
          <a:xfrm>
            <a:off x="2438400" y="4909641"/>
            <a:ext cx="381000" cy="381000"/>
          </a:xfrm>
          <a:prstGeom prst="rect">
            <a:avLst/>
          </a:prstGeom>
          <a:solidFill>
            <a:srgbClr val="FFFDF8"/>
          </a:solidFill>
          <a:ln/>
        </p:spPr>
        <p:txBody>
          <a:bodyPr wrap="square" lIns="0" tIns="0" rIns="0" bIns="0" rtlCol="0" anchor="t">
            <a:normAutofit/>
          </a:bodyPr>
          <a:lstStyle/>
          <a:p>
            <a:pPr algn="ctr" indent="0" marL="0">
              <a:lnSpc>
                <a:spcPts val="3003"/>
              </a:lnSpc>
              <a:buNone/>
            </a:pPr>
            <a:r>
              <a:rPr lang="en-US" sz="1300" dirty="0">
                <a:solidFill>
                  <a:srgbClr val="8B93A0"/>
                </a:solidFill>
                <a:latin typeface="JetBrains Mono" pitchFamily="49" charset="0"/>
                <a:ea typeface="JetBrains Mono" pitchFamily="49" charset="-122"/>
                <a:cs typeface="JetBrains Mono" pitchFamily="49" charset="-120"/>
              </a:rPr>
              <a:t>0</a:t>
            </a:r>
            <a:endParaRPr lang="en-US" sz="1300" dirty="0"/>
          </a:p>
        </p:txBody>
      </p:sp>
      <p:sp>
        <p:nvSpPr>
          <p:cNvPr id="74" name="Text 72"/>
          <p:cNvSpPr/>
          <p:nvPr/>
        </p:nvSpPr>
        <p:spPr>
          <a:xfrm>
            <a:off x="2844800" y="4909641"/>
            <a:ext cx="381000" cy="381000"/>
          </a:xfrm>
          <a:prstGeom prst="rect">
            <a:avLst/>
          </a:prstGeom>
          <a:solidFill>
            <a:srgbClr val="FFFDF8"/>
          </a:solidFill>
          <a:ln/>
        </p:spPr>
        <p:txBody>
          <a:bodyPr wrap="square" lIns="0" tIns="0" rIns="0" bIns="0" rtlCol="0" anchor="t">
            <a:normAutofit/>
          </a:bodyPr>
          <a:lstStyle/>
          <a:p>
            <a:pPr algn="ctr" indent="0" marL="0">
              <a:lnSpc>
                <a:spcPts val="3003"/>
              </a:lnSpc>
              <a:buNone/>
            </a:pPr>
            <a:r>
              <a:rPr lang="en-US" sz="1300" dirty="0">
                <a:solidFill>
                  <a:srgbClr val="8B93A0"/>
                </a:solidFill>
                <a:latin typeface="JetBrains Mono" pitchFamily="49" charset="0"/>
                <a:ea typeface="JetBrains Mono" pitchFamily="49" charset="-122"/>
                <a:cs typeface="JetBrains Mono" pitchFamily="49" charset="-120"/>
              </a:rPr>
              <a:t>0</a:t>
            </a:r>
            <a:endParaRPr lang="en-US" sz="1300" dirty="0"/>
          </a:p>
        </p:txBody>
      </p:sp>
      <p:sp>
        <p:nvSpPr>
          <p:cNvPr id="75" name="Text 73"/>
          <p:cNvSpPr/>
          <p:nvPr/>
        </p:nvSpPr>
        <p:spPr>
          <a:xfrm>
            <a:off x="812800" y="5366841"/>
            <a:ext cx="33813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501F"/>
                </a:solidFill>
                <a:latin typeface="DM Sans" pitchFamily="34" charset="0"/>
                <a:ea typeface="DM Sans" pitchFamily="34" charset="-122"/>
                <a:cs typeface="DM Sans" pitchFamily="34" charset="-120"/>
              </a:rPr>
              <a:t>Orange box = the window (columns 1–3)</a:t>
            </a:r>
            <a:endParaRPr lang="en-US" sz="1200" dirty="0"/>
          </a:p>
        </p:txBody>
      </p:sp>
      <p:sp>
        <p:nvSpPr>
          <p:cNvPr id="76" name="Text 74"/>
          <p:cNvSpPr/>
          <p:nvPr/>
        </p:nvSpPr>
        <p:spPr>
          <a:xfrm>
            <a:off x="3833763" y="3799681"/>
            <a:ext cx="274340" cy="594320"/>
          </a:xfrm>
          <a:prstGeom prst="rect">
            <a:avLst/>
          </a:prstGeom>
          <a:noFill/>
          <a:ln/>
        </p:spPr>
        <p:txBody>
          <a:bodyPr wrap="square" lIns="0" tIns="0" rIns="0" bIns="0" rtlCol="0" anchor="t">
            <a:normAutofit/>
          </a:bodyPr>
          <a:lstStyle/>
          <a:p>
            <a:pPr algn="l" indent="0" marL="0">
              <a:lnSpc>
                <a:spcPts val="4480"/>
              </a:lnSpc>
              <a:buNone/>
            </a:pPr>
            <a:r>
              <a:rPr lang="en-US" sz="3200" dirty="0">
                <a:solidFill>
                  <a:srgbClr val="6B7280"/>
                </a:solidFill>
                <a:latin typeface="DM Sans" pitchFamily="34" charset="0"/>
                <a:ea typeface="DM Sans" pitchFamily="34" charset="-122"/>
                <a:cs typeface="DM Sans" pitchFamily="34" charset="-120"/>
              </a:rPr>
              <a:t>×</a:t>
            </a:r>
            <a:endParaRPr lang="en-US" sz="3200" dirty="0"/>
          </a:p>
        </p:txBody>
      </p:sp>
      <p:sp>
        <p:nvSpPr>
          <p:cNvPr id="77" name="Text 75"/>
          <p:cNvSpPr/>
          <p:nvPr/>
        </p:nvSpPr>
        <p:spPr>
          <a:xfrm>
            <a:off x="4260503" y="3342481"/>
            <a:ext cx="12446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DM Sans" pitchFamily="34" charset="0"/>
                <a:ea typeface="DM Sans" pitchFamily="34" charset="-122"/>
                <a:cs typeface="DM Sans" pitchFamily="34" charset="-120"/>
              </a:rPr>
              <a:t>Filter 3×3</a:t>
            </a:r>
            <a:endParaRPr lang="en-US" sz="1200" dirty="0"/>
          </a:p>
        </p:txBody>
      </p:sp>
      <p:sp>
        <p:nvSpPr>
          <p:cNvPr id="78" name="Text 76"/>
          <p:cNvSpPr/>
          <p:nvPr/>
        </p:nvSpPr>
        <p:spPr>
          <a:xfrm>
            <a:off x="4260503" y="3632002"/>
            <a:ext cx="381000" cy="381000"/>
          </a:xfrm>
          <a:prstGeom prst="rect">
            <a:avLst/>
          </a:prstGeom>
          <a:solidFill>
            <a:srgbClr val="D6E3F5"/>
          </a:solidFill>
          <a:ln/>
        </p:spPr>
        <p:txBody>
          <a:bodyPr wrap="square" lIns="0" tIns="0" rIns="0" bIns="0" rtlCol="0" anchor="t">
            <a:normAutofit/>
          </a:bodyPr>
          <a:lstStyle/>
          <a:p>
            <a:pPr algn="ctr" indent="0" marL="0">
              <a:lnSpc>
                <a:spcPts val="3000"/>
              </a:lnSpc>
              <a:buNone/>
            </a:pPr>
            <a:r>
              <a:rPr lang="en-US" sz="1200" dirty="0">
                <a:solidFill>
                  <a:srgbClr val="1B2430"/>
                </a:solidFill>
                <a:latin typeface="JetBrains Mono" pitchFamily="49" charset="0"/>
                <a:ea typeface="JetBrains Mono" pitchFamily="49" charset="-122"/>
                <a:cs typeface="JetBrains Mono" pitchFamily="49" charset="-120"/>
              </a:rPr>
              <a:t>−1</a:t>
            </a:r>
            <a:endParaRPr lang="en-US" sz="1200" dirty="0"/>
          </a:p>
        </p:txBody>
      </p:sp>
      <p:sp>
        <p:nvSpPr>
          <p:cNvPr id="79" name="Text 77"/>
          <p:cNvSpPr/>
          <p:nvPr/>
        </p:nvSpPr>
        <p:spPr>
          <a:xfrm>
            <a:off x="4666903" y="3632002"/>
            <a:ext cx="381000" cy="381000"/>
          </a:xfrm>
          <a:prstGeom prst="rect">
            <a:avLst/>
          </a:prstGeom>
          <a:solidFill>
            <a:srgbClr val="E3E1DA"/>
          </a:solidFill>
          <a:ln/>
        </p:spPr>
        <p:txBody>
          <a:bodyPr wrap="square" lIns="0" tIns="0" rIns="0" bIns="0" rtlCol="0" anchor="t">
            <a:normAutofit/>
          </a:bodyPr>
          <a:lstStyle/>
          <a:p>
            <a:pPr algn="ctr" indent="0" marL="0">
              <a:lnSpc>
                <a:spcPts val="3000"/>
              </a:lnSpc>
              <a:buNone/>
            </a:pPr>
            <a:r>
              <a:rPr lang="en-US" sz="1200" dirty="0">
                <a:solidFill>
                  <a:srgbClr val="1B2430"/>
                </a:solidFill>
                <a:latin typeface="JetBrains Mono" pitchFamily="49" charset="0"/>
                <a:ea typeface="JetBrains Mono" pitchFamily="49" charset="-122"/>
                <a:cs typeface="JetBrains Mono" pitchFamily="49" charset="-120"/>
              </a:rPr>
              <a:t>0</a:t>
            </a:r>
            <a:endParaRPr lang="en-US" sz="1200" dirty="0"/>
          </a:p>
        </p:txBody>
      </p:sp>
      <p:sp>
        <p:nvSpPr>
          <p:cNvPr id="80" name="Text 78"/>
          <p:cNvSpPr/>
          <p:nvPr/>
        </p:nvSpPr>
        <p:spPr>
          <a:xfrm>
            <a:off x="5073303" y="3632002"/>
            <a:ext cx="381000" cy="381000"/>
          </a:xfrm>
          <a:prstGeom prst="rect">
            <a:avLst/>
          </a:prstGeom>
          <a:solidFill>
            <a:srgbClr val="F8D9C4"/>
          </a:solidFill>
          <a:ln/>
        </p:spPr>
        <p:txBody>
          <a:bodyPr wrap="square" lIns="0" tIns="0" rIns="0" bIns="0" rtlCol="0" anchor="t">
            <a:normAutofit/>
          </a:bodyPr>
          <a:lstStyle/>
          <a:p>
            <a:pPr algn="ctr" indent="0" marL="0">
              <a:lnSpc>
                <a:spcPts val="3000"/>
              </a:lnSpc>
              <a:buNone/>
            </a:pPr>
            <a:r>
              <a:rPr lang="en-US" sz="1200" dirty="0">
                <a:solidFill>
                  <a:srgbClr val="1B2430"/>
                </a:solidFill>
                <a:latin typeface="JetBrains Mono" pitchFamily="49" charset="0"/>
                <a:ea typeface="JetBrains Mono" pitchFamily="49" charset="-122"/>
                <a:cs typeface="JetBrains Mono" pitchFamily="49" charset="-120"/>
              </a:rPr>
              <a:t>+1</a:t>
            </a:r>
            <a:endParaRPr lang="en-US" sz="1200" dirty="0"/>
          </a:p>
        </p:txBody>
      </p:sp>
      <p:sp>
        <p:nvSpPr>
          <p:cNvPr id="81" name="Text 79"/>
          <p:cNvSpPr/>
          <p:nvPr/>
        </p:nvSpPr>
        <p:spPr>
          <a:xfrm>
            <a:off x="4260503" y="4038402"/>
            <a:ext cx="381000" cy="381000"/>
          </a:xfrm>
          <a:prstGeom prst="rect">
            <a:avLst/>
          </a:prstGeom>
          <a:solidFill>
            <a:srgbClr val="D6E3F5"/>
          </a:solidFill>
          <a:ln/>
        </p:spPr>
        <p:txBody>
          <a:bodyPr wrap="square" lIns="0" tIns="0" rIns="0" bIns="0" rtlCol="0" anchor="t">
            <a:normAutofit/>
          </a:bodyPr>
          <a:lstStyle/>
          <a:p>
            <a:pPr algn="ctr" indent="0" marL="0">
              <a:lnSpc>
                <a:spcPts val="3000"/>
              </a:lnSpc>
              <a:buNone/>
            </a:pPr>
            <a:r>
              <a:rPr lang="en-US" sz="1200" dirty="0">
                <a:solidFill>
                  <a:srgbClr val="1B2430"/>
                </a:solidFill>
                <a:latin typeface="JetBrains Mono" pitchFamily="49" charset="0"/>
                <a:ea typeface="JetBrains Mono" pitchFamily="49" charset="-122"/>
                <a:cs typeface="JetBrains Mono" pitchFamily="49" charset="-120"/>
              </a:rPr>
              <a:t>−1</a:t>
            </a:r>
            <a:endParaRPr lang="en-US" sz="1200" dirty="0"/>
          </a:p>
        </p:txBody>
      </p:sp>
      <p:sp>
        <p:nvSpPr>
          <p:cNvPr id="82" name="Text 80"/>
          <p:cNvSpPr/>
          <p:nvPr/>
        </p:nvSpPr>
        <p:spPr>
          <a:xfrm>
            <a:off x="4666903" y="4038402"/>
            <a:ext cx="381000" cy="381000"/>
          </a:xfrm>
          <a:prstGeom prst="rect">
            <a:avLst/>
          </a:prstGeom>
          <a:solidFill>
            <a:srgbClr val="E3E1DA"/>
          </a:solidFill>
          <a:ln/>
        </p:spPr>
        <p:txBody>
          <a:bodyPr wrap="square" lIns="0" tIns="0" rIns="0" bIns="0" rtlCol="0" anchor="t">
            <a:normAutofit/>
          </a:bodyPr>
          <a:lstStyle/>
          <a:p>
            <a:pPr algn="ctr" indent="0" marL="0">
              <a:lnSpc>
                <a:spcPts val="3000"/>
              </a:lnSpc>
              <a:buNone/>
            </a:pPr>
            <a:r>
              <a:rPr lang="en-US" sz="1200" dirty="0">
                <a:solidFill>
                  <a:srgbClr val="1B2430"/>
                </a:solidFill>
                <a:latin typeface="JetBrains Mono" pitchFamily="49" charset="0"/>
                <a:ea typeface="JetBrains Mono" pitchFamily="49" charset="-122"/>
                <a:cs typeface="JetBrains Mono" pitchFamily="49" charset="-120"/>
              </a:rPr>
              <a:t>0</a:t>
            </a:r>
            <a:endParaRPr lang="en-US" sz="1200" dirty="0"/>
          </a:p>
        </p:txBody>
      </p:sp>
      <p:sp>
        <p:nvSpPr>
          <p:cNvPr id="83" name="Text 81"/>
          <p:cNvSpPr/>
          <p:nvPr/>
        </p:nvSpPr>
        <p:spPr>
          <a:xfrm>
            <a:off x="5073303" y="4038402"/>
            <a:ext cx="381000" cy="381000"/>
          </a:xfrm>
          <a:prstGeom prst="rect">
            <a:avLst/>
          </a:prstGeom>
          <a:solidFill>
            <a:srgbClr val="F8D9C4"/>
          </a:solidFill>
          <a:ln/>
        </p:spPr>
        <p:txBody>
          <a:bodyPr wrap="square" lIns="0" tIns="0" rIns="0" bIns="0" rtlCol="0" anchor="t">
            <a:normAutofit/>
          </a:bodyPr>
          <a:lstStyle/>
          <a:p>
            <a:pPr algn="ctr" indent="0" marL="0">
              <a:lnSpc>
                <a:spcPts val="3000"/>
              </a:lnSpc>
              <a:buNone/>
            </a:pPr>
            <a:r>
              <a:rPr lang="en-US" sz="1200" dirty="0">
                <a:solidFill>
                  <a:srgbClr val="1B2430"/>
                </a:solidFill>
                <a:latin typeface="JetBrains Mono" pitchFamily="49" charset="0"/>
                <a:ea typeface="JetBrains Mono" pitchFamily="49" charset="-122"/>
                <a:cs typeface="JetBrains Mono" pitchFamily="49" charset="-120"/>
              </a:rPr>
              <a:t>+1</a:t>
            </a:r>
            <a:endParaRPr lang="en-US" sz="1200" dirty="0"/>
          </a:p>
        </p:txBody>
      </p:sp>
      <p:sp>
        <p:nvSpPr>
          <p:cNvPr id="84" name="Text 82"/>
          <p:cNvSpPr/>
          <p:nvPr/>
        </p:nvSpPr>
        <p:spPr>
          <a:xfrm>
            <a:off x="4260503" y="4444802"/>
            <a:ext cx="381000" cy="381000"/>
          </a:xfrm>
          <a:prstGeom prst="rect">
            <a:avLst/>
          </a:prstGeom>
          <a:solidFill>
            <a:srgbClr val="D6E3F5"/>
          </a:solidFill>
          <a:ln/>
        </p:spPr>
        <p:txBody>
          <a:bodyPr wrap="square" lIns="0" tIns="0" rIns="0" bIns="0" rtlCol="0" anchor="t">
            <a:normAutofit/>
          </a:bodyPr>
          <a:lstStyle/>
          <a:p>
            <a:pPr algn="ctr" indent="0" marL="0">
              <a:lnSpc>
                <a:spcPts val="3000"/>
              </a:lnSpc>
              <a:buNone/>
            </a:pPr>
            <a:r>
              <a:rPr lang="en-US" sz="1200" dirty="0">
                <a:solidFill>
                  <a:srgbClr val="1B2430"/>
                </a:solidFill>
                <a:latin typeface="JetBrains Mono" pitchFamily="49" charset="0"/>
                <a:ea typeface="JetBrains Mono" pitchFamily="49" charset="-122"/>
                <a:cs typeface="JetBrains Mono" pitchFamily="49" charset="-120"/>
              </a:rPr>
              <a:t>−1</a:t>
            </a:r>
            <a:endParaRPr lang="en-US" sz="1200" dirty="0"/>
          </a:p>
        </p:txBody>
      </p:sp>
      <p:sp>
        <p:nvSpPr>
          <p:cNvPr id="85" name="Text 83"/>
          <p:cNvSpPr/>
          <p:nvPr/>
        </p:nvSpPr>
        <p:spPr>
          <a:xfrm>
            <a:off x="4666903" y="4444802"/>
            <a:ext cx="381000" cy="381000"/>
          </a:xfrm>
          <a:prstGeom prst="rect">
            <a:avLst/>
          </a:prstGeom>
          <a:solidFill>
            <a:srgbClr val="E3E1DA"/>
          </a:solidFill>
          <a:ln/>
        </p:spPr>
        <p:txBody>
          <a:bodyPr wrap="square" lIns="0" tIns="0" rIns="0" bIns="0" rtlCol="0" anchor="t">
            <a:normAutofit/>
          </a:bodyPr>
          <a:lstStyle/>
          <a:p>
            <a:pPr algn="ctr" indent="0" marL="0">
              <a:lnSpc>
                <a:spcPts val="3000"/>
              </a:lnSpc>
              <a:buNone/>
            </a:pPr>
            <a:r>
              <a:rPr lang="en-US" sz="1200" dirty="0">
                <a:solidFill>
                  <a:srgbClr val="1B2430"/>
                </a:solidFill>
                <a:latin typeface="JetBrains Mono" pitchFamily="49" charset="0"/>
                <a:ea typeface="JetBrains Mono" pitchFamily="49" charset="-122"/>
                <a:cs typeface="JetBrains Mono" pitchFamily="49" charset="-120"/>
              </a:rPr>
              <a:t>0</a:t>
            </a:r>
            <a:endParaRPr lang="en-US" sz="1200" dirty="0"/>
          </a:p>
        </p:txBody>
      </p:sp>
      <p:sp>
        <p:nvSpPr>
          <p:cNvPr id="86" name="Text 84"/>
          <p:cNvSpPr/>
          <p:nvPr/>
        </p:nvSpPr>
        <p:spPr>
          <a:xfrm>
            <a:off x="5073303" y="4444802"/>
            <a:ext cx="381000" cy="381000"/>
          </a:xfrm>
          <a:prstGeom prst="rect">
            <a:avLst/>
          </a:prstGeom>
          <a:solidFill>
            <a:srgbClr val="F8D9C4"/>
          </a:solidFill>
          <a:ln/>
        </p:spPr>
        <p:txBody>
          <a:bodyPr wrap="square" lIns="0" tIns="0" rIns="0" bIns="0" rtlCol="0" anchor="t">
            <a:normAutofit/>
          </a:bodyPr>
          <a:lstStyle/>
          <a:p>
            <a:pPr algn="ctr" indent="0" marL="0">
              <a:lnSpc>
                <a:spcPts val="3000"/>
              </a:lnSpc>
              <a:buNone/>
            </a:pPr>
            <a:r>
              <a:rPr lang="en-US" sz="1200" dirty="0">
                <a:solidFill>
                  <a:srgbClr val="1B2430"/>
                </a:solidFill>
                <a:latin typeface="JetBrains Mono" pitchFamily="49" charset="0"/>
                <a:ea typeface="JetBrains Mono" pitchFamily="49" charset="-122"/>
                <a:cs typeface="JetBrains Mono" pitchFamily="49" charset="-120"/>
              </a:rPr>
              <a:t>+1</a:t>
            </a:r>
            <a:endParaRPr lang="en-US" sz="1200" dirty="0"/>
          </a:p>
        </p:txBody>
      </p:sp>
      <p:sp>
        <p:nvSpPr>
          <p:cNvPr id="87" name="Text 85"/>
          <p:cNvSpPr/>
          <p:nvPr/>
        </p:nvSpPr>
        <p:spPr>
          <a:xfrm>
            <a:off x="5657503" y="3799681"/>
            <a:ext cx="274340" cy="594320"/>
          </a:xfrm>
          <a:prstGeom prst="rect">
            <a:avLst/>
          </a:prstGeom>
          <a:noFill/>
          <a:ln/>
        </p:spPr>
        <p:txBody>
          <a:bodyPr wrap="square" lIns="0" tIns="0" rIns="0" bIns="0" rtlCol="0" anchor="t">
            <a:normAutofit/>
          </a:bodyPr>
          <a:lstStyle/>
          <a:p>
            <a:pPr algn="l" indent="0" marL="0">
              <a:lnSpc>
                <a:spcPts val="4480"/>
              </a:lnSpc>
              <a:buNone/>
            </a:pPr>
            <a:r>
              <a:rPr lang="en-US" sz="3200" dirty="0">
                <a:solidFill>
                  <a:srgbClr val="6B7280"/>
                </a:solidFill>
                <a:latin typeface="DM Sans" pitchFamily="34" charset="0"/>
                <a:ea typeface="DM Sans" pitchFamily="34" charset="-122"/>
                <a:cs typeface="DM Sans" pitchFamily="34" charset="-120"/>
              </a:rPr>
              <a:t>=</a:t>
            </a:r>
            <a:endParaRPr lang="en-US" sz="3200" dirty="0"/>
          </a:p>
        </p:txBody>
      </p:sp>
      <p:sp>
        <p:nvSpPr>
          <p:cNvPr id="88" name="Shape 86"/>
          <p:cNvSpPr/>
          <p:nvPr/>
        </p:nvSpPr>
        <p:spPr>
          <a:xfrm>
            <a:off x="6090593" y="2826841"/>
            <a:ext cx="5282257" cy="1508720"/>
          </a:xfrm>
          <a:prstGeom prst="roundRect">
            <a:avLst>
              <a:gd name="adj" fmla="val 6313"/>
            </a:avLst>
          </a:prstGeom>
          <a:solidFill>
            <a:srgbClr val="FFFDF8"/>
          </a:solidFill>
          <a:ln w="12700">
            <a:solidFill>
              <a:srgbClr val="D8D4C8"/>
            </a:solidFill>
            <a:prstDash val="solid"/>
          </a:ln>
        </p:spPr>
      </p:sp>
      <p:sp>
        <p:nvSpPr>
          <p:cNvPr id="89" name="Text 87"/>
          <p:cNvSpPr/>
          <p:nvPr/>
        </p:nvSpPr>
        <p:spPr>
          <a:xfrm>
            <a:off x="6274743" y="2985591"/>
            <a:ext cx="506137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0"/>
                </a:solidFill>
                <a:latin typeface="JetBrains Mono" pitchFamily="49" charset="0"/>
                <a:ea typeface="JetBrains Mono" pitchFamily="49" charset="-122"/>
                <a:cs typeface="JetBrains Mono" pitchFamily="49" charset="-120"/>
              </a:rPr>
              <a:t>Row 1: (0×−1)+(9×0)+(9×+1) = 9</a:t>
            </a:r>
            <a:endParaRPr lang="en-US" sz="1300" dirty="0"/>
          </a:p>
        </p:txBody>
      </p:sp>
      <p:sp>
        <p:nvSpPr>
          <p:cNvPr id="90" name="Text 88"/>
          <p:cNvSpPr/>
          <p:nvPr/>
        </p:nvSpPr>
        <p:spPr>
          <a:xfrm>
            <a:off x="6274743" y="3280221"/>
            <a:ext cx="506137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0"/>
                </a:solidFill>
                <a:latin typeface="JetBrains Mono" pitchFamily="49" charset="0"/>
                <a:ea typeface="JetBrains Mono" pitchFamily="49" charset="-122"/>
                <a:cs typeface="JetBrains Mono" pitchFamily="49" charset="-120"/>
              </a:rPr>
              <a:t>Row 2: (0×−1)+(9×0)+(9×+1) = 9</a:t>
            </a:r>
            <a:endParaRPr lang="en-US" sz="1300" dirty="0"/>
          </a:p>
        </p:txBody>
      </p:sp>
      <p:sp>
        <p:nvSpPr>
          <p:cNvPr id="91" name="Text 89"/>
          <p:cNvSpPr/>
          <p:nvPr/>
        </p:nvSpPr>
        <p:spPr>
          <a:xfrm>
            <a:off x="6274743" y="3574852"/>
            <a:ext cx="506137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0"/>
                </a:solidFill>
                <a:latin typeface="JetBrains Mono" pitchFamily="49" charset="0"/>
                <a:ea typeface="JetBrains Mono" pitchFamily="49" charset="-122"/>
                <a:cs typeface="JetBrains Mono" pitchFamily="49" charset="-120"/>
              </a:rPr>
              <a:t>Row 3: (0×−1)+(9×0)+(9×+1) = 9</a:t>
            </a:r>
            <a:endParaRPr lang="en-US" sz="1300" dirty="0"/>
          </a:p>
        </p:txBody>
      </p:sp>
      <p:pic>
        <p:nvPicPr>
          <p:cNvPr id="92" name="Image 0" descr="line">    </p:cNvPr>
          <p:cNvPicPr>
            <a:picLocks noChangeAspect="1"/>
          </p:cNvPicPr>
          <p:nvPr/>
        </p:nvPicPr>
        <p:blipFill>
          <a:blip r:embed="rId1"/>
          <a:srcRect l="0" r="0" t="-8" b="-8"/>
          <a:stretch/>
        </p:blipFill>
        <p:spPr>
          <a:xfrm>
            <a:off x="6274743" y="3869482"/>
            <a:ext cx="4913957" cy="12700"/>
          </a:xfrm>
          <a:prstGeom prst="rect">
            <a:avLst/>
          </a:prstGeom>
        </p:spPr>
      </p:pic>
      <p:sp>
        <p:nvSpPr>
          <p:cNvPr id="93" name="Text 90"/>
          <p:cNvSpPr/>
          <p:nvPr/>
        </p:nvSpPr>
        <p:spPr>
          <a:xfrm>
            <a:off x="6274743" y="3945682"/>
            <a:ext cx="506137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2430"/>
                </a:solidFill>
                <a:latin typeface="JetBrains Mono" pitchFamily="49" charset="0"/>
                <a:ea typeface="JetBrains Mono" pitchFamily="49" charset="-122"/>
                <a:cs typeface="JetBrains Mono" pitchFamily="49" charset="-120"/>
              </a:rPr>
              <a:t>Total: 9 + 9 + 9 = </a:t>
            </a:r>
            <a:r>
              <a:rPr lang="en-US" sz="1300" b="1" dirty="0">
                <a:solidFill>
                  <a:srgbClr val="B8501F"/>
                </a:solidFill>
                <a:latin typeface="JetBrains Mono" pitchFamily="49" charset="0"/>
                <a:ea typeface="JetBrains Mono" pitchFamily="49" charset="-122"/>
                <a:cs typeface="JetBrains Mono" pitchFamily="49" charset="-120"/>
              </a:rPr>
              <a:t>27</a:t>
            </a:r>
            <a:endParaRPr lang="en-US" sz="1300" dirty="0"/>
          </a:p>
        </p:txBody>
      </p:sp>
      <p:sp>
        <p:nvSpPr>
          <p:cNvPr id="94" name="Text 91"/>
          <p:cNvSpPr/>
          <p:nvPr/>
        </p:nvSpPr>
        <p:spPr>
          <a:xfrm>
            <a:off x="6084243" y="4443512"/>
            <a:ext cx="1188740" cy="904230"/>
          </a:xfrm>
          <a:custGeom>
            <a:avLst/>
            <a:gdLst/>
            <a:ahLst/>
            <a:cxnLst/>
            <a:rect l="l" t="t" r="r" b="b"/>
            <a:pathLst>
              <a:path w="1188740" h="904230">
                <a:moveTo>
                  <a:pt x="101600" y="0"/>
                </a:moveTo>
                <a:lnTo>
                  <a:pt x="1087140" y="0"/>
                </a:lnTo>
                <a:arcTo hR="101600" wR="101600" stAng="16200000" swAng="5400000"/>
                <a:lnTo>
                  <a:pt x="1188740" y="802630"/>
                </a:lnTo>
                <a:arcTo hR="101600" wR="101600" stAng="0" swAng="5400000"/>
                <a:lnTo>
                  <a:pt x="101600" y="904230"/>
                </a:lnTo>
                <a:arcTo hR="101600" wR="101600" stAng="5400000" swAng="5400000"/>
                <a:lnTo>
                  <a:pt x="0" y="101600"/>
                </a:lnTo>
                <a:arcTo hR="101600" wR="101600" stAng="10800000" swAng="5400000"/>
                <a:close/>
              </a:path>
            </a:pathLst>
          </a:custGeom>
          <a:solidFill>
            <a:srgbClr val="B8501F"/>
          </a:solidFill>
          <a:ln/>
        </p:spPr>
        <p:txBody>
          <a:bodyPr wrap="none" lIns="0" tIns="0" rIns="0" bIns="0" rtlCol="0" anchor="ctr">
            <a:normAutofit/>
          </a:bodyPr>
          <a:lstStyle/>
          <a:p>
            <a:pPr algn="ctr" indent="0" marL="0">
              <a:lnSpc>
                <a:spcPts val="6720"/>
              </a:lnSpc>
              <a:buNone/>
            </a:pPr>
            <a:r>
              <a:rPr lang="en-US" sz="4800" b="1" dirty="0">
                <a:solidFill>
                  <a:srgbClr val="FFFDF8"/>
                </a:solidFill>
                <a:latin typeface="JetBrains Mono" pitchFamily="49" charset="0"/>
                <a:ea typeface="JetBrains Mono" pitchFamily="49" charset="-122"/>
                <a:cs typeface="JetBrains Mono" pitchFamily="49" charset="-120"/>
              </a:rPr>
              <a:t>27</a:t>
            </a:r>
            <a:endParaRPr lang="en-US" sz="4800" dirty="0"/>
          </a:p>
        </p:txBody>
      </p:sp>
      <p:sp>
        <p:nvSpPr>
          <p:cNvPr id="95" name="Text 92"/>
          <p:cNvSpPr/>
          <p:nvPr/>
        </p:nvSpPr>
        <p:spPr>
          <a:xfrm>
            <a:off x="7425382" y="4522291"/>
            <a:ext cx="2485390"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Big + = ink starts here. Now slide one step right and repeat.</a:t>
            </a:r>
            <a:endParaRPr lang="en-US" sz="1400" dirty="0"/>
          </a:p>
        </p:txBody>
      </p:sp>
      <p:sp>
        <p:nvSpPr>
          <p:cNvPr id="96" name="Text 9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DM Sans" pitchFamily="34" charset="0"/>
                <a:ea typeface="DM Sans" pitchFamily="34" charset="-122"/>
                <a:cs typeface="DM Sans" pitchFamily="34" charset="-120"/>
              </a:rPr>
              <a:t>CNN step by step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819150" y="412750"/>
            <a:ext cx="1108075" cy="515541"/>
          </a:xfrm>
          <a:prstGeom prst="roundRect">
            <a:avLst>
              <a:gd name="adj" fmla="val 11085"/>
            </a:avLst>
          </a:prstGeom>
          <a:solidFill>
            <a:srgbClr val="E8E3D6"/>
          </a:solidFill>
          <a:ln w="12700">
            <a:solidFill>
              <a:srgbClr val="E8E3D6"/>
            </a:solidFill>
            <a:prstDash val="solid"/>
          </a:ln>
        </p:spPr>
      </p:sp>
      <p:sp>
        <p:nvSpPr>
          <p:cNvPr id="3" name="Text 1"/>
          <p:cNvSpPr/>
          <p:nvPr/>
        </p:nvSpPr>
        <p:spPr>
          <a:xfrm>
            <a:off x="85090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2430"/>
                </a:solidFill>
                <a:latin typeface="DM Sans" pitchFamily="34" charset="0"/>
                <a:ea typeface="DM Sans" pitchFamily="34" charset="-122"/>
                <a:cs typeface="DM Sans" pitchFamily="34" charset="-120"/>
              </a:rPr>
              <a:t>Image</a:t>
            </a:r>
            <a:endParaRPr lang="en-US" sz="1200" dirty="0"/>
          </a:p>
        </p:txBody>
      </p:sp>
      <p:sp>
        <p:nvSpPr>
          <p:cNvPr id="4" name="Text 2"/>
          <p:cNvSpPr/>
          <p:nvPr/>
        </p:nvSpPr>
        <p:spPr>
          <a:xfrm>
            <a:off x="85090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JetBrains Mono" pitchFamily="49" charset="0"/>
                <a:ea typeface="JetBrains Mono" pitchFamily="49" charset="-122"/>
                <a:cs typeface="JetBrains Mono" pitchFamily="49" charset="-120"/>
              </a:rPr>
              <a:t>6×6</a:t>
            </a:r>
            <a:endParaRPr lang="en-US" sz="1200" dirty="0"/>
          </a:p>
        </p:txBody>
      </p:sp>
      <p:sp>
        <p:nvSpPr>
          <p:cNvPr id="5" name="Text 3"/>
          <p:cNvSpPr/>
          <p:nvPr/>
        </p:nvSpPr>
        <p:spPr>
          <a:xfrm>
            <a:off x="197167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6" name="Shape 4"/>
          <p:cNvSpPr/>
          <p:nvPr/>
        </p:nvSpPr>
        <p:spPr>
          <a:xfrm>
            <a:off x="2168525" y="412750"/>
            <a:ext cx="1108075" cy="515541"/>
          </a:xfrm>
          <a:prstGeom prst="roundRect">
            <a:avLst>
              <a:gd name="adj" fmla="val 11085"/>
            </a:avLst>
          </a:prstGeom>
          <a:solidFill>
            <a:srgbClr val="B8501F"/>
          </a:solidFill>
          <a:ln w="12700">
            <a:solidFill>
              <a:srgbClr val="B8501F"/>
            </a:solidFill>
            <a:prstDash val="solid"/>
          </a:ln>
        </p:spPr>
      </p:sp>
      <p:sp>
        <p:nvSpPr>
          <p:cNvPr id="7" name="Text 5"/>
          <p:cNvSpPr/>
          <p:nvPr/>
        </p:nvSpPr>
        <p:spPr>
          <a:xfrm>
            <a:off x="220027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FFDF8"/>
                </a:solidFill>
                <a:latin typeface="DM Sans" pitchFamily="34" charset="0"/>
                <a:ea typeface="DM Sans" pitchFamily="34" charset="-122"/>
                <a:cs typeface="DM Sans" pitchFamily="34" charset="-120"/>
              </a:rPr>
              <a:t>Conv</a:t>
            </a:r>
            <a:endParaRPr lang="en-US" sz="1200" dirty="0"/>
          </a:p>
        </p:txBody>
      </p:sp>
      <p:sp>
        <p:nvSpPr>
          <p:cNvPr id="8" name="Text 6"/>
          <p:cNvSpPr/>
          <p:nvPr/>
        </p:nvSpPr>
        <p:spPr>
          <a:xfrm>
            <a:off x="220027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FFDF8"/>
                </a:solidFill>
                <a:latin typeface="JetBrains Mono" pitchFamily="49" charset="0"/>
                <a:ea typeface="JetBrains Mono" pitchFamily="49" charset="-122"/>
                <a:cs typeface="JetBrains Mono" pitchFamily="49" charset="-120"/>
              </a:rPr>
              <a:t>4×4</a:t>
            </a:r>
            <a:endParaRPr lang="en-US" sz="1200" dirty="0"/>
          </a:p>
        </p:txBody>
      </p:sp>
      <p:sp>
        <p:nvSpPr>
          <p:cNvPr id="9" name="Text 7"/>
          <p:cNvSpPr/>
          <p:nvPr/>
        </p:nvSpPr>
        <p:spPr>
          <a:xfrm>
            <a:off x="3321050"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10" name="Shape 8"/>
          <p:cNvSpPr/>
          <p:nvPr/>
        </p:nvSpPr>
        <p:spPr>
          <a:xfrm>
            <a:off x="3517900" y="412750"/>
            <a:ext cx="1108075" cy="515541"/>
          </a:xfrm>
          <a:prstGeom prst="roundRect">
            <a:avLst>
              <a:gd name="adj" fmla="val 11085"/>
            </a:avLst>
          </a:prstGeom>
          <a:noFill/>
          <a:ln w="12700">
            <a:solidFill>
              <a:srgbClr val="D8D4C8"/>
            </a:solidFill>
            <a:prstDash val="solid"/>
          </a:ln>
        </p:spPr>
      </p:sp>
      <p:sp>
        <p:nvSpPr>
          <p:cNvPr id="11" name="Text 9"/>
          <p:cNvSpPr/>
          <p:nvPr/>
        </p:nvSpPr>
        <p:spPr>
          <a:xfrm>
            <a:off x="354965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ReLU</a:t>
            </a:r>
            <a:endParaRPr lang="en-US" sz="1200" dirty="0"/>
          </a:p>
        </p:txBody>
      </p:sp>
      <p:sp>
        <p:nvSpPr>
          <p:cNvPr id="12" name="Text 10"/>
          <p:cNvSpPr/>
          <p:nvPr/>
        </p:nvSpPr>
        <p:spPr>
          <a:xfrm>
            <a:off x="354965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4×4</a:t>
            </a:r>
            <a:endParaRPr lang="en-US" sz="1200" dirty="0"/>
          </a:p>
        </p:txBody>
      </p:sp>
      <p:sp>
        <p:nvSpPr>
          <p:cNvPr id="13" name="Text 11"/>
          <p:cNvSpPr/>
          <p:nvPr/>
        </p:nvSpPr>
        <p:spPr>
          <a:xfrm>
            <a:off x="467042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14" name="Shape 12"/>
          <p:cNvSpPr/>
          <p:nvPr/>
        </p:nvSpPr>
        <p:spPr>
          <a:xfrm>
            <a:off x="4867275" y="412750"/>
            <a:ext cx="1108075" cy="515541"/>
          </a:xfrm>
          <a:prstGeom prst="roundRect">
            <a:avLst>
              <a:gd name="adj" fmla="val 11085"/>
            </a:avLst>
          </a:prstGeom>
          <a:noFill/>
          <a:ln w="12700">
            <a:solidFill>
              <a:srgbClr val="D8D4C8"/>
            </a:solidFill>
            <a:prstDash val="solid"/>
          </a:ln>
        </p:spPr>
      </p:sp>
      <p:sp>
        <p:nvSpPr>
          <p:cNvPr id="15" name="Text 13"/>
          <p:cNvSpPr/>
          <p:nvPr/>
        </p:nvSpPr>
        <p:spPr>
          <a:xfrm>
            <a:off x="489902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Pool</a:t>
            </a:r>
            <a:endParaRPr lang="en-US" sz="1200" dirty="0"/>
          </a:p>
        </p:txBody>
      </p:sp>
      <p:sp>
        <p:nvSpPr>
          <p:cNvPr id="16" name="Text 14"/>
          <p:cNvSpPr/>
          <p:nvPr/>
        </p:nvSpPr>
        <p:spPr>
          <a:xfrm>
            <a:off x="489902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2×2</a:t>
            </a:r>
            <a:endParaRPr lang="en-US" sz="1200" dirty="0"/>
          </a:p>
        </p:txBody>
      </p:sp>
      <p:sp>
        <p:nvSpPr>
          <p:cNvPr id="17" name="Text 15"/>
          <p:cNvSpPr/>
          <p:nvPr/>
        </p:nvSpPr>
        <p:spPr>
          <a:xfrm>
            <a:off x="6019800"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18" name="Shape 16"/>
          <p:cNvSpPr/>
          <p:nvPr/>
        </p:nvSpPr>
        <p:spPr>
          <a:xfrm>
            <a:off x="6216650" y="412750"/>
            <a:ext cx="1108075" cy="515541"/>
          </a:xfrm>
          <a:prstGeom prst="roundRect">
            <a:avLst>
              <a:gd name="adj" fmla="val 11085"/>
            </a:avLst>
          </a:prstGeom>
          <a:noFill/>
          <a:ln w="12700">
            <a:solidFill>
              <a:srgbClr val="D8D4C8"/>
            </a:solidFill>
            <a:prstDash val="solid"/>
          </a:ln>
        </p:spPr>
      </p:sp>
      <p:sp>
        <p:nvSpPr>
          <p:cNvPr id="19" name="Text 17"/>
          <p:cNvSpPr/>
          <p:nvPr/>
        </p:nvSpPr>
        <p:spPr>
          <a:xfrm>
            <a:off x="624840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Flatten</a:t>
            </a:r>
            <a:endParaRPr lang="en-US" sz="1200" dirty="0"/>
          </a:p>
        </p:txBody>
      </p:sp>
      <p:sp>
        <p:nvSpPr>
          <p:cNvPr id="20" name="Text 18"/>
          <p:cNvSpPr/>
          <p:nvPr/>
        </p:nvSpPr>
        <p:spPr>
          <a:xfrm>
            <a:off x="624840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4 nums</a:t>
            </a:r>
            <a:endParaRPr lang="en-US" sz="1200" dirty="0"/>
          </a:p>
        </p:txBody>
      </p:sp>
      <p:sp>
        <p:nvSpPr>
          <p:cNvPr id="21" name="Text 19"/>
          <p:cNvSpPr/>
          <p:nvPr/>
        </p:nvSpPr>
        <p:spPr>
          <a:xfrm>
            <a:off x="736917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22" name="Shape 20"/>
          <p:cNvSpPr/>
          <p:nvPr/>
        </p:nvSpPr>
        <p:spPr>
          <a:xfrm>
            <a:off x="7566025" y="412750"/>
            <a:ext cx="1108075" cy="515541"/>
          </a:xfrm>
          <a:prstGeom prst="roundRect">
            <a:avLst>
              <a:gd name="adj" fmla="val 11085"/>
            </a:avLst>
          </a:prstGeom>
          <a:noFill/>
          <a:ln w="12700">
            <a:solidFill>
              <a:srgbClr val="D8D4C8"/>
            </a:solidFill>
            <a:prstDash val="solid"/>
          </a:ln>
        </p:spPr>
      </p:sp>
      <p:sp>
        <p:nvSpPr>
          <p:cNvPr id="23" name="Text 21"/>
          <p:cNvSpPr/>
          <p:nvPr/>
        </p:nvSpPr>
        <p:spPr>
          <a:xfrm>
            <a:off x="759777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Dense</a:t>
            </a:r>
            <a:endParaRPr lang="en-US" sz="1200" dirty="0"/>
          </a:p>
        </p:txBody>
      </p:sp>
      <p:sp>
        <p:nvSpPr>
          <p:cNvPr id="24" name="Text 22"/>
          <p:cNvSpPr/>
          <p:nvPr/>
        </p:nvSpPr>
        <p:spPr>
          <a:xfrm>
            <a:off x="759777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3 scores</a:t>
            </a:r>
            <a:endParaRPr lang="en-US" sz="1200" dirty="0"/>
          </a:p>
        </p:txBody>
      </p:sp>
      <p:sp>
        <p:nvSpPr>
          <p:cNvPr id="25" name="Text 23"/>
          <p:cNvSpPr/>
          <p:nvPr/>
        </p:nvSpPr>
        <p:spPr>
          <a:xfrm>
            <a:off x="8718550"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26" name="Shape 24"/>
          <p:cNvSpPr/>
          <p:nvPr/>
        </p:nvSpPr>
        <p:spPr>
          <a:xfrm>
            <a:off x="8915400" y="412750"/>
            <a:ext cx="1108075" cy="515541"/>
          </a:xfrm>
          <a:prstGeom prst="roundRect">
            <a:avLst>
              <a:gd name="adj" fmla="val 11085"/>
            </a:avLst>
          </a:prstGeom>
          <a:noFill/>
          <a:ln w="12700">
            <a:solidFill>
              <a:srgbClr val="D8D4C8"/>
            </a:solidFill>
            <a:prstDash val="solid"/>
          </a:ln>
        </p:spPr>
      </p:sp>
      <p:sp>
        <p:nvSpPr>
          <p:cNvPr id="27" name="Text 25"/>
          <p:cNvSpPr/>
          <p:nvPr/>
        </p:nvSpPr>
        <p:spPr>
          <a:xfrm>
            <a:off x="894715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Softmax</a:t>
            </a:r>
            <a:endParaRPr lang="en-US" sz="1200" dirty="0"/>
          </a:p>
        </p:txBody>
      </p:sp>
      <p:sp>
        <p:nvSpPr>
          <p:cNvPr id="28" name="Text 26"/>
          <p:cNvSpPr/>
          <p:nvPr/>
        </p:nvSpPr>
        <p:spPr>
          <a:xfrm>
            <a:off x="894715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3 chances</a:t>
            </a:r>
            <a:endParaRPr lang="en-US" sz="1200" dirty="0"/>
          </a:p>
        </p:txBody>
      </p:sp>
      <p:sp>
        <p:nvSpPr>
          <p:cNvPr id="29" name="Text 27"/>
          <p:cNvSpPr/>
          <p:nvPr/>
        </p:nvSpPr>
        <p:spPr>
          <a:xfrm>
            <a:off x="1006792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30" name="Shape 28"/>
          <p:cNvSpPr/>
          <p:nvPr/>
        </p:nvSpPr>
        <p:spPr>
          <a:xfrm>
            <a:off x="10264775" y="412750"/>
            <a:ext cx="1108075" cy="515541"/>
          </a:xfrm>
          <a:prstGeom prst="roundRect">
            <a:avLst>
              <a:gd name="adj" fmla="val 11085"/>
            </a:avLst>
          </a:prstGeom>
          <a:noFill/>
          <a:ln w="12700">
            <a:solidFill>
              <a:srgbClr val="D8D4C8"/>
            </a:solidFill>
            <a:prstDash val="solid"/>
          </a:ln>
        </p:spPr>
      </p:sp>
      <p:sp>
        <p:nvSpPr>
          <p:cNvPr id="31" name="Text 29"/>
          <p:cNvSpPr/>
          <p:nvPr/>
        </p:nvSpPr>
        <p:spPr>
          <a:xfrm>
            <a:off x="1029652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Answer</a:t>
            </a:r>
            <a:endParaRPr lang="en-US" sz="1200" dirty="0"/>
          </a:p>
        </p:txBody>
      </p:sp>
      <p:sp>
        <p:nvSpPr>
          <p:cNvPr id="32" name="Text 30"/>
          <p:cNvSpPr/>
          <p:nvPr/>
        </p:nvSpPr>
        <p:spPr>
          <a:xfrm>
            <a:off x="1029652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“1”</a:t>
            </a:r>
            <a:endParaRPr lang="en-US" sz="1200" dirty="0"/>
          </a:p>
        </p:txBody>
      </p:sp>
      <p:sp>
        <p:nvSpPr>
          <p:cNvPr id="33" name="Text 31"/>
          <p:cNvSpPr/>
          <p:nvPr/>
        </p:nvSpPr>
        <p:spPr>
          <a:xfrm>
            <a:off x="812800" y="113784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501F"/>
                </a:solidFill>
                <a:latin typeface="DM Sans" pitchFamily="34" charset="0"/>
                <a:ea typeface="DM Sans" pitchFamily="34" charset="-122"/>
                <a:cs typeface="DM Sans" pitchFamily="34" charset="-120"/>
              </a:rPr>
              <a:t>STEP 2 · SLIDE ACROSS</a:t>
            </a:r>
            <a:endParaRPr lang="en-US" sz="1200" dirty="0"/>
          </a:p>
        </p:txBody>
      </p:sp>
      <p:sp>
        <p:nvSpPr>
          <p:cNvPr id="34" name="Text 32"/>
          <p:cNvSpPr/>
          <p:nvPr>
            <p:ph type="title"/>
          </p:nvPr>
        </p:nvSpPr>
        <p:spPr>
          <a:xfrm>
            <a:off x="812800" y="1401961"/>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430"/>
                </a:solidFill>
                <a:latin typeface="DM Sans" pitchFamily="34" charset="0"/>
                <a:ea typeface="DM Sans" pitchFamily="34" charset="-122"/>
                <a:cs typeface="DM Sans" pitchFamily="34" charset="-120"/>
              </a:rPr>
              <a:t>Slide everywhere → a 4×4 feature map</a:t>
            </a:r>
            <a:endParaRPr lang="en-US" sz="3200" dirty="0"/>
          </a:p>
        </p:txBody>
      </p:sp>
      <p:sp>
        <p:nvSpPr>
          <p:cNvPr id="35" name="Text 33"/>
          <p:cNvSpPr/>
          <p:nvPr/>
        </p:nvSpPr>
        <p:spPr>
          <a:xfrm>
            <a:off x="812800" y="2052191"/>
            <a:ext cx="786842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DM Sans" pitchFamily="34" charset="0"/>
                <a:ea typeface="DM Sans" pitchFamily="34" charset="-122"/>
                <a:cs typeface="DM Sans" pitchFamily="34" charset="-120"/>
              </a:rPr>
              <a:t>One row of our image (column numbers on top)</a:t>
            </a:r>
            <a:endParaRPr lang="en-US" sz="1200" dirty="0"/>
          </a:p>
        </p:txBody>
      </p:sp>
      <p:sp>
        <p:nvSpPr>
          <p:cNvPr id="36" name="Text 34"/>
          <p:cNvSpPr/>
          <p:nvPr/>
        </p:nvSpPr>
        <p:spPr>
          <a:xfrm>
            <a:off x="787400" y="2303611"/>
            <a:ext cx="5080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0</a:t>
            </a:r>
            <a:endParaRPr lang="en-US" sz="1200" dirty="0"/>
          </a:p>
        </p:txBody>
      </p:sp>
      <p:sp>
        <p:nvSpPr>
          <p:cNvPr id="37" name="Text 35"/>
          <p:cNvSpPr/>
          <p:nvPr/>
        </p:nvSpPr>
        <p:spPr>
          <a:xfrm>
            <a:off x="1270000" y="2303611"/>
            <a:ext cx="5080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1</a:t>
            </a:r>
            <a:endParaRPr lang="en-US" sz="1200" dirty="0"/>
          </a:p>
        </p:txBody>
      </p:sp>
      <p:sp>
        <p:nvSpPr>
          <p:cNvPr id="38" name="Text 36"/>
          <p:cNvSpPr/>
          <p:nvPr/>
        </p:nvSpPr>
        <p:spPr>
          <a:xfrm>
            <a:off x="1752600" y="2303611"/>
            <a:ext cx="5080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2</a:t>
            </a:r>
            <a:endParaRPr lang="en-US" sz="1200" dirty="0"/>
          </a:p>
        </p:txBody>
      </p:sp>
      <p:sp>
        <p:nvSpPr>
          <p:cNvPr id="39" name="Text 37"/>
          <p:cNvSpPr/>
          <p:nvPr/>
        </p:nvSpPr>
        <p:spPr>
          <a:xfrm>
            <a:off x="2235200" y="2303611"/>
            <a:ext cx="5080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3</a:t>
            </a:r>
            <a:endParaRPr lang="en-US" sz="1200" dirty="0"/>
          </a:p>
        </p:txBody>
      </p:sp>
      <p:sp>
        <p:nvSpPr>
          <p:cNvPr id="40" name="Text 38"/>
          <p:cNvSpPr/>
          <p:nvPr/>
        </p:nvSpPr>
        <p:spPr>
          <a:xfrm>
            <a:off x="2717800" y="2303611"/>
            <a:ext cx="5080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4</a:t>
            </a:r>
            <a:endParaRPr lang="en-US" sz="1200" dirty="0"/>
          </a:p>
        </p:txBody>
      </p:sp>
      <p:sp>
        <p:nvSpPr>
          <p:cNvPr id="41" name="Text 39"/>
          <p:cNvSpPr/>
          <p:nvPr/>
        </p:nvSpPr>
        <p:spPr>
          <a:xfrm>
            <a:off x="3200400" y="2303611"/>
            <a:ext cx="5080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5</a:t>
            </a:r>
            <a:endParaRPr lang="en-US" sz="1200" dirty="0"/>
          </a:p>
        </p:txBody>
      </p:sp>
      <p:sp>
        <p:nvSpPr>
          <p:cNvPr id="42" name="Text 40"/>
          <p:cNvSpPr/>
          <p:nvPr/>
        </p:nvSpPr>
        <p:spPr>
          <a:xfrm>
            <a:off x="812800" y="2542332"/>
            <a:ext cx="457200" cy="406896"/>
          </a:xfrm>
          <a:prstGeom prst="rect">
            <a:avLst/>
          </a:prstGeom>
          <a:solidFill>
            <a:srgbClr val="FFFDF8"/>
          </a:solidFill>
          <a:ln/>
        </p:spPr>
        <p:txBody>
          <a:bodyPr wrap="square" lIns="0" tIns="0" rIns="0" bIns="0" rtlCol="0" anchor="t">
            <a:normAutofit/>
          </a:bodyPr>
          <a:lstStyle/>
          <a:p>
            <a:pPr algn="ctr" indent="0" marL="0">
              <a:lnSpc>
                <a:spcPts val="3204"/>
              </a:lnSpc>
              <a:buNone/>
            </a:pPr>
            <a:r>
              <a:rPr lang="en-US" sz="1200" dirty="0">
                <a:solidFill>
                  <a:srgbClr val="8B93A0"/>
                </a:solidFill>
                <a:latin typeface="JetBrains Mono" pitchFamily="49" charset="0"/>
                <a:ea typeface="JetBrains Mono" pitchFamily="49" charset="-122"/>
                <a:cs typeface="JetBrains Mono" pitchFamily="49" charset="-120"/>
              </a:rPr>
              <a:t>0</a:t>
            </a:r>
            <a:endParaRPr lang="en-US" sz="1200" dirty="0"/>
          </a:p>
        </p:txBody>
      </p:sp>
      <p:sp>
        <p:nvSpPr>
          <p:cNvPr id="43" name="Text 41"/>
          <p:cNvSpPr/>
          <p:nvPr/>
        </p:nvSpPr>
        <p:spPr>
          <a:xfrm>
            <a:off x="1295400" y="2542332"/>
            <a:ext cx="457200" cy="406896"/>
          </a:xfrm>
          <a:prstGeom prst="rect">
            <a:avLst/>
          </a:prstGeom>
          <a:solidFill>
            <a:srgbClr val="FFFDF8"/>
          </a:solidFill>
          <a:ln/>
        </p:spPr>
        <p:txBody>
          <a:bodyPr wrap="square" lIns="0" tIns="0" rIns="0" bIns="0" rtlCol="0" anchor="t">
            <a:normAutofit/>
          </a:bodyPr>
          <a:lstStyle/>
          <a:p>
            <a:pPr algn="ctr" indent="0" marL="0">
              <a:lnSpc>
                <a:spcPts val="3204"/>
              </a:lnSpc>
              <a:buNone/>
            </a:pPr>
            <a:r>
              <a:rPr lang="en-US" sz="1200" dirty="0">
                <a:solidFill>
                  <a:srgbClr val="8B93A0"/>
                </a:solidFill>
                <a:latin typeface="JetBrains Mono" pitchFamily="49" charset="0"/>
                <a:ea typeface="JetBrains Mono" pitchFamily="49" charset="-122"/>
                <a:cs typeface="JetBrains Mono" pitchFamily="49" charset="-120"/>
              </a:rPr>
              <a:t>0</a:t>
            </a:r>
            <a:endParaRPr lang="en-US" sz="1200" dirty="0"/>
          </a:p>
        </p:txBody>
      </p:sp>
      <p:sp>
        <p:nvSpPr>
          <p:cNvPr id="44" name="Text 42"/>
          <p:cNvSpPr/>
          <p:nvPr/>
        </p:nvSpPr>
        <p:spPr>
          <a:xfrm>
            <a:off x="1778000" y="2542332"/>
            <a:ext cx="457200" cy="406896"/>
          </a:xfrm>
          <a:prstGeom prst="rect">
            <a:avLst/>
          </a:prstGeom>
          <a:solidFill>
            <a:srgbClr val="2E3846"/>
          </a:solidFill>
          <a:ln/>
        </p:spPr>
        <p:txBody>
          <a:bodyPr wrap="square" lIns="0" tIns="0" rIns="0" bIns="0" rtlCol="0" anchor="t">
            <a:normAutofit/>
          </a:bodyPr>
          <a:lstStyle/>
          <a:p>
            <a:pPr algn="ctr" indent="0" marL="0">
              <a:lnSpc>
                <a:spcPts val="3204"/>
              </a:lnSpc>
              <a:buNone/>
            </a:pPr>
            <a:r>
              <a:rPr lang="en-US" sz="1200" dirty="0">
                <a:solidFill>
                  <a:srgbClr val="F7F5F0"/>
                </a:solidFill>
                <a:latin typeface="JetBrains Mono" pitchFamily="49" charset="0"/>
                <a:ea typeface="JetBrains Mono" pitchFamily="49" charset="-122"/>
                <a:cs typeface="JetBrains Mono" pitchFamily="49" charset="-120"/>
              </a:rPr>
              <a:t>9</a:t>
            </a:r>
            <a:endParaRPr lang="en-US" sz="1200" dirty="0"/>
          </a:p>
        </p:txBody>
      </p:sp>
      <p:sp>
        <p:nvSpPr>
          <p:cNvPr id="45" name="Text 43"/>
          <p:cNvSpPr/>
          <p:nvPr/>
        </p:nvSpPr>
        <p:spPr>
          <a:xfrm>
            <a:off x="2260600" y="2542332"/>
            <a:ext cx="457200" cy="406896"/>
          </a:xfrm>
          <a:prstGeom prst="rect">
            <a:avLst/>
          </a:prstGeom>
          <a:solidFill>
            <a:srgbClr val="2E3846"/>
          </a:solidFill>
          <a:ln/>
        </p:spPr>
        <p:txBody>
          <a:bodyPr wrap="square" lIns="0" tIns="0" rIns="0" bIns="0" rtlCol="0" anchor="t">
            <a:normAutofit/>
          </a:bodyPr>
          <a:lstStyle/>
          <a:p>
            <a:pPr algn="ctr" indent="0" marL="0">
              <a:lnSpc>
                <a:spcPts val="3204"/>
              </a:lnSpc>
              <a:buNone/>
            </a:pPr>
            <a:r>
              <a:rPr lang="en-US" sz="1200" dirty="0">
                <a:solidFill>
                  <a:srgbClr val="F7F5F0"/>
                </a:solidFill>
                <a:latin typeface="JetBrains Mono" pitchFamily="49" charset="0"/>
                <a:ea typeface="JetBrains Mono" pitchFamily="49" charset="-122"/>
                <a:cs typeface="JetBrains Mono" pitchFamily="49" charset="-120"/>
              </a:rPr>
              <a:t>9</a:t>
            </a:r>
            <a:endParaRPr lang="en-US" sz="1200" dirty="0"/>
          </a:p>
        </p:txBody>
      </p:sp>
      <p:sp>
        <p:nvSpPr>
          <p:cNvPr id="46" name="Text 44"/>
          <p:cNvSpPr/>
          <p:nvPr/>
        </p:nvSpPr>
        <p:spPr>
          <a:xfrm>
            <a:off x="2743200" y="2542332"/>
            <a:ext cx="457200" cy="406896"/>
          </a:xfrm>
          <a:prstGeom prst="rect">
            <a:avLst/>
          </a:prstGeom>
          <a:solidFill>
            <a:srgbClr val="FFFDF8"/>
          </a:solidFill>
          <a:ln/>
        </p:spPr>
        <p:txBody>
          <a:bodyPr wrap="square" lIns="0" tIns="0" rIns="0" bIns="0" rtlCol="0" anchor="t">
            <a:normAutofit/>
          </a:bodyPr>
          <a:lstStyle/>
          <a:p>
            <a:pPr algn="ctr" indent="0" marL="0">
              <a:lnSpc>
                <a:spcPts val="3204"/>
              </a:lnSpc>
              <a:buNone/>
            </a:pPr>
            <a:r>
              <a:rPr lang="en-US" sz="1200" dirty="0">
                <a:solidFill>
                  <a:srgbClr val="8B93A0"/>
                </a:solidFill>
                <a:latin typeface="JetBrains Mono" pitchFamily="49" charset="0"/>
                <a:ea typeface="JetBrains Mono" pitchFamily="49" charset="-122"/>
                <a:cs typeface="JetBrains Mono" pitchFamily="49" charset="-120"/>
              </a:rPr>
              <a:t>0</a:t>
            </a:r>
            <a:endParaRPr lang="en-US" sz="1200" dirty="0"/>
          </a:p>
        </p:txBody>
      </p:sp>
      <p:sp>
        <p:nvSpPr>
          <p:cNvPr id="47" name="Text 45"/>
          <p:cNvSpPr/>
          <p:nvPr/>
        </p:nvSpPr>
        <p:spPr>
          <a:xfrm>
            <a:off x="3225800" y="2542332"/>
            <a:ext cx="457200" cy="406896"/>
          </a:xfrm>
          <a:prstGeom prst="rect">
            <a:avLst/>
          </a:prstGeom>
          <a:solidFill>
            <a:srgbClr val="FFFDF8"/>
          </a:solidFill>
          <a:ln/>
        </p:spPr>
        <p:txBody>
          <a:bodyPr wrap="square" lIns="0" tIns="0" rIns="0" bIns="0" rtlCol="0" anchor="t">
            <a:normAutofit/>
          </a:bodyPr>
          <a:lstStyle/>
          <a:p>
            <a:pPr algn="ctr" indent="0" marL="0">
              <a:lnSpc>
                <a:spcPts val="3204"/>
              </a:lnSpc>
              <a:buNone/>
            </a:pPr>
            <a:r>
              <a:rPr lang="en-US" sz="1200" dirty="0">
                <a:solidFill>
                  <a:srgbClr val="8B93A0"/>
                </a:solidFill>
                <a:latin typeface="JetBrains Mono" pitchFamily="49" charset="0"/>
                <a:ea typeface="JetBrains Mono" pitchFamily="49" charset="-122"/>
                <a:cs typeface="JetBrains Mono" pitchFamily="49" charset="-120"/>
              </a:rPr>
              <a:t>0</a:t>
            </a:r>
            <a:endParaRPr lang="en-US" sz="12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825500" y="3088928"/>
          <a:ext cx="7626548" cy="1930053"/>
        </p:xfrm>
        <a:graphic>
          <a:graphicData uri="http://schemas.openxmlformats.org/drawingml/2006/table">
            <a:tbl>
              <a:tblPr/>
              <a:tblGrid>
                <a:gridCol w="1982903"/>
                <a:gridCol w="2135434"/>
                <a:gridCol w="1677841"/>
                <a:gridCol w="1830372"/>
              </a:tblGrid>
              <a:tr h="386011">
                <a:tc>
                  <a:txBody>
                    <a:bodyPr/>
                    <a:lstStyle/>
                    <a:p>
                      <a:pPr indent="0" marL="0">
                        <a:lnSpc>
                          <a:spcPts val="1960"/>
                        </a:lnSpc>
                        <a:buNone/>
                      </a:pPr>
                      <a:r>
                        <a:rPr lang="en-US" sz="1400" b="1" dirty="0">
                          <a:solidFill>
                            <a:srgbClr val="1B2430"/>
                          </a:solidFill>
                          <a:latin typeface="DM Sans" pitchFamily="34" charset="0"/>
                          <a:ea typeface="DM Sans" pitchFamily="34" charset="-122"/>
                          <a:cs typeface="DM Sans" pitchFamily="34" charset="-120"/>
                        </a:rPr>
                        <a:t>Window</a:t>
                      </a:r>
                      <a:endParaRPr lang="en-US" sz="1400" dirty="0">
                        <a:latin typeface="DM Sans" charset="0"/>
                        <a:ea typeface="DM Sans" charset="0"/>
                        <a:cs typeface="DM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B5B4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5B4AE"/>
                      </a:solidFill>
                      <a:prstDash val="solid"/>
                      <a:round/>
                      <a:headEnd type="none" w="med" len="med"/>
                      <a:tailEnd type="none" w="med" len="med"/>
                    </a:lnB>
                    <a:solidFill>
                      <a:srgbClr val="E3E1DA"/>
                    </a:solidFill>
                  </a:tcPr>
                </a:tc>
                <a:tc>
                  <a:txBody>
                    <a:bodyPr/>
                    <a:lstStyle/>
                    <a:p>
                      <a:pPr indent="0" marL="0">
                        <a:lnSpc>
                          <a:spcPts val="1960"/>
                        </a:lnSpc>
                        <a:buNone/>
                      </a:pPr>
                      <a:r>
                        <a:rPr lang="en-US" sz="1400" b="1" dirty="0">
                          <a:solidFill>
                            <a:srgbClr val="1B2430"/>
                          </a:solidFill>
                          <a:latin typeface="DM Sans" pitchFamily="34" charset="0"/>
                          <a:ea typeface="DM Sans" pitchFamily="34" charset="-122"/>
                          <a:cs typeface="DM Sans" pitchFamily="34" charset="-120"/>
                        </a:rPr>
                        <a:t>Each row</a:t>
                      </a:r>
                      <a:endParaRPr lang="en-US" sz="1400" dirty="0">
                        <a:latin typeface="DM Sans" charset="0"/>
                        <a:ea typeface="DM Sans" charset="0"/>
                        <a:cs typeface="DM Sans" charset="0"/>
                      </a:endParaRPr>
                    </a:p>
                  </a:txBody>
                  <a:tcPr marL="62230" marR="62230" marT="62230" marB="62230" anchor="t">
                    <a:lnL w="12700" cap="flat" cmpd="sng" algn="ctr">
                      <a:solidFill>
                        <a:srgbClr val="B5B4AE"/>
                      </a:solidFill>
                      <a:prstDash val="solid"/>
                      <a:round/>
                      <a:headEnd type="none" w="med" len="med"/>
                      <a:tailEnd type="none" w="med" len="med"/>
                    </a:lnL>
                    <a:lnR w="12700" cap="flat" cmpd="sng" algn="ctr">
                      <a:solidFill>
                        <a:srgbClr val="B5B4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5B4AE"/>
                      </a:solidFill>
                      <a:prstDash val="solid"/>
                      <a:round/>
                      <a:headEnd type="none" w="med" len="med"/>
                      <a:tailEnd type="none" w="med" len="med"/>
                    </a:lnB>
                    <a:solidFill>
                      <a:srgbClr val="E3E1DA"/>
                    </a:solidFill>
                  </a:tcPr>
                </a:tc>
                <a:tc>
                  <a:txBody>
                    <a:bodyPr/>
                    <a:lstStyle/>
                    <a:p>
                      <a:pPr algn="r" indent="0" marL="0">
                        <a:lnSpc>
                          <a:spcPts val="1960"/>
                        </a:lnSpc>
                        <a:buNone/>
                      </a:pPr>
                      <a:r>
                        <a:rPr lang="en-US" sz="1400" b="1" dirty="0">
                          <a:solidFill>
                            <a:srgbClr val="1B2430"/>
                          </a:solidFill>
                          <a:latin typeface="DM Sans" pitchFamily="34" charset="0"/>
                          <a:ea typeface="DM Sans" pitchFamily="34" charset="-122"/>
                          <a:cs typeface="DM Sans" pitchFamily="34" charset="-120"/>
                        </a:rPr>
                        <a:t>One row</a:t>
                      </a:r>
                      <a:endParaRPr lang="en-US" sz="1400" dirty="0">
                        <a:latin typeface="DM Sans" charset="0"/>
                        <a:ea typeface="DM Sans" charset="0"/>
                        <a:cs typeface="DM Sans" charset="0"/>
                      </a:endParaRPr>
                    </a:p>
                  </a:txBody>
                  <a:tcPr marL="62230" marR="62230" marT="62230" marB="62230" anchor="t">
                    <a:lnL w="12700" cap="flat" cmpd="sng" algn="ctr">
                      <a:solidFill>
                        <a:srgbClr val="B5B4AE"/>
                      </a:solidFill>
                      <a:prstDash val="solid"/>
                      <a:round/>
                      <a:headEnd type="none" w="med" len="med"/>
                      <a:tailEnd type="none" w="med" len="med"/>
                    </a:lnL>
                    <a:lnR w="12700" cap="flat" cmpd="sng" algn="ctr">
                      <a:solidFill>
                        <a:srgbClr val="B5B4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5B4AE"/>
                      </a:solidFill>
                      <a:prstDash val="solid"/>
                      <a:round/>
                      <a:headEnd type="none" w="med" len="med"/>
                      <a:tailEnd type="none" w="med" len="med"/>
                    </a:lnB>
                    <a:solidFill>
                      <a:srgbClr val="E3E1DA"/>
                    </a:solidFill>
                  </a:tcPr>
                </a:tc>
                <a:tc>
                  <a:txBody>
                    <a:bodyPr/>
                    <a:lstStyle/>
                    <a:p>
                      <a:pPr algn="r" indent="0" marL="0">
                        <a:lnSpc>
                          <a:spcPts val="1960"/>
                        </a:lnSpc>
                        <a:buNone/>
                      </a:pPr>
                      <a:r>
                        <a:rPr lang="en-US" sz="1400" b="1" dirty="0">
                          <a:solidFill>
                            <a:srgbClr val="1B2430"/>
                          </a:solidFill>
                          <a:latin typeface="DM Sans" pitchFamily="34" charset="0"/>
                          <a:ea typeface="DM Sans" pitchFamily="34" charset="-122"/>
                          <a:cs typeface="DM Sans" pitchFamily="34" charset="-120"/>
                        </a:rPr>
                        <a:t>× 3 rows</a:t>
                      </a:r>
                      <a:endParaRPr lang="en-US" sz="1400" dirty="0">
                        <a:latin typeface="DM Sans" charset="0"/>
                        <a:ea typeface="DM Sans" charset="0"/>
                        <a:cs typeface="DM Sans" charset="0"/>
                      </a:endParaRPr>
                    </a:p>
                  </a:txBody>
                  <a:tcPr marL="62230" marR="62230" marT="62230" marB="62230" anchor="t">
                    <a:lnL w="12700" cap="flat" cmpd="sng" algn="ctr">
                      <a:solidFill>
                        <a:srgbClr val="B5B4AE"/>
                      </a:solidFill>
                      <a:prstDash val="solid"/>
                      <a:round/>
                      <a:headEnd type="none" w="med" len="med"/>
                      <a:tailEnd type="none" w="med" len="med"/>
                    </a:lnL>
                    <a:lnR w="12700" cap="flat" cmpd="sng" algn="ctr">
                      <a:solidFill>
                        <a:srgbClr val="B5B4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5B4AE"/>
                      </a:solidFill>
                      <a:prstDash val="solid"/>
                      <a:round/>
                      <a:headEnd type="none" w="med" len="med"/>
                      <a:tailEnd type="none" w="med" len="med"/>
                    </a:lnB>
                    <a:solidFill>
                      <a:srgbClr val="E3E1DA"/>
                    </a:solidFill>
                  </a:tcPr>
                </a:tc>
              </a:tr>
              <a:tr h="386011">
                <a:tc>
                  <a:txBody>
                    <a:bodyPr/>
                    <a:lstStyle/>
                    <a:p>
                      <a:pPr indent="0" marL="0">
                        <a:lnSpc>
                          <a:spcPts val="1960"/>
                        </a:lnSpc>
                        <a:buNone/>
                      </a:pPr>
                      <a:r>
                        <a:rPr lang="en-US" sz="1400" dirty="0">
                          <a:solidFill>
                            <a:srgbClr val="1B2430"/>
                          </a:solidFill>
                          <a:latin typeface="DM Sans" pitchFamily="34" charset="0"/>
                          <a:ea typeface="DM Sans" pitchFamily="34" charset="-122"/>
                          <a:cs typeface="DM Sans" pitchFamily="34" charset="-120"/>
                        </a:rPr>
                        <a:t>cols 0–2</a:t>
                      </a:r>
                      <a:endParaRPr lang="en-US" sz="1400" dirty="0">
                        <a:latin typeface="DM Sans" charset="0"/>
                        <a:ea typeface="DM Sans" charset="0"/>
                        <a:cs typeface="DM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8C0B9"/>
                      </a:solidFill>
                      <a:prstDash val="solid"/>
                      <a:round/>
                      <a:headEnd type="none" w="med" len="med"/>
                      <a:tailEnd type="none" w="med" len="med"/>
                    </a:lnR>
                    <a:lnT w="12700" cap="flat" cmpd="sng" algn="ctr">
                      <a:solidFill>
                        <a:srgbClr val="B5B4AE"/>
                      </a:solidFill>
                      <a:prstDash val="solid"/>
                      <a:round/>
                      <a:headEnd type="none" w="med" len="med"/>
                      <a:tailEnd type="none" w="med" len="med"/>
                    </a:lnT>
                    <a:lnB w="12700" cap="flat" cmpd="sng" algn="ctr">
                      <a:solidFill>
                        <a:srgbClr val="C8C0B9"/>
                      </a:solidFill>
                      <a:prstDash val="solid"/>
                      <a:round/>
                      <a:headEnd type="none" w="med" len="med"/>
                      <a:tailEnd type="none" w="med" len="med"/>
                    </a:lnB>
                    <a:solidFill>
                      <a:srgbClr val="FBF0E8"/>
                    </a:solidFill>
                  </a:tcPr>
                </a:tc>
                <a:tc>
                  <a:txBody>
                    <a:bodyPr/>
                    <a:lstStyle/>
                    <a:p>
                      <a:pPr indent="0" marL="0">
                        <a:lnSpc>
                          <a:spcPts val="1960"/>
                        </a:lnSpc>
                        <a:buNone/>
                      </a:pPr>
                      <a:r>
                        <a:rPr lang="en-US" sz="1400" dirty="0">
                          <a:solidFill>
                            <a:srgbClr val="1B2430"/>
                          </a:solidFill>
                          <a:latin typeface="DM Sans" pitchFamily="34" charset="0"/>
                          <a:ea typeface="DM Sans" pitchFamily="34" charset="-122"/>
                          <a:cs typeface="DM Sans" pitchFamily="34" charset="-120"/>
                        </a:rPr>
                        <a:t>0 0 9</a:t>
                      </a:r>
                      <a:endParaRPr lang="en-US" sz="1400" dirty="0">
                        <a:latin typeface="DM Sans" charset="0"/>
                        <a:ea typeface="DM Sans" charset="0"/>
                        <a:cs typeface="DM Sans" charset="0"/>
                      </a:endParaRPr>
                    </a:p>
                  </a:txBody>
                  <a:tcPr marL="62230" marR="62230" marT="62230" marB="62230" anchor="t">
                    <a:lnL w="12700" cap="flat" cmpd="sng" algn="ctr">
                      <a:solidFill>
                        <a:srgbClr val="C8C0B9"/>
                      </a:solidFill>
                      <a:prstDash val="solid"/>
                      <a:round/>
                      <a:headEnd type="none" w="med" len="med"/>
                      <a:tailEnd type="none" w="med" len="med"/>
                    </a:lnL>
                    <a:lnR w="12700" cap="flat" cmpd="sng" algn="ctr">
                      <a:solidFill>
                        <a:srgbClr val="C8C0B9"/>
                      </a:solidFill>
                      <a:prstDash val="solid"/>
                      <a:round/>
                      <a:headEnd type="none" w="med" len="med"/>
                      <a:tailEnd type="none" w="med" len="med"/>
                    </a:lnR>
                    <a:lnT w="12700" cap="flat" cmpd="sng" algn="ctr">
                      <a:solidFill>
                        <a:srgbClr val="B5B4AE"/>
                      </a:solidFill>
                      <a:prstDash val="solid"/>
                      <a:round/>
                      <a:headEnd type="none" w="med" len="med"/>
                      <a:tailEnd type="none" w="med" len="med"/>
                    </a:lnT>
                    <a:lnB w="12700" cap="flat" cmpd="sng" algn="ctr">
                      <a:solidFill>
                        <a:srgbClr val="C8C0B9"/>
                      </a:solidFill>
                      <a:prstDash val="solid"/>
                      <a:round/>
                      <a:headEnd type="none" w="med" len="med"/>
                      <a:tailEnd type="none" w="med" len="med"/>
                    </a:lnB>
                    <a:solidFill>
                      <a:srgbClr val="FBF0E8"/>
                    </a:solidFill>
                  </a:tcPr>
                </a:tc>
                <a:tc>
                  <a:txBody>
                    <a:bodyPr/>
                    <a:lstStyle/>
                    <a:p>
                      <a:pPr algn="r" indent="0" marL="0">
                        <a:lnSpc>
                          <a:spcPts val="1960"/>
                        </a:lnSpc>
                        <a:buNone/>
                      </a:pPr>
                      <a:r>
                        <a:rPr lang="en-US" sz="1400" dirty="0">
                          <a:solidFill>
                            <a:srgbClr val="1B2430"/>
                          </a:solidFill>
                          <a:latin typeface="DM Sans" pitchFamily="34" charset="0"/>
                          <a:ea typeface="DM Sans" pitchFamily="34" charset="-122"/>
                          <a:cs typeface="DM Sans" pitchFamily="34" charset="-120"/>
                        </a:rPr>
                        <a:t>9</a:t>
                      </a:r>
                      <a:endParaRPr lang="en-US" sz="1400" dirty="0">
                        <a:latin typeface="DM Sans" charset="0"/>
                        <a:ea typeface="DM Sans" charset="0"/>
                        <a:cs typeface="DM Sans" charset="0"/>
                      </a:endParaRPr>
                    </a:p>
                  </a:txBody>
                  <a:tcPr marL="62230" marR="62230" marT="62230" marB="62230" anchor="t">
                    <a:lnL w="12700" cap="flat" cmpd="sng" algn="ctr">
                      <a:solidFill>
                        <a:srgbClr val="C8C0B9"/>
                      </a:solidFill>
                      <a:prstDash val="solid"/>
                      <a:round/>
                      <a:headEnd type="none" w="med" len="med"/>
                      <a:tailEnd type="none" w="med" len="med"/>
                    </a:lnL>
                    <a:lnR w="12700" cap="flat" cmpd="sng" algn="ctr">
                      <a:solidFill>
                        <a:srgbClr val="C8C0B9"/>
                      </a:solidFill>
                      <a:prstDash val="solid"/>
                      <a:round/>
                      <a:headEnd type="none" w="med" len="med"/>
                      <a:tailEnd type="none" w="med" len="med"/>
                    </a:lnR>
                    <a:lnT w="12700" cap="flat" cmpd="sng" algn="ctr">
                      <a:solidFill>
                        <a:srgbClr val="B5B4AE"/>
                      </a:solidFill>
                      <a:prstDash val="solid"/>
                      <a:round/>
                      <a:headEnd type="none" w="med" len="med"/>
                      <a:tailEnd type="none" w="med" len="med"/>
                    </a:lnT>
                    <a:lnB w="12700" cap="flat" cmpd="sng" algn="ctr">
                      <a:solidFill>
                        <a:srgbClr val="C8C0B9"/>
                      </a:solidFill>
                      <a:prstDash val="solid"/>
                      <a:round/>
                      <a:headEnd type="none" w="med" len="med"/>
                      <a:tailEnd type="none" w="med" len="med"/>
                    </a:lnB>
                    <a:solidFill>
                      <a:srgbClr val="FBF0E8"/>
                    </a:solidFill>
                  </a:tcPr>
                </a:tc>
                <a:tc>
                  <a:txBody>
                    <a:bodyPr/>
                    <a:lstStyle/>
                    <a:p>
                      <a:pPr algn="r" indent="0" marL="0">
                        <a:lnSpc>
                          <a:spcPts val="1960"/>
                        </a:lnSpc>
                        <a:buNone/>
                      </a:pPr>
                      <a:r>
                        <a:rPr lang="en-US" sz="1400" dirty="0">
                          <a:solidFill>
                            <a:srgbClr val="B8501F"/>
                          </a:solidFill>
                          <a:latin typeface="DM Sans" pitchFamily="34" charset="0"/>
                          <a:ea typeface="DM Sans" pitchFamily="34" charset="-122"/>
                          <a:cs typeface="DM Sans" pitchFamily="34" charset="-120"/>
                        </a:rPr>
                        <a:t>27</a:t>
                      </a:r>
                      <a:endParaRPr lang="en-US" sz="1400" dirty="0">
                        <a:latin typeface="DM Sans" charset="0"/>
                        <a:ea typeface="DM Sans" charset="0"/>
                        <a:cs typeface="DM Sans" charset="0"/>
                      </a:endParaRPr>
                    </a:p>
                  </a:txBody>
                  <a:tcPr marL="62230" marR="62230" marT="62230" marB="62230" anchor="t">
                    <a:lnL w="12700" cap="flat" cmpd="sng" algn="ctr">
                      <a:solidFill>
                        <a:srgbClr val="C8C0B9"/>
                      </a:solidFill>
                      <a:prstDash val="solid"/>
                      <a:round/>
                      <a:headEnd type="none" w="med" len="med"/>
                      <a:tailEnd type="none" w="med" len="med"/>
                    </a:lnL>
                    <a:lnR w="12700" cap="flat" cmpd="sng" algn="ctr">
                      <a:solidFill>
                        <a:srgbClr val="C8C0B9"/>
                      </a:solidFill>
                      <a:prstDash val="solid"/>
                      <a:round/>
                      <a:headEnd type="none" w="med" len="med"/>
                      <a:tailEnd type="none" w="med" len="med"/>
                    </a:lnR>
                    <a:lnT w="12700" cap="flat" cmpd="sng" algn="ctr">
                      <a:solidFill>
                        <a:srgbClr val="B5B4AE"/>
                      </a:solidFill>
                      <a:prstDash val="solid"/>
                      <a:round/>
                      <a:headEnd type="none" w="med" len="med"/>
                      <a:tailEnd type="none" w="med" len="med"/>
                    </a:lnT>
                    <a:lnB w="12700" cap="flat" cmpd="sng" algn="ctr">
                      <a:solidFill>
                        <a:srgbClr val="C8C0B9"/>
                      </a:solidFill>
                      <a:prstDash val="solid"/>
                      <a:round/>
                      <a:headEnd type="none" w="med" len="med"/>
                      <a:tailEnd type="none" w="med" len="med"/>
                    </a:lnB>
                    <a:solidFill>
                      <a:srgbClr val="FBF0E8"/>
                    </a:solidFill>
                  </a:tcPr>
                </a:tc>
              </a:tr>
              <a:tr h="386011">
                <a:tc>
                  <a:txBody>
                    <a:bodyPr/>
                    <a:lstStyle/>
                    <a:p>
                      <a:pPr indent="0" marL="0">
                        <a:lnSpc>
                          <a:spcPts val="1960"/>
                        </a:lnSpc>
                        <a:buNone/>
                      </a:pPr>
                      <a:r>
                        <a:rPr lang="en-US" sz="1400" dirty="0">
                          <a:solidFill>
                            <a:srgbClr val="1B2430"/>
                          </a:solidFill>
                          <a:latin typeface="DM Sans" pitchFamily="34" charset="0"/>
                          <a:ea typeface="DM Sans" pitchFamily="34" charset="-122"/>
                          <a:cs typeface="DM Sans" pitchFamily="34" charset="-120"/>
                        </a:rPr>
                        <a:t>cols 1–3</a:t>
                      </a:r>
                      <a:endParaRPr lang="en-US" sz="1400" dirty="0">
                        <a:latin typeface="DM Sans" charset="0"/>
                        <a:ea typeface="DM Sans" charset="0"/>
                        <a:cs typeface="DM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8C0B9"/>
                      </a:solidFill>
                      <a:prstDash val="solid"/>
                      <a:round/>
                      <a:headEnd type="none" w="med" len="med"/>
                      <a:tailEnd type="none" w="med" len="med"/>
                    </a:lnR>
                    <a:lnT w="12700" cap="flat" cmpd="sng" algn="ctr">
                      <a:solidFill>
                        <a:srgbClr val="C8C0B9"/>
                      </a:solidFill>
                      <a:prstDash val="solid"/>
                      <a:round/>
                      <a:headEnd type="none" w="med" len="med"/>
                      <a:tailEnd type="none" w="med" len="med"/>
                    </a:lnT>
                    <a:lnB w="12700" cap="flat" cmpd="sng" algn="ctr">
                      <a:solidFill>
                        <a:srgbClr val="C8C0B9"/>
                      </a:solidFill>
                      <a:prstDash val="solid"/>
                      <a:round/>
                      <a:headEnd type="none" w="med" len="med"/>
                      <a:tailEnd type="none" w="med" len="med"/>
                    </a:lnB>
                    <a:solidFill>
                      <a:srgbClr val="FBF0E8"/>
                    </a:solidFill>
                  </a:tcPr>
                </a:tc>
                <a:tc>
                  <a:txBody>
                    <a:bodyPr/>
                    <a:lstStyle/>
                    <a:p>
                      <a:pPr indent="0" marL="0">
                        <a:lnSpc>
                          <a:spcPts val="1960"/>
                        </a:lnSpc>
                        <a:buNone/>
                      </a:pPr>
                      <a:r>
                        <a:rPr lang="en-US" sz="1400" dirty="0">
                          <a:solidFill>
                            <a:srgbClr val="1B2430"/>
                          </a:solidFill>
                          <a:latin typeface="DM Sans" pitchFamily="34" charset="0"/>
                          <a:ea typeface="DM Sans" pitchFamily="34" charset="-122"/>
                          <a:cs typeface="DM Sans" pitchFamily="34" charset="-120"/>
                        </a:rPr>
                        <a:t>0 9 9</a:t>
                      </a:r>
                      <a:endParaRPr lang="en-US" sz="1400" dirty="0">
                        <a:latin typeface="DM Sans" charset="0"/>
                        <a:ea typeface="DM Sans" charset="0"/>
                        <a:cs typeface="DM Sans" charset="0"/>
                      </a:endParaRPr>
                    </a:p>
                  </a:txBody>
                  <a:tcPr marL="62230" marR="62230" marT="62230" marB="62230" anchor="t">
                    <a:lnL w="12700" cap="flat" cmpd="sng" algn="ctr">
                      <a:solidFill>
                        <a:srgbClr val="C8C0B9"/>
                      </a:solidFill>
                      <a:prstDash val="solid"/>
                      <a:round/>
                      <a:headEnd type="none" w="med" len="med"/>
                      <a:tailEnd type="none" w="med" len="med"/>
                    </a:lnL>
                    <a:lnR w="12700" cap="flat" cmpd="sng" algn="ctr">
                      <a:solidFill>
                        <a:srgbClr val="C8C0B9"/>
                      </a:solidFill>
                      <a:prstDash val="solid"/>
                      <a:round/>
                      <a:headEnd type="none" w="med" len="med"/>
                      <a:tailEnd type="none" w="med" len="med"/>
                    </a:lnR>
                    <a:lnT w="12700" cap="flat" cmpd="sng" algn="ctr">
                      <a:solidFill>
                        <a:srgbClr val="C8C0B9"/>
                      </a:solidFill>
                      <a:prstDash val="solid"/>
                      <a:round/>
                      <a:headEnd type="none" w="med" len="med"/>
                      <a:tailEnd type="none" w="med" len="med"/>
                    </a:lnT>
                    <a:lnB w="12700" cap="flat" cmpd="sng" algn="ctr">
                      <a:solidFill>
                        <a:srgbClr val="C8C0B9"/>
                      </a:solidFill>
                      <a:prstDash val="solid"/>
                      <a:round/>
                      <a:headEnd type="none" w="med" len="med"/>
                      <a:tailEnd type="none" w="med" len="med"/>
                    </a:lnB>
                    <a:solidFill>
                      <a:srgbClr val="FBF0E8"/>
                    </a:solidFill>
                  </a:tcPr>
                </a:tc>
                <a:tc>
                  <a:txBody>
                    <a:bodyPr/>
                    <a:lstStyle/>
                    <a:p>
                      <a:pPr algn="r" indent="0" marL="0">
                        <a:lnSpc>
                          <a:spcPts val="1960"/>
                        </a:lnSpc>
                        <a:buNone/>
                      </a:pPr>
                      <a:r>
                        <a:rPr lang="en-US" sz="1400" dirty="0">
                          <a:solidFill>
                            <a:srgbClr val="1B2430"/>
                          </a:solidFill>
                          <a:latin typeface="DM Sans" pitchFamily="34" charset="0"/>
                          <a:ea typeface="DM Sans" pitchFamily="34" charset="-122"/>
                          <a:cs typeface="DM Sans" pitchFamily="34" charset="-120"/>
                        </a:rPr>
                        <a:t>9</a:t>
                      </a:r>
                      <a:endParaRPr lang="en-US" sz="1400" dirty="0">
                        <a:latin typeface="DM Sans" charset="0"/>
                        <a:ea typeface="DM Sans" charset="0"/>
                        <a:cs typeface="DM Sans" charset="0"/>
                      </a:endParaRPr>
                    </a:p>
                  </a:txBody>
                  <a:tcPr marL="62230" marR="62230" marT="62230" marB="62230" anchor="t">
                    <a:lnL w="12700" cap="flat" cmpd="sng" algn="ctr">
                      <a:solidFill>
                        <a:srgbClr val="C8C0B9"/>
                      </a:solidFill>
                      <a:prstDash val="solid"/>
                      <a:round/>
                      <a:headEnd type="none" w="med" len="med"/>
                      <a:tailEnd type="none" w="med" len="med"/>
                    </a:lnL>
                    <a:lnR w="12700" cap="flat" cmpd="sng" algn="ctr">
                      <a:solidFill>
                        <a:srgbClr val="C8C0B9"/>
                      </a:solidFill>
                      <a:prstDash val="solid"/>
                      <a:round/>
                      <a:headEnd type="none" w="med" len="med"/>
                      <a:tailEnd type="none" w="med" len="med"/>
                    </a:lnR>
                    <a:lnT w="12700" cap="flat" cmpd="sng" algn="ctr">
                      <a:solidFill>
                        <a:srgbClr val="C8C0B9"/>
                      </a:solidFill>
                      <a:prstDash val="solid"/>
                      <a:round/>
                      <a:headEnd type="none" w="med" len="med"/>
                      <a:tailEnd type="none" w="med" len="med"/>
                    </a:lnT>
                    <a:lnB w="12700" cap="flat" cmpd="sng" algn="ctr">
                      <a:solidFill>
                        <a:srgbClr val="C8C0B9"/>
                      </a:solidFill>
                      <a:prstDash val="solid"/>
                      <a:round/>
                      <a:headEnd type="none" w="med" len="med"/>
                      <a:tailEnd type="none" w="med" len="med"/>
                    </a:lnB>
                    <a:solidFill>
                      <a:srgbClr val="FBF0E8"/>
                    </a:solidFill>
                  </a:tcPr>
                </a:tc>
                <a:tc>
                  <a:txBody>
                    <a:bodyPr/>
                    <a:lstStyle/>
                    <a:p>
                      <a:pPr algn="r" indent="0" marL="0">
                        <a:lnSpc>
                          <a:spcPts val="1960"/>
                        </a:lnSpc>
                        <a:buNone/>
                      </a:pPr>
                      <a:r>
                        <a:rPr lang="en-US" sz="1400" dirty="0">
                          <a:solidFill>
                            <a:srgbClr val="B8501F"/>
                          </a:solidFill>
                          <a:latin typeface="DM Sans" pitchFamily="34" charset="0"/>
                          <a:ea typeface="DM Sans" pitchFamily="34" charset="-122"/>
                          <a:cs typeface="DM Sans" pitchFamily="34" charset="-120"/>
                        </a:rPr>
                        <a:t>27</a:t>
                      </a:r>
                      <a:endParaRPr lang="en-US" sz="1400" dirty="0">
                        <a:latin typeface="DM Sans" charset="0"/>
                        <a:ea typeface="DM Sans" charset="0"/>
                        <a:cs typeface="DM Sans" charset="0"/>
                      </a:endParaRPr>
                    </a:p>
                  </a:txBody>
                  <a:tcPr marL="62230" marR="62230" marT="62230" marB="62230" anchor="t">
                    <a:lnL w="12700" cap="flat" cmpd="sng" algn="ctr">
                      <a:solidFill>
                        <a:srgbClr val="C8C0B9"/>
                      </a:solidFill>
                      <a:prstDash val="solid"/>
                      <a:round/>
                      <a:headEnd type="none" w="med" len="med"/>
                      <a:tailEnd type="none" w="med" len="med"/>
                    </a:lnL>
                    <a:lnR w="12700" cap="flat" cmpd="sng" algn="ctr">
                      <a:solidFill>
                        <a:srgbClr val="C8C0B9"/>
                      </a:solidFill>
                      <a:prstDash val="solid"/>
                      <a:round/>
                      <a:headEnd type="none" w="med" len="med"/>
                      <a:tailEnd type="none" w="med" len="med"/>
                    </a:lnR>
                    <a:lnT w="12700" cap="flat" cmpd="sng" algn="ctr">
                      <a:solidFill>
                        <a:srgbClr val="C8C0B9"/>
                      </a:solidFill>
                      <a:prstDash val="solid"/>
                      <a:round/>
                      <a:headEnd type="none" w="med" len="med"/>
                      <a:tailEnd type="none" w="med" len="med"/>
                    </a:lnT>
                    <a:lnB w="12700" cap="flat" cmpd="sng" algn="ctr">
                      <a:solidFill>
                        <a:srgbClr val="C8C0B9"/>
                      </a:solidFill>
                      <a:prstDash val="solid"/>
                      <a:round/>
                      <a:headEnd type="none" w="med" len="med"/>
                      <a:tailEnd type="none" w="med" len="med"/>
                    </a:lnB>
                    <a:solidFill>
                      <a:srgbClr val="FBF0E8"/>
                    </a:solidFill>
                  </a:tcPr>
                </a:tc>
              </a:tr>
              <a:tr h="386011">
                <a:tc>
                  <a:txBody>
                    <a:bodyPr/>
                    <a:lstStyle/>
                    <a:p>
                      <a:pPr indent="0" marL="0">
                        <a:lnSpc>
                          <a:spcPts val="1960"/>
                        </a:lnSpc>
                        <a:buNone/>
                      </a:pPr>
                      <a:r>
                        <a:rPr lang="en-US" sz="1400" dirty="0">
                          <a:solidFill>
                            <a:srgbClr val="1B2430"/>
                          </a:solidFill>
                          <a:latin typeface="DM Sans" pitchFamily="34" charset="0"/>
                          <a:ea typeface="DM Sans" pitchFamily="34" charset="-122"/>
                          <a:cs typeface="DM Sans" pitchFamily="34" charset="-120"/>
                        </a:rPr>
                        <a:t>cols 2–4</a:t>
                      </a:r>
                      <a:endParaRPr lang="en-US" sz="1400" dirty="0">
                        <a:latin typeface="DM Sans" charset="0"/>
                        <a:ea typeface="DM Sans" charset="0"/>
                        <a:cs typeface="DM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8C0B9"/>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8"/>
                    </a:solidFill>
                  </a:tcPr>
                </a:tc>
                <a:tc>
                  <a:txBody>
                    <a:bodyPr/>
                    <a:lstStyle/>
                    <a:p>
                      <a:pPr indent="0" marL="0">
                        <a:lnSpc>
                          <a:spcPts val="1960"/>
                        </a:lnSpc>
                        <a:buNone/>
                      </a:pPr>
                      <a:r>
                        <a:rPr lang="en-US" sz="1400" dirty="0">
                          <a:solidFill>
                            <a:srgbClr val="1B2430"/>
                          </a:solidFill>
                          <a:latin typeface="DM Sans" pitchFamily="34" charset="0"/>
                          <a:ea typeface="DM Sans" pitchFamily="34" charset="-122"/>
                          <a:cs typeface="DM Sans" pitchFamily="34" charset="-120"/>
                        </a:rPr>
                        <a:t>9 9 0</a:t>
                      </a:r>
                      <a:endParaRPr lang="en-US" sz="1400" dirty="0">
                        <a:latin typeface="DM Sans" charset="0"/>
                        <a:ea typeface="DM Sans" charset="0"/>
                        <a:cs typeface="DM Sans" charset="0"/>
                      </a:endParaRPr>
                    </a:p>
                  </a:txBody>
                  <a:tcPr marL="62230" marR="62230" marT="62230" marB="62230" anchor="t">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8C0B9"/>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8"/>
                    </a:solidFill>
                  </a:tcPr>
                </a:tc>
                <a:tc>
                  <a:txBody>
                    <a:bodyPr/>
                    <a:lstStyle/>
                    <a:p>
                      <a:pPr algn="r" indent="0" marL="0">
                        <a:lnSpc>
                          <a:spcPts val="1960"/>
                        </a:lnSpc>
                        <a:buNone/>
                      </a:pPr>
                      <a:r>
                        <a:rPr lang="en-US" sz="1400" dirty="0">
                          <a:solidFill>
                            <a:srgbClr val="1B2430"/>
                          </a:solidFill>
                          <a:latin typeface="DM Sans" pitchFamily="34" charset="0"/>
                          <a:ea typeface="DM Sans" pitchFamily="34" charset="-122"/>
                          <a:cs typeface="DM Sans" pitchFamily="34" charset="-120"/>
                        </a:rPr>
                        <a:t>−9</a:t>
                      </a:r>
                      <a:endParaRPr lang="en-US" sz="1400" dirty="0">
                        <a:latin typeface="DM Sans" charset="0"/>
                        <a:ea typeface="DM Sans" charset="0"/>
                        <a:cs typeface="DM Sans" charset="0"/>
                      </a:endParaRPr>
                    </a:p>
                  </a:txBody>
                  <a:tcPr marL="62230" marR="62230" marT="62230" marB="62230" anchor="t">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8C0B9"/>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8"/>
                    </a:solidFill>
                  </a:tcPr>
                </a:tc>
                <a:tc>
                  <a:txBody>
                    <a:bodyPr/>
                    <a:lstStyle/>
                    <a:p>
                      <a:pPr algn="r" indent="0" marL="0">
                        <a:lnSpc>
                          <a:spcPts val="1960"/>
                        </a:lnSpc>
                        <a:buNone/>
                      </a:pPr>
                      <a:r>
                        <a:rPr lang="en-US" sz="1400" dirty="0">
                          <a:solidFill>
                            <a:srgbClr val="2B5FA6"/>
                          </a:solidFill>
                          <a:latin typeface="DM Sans" pitchFamily="34" charset="0"/>
                          <a:ea typeface="DM Sans" pitchFamily="34" charset="-122"/>
                          <a:cs typeface="DM Sans" pitchFamily="34" charset="-120"/>
                        </a:rPr>
                        <a:t>−27</a:t>
                      </a:r>
                      <a:endParaRPr lang="en-US" sz="1400" dirty="0">
                        <a:latin typeface="DM Sans" charset="0"/>
                        <a:ea typeface="DM Sans" charset="0"/>
                        <a:cs typeface="DM Sans" charset="0"/>
                      </a:endParaRPr>
                    </a:p>
                  </a:txBody>
                  <a:tcPr marL="62230" marR="62230" marT="62230" marB="62230" anchor="t">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8C0B9"/>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8"/>
                    </a:solidFill>
                  </a:tcPr>
                </a:tc>
              </a:tr>
              <a:tr h="386011">
                <a:tc>
                  <a:txBody>
                    <a:bodyPr/>
                    <a:lstStyle/>
                    <a:p>
                      <a:pPr indent="0" marL="0">
                        <a:lnSpc>
                          <a:spcPts val="1960"/>
                        </a:lnSpc>
                        <a:buNone/>
                      </a:pPr>
                      <a:r>
                        <a:rPr lang="en-US" sz="1400" dirty="0">
                          <a:solidFill>
                            <a:srgbClr val="1B2430"/>
                          </a:solidFill>
                          <a:latin typeface="DM Sans" pitchFamily="34" charset="0"/>
                          <a:ea typeface="DM Sans" pitchFamily="34" charset="-122"/>
                          <a:cs typeface="DM Sans" pitchFamily="34" charset="-120"/>
                        </a:rPr>
                        <a:t>cols 3–5</a:t>
                      </a:r>
                      <a:endParaRPr lang="en-US" sz="1400" dirty="0">
                        <a:latin typeface="DM Sans" charset="0"/>
                        <a:ea typeface="DM Sans" charset="0"/>
                        <a:cs typeface="DM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BBC0C6"/>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8"/>
                    </a:solidFill>
                  </a:tcPr>
                </a:tc>
                <a:tc>
                  <a:txBody>
                    <a:bodyPr/>
                    <a:lstStyle/>
                    <a:p>
                      <a:pPr indent="0" marL="0">
                        <a:lnSpc>
                          <a:spcPts val="1960"/>
                        </a:lnSpc>
                        <a:buNone/>
                      </a:pPr>
                      <a:r>
                        <a:rPr lang="en-US" sz="1400" dirty="0">
                          <a:solidFill>
                            <a:srgbClr val="1B2430"/>
                          </a:solidFill>
                          <a:latin typeface="DM Sans" pitchFamily="34" charset="0"/>
                          <a:ea typeface="DM Sans" pitchFamily="34" charset="-122"/>
                          <a:cs typeface="DM Sans" pitchFamily="34" charset="-120"/>
                        </a:rPr>
                        <a:t>9 0 0</a:t>
                      </a:r>
                      <a:endParaRPr lang="en-US" sz="1400" dirty="0">
                        <a:latin typeface="DM Sans" charset="0"/>
                        <a:ea typeface="DM Sans" charset="0"/>
                        <a:cs typeface="DM Sans" charset="0"/>
                      </a:endParaRPr>
                    </a:p>
                  </a:txBody>
                  <a:tcPr marL="62230" marR="62230" marT="62230" marB="62230" anchor="t">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BBC0C6"/>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8"/>
                    </a:solidFill>
                  </a:tcPr>
                </a:tc>
                <a:tc>
                  <a:txBody>
                    <a:bodyPr/>
                    <a:lstStyle/>
                    <a:p>
                      <a:pPr algn="r" indent="0" marL="0">
                        <a:lnSpc>
                          <a:spcPts val="1960"/>
                        </a:lnSpc>
                        <a:buNone/>
                      </a:pPr>
                      <a:r>
                        <a:rPr lang="en-US" sz="1400" dirty="0">
                          <a:solidFill>
                            <a:srgbClr val="1B2430"/>
                          </a:solidFill>
                          <a:latin typeface="DM Sans" pitchFamily="34" charset="0"/>
                          <a:ea typeface="DM Sans" pitchFamily="34" charset="-122"/>
                          <a:cs typeface="DM Sans" pitchFamily="34" charset="-120"/>
                        </a:rPr>
                        <a:t>−9</a:t>
                      </a:r>
                      <a:endParaRPr lang="en-US" sz="1400" dirty="0">
                        <a:latin typeface="DM Sans" charset="0"/>
                        <a:ea typeface="DM Sans" charset="0"/>
                        <a:cs typeface="DM Sans" charset="0"/>
                      </a:endParaRPr>
                    </a:p>
                  </a:txBody>
                  <a:tcPr marL="62230" marR="62230" marT="62230" marB="62230" anchor="t">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BBC0C6"/>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8"/>
                    </a:solidFill>
                  </a:tcPr>
                </a:tc>
                <a:tc>
                  <a:txBody>
                    <a:bodyPr/>
                    <a:lstStyle/>
                    <a:p>
                      <a:pPr algn="r" indent="0" marL="0">
                        <a:lnSpc>
                          <a:spcPts val="1960"/>
                        </a:lnSpc>
                        <a:buNone/>
                      </a:pPr>
                      <a:r>
                        <a:rPr lang="en-US" sz="1400" dirty="0">
                          <a:solidFill>
                            <a:srgbClr val="2B5FA6"/>
                          </a:solidFill>
                          <a:latin typeface="DM Sans" pitchFamily="34" charset="0"/>
                          <a:ea typeface="DM Sans" pitchFamily="34" charset="-122"/>
                          <a:cs typeface="DM Sans" pitchFamily="34" charset="-120"/>
                        </a:rPr>
                        <a:t>−27</a:t>
                      </a:r>
                      <a:endParaRPr lang="en-US" sz="1400" dirty="0">
                        <a:latin typeface="DM Sans" charset="0"/>
                        <a:ea typeface="DM Sans" charset="0"/>
                        <a:cs typeface="DM Sans" charset="0"/>
                      </a:endParaRPr>
                    </a:p>
                  </a:txBody>
                  <a:tcPr marL="62230" marR="62230" marT="62230" marB="62230" anchor="t">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BBC0C6"/>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8"/>
                    </a:solidFill>
                  </a:tcPr>
                </a:tc>
              </a:tr>
            </a:tbl>
          </a:graphicData>
        </a:graphic>
      </p:graphicFrame>
      <p:sp>
        <p:nvSpPr>
          <p:cNvPr id="49" name="Text 46"/>
          <p:cNvSpPr/>
          <p:nvPr/>
        </p:nvSpPr>
        <p:spPr>
          <a:xfrm>
            <a:off x="812800" y="5145980"/>
            <a:ext cx="786842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cols 4–6: column 6 does not exist, so we stop. Only </a:t>
            </a:r>
            <a:r>
              <a:rPr lang="en-US" sz="1300" b="1" dirty="0">
                <a:solidFill>
                  <a:srgbClr val="4A5568"/>
                </a:solidFill>
                <a:latin typeface="DM Sans" pitchFamily="34" charset="0"/>
                <a:ea typeface="DM Sans" pitchFamily="34" charset="-122"/>
                <a:cs typeface="DM Sans" pitchFamily="34" charset="-120"/>
              </a:rPr>
              <a:t>4</a:t>
            </a:r>
            <a:r>
              <a:rPr lang="en-US" sz="1300" dirty="0">
                <a:solidFill>
                  <a:srgbClr val="4A5568"/>
                </a:solidFill>
                <a:latin typeface="DM Sans" pitchFamily="34" charset="0"/>
                <a:ea typeface="DM Sans" pitchFamily="34" charset="-122"/>
                <a:cs typeface="DM Sans" pitchFamily="34" charset="-120"/>
              </a:rPr>
              <a:t> windows fit across, and 4 fit down.</a:t>
            </a:r>
            <a:endParaRPr lang="en-US" sz="1300" dirty="0"/>
          </a:p>
        </p:txBody>
      </p:sp>
      <p:sp>
        <p:nvSpPr>
          <p:cNvPr id="50" name="Text 47"/>
          <p:cNvSpPr/>
          <p:nvPr/>
        </p:nvSpPr>
        <p:spPr>
          <a:xfrm>
            <a:off x="8960048" y="2052191"/>
            <a:ext cx="249172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DM Sans" pitchFamily="34" charset="0"/>
                <a:ea typeface="DM Sans" pitchFamily="34" charset="-122"/>
                <a:cs typeface="DM Sans" pitchFamily="34" charset="-120"/>
              </a:rPr>
              <a:t>Feature map 4×4</a:t>
            </a:r>
            <a:endParaRPr lang="en-US" sz="1200" dirty="0"/>
          </a:p>
        </p:txBody>
      </p:sp>
      <p:sp>
        <p:nvSpPr>
          <p:cNvPr id="51" name="Text 48"/>
          <p:cNvSpPr/>
          <p:nvPr/>
        </p:nvSpPr>
        <p:spPr>
          <a:xfrm>
            <a:off x="8960048" y="2354411"/>
            <a:ext cx="533400" cy="533400"/>
          </a:xfrm>
          <a:prstGeom prst="rect">
            <a:avLst/>
          </a:prstGeom>
          <a:solidFill>
            <a:srgbClr val="B8501F"/>
          </a:solidFill>
          <a:ln/>
        </p:spPr>
        <p:txBody>
          <a:bodyPr wrap="square" lIns="0" tIns="0" rIns="0" bIns="0" rtlCol="0" anchor="t">
            <a:normAutofit/>
          </a:bodyPr>
          <a:lstStyle/>
          <a:p>
            <a:pPr algn="ctr" indent="0" marL="0">
              <a:lnSpc>
                <a:spcPts val="4200"/>
              </a:lnSpc>
              <a:buNone/>
            </a:pPr>
            <a:r>
              <a:rPr lang="en-US" sz="1400" b="1" dirty="0">
                <a:solidFill>
                  <a:srgbClr val="FFFDF8"/>
                </a:solidFill>
                <a:latin typeface="JetBrains Mono" pitchFamily="49" charset="0"/>
                <a:ea typeface="JetBrains Mono" pitchFamily="49" charset="-122"/>
                <a:cs typeface="JetBrains Mono" pitchFamily="49" charset="-120"/>
              </a:rPr>
              <a:t>27</a:t>
            </a:r>
            <a:endParaRPr lang="en-US" sz="1400" dirty="0"/>
          </a:p>
        </p:txBody>
      </p:sp>
      <p:sp>
        <p:nvSpPr>
          <p:cNvPr id="52" name="Text 49"/>
          <p:cNvSpPr/>
          <p:nvPr/>
        </p:nvSpPr>
        <p:spPr>
          <a:xfrm>
            <a:off x="9531548" y="2354411"/>
            <a:ext cx="533400" cy="533400"/>
          </a:xfrm>
          <a:prstGeom prst="rect">
            <a:avLst/>
          </a:prstGeom>
          <a:solidFill>
            <a:srgbClr val="B8501F"/>
          </a:solidFill>
          <a:ln/>
        </p:spPr>
        <p:txBody>
          <a:bodyPr wrap="square" lIns="0" tIns="0" rIns="0" bIns="0" rtlCol="0" anchor="t">
            <a:normAutofit/>
          </a:bodyPr>
          <a:lstStyle/>
          <a:p>
            <a:pPr algn="ctr" indent="0" marL="0">
              <a:lnSpc>
                <a:spcPts val="4200"/>
              </a:lnSpc>
              <a:buNone/>
            </a:pPr>
            <a:r>
              <a:rPr lang="en-US" sz="1400" b="1" dirty="0">
                <a:solidFill>
                  <a:srgbClr val="FFFDF8"/>
                </a:solidFill>
                <a:latin typeface="JetBrains Mono" pitchFamily="49" charset="0"/>
                <a:ea typeface="JetBrains Mono" pitchFamily="49" charset="-122"/>
                <a:cs typeface="JetBrains Mono" pitchFamily="49" charset="-120"/>
              </a:rPr>
              <a:t>27</a:t>
            </a:r>
            <a:endParaRPr lang="en-US" sz="1400" dirty="0"/>
          </a:p>
        </p:txBody>
      </p:sp>
      <p:sp>
        <p:nvSpPr>
          <p:cNvPr id="53" name="Text 50"/>
          <p:cNvSpPr/>
          <p:nvPr/>
        </p:nvSpPr>
        <p:spPr>
          <a:xfrm>
            <a:off x="10103048" y="2354411"/>
            <a:ext cx="533400" cy="533400"/>
          </a:xfrm>
          <a:prstGeom prst="rect">
            <a:avLst/>
          </a:prstGeom>
          <a:solidFill>
            <a:srgbClr val="2B5FA6"/>
          </a:solidFill>
          <a:ln/>
        </p:spPr>
        <p:txBody>
          <a:bodyPr wrap="square" lIns="0" tIns="0" rIns="0" bIns="0" rtlCol="0" anchor="t">
            <a:normAutofit/>
          </a:bodyPr>
          <a:lstStyle/>
          <a:p>
            <a:pPr algn="ctr" indent="0" marL="0">
              <a:lnSpc>
                <a:spcPts val="4200"/>
              </a:lnSpc>
              <a:buNone/>
            </a:pPr>
            <a:r>
              <a:rPr lang="en-US" sz="1400" b="1" dirty="0">
                <a:solidFill>
                  <a:srgbClr val="FFFDF8"/>
                </a:solidFill>
                <a:latin typeface="JetBrains Mono" pitchFamily="49" charset="0"/>
                <a:ea typeface="JetBrains Mono" pitchFamily="49" charset="-122"/>
                <a:cs typeface="JetBrains Mono" pitchFamily="49" charset="-120"/>
              </a:rPr>
              <a:t>−27</a:t>
            </a:r>
            <a:endParaRPr lang="en-US" sz="1400" dirty="0"/>
          </a:p>
        </p:txBody>
      </p:sp>
      <p:sp>
        <p:nvSpPr>
          <p:cNvPr id="54" name="Text 51"/>
          <p:cNvSpPr/>
          <p:nvPr/>
        </p:nvSpPr>
        <p:spPr>
          <a:xfrm>
            <a:off x="10674548" y="2354411"/>
            <a:ext cx="533400" cy="533400"/>
          </a:xfrm>
          <a:prstGeom prst="rect">
            <a:avLst/>
          </a:prstGeom>
          <a:solidFill>
            <a:srgbClr val="2B5FA6"/>
          </a:solidFill>
          <a:ln/>
        </p:spPr>
        <p:txBody>
          <a:bodyPr wrap="square" lIns="0" tIns="0" rIns="0" bIns="0" rtlCol="0" anchor="t">
            <a:normAutofit/>
          </a:bodyPr>
          <a:lstStyle/>
          <a:p>
            <a:pPr algn="ctr" indent="0" marL="0">
              <a:lnSpc>
                <a:spcPts val="4200"/>
              </a:lnSpc>
              <a:buNone/>
            </a:pPr>
            <a:r>
              <a:rPr lang="en-US" sz="1400" b="1" dirty="0">
                <a:solidFill>
                  <a:srgbClr val="FFFDF8"/>
                </a:solidFill>
                <a:latin typeface="JetBrains Mono" pitchFamily="49" charset="0"/>
                <a:ea typeface="JetBrains Mono" pitchFamily="49" charset="-122"/>
                <a:cs typeface="JetBrains Mono" pitchFamily="49" charset="-120"/>
              </a:rPr>
              <a:t>−27</a:t>
            </a:r>
            <a:endParaRPr lang="en-US" sz="1400" dirty="0"/>
          </a:p>
        </p:txBody>
      </p:sp>
      <p:sp>
        <p:nvSpPr>
          <p:cNvPr id="55" name="Text 52"/>
          <p:cNvSpPr/>
          <p:nvPr/>
        </p:nvSpPr>
        <p:spPr>
          <a:xfrm>
            <a:off x="8960048" y="2925911"/>
            <a:ext cx="533400" cy="533400"/>
          </a:xfrm>
          <a:prstGeom prst="rect">
            <a:avLst/>
          </a:prstGeom>
          <a:solidFill>
            <a:srgbClr val="B8501F"/>
          </a:solidFill>
          <a:ln/>
        </p:spPr>
        <p:txBody>
          <a:bodyPr wrap="square" lIns="0" tIns="0" rIns="0" bIns="0" rtlCol="0" anchor="t">
            <a:normAutofit/>
          </a:bodyPr>
          <a:lstStyle/>
          <a:p>
            <a:pPr algn="ctr" indent="0" marL="0">
              <a:lnSpc>
                <a:spcPts val="4200"/>
              </a:lnSpc>
              <a:buNone/>
            </a:pPr>
            <a:r>
              <a:rPr lang="en-US" sz="1400" b="1" dirty="0">
                <a:solidFill>
                  <a:srgbClr val="FFFDF8"/>
                </a:solidFill>
                <a:latin typeface="JetBrains Mono" pitchFamily="49" charset="0"/>
                <a:ea typeface="JetBrains Mono" pitchFamily="49" charset="-122"/>
                <a:cs typeface="JetBrains Mono" pitchFamily="49" charset="-120"/>
              </a:rPr>
              <a:t>27</a:t>
            </a:r>
            <a:endParaRPr lang="en-US" sz="1400" dirty="0"/>
          </a:p>
        </p:txBody>
      </p:sp>
      <p:sp>
        <p:nvSpPr>
          <p:cNvPr id="56" name="Text 53"/>
          <p:cNvSpPr/>
          <p:nvPr/>
        </p:nvSpPr>
        <p:spPr>
          <a:xfrm>
            <a:off x="9531548" y="2925911"/>
            <a:ext cx="533400" cy="533400"/>
          </a:xfrm>
          <a:prstGeom prst="rect">
            <a:avLst/>
          </a:prstGeom>
          <a:solidFill>
            <a:srgbClr val="B8501F"/>
          </a:solidFill>
          <a:ln/>
        </p:spPr>
        <p:txBody>
          <a:bodyPr wrap="square" lIns="0" tIns="0" rIns="0" bIns="0" rtlCol="0" anchor="t">
            <a:normAutofit/>
          </a:bodyPr>
          <a:lstStyle/>
          <a:p>
            <a:pPr algn="ctr" indent="0" marL="0">
              <a:lnSpc>
                <a:spcPts val="4200"/>
              </a:lnSpc>
              <a:buNone/>
            </a:pPr>
            <a:r>
              <a:rPr lang="en-US" sz="1400" b="1" dirty="0">
                <a:solidFill>
                  <a:srgbClr val="FFFDF8"/>
                </a:solidFill>
                <a:latin typeface="JetBrains Mono" pitchFamily="49" charset="0"/>
                <a:ea typeface="JetBrains Mono" pitchFamily="49" charset="-122"/>
                <a:cs typeface="JetBrains Mono" pitchFamily="49" charset="-120"/>
              </a:rPr>
              <a:t>27</a:t>
            </a:r>
            <a:endParaRPr lang="en-US" sz="1400" dirty="0"/>
          </a:p>
        </p:txBody>
      </p:sp>
      <p:sp>
        <p:nvSpPr>
          <p:cNvPr id="57" name="Text 54"/>
          <p:cNvSpPr/>
          <p:nvPr/>
        </p:nvSpPr>
        <p:spPr>
          <a:xfrm>
            <a:off x="10103048" y="2925911"/>
            <a:ext cx="533400" cy="533400"/>
          </a:xfrm>
          <a:prstGeom prst="rect">
            <a:avLst/>
          </a:prstGeom>
          <a:solidFill>
            <a:srgbClr val="2B5FA6"/>
          </a:solidFill>
          <a:ln/>
        </p:spPr>
        <p:txBody>
          <a:bodyPr wrap="square" lIns="0" tIns="0" rIns="0" bIns="0" rtlCol="0" anchor="t">
            <a:normAutofit/>
          </a:bodyPr>
          <a:lstStyle/>
          <a:p>
            <a:pPr algn="ctr" indent="0" marL="0">
              <a:lnSpc>
                <a:spcPts val="4200"/>
              </a:lnSpc>
              <a:buNone/>
            </a:pPr>
            <a:r>
              <a:rPr lang="en-US" sz="1400" b="1" dirty="0">
                <a:solidFill>
                  <a:srgbClr val="FFFDF8"/>
                </a:solidFill>
                <a:latin typeface="JetBrains Mono" pitchFamily="49" charset="0"/>
                <a:ea typeface="JetBrains Mono" pitchFamily="49" charset="-122"/>
                <a:cs typeface="JetBrains Mono" pitchFamily="49" charset="-120"/>
              </a:rPr>
              <a:t>−27</a:t>
            </a:r>
            <a:endParaRPr lang="en-US" sz="1400" dirty="0"/>
          </a:p>
        </p:txBody>
      </p:sp>
      <p:sp>
        <p:nvSpPr>
          <p:cNvPr id="58" name="Text 55"/>
          <p:cNvSpPr/>
          <p:nvPr/>
        </p:nvSpPr>
        <p:spPr>
          <a:xfrm>
            <a:off x="10674548" y="2925911"/>
            <a:ext cx="533400" cy="533400"/>
          </a:xfrm>
          <a:prstGeom prst="rect">
            <a:avLst/>
          </a:prstGeom>
          <a:solidFill>
            <a:srgbClr val="2B5FA6"/>
          </a:solidFill>
          <a:ln/>
        </p:spPr>
        <p:txBody>
          <a:bodyPr wrap="square" lIns="0" tIns="0" rIns="0" bIns="0" rtlCol="0" anchor="t">
            <a:normAutofit/>
          </a:bodyPr>
          <a:lstStyle/>
          <a:p>
            <a:pPr algn="ctr" indent="0" marL="0">
              <a:lnSpc>
                <a:spcPts val="4200"/>
              </a:lnSpc>
              <a:buNone/>
            </a:pPr>
            <a:r>
              <a:rPr lang="en-US" sz="1400" b="1" dirty="0">
                <a:solidFill>
                  <a:srgbClr val="FFFDF8"/>
                </a:solidFill>
                <a:latin typeface="JetBrains Mono" pitchFamily="49" charset="0"/>
                <a:ea typeface="JetBrains Mono" pitchFamily="49" charset="-122"/>
                <a:cs typeface="JetBrains Mono" pitchFamily="49" charset="-120"/>
              </a:rPr>
              <a:t>−27</a:t>
            </a:r>
            <a:endParaRPr lang="en-US" sz="1400" dirty="0"/>
          </a:p>
        </p:txBody>
      </p:sp>
      <p:sp>
        <p:nvSpPr>
          <p:cNvPr id="59" name="Text 56"/>
          <p:cNvSpPr/>
          <p:nvPr/>
        </p:nvSpPr>
        <p:spPr>
          <a:xfrm>
            <a:off x="8960048" y="3497411"/>
            <a:ext cx="533400" cy="533400"/>
          </a:xfrm>
          <a:prstGeom prst="rect">
            <a:avLst/>
          </a:prstGeom>
          <a:solidFill>
            <a:srgbClr val="B8501F"/>
          </a:solidFill>
          <a:ln/>
        </p:spPr>
        <p:txBody>
          <a:bodyPr wrap="square" lIns="0" tIns="0" rIns="0" bIns="0" rtlCol="0" anchor="t">
            <a:normAutofit/>
          </a:bodyPr>
          <a:lstStyle/>
          <a:p>
            <a:pPr algn="ctr" indent="0" marL="0">
              <a:lnSpc>
                <a:spcPts val="4200"/>
              </a:lnSpc>
              <a:buNone/>
            </a:pPr>
            <a:r>
              <a:rPr lang="en-US" sz="1400" b="1" dirty="0">
                <a:solidFill>
                  <a:srgbClr val="FFFDF8"/>
                </a:solidFill>
                <a:latin typeface="JetBrains Mono" pitchFamily="49" charset="0"/>
                <a:ea typeface="JetBrains Mono" pitchFamily="49" charset="-122"/>
                <a:cs typeface="JetBrains Mono" pitchFamily="49" charset="-120"/>
              </a:rPr>
              <a:t>27</a:t>
            </a:r>
            <a:endParaRPr lang="en-US" sz="1400" dirty="0"/>
          </a:p>
        </p:txBody>
      </p:sp>
      <p:sp>
        <p:nvSpPr>
          <p:cNvPr id="60" name="Text 57"/>
          <p:cNvSpPr/>
          <p:nvPr/>
        </p:nvSpPr>
        <p:spPr>
          <a:xfrm>
            <a:off x="9531548" y="3497411"/>
            <a:ext cx="533400" cy="533400"/>
          </a:xfrm>
          <a:prstGeom prst="rect">
            <a:avLst/>
          </a:prstGeom>
          <a:solidFill>
            <a:srgbClr val="B8501F"/>
          </a:solidFill>
          <a:ln/>
        </p:spPr>
        <p:txBody>
          <a:bodyPr wrap="square" lIns="0" tIns="0" rIns="0" bIns="0" rtlCol="0" anchor="t">
            <a:normAutofit/>
          </a:bodyPr>
          <a:lstStyle/>
          <a:p>
            <a:pPr algn="ctr" indent="0" marL="0">
              <a:lnSpc>
                <a:spcPts val="4200"/>
              </a:lnSpc>
              <a:buNone/>
            </a:pPr>
            <a:r>
              <a:rPr lang="en-US" sz="1400" b="1" dirty="0">
                <a:solidFill>
                  <a:srgbClr val="FFFDF8"/>
                </a:solidFill>
                <a:latin typeface="JetBrains Mono" pitchFamily="49" charset="0"/>
                <a:ea typeface="JetBrains Mono" pitchFamily="49" charset="-122"/>
                <a:cs typeface="JetBrains Mono" pitchFamily="49" charset="-120"/>
              </a:rPr>
              <a:t>27</a:t>
            </a:r>
            <a:endParaRPr lang="en-US" sz="1400" dirty="0"/>
          </a:p>
        </p:txBody>
      </p:sp>
      <p:sp>
        <p:nvSpPr>
          <p:cNvPr id="61" name="Text 58"/>
          <p:cNvSpPr/>
          <p:nvPr/>
        </p:nvSpPr>
        <p:spPr>
          <a:xfrm>
            <a:off x="10103048" y="3497411"/>
            <a:ext cx="533400" cy="533400"/>
          </a:xfrm>
          <a:prstGeom prst="rect">
            <a:avLst/>
          </a:prstGeom>
          <a:solidFill>
            <a:srgbClr val="2B5FA6"/>
          </a:solidFill>
          <a:ln/>
        </p:spPr>
        <p:txBody>
          <a:bodyPr wrap="square" lIns="0" tIns="0" rIns="0" bIns="0" rtlCol="0" anchor="t">
            <a:normAutofit/>
          </a:bodyPr>
          <a:lstStyle/>
          <a:p>
            <a:pPr algn="ctr" indent="0" marL="0">
              <a:lnSpc>
                <a:spcPts val="4200"/>
              </a:lnSpc>
              <a:buNone/>
            </a:pPr>
            <a:r>
              <a:rPr lang="en-US" sz="1400" b="1" dirty="0">
                <a:solidFill>
                  <a:srgbClr val="FFFDF8"/>
                </a:solidFill>
                <a:latin typeface="JetBrains Mono" pitchFamily="49" charset="0"/>
                <a:ea typeface="JetBrains Mono" pitchFamily="49" charset="-122"/>
                <a:cs typeface="JetBrains Mono" pitchFamily="49" charset="-120"/>
              </a:rPr>
              <a:t>−27</a:t>
            </a:r>
            <a:endParaRPr lang="en-US" sz="1400" dirty="0"/>
          </a:p>
        </p:txBody>
      </p:sp>
      <p:sp>
        <p:nvSpPr>
          <p:cNvPr id="62" name="Text 59"/>
          <p:cNvSpPr/>
          <p:nvPr/>
        </p:nvSpPr>
        <p:spPr>
          <a:xfrm>
            <a:off x="10674548" y="3497411"/>
            <a:ext cx="533400" cy="533400"/>
          </a:xfrm>
          <a:prstGeom prst="rect">
            <a:avLst/>
          </a:prstGeom>
          <a:solidFill>
            <a:srgbClr val="2B5FA6"/>
          </a:solidFill>
          <a:ln/>
        </p:spPr>
        <p:txBody>
          <a:bodyPr wrap="square" lIns="0" tIns="0" rIns="0" bIns="0" rtlCol="0" anchor="t">
            <a:normAutofit/>
          </a:bodyPr>
          <a:lstStyle/>
          <a:p>
            <a:pPr algn="ctr" indent="0" marL="0">
              <a:lnSpc>
                <a:spcPts val="4200"/>
              </a:lnSpc>
              <a:buNone/>
            </a:pPr>
            <a:r>
              <a:rPr lang="en-US" sz="1400" b="1" dirty="0">
                <a:solidFill>
                  <a:srgbClr val="FFFDF8"/>
                </a:solidFill>
                <a:latin typeface="JetBrains Mono" pitchFamily="49" charset="0"/>
                <a:ea typeface="JetBrains Mono" pitchFamily="49" charset="-122"/>
                <a:cs typeface="JetBrains Mono" pitchFamily="49" charset="-120"/>
              </a:rPr>
              <a:t>−27</a:t>
            </a:r>
            <a:endParaRPr lang="en-US" sz="1400" dirty="0"/>
          </a:p>
        </p:txBody>
      </p:sp>
      <p:sp>
        <p:nvSpPr>
          <p:cNvPr id="63" name="Text 60"/>
          <p:cNvSpPr/>
          <p:nvPr/>
        </p:nvSpPr>
        <p:spPr>
          <a:xfrm>
            <a:off x="8960048" y="4068911"/>
            <a:ext cx="533400" cy="533400"/>
          </a:xfrm>
          <a:prstGeom prst="rect">
            <a:avLst/>
          </a:prstGeom>
          <a:solidFill>
            <a:srgbClr val="B8501F"/>
          </a:solidFill>
          <a:ln/>
        </p:spPr>
        <p:txBody>
          <a:bodyPr wrap="square" lIns="0" tIns="0" rIns="0" bIns="0" rtlCol="0" anchor="t">
            <a:normAutofit/>
          </a:bodyPr>
          <a:lstStyle/>
          <a:p>
            <a:pPr algn="ctr" indent="0" marL="0">
              <a:lnSpc>
                <a:spcPts val="4200"/>
              </a:lnSpc>
              <a:buNone/>
            </a:pPr>
            <a:r>
              <a:rPr lang="en-US" sz="1400" b="1" dirty="0">
                <a:solidFill>
                  <a:srgbClr val="FFFDF8"/>
                </a:solidFill>
                <a:latin typeface="JetBrains Mono" pitchFamily="49" charset="0"/>
                <a:ea typeface="JetBrains Mono" pitchFamily="49" charset="-122"/>
                <a:cs typeface="JetBrains Mono" pitchFamily="49" charset="-120"/>
              </a:rPr>
              <a:t>27</a:t>
            </a:r>
            <a:endParaRPr lang="en-US" sz="1400" dirty="0"/>
          </a:p>
        </p:txBody>
      </p:sp>
      <p:sp>
        <p:nvSpPr>
          <p:cNvPr id="64" name="Text 61"/>
          <p:cNvSpPr/>
          <p:nvPr/>
        </p:nvSpPr>
        <p:spPr>
          <a:xfrm>
            <a:off x="9531548" y="4068911"/>
            <a:ext cx="533400" cy="533400"/>
          </a:xfrm>
          <a:prstGeom prst="rect">
            <a:avLst/>
          </a:prstGeom>
          <a:solidFill>
            <a:srgbClr val="B8501F"/>
          </a:solidFill>
          <a:ln/>
        </p:spPr>
        <p:txBody>
          <a:bodyPr wrap="square" lIns="0" tIns="0" rIns="0" bIns="0" rtlCol="0" anchor="t">
            <a:normAutofit/>
          </a:bodyPr>
          <a:lstStyle/>
          <a:p>
            <a:pPr algn="ctr" indent="0" marL="0">
              <a:lnSpc>
                <a:spcPts val="4200"/>
              </a:lnSpc>
              <a:buNone/>
            </a:pPr>
            <a:r>
              <a:rPr lang="en-US" sz="1400" b="1" dirty="0">
                <a:solidFill>
                  <a:srgbClr val="FFFDF8"/>
                </a:solidFill>
                <a:latin typeface="JetBrains Mono" pitchFamily="49" charset="0"/>
                <a:ea typeface="JetBrains Mono" pitchFamily="49" charset="-122"/>
                <a:cs typeface="JetBrains Mono" pitchFamily="49" charset="-120"/>
              </a:rPr>
              <a:t>27</a:t>
            </a:r>
            <a:endParaRPr lang="en-US" sz="1400" dirty="0"/>
          </a:p>
        </p:txBody>
      </p:sp>
      <p:sp>
        <p:nvSpPr>
          <p:cNvPr id="65" name="Text 62"/>
          <p:cNvSpPr/>
          <p:nvPr/>
        </p:nvSpPr>
        <p:spPr>
          <a:xfrm>
            <a:off x="10103048" y="4068911"/>
            <a:ext cx="533400" cy="533400"/>
          </a:xfrm>
          <a:prstGeom prst="rect">
            <a:avLst/>
          </a:prstGeom>
          <a:solidFill>
            <a:srgbClr val="2B5FA6"/>
          </a:solidFill>
          <a:ln/>
        </p:spPr>
        <p:txBody>
          <a:bodyPr wrap="square" lIns="0" tIns="0" rIns="0" bIns="0" rtlCol="0" anchor="t">
            <a:normAutofit/>
          </a:bodyPr>
          <a:lstStyle/>
          <a:p>
            <a:pPr algn="ctr" indent="0" marL="0">
              <a:lnSpc>
                <a:spcPts val="4200"/>
              </a:lnSpc>
              <a:buNone/>
            </a:pPr>
            <a:r>
              <a:rPr lang="en-US" sz="1400" b="1" dirty="0">
                <a:solidFill>
                  <a:srgbClr val="FFFDF8"/>
                </a:solidFill>
                <a:latin typeface="JetBrains Mono" pitchFamily="49" charset="0"/>
                <a:ea typeface="JetBrains Mono" pitchFamily="49" charset="-122"/>
                <a:cs typeface="JetBrains Mono" pitchFamily="49" charset="-120"/>
              </a:rPr>
              <a:t>−27</a:t>
            </a:r>
            <a:endParaRPr lang="en-US" sz="1400" dirty="0"/>
          </a:p>
        </p:txBody>
      </p:sp>
      <p:sp>
        <p:nvSpPr>
          <p:cNvPr id="66" name="Text 63"/>
          <p:cNvSpPr/>
          <p:nvPr/>
        </p:nvSpPr>
        <p:spPr>
          <a:xfrm>
            <a:off x="10674548" y="4068911"/>
            <a:ext cx="533400" cy="533400"/>
          </a:xfrm>
          <a:prstGeom prst="rect">
            <a:avLst/>
          </a:prstGeom>
          <a:solidFill>
            <a:srgbClr val="2B5FA6"/>
          </a:solidFill>
          <a:ln/>
        </p:spPr>
        <p:txBody>
          <a:bodyPr wrap="square" lIns="0" tIns="0" rIns="0" bIns="0" rtlCol="0" anchor="t">
            <a:normAutofit/>
          </a:bodyPr>
          <a:lstStyle/>
          <a:p>
            <a:pPr algn="ctr" indent="0" marL="0">
              <a:lnSpc>
                <a:spcPts val="4200"/>
              </a:lnSpc>
              <a:buNone/>
            </a:pPr>
            <a:r>
              <a:rPr lang="en-US" sz="1400" b="1" dirty="0">
                <a:solidFill>
                  <a:srgbClr val="FFFDF8"/>
                </a:solidFill>
                <a:latin typeface="JetBrains Mono" pitchFamily="49" charset="0"/>
                <a:ea typeface="JetBrains Mono" pitchFamily="49" charset="-122"/>
                <a:cs typeface="JetBrains Mono" pitchFamily="49" charset="-120"/>
              </a:rPr>
              <a:t>−27</a:t>
            </a:r>
            <a:endParaRPr lang="en-US" sz="1400" dirty="0"/>
          </a:p>
        </p:txBody>
      </p:sp>
      <p:sp>
        <p:nvSpPr>
          <p:cNvPr id="67" name="Text 64"/>
          <p:cNvSpPr/>
          <p:nvPr/>
        </p:nvSpPr>
        <p:spPr>
          <a:xfrm>
            <a:off x="8960048" y="4691211"/>
            <a:ext cx="249172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501F"/>
                </a:solidFill>
                <a:latin typeface="DM Sans" pitchFamily="34" charset="0"/>
                <a:ea typeface="DM Sans" pitchFamily="34" charset="-122"/>
                <a:cs typeface="DM Sans" pitchFamily="34" charset="-120"/>
              </a:rPr>
              <a:t>27</a:t>
            </a:r>
            <a:r>
              <a:rPr lang="en-US" sz="1300" dirty="0">
                <a:solidFill>
                  <a:srgbClr val="1B2430"/>
                </a:solidFill>
                <a:latin typeface="DM Sans" pitchFamily="34" charset="0"/>
                <a:ea typeface="DM Sans" pitchFamily="34" charset="-122"/>
                <a:cs typeface="DM Sans" pitchFamily="34" charset="-120"/>
              </a:rPr>
              <a:t> = ink starts (left edge)</a:t>
            </a:r>
            <a:endParaRPr lang="en-US" sz="1300" dirty="0"/>
          </a:p>
        </p:txBody>
      </p:sp>
      <p:sp>
        <p:nvSpPr>
          <p:cNvPr id="68" name="Text 65"/>
          <p:cNvSpPr/>
          <p:nvPr/>
        </p:nvSpPr>
        <p:spPr>
          <a:xfrm>
            <a:off x="8960048" y="5011241"/>
            <a:ext cx="249172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B5FA6"/>
                </a:solidFill>
                <a:latin typeface="DM Sans" pitchFamily="34" charset="0"/>
                <a:ea typeface="DM Sans" pitchFamily="34" charset="-122"/>
                <a:cs typeface="DM Sans" pitchFamily="34" charset="-120"/>
              </a:rPr>
              <a:t>−27</a:t>
            </a:r>
            <a:r>
              <a:rPr lang="en-US" sz="1300" dirty="0">
                <a:solidFill>
                  <a:srgbClr val="1B2430"/>
                </a:solidFill>
                <a:latin typeface="DM Sans" pitchFamily="34" charset="0"/>
                <a:ea typeface="DM Sans" pitchFamily="34" charset="-122"/>
                <a:cs typeface="DM Sans" pitchFamily="34" charset="-120"/>
              </a:rPr>
              <a:t> = ink ends (right edge)</a:t>
            </a:r>
            <a:endParaRPr lang="en-US" sz="1300" dirty="0"/>
          </a:p>
        </p:txBody>
      </p:sp>
      <p:sp>
        <p:nvSpPr>
          <p:cNvPr id="69" name="Text 66"/>
          <p:cNvSpPr/>
          <p:nvPr/>
        </p:nvSpPr>
        <p:spPr>
          <a:xfrm>
            <a:off x="8960048" y="5331271"/>
            <a:ext cx="2419152" cy="332730"/>
          </a:xfrm>
          <a:prstGeom prst="roundRect">
            <a:avLst>
              <a:gd name="adj" fmla="val 19085"/>
            </a:avLst>
          </a:prstGeom>
          <a:solidFill>
            <a:srgbClr val="E8E3D6"/>
          </a:solidFill>
          <a:ln/>
        </p:spPr>
        <p:txBody>
          <a:bodyPr wrap="none" lIns="0" tIns="0" rIns="0" bIns="0" rtlCol="0" anchor="ctr">
            <a:normAutofit/>
          </a:bodyPr>
          <a:lstStyle/>
          <a:p>
            <a:pPr algn="ctr" indent="0" marL="0">
              <a:lnSpc>
                <a:spcPts val="1820"/>
              </a:lnSpc>
              <a:buNone/>
            </a:pPr>
            <a:r>
              <a:rPr lang="en-US" sz="1300" dirty="0">
                <a:solidFill>
                  <a:srgbClr val="1B2430"/>
                </a:solidFill>
                <a:latin typeface="DM Sans" pitchFamily="34" charset="0"/>
                <a:ea typeface="DM Sans" pitchFamily="34" charset="-122"/>
                <a:cs typeface="DM Sans" pitchFamily="34" charset="-120"/>
              </a:rPr>
              <a:t>Size: 6 − 3 + 1 = </a:t>
            </a:r>
            <a:r>
              <a:rPr lang="en-US" sz="1300" b="1" dirty="0">
                <a:solidFill>
                  <a:srgbClr val="1B2430"/>
                </a:solidFill>
                <a:latin typeface="DM Sans" pitchFamily="34" charset="0"/>
                <a:ea typeface="DM Sans" pitchFamily="34" charset="-122"/>
                <a:cs typeface="DM Sans" pitchFamily="34" charset="-120"/>
              </a:rPr>
              <a:t>4</a:t>
            </a:r>
            <a:r>
              <a:rPr lang="en-US" sz="1300" dirty="0">
                <a:solidFill>
                  <a:srgbClr val="1B2430"/>
                </a:solidFill>
                <a:latin typeface="DM Sans" pitchFamily="34" charset="0"/>
                <a:ea typeface="DM Sans" pitchFamily="34" charset="-122"/>
                <a:cs typeface="DM Sans" pitchFamily="34" charset="-120"/>
              </a:rPr>
              <a:t> (automatic)</a:t>
            </a:r>
            <a:endParaRPr lang="en-US" sz="1300" dirty="0"/>
          </a:p>
        </p:txBody>
      </p:sp>
      <p:sp>
        <p:nvSpPr>
          <p:cNvPr id="70" name="Text 6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DM Sans" pitchFamily="34" charset="0"/>
                <a:ea typeface="DM Sans" pitchFamily="34" charset="-122"/>
                <a:cs typeface="DM Sans" pitchFamily="34" charset="-120"/>
              </a:rPr>
              <a:t>CNN step by step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819150" y="412750"/>
            <a:ext cx="1108075" cy="515541"/>
          </a:xfrm>
          <a:prstGeom prst="roundRect">
            <a:avLst>
              <a:gd name="adj" fmla="val 11085"/>
            </a:avLst>
          </a:prstGeom>
          <a:solidFill>
            <a:srgbClr val="E8E3D6"/>
          </a:solidFill>
          <a:ln w="12700">
            <a:solidFill>
              <a:srgbClr val="E8E3D6"/>
            </a:solidFill>
            <a:prstDash val="solid"/>
          </a:ln>
        </p:spPr>
      </p:sp>
      <p:sp>
        <p:nvSpPr>
          <p:cNvPr id="3" name="Text 1"/>
          <p:cNvSpPr/>
          <p:nvPr/>
        </p:nvSpPr>
        <p:spPr>
          <a:xfrm>
            <a:off x="85090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2430"/>
                </a:solidFill>
                <a:latin typeface="DM Sans" pitchFamily="34" charset="0"/>
                <a:ea typeface="DM Sans" pitchFamily="34" charset="-122"/>
                <a:cs typeface="DM Sans" pitchFamily="34" charset="-120"/>
              </a:rPr>
              <a:t>Image</a:t>
            </a:r>
            <a:endParaRPr lang="en-US" sz="1200" dirty="0"/>
          </a:p>
        </p:txBody>
      </p:sp>
      <p:sp>
        <p:nvSpPr>
          <p:cNvPr id="4" name="Text 2"/>
          <p:cNvSpPr/>
          <p:nvPr/>
        </p:nvSpPr>
        <p:spPr>
          <a:xfrm>
            <a:off x="85090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JetBrains Mono" pitchFamily="49" charset="0"/>
                <a:ea typeface="JetBrains Mono" pitchFamily="49" charset="-122"/>
                <a:cs typeface="JetBrains Mono" pitchFamily="49" charset="-120"/>
              </a:rPr>
              <a:t>6×6</a:t>
            </a:r>
            <a:endParaRPr lang="en-US" sz="1200" dirty="0"/>
          </a:p>
        </p:txBody>
      </p:sp>
      <p:sp>
        <p:nvSpPr>
          <p:cNvPr id="5" name="Text 3"/>
          <p:cNvSpPr/>
          <p:nvPr/>
        </p:nvSpPr>
        <p:spPr>
          <a:xfrm>
            <a:off x="197167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6" name="Shape 4"/>
          <p:cNvSpPr/>
          <p:nvPr/>
        </p:nvSpPr>
        <p:spPr>
          <a:xfrm>
            <a:off x="2168525" y="412750"/>
            <a:ext cx="1108075" cy="515541"/>
          </a:xfrm>
          <a:prstGeom prst="roundRect">
            <a:avLst>
              <a:gd name="adj" fmla="val 11085"/>
            </a:avLst>
          </a:prstGeom>
          <a:solidFill>
            <a:srgbClr val="B8501F"/>
          </a:solidFill>
          <a:ln w="12700">
            <a:solidFill>
              <a:srgbClr val="B8501F"/>
            </a:solidFill>
            <a:prstDash val="solid"/>
          </a:ln>
        </p:spPr>
      </p:sp>
      <p:sp>
        <p:nvSpPr>
          <p:cNvPr id="7" name="Text 5"/>
          <p:cNvSpPr/>
          <p:nvPr/>
        </p:nvSpPr>
        <p:spPr>
          <a:xfrm>
            <a:off x="220027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FFDF8"/>
                </a:solidFill>
                <a:latin typeface="DM Sans" pitchFamily="34" charset="0"/>
                <a:ea typeface="DM Sans" pitchFamily="34" charset="-122"/>
                <a:cs typeface="DM Sans" pitchFamily="34" charset="-120"/>
              </a:rPr>
              <a:t>Conv</a:t>
            </a:r>
            <a:endParaRPr lang="en-US" sz="1200" dirty="0"/>
          </a:p>
        </p:txBody>
      </p:sp>
      <p:sp>
        <p:nvSpPr>
          <p:cNvPr id="8" name="Text 6"/>
          <p:cNvSpPr/>
          <p:nvPr/>
        </p:nvSpPr>
        <p:spPr>
          <a:xfrm>
            <a:off x="220027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FFDF8"/>
                </a:solidFill>
                <a:latin typeface="JetBrains Mono" pitchFamily="49" charset="0"/>
                <a:ea typeface="JetBrains Mono" pitchFamily="49" charset="-122"/>
                <a:cs typeface="JetBrains Mono" pitchFamily="49" charset="-120"/>
              </a:rPr>
              <a:t>4×4</a:t>
            </a:r>
            <a:endParaRPr lang="en-US" sz="1200" dirty="0"/>
          </a:p>
        </p:txBody>
      </p:sp>
      <p:sp>
        <p:nvSpPr>
          <p:cNvPr id="9" name="Text 7"/>
          <p:cNvSpPr/>
          <p:nvPr/>
        </p:nvSpPr>
        <p:spPr>
          <a:xfrm>
            <a:off x="3321050"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10" name="Shape 8"/>
          <p:cNvSpPr/>
          <p:nvPr/>
        </p:nvSpPr>
        <p:spPr>
          <a:xfrm>
            <a:off x="3517900" y="412750"/>
            <a:ext cx="1108075" cy="515541"/>
          </a:xfrm>
          <a:prstGeom prst="roundRect">
            <a:avLst>
              <a:gd name="adj" fmla="val 11085"/>
            </a:avLst>
          </a:prstGeom>
          <a:noFill/>
          <a:ln w="12700">
            <a:solidFill>
              <a:srgbClr val="D8D4C8"/>
            </a:solidFill>
            <a:prstDash val="solid"/>
          </a:ln>
        </p:spPr>
      </p:sp>
      <p:sp>
        <p:nvSpPr>
          <p:cNvPr id="11" name="Text 9"/>
          <p:cNvSpPr/>
          <p:nvPr/>
        </p:nvSpPr>
        <p:spPr>
          <a:xfrm>
            <a:off x="354965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ReLU</a:t>
            </a:r>
            <a:endParaRPr lang="en-US" sz="1200" dirty="0"/>
          </a:p>
        </p:txBody>
      </p:sp>
      <p:sp>
        <p:nvSpPr>
          <p:cNvPr id="12" name="Text 10"/>
          <p:cNvSpPr/>
          <p:nvPr/>
        </p:nvSpPr>
        <p:spPr>
          <a:xfrm>
            <a:off x="354965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4×4</a:t>
            </a:r>
            <a:endParaRPr lang="en-US" sz="1200" dirty="0"/>
          </a:p>
        </p:txBody>
      </p:sp>
      <p:sp>
        <p:nvSpPr>
          <p:cNvPr id="13" name="Text 11"/>
          <p:cNvSpPr/>
          <p:nvPr/>
        </p:nvSpPr>
        <p:spPr>
          <a:xfrm>
            <a:off x="467042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14" name="Shape 12"/>
          <p:cNvSpPr/>
          <p:nvPr/>
        </p:nvSpPr>
        <p:spPr>
          <a:xfrm>
            <a:off x="4867275" y="412750"/>
            <a:ext cx="1108075" cy="515541"/>
          </a:xfrm>
          <a:prstGeom prst="roundRect">
            <a:avLst>
              <a:gd name="adj" fmla="val 11085"/>
            </a:avLst>
          </a:prstGeom>
          <a:noFill/>
          <a:ln w="12700">
            <a:solidFill>
              <a:srgbClr val="D8D4C8"/>
            </a:solidFill>
            <a:prstDash val="solid"/>
          </a:ln>
        </p:spPr>
      </p:sp>
      <p:sp>
        <p:nvSpPr>
          <p:cNvPr id="15" name="Text 13"/>
          <p:cNvSpPr/>
          <p:nvPr/>
        </p:nvSpPr>
        <p:spPr>
          <a:xfrm>
            <a:off x="489902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Pool</a:t>
            </a:r>
            <a:endParaRPr lang="en-US" sz="1200" dirty="0"/>
          </a:p>
        </p:txBody>
      </p:sp>
      <p:sp>
        <p:nvSpPr>
          <p:cNvPr id="16" name="Text 14"/>
          <p:cNvSpPr/>
          <p:nvPr/>
        </p:nvSpPr>
        <p:spPr>
          <a:xfrm>
            <a:off x="489902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2×2</a:t>
            </a:r>
            <a:endParaRPr lang="en-US" sz="1200" dirty="0"/>
          </a:p>
        </p:txBody>
      </p:sp>
      <p:sp>
        <p:nvSpPr>
          <p:cNvPr id="17" name="Text 15"/>
          <p:cNvSpPr/>
          <p:nvPr/>
        </p:nvSpPr>
        <p:spPr>
          <a:xfrm>
            <a:off x="6019800"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18" name="Shape 16"/>
          <p:cNvSpPr/>
          <p:nvPr/>
        </p:nvSpPr>
        <p:spPr>
          <a:xfrm>
            <a:off x="6216650" y="412750"/>
            <a:ext cx="1108075" cy="515541"/>
          </a:xfrm>
          <a:prstGeom prst="roundRect">
            <a:avLst>
              <a:gd name="adj" fmla="val 11085"/>
            </a:avLst>
          </a:prstGeom>
          <a:noFill/>
          <a:ln w="12700">
            <a:solidFill>
              <a:srgbClr val="D8D4C8"/>
            </a:solidFill>
            <a:prstDash val="solid"/>
          </a:ln>
        </p:spPr>
      </p:sp>
      <p:sp>
        <p:nvSpPr>
          <p:cNvPr id="19" name="Text 17"/>
          <p:cNvSpPr/>
          <p:nvPr/>
        </p:nvSpPr>
        <p:spPr>
          <a:xfrm>
            <a:off x="624840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Flatten</a:t>
            </a:r>
            <a:endParaRPr lang="en-US" sz="1200" dirty="0"/>
          </a:p>
        </p:txBody>
      </p:sp>
      <p:sp>
        <p:nvSpPr>
          <p:cNvPr id="20" name="Text 18"/>
          <p:cNvSpPr/>
          <p:nvPr/>
        </p:nvSpPr>
        <p:spPr>
          <a:xfrm>
            <a:off x="624840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4 nums</a:t>
            </a:r>
            <a:endParaRPr lang="en-US" sz="1200" dirty="0"/>
          </a:p>
        </p:txBody>
      </p:sp>
      <p:sp>
        <p:nvSpPr>
          <p:cNvPr id="21" name="Text 19"/>
          <p:cNvSpPr/>
          <p:nvPr/>
        </p:nvSpPr>
        <p:spPr>
          <a:xfrm>
            <a:off x="736917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22" name="Shape 20"/>
          <p:cNvSpPr/>
          <p:nvPr/>
        </p:nvSpPr>
        <p:spPr>
          <a:xfrm>
            <a:off x="7566025" y="412750"/>
            <a:ext cx="1108075" cy="515541"/>
          </a:xfrm>
          <a:prstGeom prst="roundRect">
            <a:avLst>
              <a:gd name="adj" fmla="val 11085"/>
            </a:avLst>
          </a:prstGeom>
          <a:noFill/>
          <a:ln w="12700">
            <a:solidFill>
              <a:srgbClr val="D8D4C8"/>
            </a:solidFill>
            <a:prstDash val="solid"/>
          </a:ln>
        </p:spPr>
      </p:sp>
      <p:sp>
        <p:nvSpPr>
          <p:cNvPr id="23" name="Text 21"/>
          <p:cNvSpPr/>
          <p:nvPr/>
        </p:nvSpPr>
        <p:spPr>
          <a:xfrm>
            <a:off x="759777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Dense</a:t>
            </a:r>
            <a:endParaRPr lang="en-US" sz="1200" dirty="0"/>
          </a:p>
        </p:txBody>
      </p:sp>
      <p:sp>
        <p:nvSpPr>
          <p:cNvPr id="24" name="Text 22"/>
          <p:cNvSpPr/>
          <p:nvPr/>
        </p:nvSpPr>
        <p:spPr>
          <a:xfrm>
            <a:off x="759777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3 scores</a:t>
            </a:r>
            <a:endParaRPr lang="en-US" sz="1200" dirty="0"/>
          </a:p>
        </p:txBody>
      </p:sp>
      <p:sp>
        <p:nvSpPr>
          <p:cNvPr id="25" name="Text 23"/>
          <p:cNvSpPr/>
          <p:nvPr/>
        </p:nvSpPr>
        <p:spPr>
          <a:xfrm>
            <a:off x="8718550"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26" name="Shape 24"/>
          <p:cNvSpPr/>
          <p:nvPr/>
        </p:nvSpPr>
        <p:spPr>
          <a:xfrm>
            <a:off x="8915400" y="412750"/>
            <a:ext cx="1108075" cy="515541"/>
          </a:xfrm>
          <a:prstGeom prst="roundRect">
            <a:avLst>
              <a:gd name="adj" fmla="val 11085"/>
            </a:avLst>
          </a:prstGeom>
          <a:noFill/>
          <a:ln w="12700">
            <a:solidFill>
              <a:srgbClr val="D8D4C8"/>
            </a:solidFill>
            <a:prstDash val="solid"/>
          </a:ln>
        </p:spPr>
      </p:sp>
      <p:sp>
        <p:nvSpPr>
          <p:cNvPr id="27" name="Text 25"/>
          <p:cNvSpPr/>
          <p:nvPr/>
        </p:nvSpPr>
        <p:spPr>
          <a:xfrm>
            <a:off x="894715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Softmax</a:t>
            </a:r>
            <a:endParaRPr lang="en-US" sz="1200" dirty="0"/>
          </a:p>
        </p:txBody>
      </p:sp>
      <p:sp>
        <p:nvSpPr>
          <p:cNvPr id="28" name="Text 26"/>
          <p:cNvSpPr/>
          <p:nvPr/>
        </p:nvSpPr>
        <p:spPr>
          <a:xfrm>
            <a:off x="894715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3 chances</a:t>
            </a:r>
            <a:endParaRPr lang="en-US" sz="1200" dirty="0"/>
          </a:p>
        </p:txBody>
      </p:sp>
      <p:sp>
        <p:nvSpPr>
          <p:cNvPr id="29" name="Text 27"/>
          <p:cNvSpPr/>
          <p:nvPr/>
        </p:nvSpPr>
        <p:spPr>
          <a:xfrm>
            <a:off x="1006792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30" name="Shape 28"/>
          <p:cNvSpPr/>
          <p:nvPr/>
        </p:nvSpPr>
        <p:spPr>
          <a:xfrm>
            <a:off x="10264775" y="412750"/>
            <a:ext cx="1108075" cy="515541"/>
          </a:xfrm>
          <a:prstGeom prst="roundRect">
            <a:avLst>
              <a:gd name="adj" fmla="val 11085"/>
            </a:avLst>
          </a:prstGeom>
          <a:noFill/>
          <a:ln w="12700">
            <a:solidFill>
              <a:srgbClr val="D8D4C8"/>
            </a:solidFill>
            <a:prstDash val="solid"/>
          </a:ln>
        </p:spPr>
      </p:sp>
      <p:sp>
        <p:nvSpPr>
          <p:cNvPr id="31" name="Text 29"/>
          <p:cNvSpPr/>
          <p:nvPr/>
        </p:nvSpPr>
        <p:spPr>
          <a:xfrm>
            <a:off x="1029652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Answer</a:t>
            </a:r>
            <a:endParaRPr lang="en-US" sz="1200" dirty="0"/>
          </a:p>
        </p:txBody>
      </p:sp>
      <p:sp>
        <p:nvSpPr>
          <p:cNvPr id="32" name="Text 30"/>
          <p:cNvSpPr/>
          <p:nvPr/>
        </p:nvSpPr>
        <p:spPr>
          <a:xfrm>
            <a:off x="1029652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“1”</a:t>
            </a:r>
            <a:endParaRPr lang="en-US" sz="1200" dirty="0"/>
          </a:p>
        </p:txBody>
      </p:sp>
      <p:sp>
        <p:nvSpPr>
          <p:cNvPr id="33" name="Text 31"/>
          <p:cNvSpPr/>
          <p:nvPr/>
        </p:nvSpPr>
        <p:spPr>
          <a:xfrm>
            <a:off x="812800" y="113784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501F"/>
                </a:solidFill>
                <a:latin typeface="DM Sans" pitchFamily="34" charset="0"/>
                <a:ea typeface="DM Sans" pitchFamily="34" charset="-122"/>
                <a:cs typeface="DM Sans" pitchFamily="34" charset="-120"/>
              </a:rPr>
              <a:t>STEP 2 · SIDE NOTE: TWO SETTINGS</a:t>
            </a:r>
            <a:endParaRPr lang="en-US" sz="1200" dirty="0"/>
          </a:p>
        </p:txBody>
      </p:sp>
      <p:sp>
        <p:nvSpPr>
          <p:cNvPr id="34" name="Text 32"/>
          <p:cNvSpPr/>
          <p:nvPr>
            <p:ph type="title"/>
          </p:nvPr>
        </p:nvSpPr>
        <p:spPr>
          <a:xfrm>
            <a:off x="812800" y="1401961"/>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430"/>
                </a:solidFill>
                <a:latin typeface="DM Sans" pitchFamily="34" charset="0"/>
                <a:ea typeface="DM Sans" pitchFamily="34" charset="-122"/>
                <a:cs typeface="DM Sans" pitchFamily="34" charset="-120"/>
              </a:rPr>
              <a:t>Stride and padding change the output size</a:t>
            </a:r>
            <a:endParaRPr lang="en-US" sz="3200" dirty="0"/>
          </a:p>
        </p:txBody>
      </p:sp>
      <p:sp>
        <p:nvSpPr>
          <p:cNvPr id="35" name="Shape 33"/>
          <p:cNvSpPr/>
          <p:nvPr/>
        </p:nvSpPr>
        <p:spPr>
          <a:xfrm>
            <a:off x="819150" y="2058541"/>
            <a:ext cx="5168900" cy="2503140"/>
          </a:xfrm>
          <a:prstGeom prst="roundRect">
            <a:avLst>
              <a:gd name="adj" fmla="val 3805"/>
            </a:avLst>
          </a:prstGeom>
          <a:solidFill>
            <a:srgbClr val="FFFDF8"/>
          </a:solidFill>
          <a:ln w="12700">
            <a:solidFill>
              <a:srgbClr val="D8D4C8"/>
            </a:solidFill>
            <a:prstDash val="solid"/>
          </a:ln>
        </p:spPr>
      </p:sp>
      <p:sp>
        <p:nvSpPr>
          <p:cNvPr id="36" name="Text 34"/>
          <p:cNvSpPr/>
          <p:nvPr/>
        </p:nvSpPr>
        <p:spPr>
          <a:xfrm>
            <a:off x="1003300" y="2242691"/>
            <a:ext cx="494461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0"/>
                </a:solidFill>
                <a:latin typeface="DM Sans" pitchFamily="34" charset="0"/>
                <a:ea typeface="DM Sans" pitchFamily="34" charset="-122"/>
                <a:cs typeface="DM Sans" pitchFamily="34" charset="-120"/>
              </a:rPr>
              <a:t>Stride = how far the window jumps</a:t>
            </a:r>
            <a:endParaRPr lang="en-US" sz="1800" dirty="0"/>
          </a:p>
        </p:txBody>
      </p:sp>
      <p:sp>
        <p:nvSpPr>
          <p:cNvPr id="37" name="Text 35"/>
          <p:cNvSpPr/>
          <p:nvPr/>
        </p:nvSpPr>
        <p:spPr>
          <a:xfrm>
            <a:off x="1003300" y="2618581"/>
            <a:ext cx="494461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Stride 1: start at 0, 1, 2, 3 → </a:t>
            </a:r>
            <a:r>
              <a:rPr lang="en-US" sz="1300" b="1" dirty="0">
                <a:solidFill>
                  <a:srgbClr val="4A5568"/>
                </a:solidFill>
                <a:latin typeface="DM Sans" pitchFamily="34" charset="0"/>
                <a:ea typeface="DM Sans" pitchFamily="34" charset="-122"/>
                <a:cs typeface="DM Sans" pitchFamily="34" charset="-120"/>
              </a:rPr>
              <a:t>4</a:t>
            </a:r>
            <a:r>
              <a:rPr lang="en-US" sz="1300" dirty="0">
                <a:solidFill>
                  <a:srgbClr val="4A5568"/>
                </a:solidFill>
                <a:latin typeface="DM Sans" pitchFamily="34" charset="0"/>
                <a:ea typeface="DM Sans" pitchFamily="34" charset="-122"/>
                <a:cs typeface="DM Sans" pitchFamily="34" charset="-120"/>
              </a:rPr>
              <a:t> outputs (ours)</a:t>
            </a:r>
            <a:endParaRPr lang="en-US" sz="1300" dirty="0"/>
          </a:p>
        </p:txBody>
      </p:sp>
      <p:sp>
        <p:nvSpPr>
          <p:cNvPr id="38" name="Text 36"/>
          <p:cNvSpPr/>
          <p:nvPr/>
        </p:nvSpPr>
        <p:spPr>
          <a:xfrm>
            <a:off x="1003300" y="2951311"/>
            <a:ext cx="355600" cy="355054"/>
          </a:xfrm>
          <a:prstGeom prst="rect">
            <a:avLst/>
          </a:prstGeom>
          <a:solidFill>
            <a:srgbClr val="B8501F"/>
          </a:solidFill>
          <a:ln/>
        </p:spPr>
        <p:txBody>
          <a:bodyPr wrap="square" lIns="0" tIns="0" rIns="0" bIns="0" rtlCol="0" anchor="t">
            <a:normAutofit/>
          </a:bodyPr>
          <a:lstStyle/>
          <a:p>
            <a:pPr algn="ctr" indent="0" marL="0">
              <a:lnSpc>
                <a:spcPts val="2796"/>
              </a:lnSpc>
              <a:buNone/>
            </a:pPr>
            <a:r>
              <a:rPr lang="en-US" sz="1200" dirty="0">
                <a:solidFill>
                  <a:srgbClr val="FFFDF8"/>
                </a:solidFill>
                <a:latin typeface="JetBrains Mono" pitchFamily="49" charset="0"/>
                <a:ea typeface="JetBrains Mono" pitchFamily="49" charset="-122"/>
                <a:cs typeface="JetBrains Mono" pitchFamily="49" charset="-120"/>
              </a:rPr>
              <a:t>0</a:t>
            </a:r>
            <a:endParaRPr lang="en-US" sz="1200" dirty="0"/>
          </a:p>
        </p:txBody>
      </p:sp>
      <p:sp>
        <p:nvSpPr>
          <p:cNvPr id="39" name="Text 37"/>
          <p:cNvSpPr/>
          <p:nvPr/>
        </p:nvSpPr>
        <p:spPr>
          <a:xfrm>
            <a:off x="1384300" y="2951311"/>
            <a:ext cx="355600" cy="355054"/>
          </a:xfrm>
          <a:prstGeom prst="rect">
            <a:avLst/>
          </a:prstGeom>
          <a:solidFill>
            <a:srgbClr val="B8501F"/>
          </a:solidFill>
          <a:ln/>
        </p:spPr>
        <p:txBody>
          <a:bodyPr wrap="square" lIns="0" tIns="0" rIns="0" bIns="0" rtlCol="0" anchor="t">
            <a:normAutofit/>
          </a:bodyPr>
          <a:lstStyle/>
          <a:p>
            <a:pPr algn="ctr" indent="0" marL="0">
              <a:lnSpc>
                <a:spcPts val="2796"/>
              </a:lnSpc>
              <a:buNone/>
            </a:pPr>
            <a:r>
              <a:rPr lang="en-US" sz="1200" dirty="0">
                <a:solidFill>
                  <a:srgbClr val="FFFDF8"/>
                </a:solidFill>
                <a:latin typeface="JetBrains Mono" pitchFamily="49" charset="0"/>
                <a:ea typeface="JetBrains Mono" pitchFamily="49" charset="-122"/>
                <a:cs typeface="JetBrains Mono" pitchFamily="49" charset="-120"/>
              </a:rPr>
              <a:t>1</a:t>
            </a:r>
            <a:endParaRPr lang="en-US" sz="1200" dirty="0"/>
          </a:p>
        </p:txBody>
      </p:sp>
      <p:sp>
        <p:nvSpPr>
          <p:cNvPr id="40" name="Text 38"/>
          <p:cNvSpPr/>
          <p:nvPr/>
        </p:nvSpPr>
        <p:spPr>
          <a:xfrm>
            <a:off x="1765300" y="2951311"/>
            <a:ext cx="355600" cy="355054"/>
          </a:xfrm>
          <a:prstGeom prst="rect">
            <a:avLst/>
          </a:prstGeom>
          <a:solidFill>
            <a:srgbClr val="B8501F"/>
          </a:solidFill>
          <a:ln/>
        </p:spPr>
        <p:txBody>
          <a:bodyPr wrap="square" lIns="0" tIns="0" rIns="0" bIns="0" rtlCol="0" anchor="t">
            <a:normAutofit/>
          </a:bodyPr>
          <a:lstStyle/>
          <a:p>
            <a:pPr algn="ctr" indent="0" marL="0">
              <a:lnSpc>
                <a:spcPts val="2796"/>
              </a:lnSpc>
              <a:buNone/>
            </a:pPr>
            <a:r>
              <a:rPr lang="en-US" sz="1200" dirty="0">
                <a:solidFill>
                  <a:srgbClr val="FFFDF8"/>
                </a:solidFill>
                <a:latin typeface="JetBrains Mono" pitchFamily="49" charset="0"/>
                <a:ea typeface="JetBrains Mono" pitchFamily="49" charset="-122"/>
                <a:cs typeface="JetBrains Mono" pitchFamily="49" charset="-120"/>
              </a:rPr>
              <a:t>2</a:t>
            </a:r>
            <a:endParaRPr lang="en-US" sz="1200" dirty="0"/>
          </a:p>
        </p:txBody>
      </p:sp>
      <p:sp>
        <p:nvSpPr>
          <p:cNvPr id="41" name="Text 39"/>
          <p:cNvSpPr/>
          <p:nvPr/>
        </p:nvSpPr>
        <p:spPr>
          <a:xfrm>
            <a:off x="2146300" y="2951311"/>
            <a:ext cx="355600" cy="355054"/>
          </a:xfrm>
          <a:prstGeom prst="rect">
            <a:avLst/>
          </a:prstGeom>
          <a:solidFill>
            <a:srgbClr val="B8501F"/>
          </a:solidFill>
          <a:ln/>
        </p:spPr>
        <p:txBody>
          <a:bodyPr wrap="square" lIns="0" tIns="0" rIns="0" bIns="0" rtlCol="0" anchor="t">
            <a:normAutofit/>
          </a:bodyPr>
          <a:lstStyle/>
          <a:p>
            <a:pPr algn="ctr" indent="0" marL="0">
              <a:lnSpc>
                <a:spcPts val="2796"/>
              </a:lnSpc>
              <a:buNone/>
            </a:pPr>
            <a:r>
              <a:rPr lang="en-US" sz="1200" dirty="0">
                <a:solidFill>
                  <a:srgbClr val="FFFDF8"/>
                </a:solidFill>
                <a:latin typeface="JetBrains Mono" pitchFamily="49" charset="0"/>
                <a:ea typeface="JetBrains Mono" pitchFamily="49" charset="-122"/>
                <a:cs typeface="JetBrains Mono" pitchFamily="49" charset="-120"/>
              </a:rPr>
              <a:t>3</a:t>
            </a:r>
            <a:endParaRPr lang="en-US" sz="1200" dirty="0"/>
          </a:p>
        </p:txBody>
      </p:sp>
      <p:sp>
        <p:nvSpPr>
          <p:cNvPr id="42" name="Text 40"/>
          <p:cNvSpPr/>
          <p:nvPr/>
        </p:nvSpPr>
        <p:spPr>
          <a:xfrm>
            <a:off x="2527300" y="2951311"/>
            <a:ext cx="355600" cy="355054"/>
          </a:xfrm>
          <a:prstGeom prst="rect">
            <a:avLst/>
          </a:prstGeom>
          <a:solidFill>
            <a:srgbClr val="E3E1DA"/>
          </a:solidFill>
          <a:ln/>
        </p:spPr>
        <p:txBody>
          <a:bodyPr wrap="square" lIns="0" tIns="0" rIns="0" bIns="0" rtlCol="0" anchor="t">
            <a:normAutofit/>
          </a:bodyPr>
          <a:lstStyle/>
          <a:p>
            <a:pPr algn="ctr" indent="0" marL="0">
              <a:lnSpc>
                <a:spcPts val="2796"/>
              </a:lnSpc>
              <a:buNone/>
            </a:pPr>
            <a:r>
              <a:rPr lang="en-US" sz="1200" dirty="0">
                <a:solidFill>
                  <a:srgbClr val="1B2430"/>
                </a:solidFill>
                <a:latin typeface="JetBrains Mono" pitchFamily="49" charset="0"/>
                <a:ea typeface="JetBrains Mono" pitchFamily="49" charset="-122"/>
                <a:cs typeface="JetBrains Mono" pitchFamily="49" charset="-120"/>
              </a:rPr>
              <a:t>4</a:t>
            </a:r>
            <a:endParaRPr lang="en-US" sz="1200" dirty="0"/>
          </a:p>
        </p:txBody>
      </p:sp>
      <p:sp>
        <p:nvSpPr>
          <p:cNvPr id="43" name="Text 41"/>
          <p:cNvSpPr/>
          <p:nvPr/>
        </p:nvSpPr>
        <p:spPr>
          <a:xfrm>
            <a:off x="2908300" y="2951311"/>
            <a:ext cx="355600" cy="355054"/>
          </a:xfrm>
          <a:prstGeom prst="rect">
            <a:avLst/>
          </a:prstGeom>
          <a:solidFill>
            <a:srgbClr val="E3E1DA"/>
          </a:solidFill>
          <a:ln/>
        </p:spPr>
        <p:txBody>
          <a:bodyPr wrap="square" lIns="0" tIns="0" rIns="0" bIns="0" rtlCol="0" anchor="t">
            <a:normAutofit/>
          </a:bodyPr>
          <a:lstStyle/>
          <a:p>
            <a:pPr algn="ctr" indent="0" marL="0">
              <a:lnSpc>
                <a:spcPts val="2796"/>
              </a:lnSpc>
              <a:buNone/>
            </a:pPr>
            <a:r>
              <a:rPr lang="en-US" sz="1200" dirty="0">
                <a:solidFill>
                  <a:srgbClr val="1B2430"/>
                </a:solidFill>
                <a:latin typeface="JetBrains Mono" pitchFamily="49" charset="0"/>
                <a:ea typeface="JetBrains Mono" pitchFamily="49" charset="-122"/>
                <a:cs typeface="JetBrains Mono" pitchFamily="49" charset="-120"/>
              </a:rPr>
              <a:t>5</a:t>
            </a:r>
            <a:endParaRPr lang="en-US" sz="1200" dirty="0"/>
          </a:p>
        </p:txBody>
      </p:sp>
      <p:sp>
        <p:nvSpPr>
          <p:cNvPr id="44" name="Text 42"/>
          <p:cNvSpPr/>
          <p:nvPr/>
        </p:nvSpPr>
        <p:spPr>
          <a:xfrm>
            <a:off x="1003300" y="3407966"/>
            <a:ext cx="494461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Stride 2: start at 0, 2 → </a:t>
            </a:r>
            <a:r>
              <a:rPr lang="en-US" sz="1300" b="1" dirty="0">
                <a:solidFill>
                  <a:srgbClr val="4A5568"/>
                </a:solidFill>
                <a:latin typeface="DM Sans" pitchFamily="34" charset="0"/>
                <a:ea typeface="DM Sans" pitchFamily="34" charset="-122"/>
                <a:cs typeface="DM Sans" pitchFamily="34" charset="-120"/>
              </a:rPr>
              <a:t>2</a:t>
            </a:r>
            <a:r>
              <a:rPr lang="en-US" sz="1300" dirty="0">
                <a:solidFill>
                  <a:srgbClr val="4A5568"/>
                </a:solidFill>
                <a:latin typeface="DM Sans" pitchFamily="34" charset="0"/>
                <a:ea typeface="DM Sans" pitchFamily="34" charset="-122"/>
                <a:cs typeface="DM Sans" pitchFamily="34" charset="-120"/>
              </a:rPr>
              <a:t> outputs</a:t>
            </a:r>
            <a:endParaRPr lang="en-US" sz="1300" dirty="0"/>
          </a:p>
        </p:txBody>
      </p:sp>
      <p:sp>
        <p:nvSpPr>
          <p:cNvPr id="45" name="Text 43"/>
          <p:cNvSpPr/>
          <p:nvPr/>
        </p:nvSpPr>
        <p:spPr>
          <a:xfrm>
            <a:off x="1003300" y="3740696"/>
            <a:ext cx="355600" cy="355054"/>
          </a:xfrm>
          <a:prstGeom prst="rect">
            <a:avLst/>
          </a:prstGeom>
          <a:solidFill>
            <a:srgbClr val="B8501F"/>
          </a:solidFill>
          <a:ln/>
        </p:spPr>
        <p:txBody>
          <a:bodyPr wrap="square" lIns="0" tIns="0" rIns="0" bIns="0" rtlCol="0" anchor="t">
            <a:normAutofit/>
          </a:bodyPr>
          <a:lstStyle/>
          <a:p>
            <a:pPr algn="ctr" indent="0" marL="0">
              <a:lnSpc>
                <a:spcPts val="2796"/>
              </a:lnSpc>
              <a:buNone/>
            </a:pPr>
            <a:r>
              <a:rPr lang="en-US" sz="1200" dirty="0">
                <a:solidFill>
                  <a:srgbClr val="FFFDF8"/>
                </a:solidFill>
                <a:latin typeface="JetBrains Mono" pitchFamily="49" charset="0"/>
                <a:ea typeface="JetBrains Mono" pitchFamily="49" charset="-122"/>
                <a:cs typeface="JetBrains Mono" pitchFamily="49" charset="-120"/>
              </a:rPr>
              <a:t>0</a:t>
            </a:r>
            <a:endParaRPr lang="en-US" sz="1200" dirty="0"/>
          </a:p>
        </p:txBody>
      </p:sp>
      <p:sp>
        <p:nvSpPr>
          <p:cNvPr id="46" name="Text 44"/>
          <p:cNvSpPr/>
          <p:nvPr/>
        </p:nvSpPr>
        <p:spPr>
          <a:xfrm>
            <a:off x="1384300" y="3740696"/>
            <a:ext cx="355600" cy="355054"/>
          </a:xfrm>
          <a:prstGeom prst="rect">
            <a:avLst/>
          </a:prstGeom>
          <a:solidFill>
            <a:srgbClr val="E3E1DA"/>
          </a:solidFill>
          <a:ln/>
        </p:spPr>
        <p:txBody>
          <a:bodyPr wrap="square" lIns="0" tIns="0" rIns="0" bIns="0" rtlCol="0" anchor="t">
            <a:normAutofit/>
          </a:bodyPr>
          <a:lstStyle/>
          <a:p>
            <a:pPr algn="ctr" indent="0" marL="0">
              <a:lnSpc>
                <a:spcPts val="2796"/>
              </a:lnSpc>
              <a:buNone/>
            </a:pPr>
            <a:r>
              <a:rPr lang="en-US" sz="1200" dirty="0">
                <a:solidFill>
                  <a:srgbClr val="1B2430"/>
                </a:solidFill>
                <a:latin typeface="JetBrains Mono" pitchFamily="49" charset="0"/>
                <a:ea typeface="JetBrains Mono" pitchFamily="49" charset="-122"/>
                <a:cs typeface="JetBrains Mono" pitchFamily="49" charset="-120"/>
              </a:rPr>
              <a:t>1</a:t>
            </a:r>
            <a:endParaRPr lang="en-US" sz="1200" dirty="0"/>
          </a:p>
        </p:txBody>
      </p:sp>
      <p:sp>
        <p:nvSpPr>
          <p:cNvPr id="47" name="Text 45"/>
          <p:cNvSpPr/>
          <p:nvPr/>
        </p:nvSpPr>
        <p:spPr>
          <a:xfrm>
            <a:off x="1765300" y="3740696"/>
            <a:ext cx="355600" cy="355054"/>
          </a:xfrm>
          <a:prstGeom prst="rect">
            <a:avLst/>
          </a:prstGeom>
          <a:solidFill>
            <a:srgbClr val="B8501F"/>
          </a:solidFill>
          <a:ln/>
        </p:spPr>
        <p:txBody>
          <a:bodyPr wrap="square" lIns="0" tIns="0" rIns="0" bIns="0" rtlCol="0" anchor="t">
            <a:normAutofit/>
          </a:bodyPr>
          <a:lstStyle/>
          <a:p>
            <a:pPr algn="ctr" indent="0" marL="0">
              <a:lnSpc>
                <a:spcPts val="2796"/>
              </a:lnSpc>
              <a:buNone/>
            </a:pPr>
            <a:r>
              <a:rPr lang="en-US" sz="1200" dirty="0">
                <a:solidFill>
                  <a:srgbClr val="FFFDF8"/>
                </a:solidFill>
                <a:latin typeface="JetBrains Mono" pitchFamily="49" charset="0"/>
                <a:ea typeface="JetBrains Mono" pitchFamily="49" charset="-122"/>
                <a:cs typeface="JetBrains Mono" pitchFamily="49" charset="-120"/>
              </a:rPr>
              <a:t>2</a:t>
            </a:r>
            <a:endParaRPr lang="en-US" sz="1200" dirty="0"/>
          </a:p>
        </p:txBody>
      </p:sp>
      <p:sp>
        <p:nvSpPr>
          <p:cNvPr id="48" name="Text 46"/>
          <p:cNvSpPr/>
          <p:nvPr/>
        </p:nvSpPr>
        <p:spPr>
          <a:xfrm>
            <a:off x="2146300" y="3740696"/>
            <a:ext cx="355600" cy="355054"/>
          </a:xfrm>
          <a:prstGeom prst="rect">
            <a:avLst/>
          </a:prstGeom>
          <a:solidFill>
            <a:srgbClr val="E3E1DA"/>
          </a:solidFill>
          <a:ln/>
        </p:spPr>
        <p:txBody>
          <a:bodyPr wrap="square" lIns="0" tIns="0" rIns="0" bIns="0" rtlCol="0" anchor="t">
            <a:normAutofit/>
          </a:bodyPr>
          <a:lstStyle/>
          <a:p>
            <a:pPr algn="ctr" indent="0" marL="0">
              <a:lnSpc>
                <a:spcPts val="2796"/>
              </a:lnSpc>
              <a:buNone/>
            </a:pPr>
            <a:r>
              <a:rPr lang="en-US" sz="1200" dirty="0">
                <a:solidFill>
                  <a:srgbClr val="1B2430"/>
                </a:solidFill>
                <a:latin typeface="JetBrains Mono" pitchFamily="49" charset="0"/>
                <a:ea typeface="JetBrains Mono" pitchFamily="49" charset="-122"/>
                <a:cs typeface="JetBrains Mono" pitchFamily="49" charset="-120"/>
              </a:rPr>
              <a:t>3</a:t>
            </a:r>
            <a:endParaRPr lang="en-US" sz="1200" dirty="0"/>
          </a:p>
        </p:txBody>
      </p:sp>
      <p:sp>
        <p:nvSpPr>
          <p:cNvPr id="49" name="Text 47"/>
          <p:cNvSpPr/>
          <p:nvPr/>
        </p:nvSpPr>
        <p:spPr>
          <a:xfrm>
            <a:off x="2527300" y="3740696"/>
            <a:ext cx="355600" cy="355054"/>
          </a:xfrm>
          <a:prstGeom prst="rect">
            <a:avLst/>
          </a:prstGeom>
          <a:solidFill>
            <a:srgbClr val="E3E1DA"/>
          </a:solidFill>
          <a:ln/>
        </p:spPr>
        <p:txBody>
          <a:bodyPr wrap="square" lIns="0" tIns="0" rIns="0" bIns="0" rtlCol="0" anchor="t">
            <a:normAutofit/>
          </a:bodyPr>
          <a:lstStyle/>
          <a:p>
            <a:pPr algn="ctr" indent="0" marL="0">
              <a:lnSpc>
                <a:spcPts val="2796"/>
              </a:lnSpc>
              <a:buNone/>
            </a:pPr>
            <a:r>
              <a:rPr lang="en-US" sz="1200" dirty="0">
                <a:solidFill>
                  <a:srgbClr val="1B2430"/>
                </a:solidFill>
                <a:latin typeface="JetBrains Mono" pitchFamily="49" charset="0"/>
                <a:ea typeface="JetBrains Mono" pitchFamily="49" charset="-122"/>
                <a:cs typeface="JetBrains Mono" pitchFamily="49" charset="-120"/>
              </a:rPr>
              <a:t>4</a:t>
            </a:r>
            <a:endParaRPr lang="en-US" sz="1200" dirty="0"/>
          </a:p>
        </p:txBody>
      </p:sp>
      <p:sp>
        <p:nvSpPr>
          <p:cNvPr id="50" name="Text 48"/>
          <p:cNvSpPr/>
          <p:nvPr/>
        </p:nvSpPr>
        <p:spPr>
          <a:xfrm>
            <a:off x="2908300" y="3740696"/>
            <a:ext cx="355600" cy="355054"/>
          </a:xfrm>
          <a:prstGeom prst="rect">
            <a:avLst/>
          </a:prstGeom>
          <a:solidFill>
            <a:srgbClr val="E3E1DA"/>
          </a:solidFill>
          <a:ln/>
        </p:spPr>
        <p:txBody>
          <a:bodyPr wrap="square" lIns="0" tIns="0" rIns="0" bIns="0" rtlCol="0" anchor="t">
            <a:normAutofit/>
          </a:bodyPr>
          <a:lstStyle/>
          <a:p>
            <a:pPr algn="ctr" indent="0" marL="0">
              <a:lnSpc>
                <a:spcPts val="2796"/>
              </a:lnSpc>
              <a:buNone/>
            </a:pPr>
            <a:r>
              <a:rPr lang="en-US" sz="1200" dirty="0">
                <a:solidFill>
                  <a:srgbClr val="1B2430"/>
                </a:solidFill>
                <a:latin typeface="JetBrains Mono" pitchFamily="49" charset="0"/>
                <a:ea typeface="JetBrains Mono" pitchFamily="49" charset="-122"/>
                <a:cs typeface="JetBrains Mono" pitchFamily="49" charset="-120"/>
              </a:rPr>
              <a:t>5</a:t>
            </a:r>
            <a:endParaRPr lang="en-US" sz="1200" dirty="0"/>
          </a:p>
        </p:txBody>
      </p:sp>
      <p:sp>
        <p:nvSpPr>
          <p:cNvPr id="51" name="Shape 49"/>
          <p:cNvSpPr/>
          <p:nvPr/>
        </p:nvSpPr>
        <p:spPr>
          <a:xfrm>
            <a:off x="6203950" y="2058541"/>
            <a:ext cx="5168900" cy="2503140"/>
          </a:xfrm>
          <a:prstGeom prst="roundRect">
            <a:avLst>
              <a:gd name="adj" fmla="val 3805"/>
            </a:avLst>
          </a:prstGeom>
          <a:solidFill>
            <a:srgbClr val="FFFDF8"/>
          </a:solidFill>
          <a:ln w="12700">
            <a:solidFill>
              <a:srgbClr val="D8D4C8"/>
            </a:solidFill>
            <a:prstDash val="solid"/>
          </a:ln>
        </p:spPr>
      </p:sp>
      <p:sp>
        <p:nvSpPr>
          <p:cNvPr id="52" name="Text 50"/>
          <p:cNvSpPr/>
          <p:nvPr/>
        </p:nvSpPr>
        <p:spPr>
          <a:xfrm>
            <a:off x="6388100" y="2242691"/>
            <a:ext cx="494461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0"/>
                </a:solidFill>
                <a:latin typeface="DM Sans" pitchFamily="34" charset="0"/>
                <a:ea typeface="DM Sans" pitchFamily="34" charset="-122"/>
                <a:cs typeface="DM Sans" pitchFamily="34" charset="-120"/>
              </a:rPr>
              <a:t>Padding = a border of zeros</a:t>
            </a:r>
            <a:endParaRPr lang="en-US" sz="1800" dirty="0"/>
          </a:p>
        </p:txBody>
      </p:sp>
      <p:sp>
        <p:nvSpPr>
          <p:cNvPr id="53" name="Shape 51"/>
          <p:cNvSpPr/>
          <p:nvPr/>
        </p:nvSpPr>
        <p:spPr>
          <a:xfrm>
            <a:off x="6391275" y="2621756"/>
            <a:ext cx="196850" cy="196850"/>
          </a:xfrm>
          <a:prstGeom prst="rect">
            <a:avLst/>
          </a:prstGeom>
          <a:solidFill>
            <a:srgbClr val="FBF0E8"/>
          </a:solidFill>
          <a:ln w="6350">
            <a:solidFill>
              <a:srgbClr val="D9622B"/>
            </a:solidFill>
            <a:prstDash val="dash"/>
          </a:ln>
        </p:spPr>
      </p:sp>
      <p:sp>
        <p:nvSpPr>
          <p:cNvPr id="54" name="Shape 52"/>
          <p:cNvSpPr/>
          <p:nvPr/>
        </p:nvSpPr>
        <p:spPr>
          <a:xfrm>
            <a:off x="6613525" y="2621756"/>
            <a:ext cx="196850" cy="196850"/>
          </a:xfrm>
          <a:prstGeom prst="rect">
            <a:avLst/>
          </a:prstGeom>
          <a:solidFill>
            <a:srgbClr val="FBF0E8"/>
          </a:solidFill>
          <a:ln w="6350">
            <a:solidFill>
              <a:srgbClr val="D9622B"/>
            </a:solidFill>
            <a:prstDash val="dash"/>
          </a:ln>
        </p:spPr>
      </p:sp>
      <p:sp>
        <p:nvSpPr>
          <p:cNvPr id="55" name="Shape 53"/>
          <p:cNvSpPr/>
          <p:nvPr/>
        </p:nvSpPr>
        <p:spPr>
          <a:xfrm>
            <a:off x="6835775" y="2621756"/>
            <a:ext cx="196850" cy="196850"/>
          </a:xfrm>
          <a:prstGeom prst="rect">
            <a:avLst/>
          </a:prstGeom>
          <a:solidFill>
            <a:srgbClr val="FBF0E8"/>
          </a:solidFill>
          <a:ln w="6350">
            <a:solidFill>
              <a:srgbClr val="D9622B"/>
            </a:solidFill>
            <a:prstDash val="dash"/>
          </a:ln>
        </p:spPr>
      </p:sp>
      <p:sp>
        <p:nvSpPr>
          <p:cNvPr id="56" name="Shape 54"/>
          <p:cNvSpPr/>
          <p:nvPr/>
        </p:nvSpPr>
        <p:spPr>
          <a:xfrm>
            <a:off x="7058025" y="2621756"/>
            <a:ext cx="196850" cy="196850"/>
          </a:xfrm>
          <a:prstGeom prst="rect">
            <a:avLst/>
          </a:prstGeom>
          <a:solidFill>
            <a:srgbClr val="FBF0E8"/>
          </a:solidFill>
          <a:ln w="6350">
            <a:solidFill>
              <a:srgbClr val="D9622B"/>
            </a:solidFill>
            <a:prstDash val="dash"/>
          </a:ln>
        </p:spPr>
      </p:sp>
      <p:sp>
        <p:nvSpPr>
          <p:cNvPr id="57" name="Shape 55"/>
          <p:cNvSpPr/>
          <p:nvPr/>
        </p:nvSpPr>
        <p:spPr>
          <a:xfrm>
            <a:off x="7280275" y="2621756"/>
            <a:ext cx="196850" cy="196850"/>
          </a:xfrm>
          <a:prstGeom prst="rect">
            <a:avLst/>
          </a:prstGeom>
          <a:solidFill>
            <a:srgbClr val="FBF0E8"/>
          </a:solidFill>
          <a:ln w="6350">
            <a:solidFill>
              <a:srgbClr val="D9622B"/>
            </a:solidFill>
            <a:prstDash val="dash"/>
          </a:ln>
        </p:spPr>
      </p:sp>
      <p:sp>
        <p:nvSpPr>
          <p:cNvPr id="58" name="Shape 56"/>
          <p:cNvSpPr/>
          <p:nvPr/>
        </p:nvSpPr>
        <p:spPr>
          <a:xfrm>
            <a:off x="7502525" y="2621756"/>
            <a:ext cx="196850" cy="196850"/>
          </a:xfrm>
          <a:prstGeom prst="rect">
            <a:avLst/>
          </a:prstGeom>
          <a:solidFill>
            <a:srgbClr val="FBF0E8"/>
          </a:solidFill>
          <a:ln w="6350">
            <a:solidFill>
              <a:srgbClr val="D9622B"/>
            </a:solidFill>
            <a:prstDash val="dash"/>
          </a:ln>
        </p:spPr>
      </p:sp>
      <p:sp>
        <p:nvSpPr>
          <p:cNvPr id="59" name="Shape 57"/>
          <p:cNvSpPr/>
          <p:nvPr/>
        </p:nvSpPr>
        <p:spPr>
          <a:xfrm>
            <a:off x="7724775" y="2621756"/>
            <a:ext cx="196850" cy="196850"/>
          </a:xfrm>
          <a:prstGeom prst="rect">
            <a:avLst/>
          </a:prstGeom>
          <a:solidFill>
            <a:srgbClr val="FBF0E8"/>
          </a:solidFill>
          <a:ln w="6350">
            <a:solidFill>
              <a:srgbClr val="D9622B"/>
            </a:solidFill>
            <a:prstDash val="dash"/>
          </a:ln>
        </p:spPr>
      </p:sp>
      <p:sp>
        <p:nvSpPr>
          <p:cNvPr id="60" name="Shape 58"/>
          <p:cNvSpPr/>
          <p:nvPr/>
        </p:nvSpPr>
        <p:spPr>
          <a:xfrm>
            <a:off x="7947025" y="2621756"/>
            <a:ext cx="196850" cy="196850"/>
          </a:xfrm>
          <a:prstGeom prst="rect">
            <a:avLst/>
          </a:prstGeom>
          <a:solidFill>
            <a:srgbClr val="FBF0E8"/>
          </a:solidFill>
          <a:ln w="6350">
            <a:solidFill>
              <a:srgbClr val="D9622B"/>
            </a:solidFill>
            <a:prstDash val="dash"/>
          </a:ln>
        </p:spPr>
      </p:sp>
      <p:sp>
        <p:nvSpPr>
          <p:cNvPr id="61" name="Shape 59"/>
          <p:cNvSpPr/>
          <p:nvPr/>
        </p:nvSpPr>
        <p:spPr>
          <a:xfrm>
            <a:off x="6391275" y="2844006"/>
            <a:ext cx="196850" cy="196850"/>
          </a:xfrm>
          <a:prstGeom prst="rect">
            <a:avLst/>
          </a:prstGeom>
          <a:solidFill>
            <a:srgbClr val="FBF0E8"/>
          </a:solidFill>
          <a:ln w="6350">
            <a:solidFill>
              <a:srgbClr val="D9622B"/>
            </a:solidFill>
            <a:prstDash val="dash"/>
          </a:ln>
        </p:spPr>
      </p:sp>
      <p:sp>
        <p:nvSpPr>
          <p:cNvPr id="62" name="Shape 60"/>
          <p:cNvSpPr/>
          <p:nvPr/>
        </p:nvSpPr>
        <p:spPr>
          <a:xfrm>
            <a:off x="6610350" y="2840831"/>
            <a:ext cx="203200" cy="203200"/>
          </a:xfrm>
          <a:prstGeom prst="rect">
            <a:avLst/>
          </a:prstGeom>
          <a:solidFill>
            <a:srgbClr val="E3E1DA"/>
          </a:solidFill>
          <a:ln/>
        </p:spPr>
      </p:sp>
      <p:sp>
        <p:nvSpPr>
          <p:cNvPr id="63" name="Shape 61"/>
          <p:cNvSpPr/>
          <p:nvPr/>
        </p:nvSpPr>
        <p:spPr>
          <a:xfrm>
            <a:off x="6832600" y="2840831"/>
            <a:ext cx="203200" cy="203200"/>
          </a:xfrm>
          <a:prstGeom prst="rect">
            <a:avLst/>
          </a:prstGeom>
          <a:solidFill>
            <a:srgbClr val="E3E1DA"/>
          </a:solidFill>
          <a:ln/>
        </p:spPr>
      </p:sp>
      <p:sp>
        <p:nvSpPr>
          <p:cNvPr id="64" name="Shape 62"/>
          <p:cNvSpPr/>
          <p:nvPr/>
        </p:nvSpPr>
        <p:spPr>
          <a:xfrm>
            <a:off x="7054850" y="2840831"/>
            <a:ext cx="203200" cy="203200"/>
          </a:xfrm>
          <a:prstGeom prst="rect">
            <a:avLst/>
          </a:prstGeom>
          <a:solidFill>
            <a:srgbClr val="2E3846"/>
          </a:solidFill>
          <a:ln/>
        </p:spPr>
      </p:sp>
      <p:sp>
        <p:nvSpPr>
          <p:cNvPr id="65" name="Shape 63"/>
          <p:cNvSpPr/>
          <p:nvPr/>
        </p:nvSpPr>
        <p:spPr>
          <a:xfrm>
            <a:off x="7277100" y="2840831"/>
            <a:ext cx="203200" cy="203200"/>
          </a:xfrm>
          <a:prstGeom prst="rect">
            <a:avLst/>
          </a:prstGeom>
          <a:solidFill>
            <a:srgbClr val="2E3846"/>
          </a:solidFill>
          <a:ln/>
        </p:spPr>
      </p:sp>
      <p:sp>
        <p:nvSpPr>
          <p:cNvPr id="66" name="Shape 64"/>
          <p:cNvSpPr/>
          <p:nvPr/>
        </p:nvSpPr>
        <p:spPr>
          <a:xfrm>
            <a:off x="7499350" y="2840831"/>
            <a:ext cx="203200" cy="203200"/>
          </a:xfrm>
          <a:prstGeom prst="rect">
            <a:avLst/>
          </a:prstGeom>
          <a:solidFill>
            <a:srgbClr val="E3E1DA"/>
          </a:solidFill>
          <a:ln/>
        </p:spPr>
      </p:sp>
      <p:sp>
        <p:nvSpPr>
          <p:cNvPr id="67" name="Shape 65"/>
          <p:cNvSpPr/>
          <p:nvPr/>
        </p:nvSpPr>
        <p:spPr>
          <a:xfrm>
            <a:off x="7721600" y="2840831"/>
            <a:ext cx="203200" cy="203200"/>
          </a:xfrm>
          <a:prstGeom prst="rect">
            <a:avLst/>
          </a:prstGeom>
          <a:solidFill>
            <a:srgbClr val="E3E1DA"/>
          </a:solidFill>
          <a:ln/>
        </p:spPr>
      </p:sp>
      <p:sp>
        <p:nvSpPr>
          <p:cNvPr id="68" name="Shape 66"/>
          <p:cNvSpPr/>
          <p:nvPr/>
        </p:nvSpPr>
        <p:spPr>
          <a:xfrm>
            <a:off x="7947025" y="2844006"/>
            <a:ext cx="196850" cy="196850"/>
          </a:xfrm>
          <a:prstGeom prst="rect">
            <a:avLst/>
          </a:prstGeom>
          <a:solidFill>
            <a:srgbClr val="FBF0E8"/>
          </a:solidFill>
          <a:ln w="6350">
            <a:solidFill>
              <a:srgbClr val="D9622B"/>
            </a:solidFill>
            <a:prstDash val="dash"/>
          </a:ln>
        </p:spPr>
      </p:sp>
      <p:sp>
        <p:nvSpPr>
          <p:cNvPr id="69" name="Shape 67"/>
          <p:cNvSpPr/>
          <p:nvPr/>
        </p:nvSpPr>
        <p:spPr>
          <a:xfrm>
            <a:off x="6391275" y="3066256"/>
            <a:ext cx="196850" cy="196850"/>
          </a:xfrm>
          <a:prstGeom prst="rect">
            <a:avLst/>
          </a:prstGeom>
          <a:solidFill>
            <a:srgbClr val="FBF0E8"/>
          </a:solidFill>
          <a:ln w="6350">
            <a:solidFill>
              <a:srgbClr val="D9622B"/>
            </a:solidFill>
            <a:prstDash val="dash"/>
          </a:ln>
        </p:spPr>
      </p:sp>
      <p:sp>
        <p:nvSpPr>
          <p:cNvPr id="70" name="Shape 68"/>
          <p:cNvSpPr/>
          <p:nvPr/>
        </p:nvSpPr>
        <p:spPr>
          <a:xfrm>
            <a:off x="6610350" y="3063081"/>
            <a:ext cx="203200" cy="203200"/>
          </a:xfrm>
          <a:prstGeom prst="rect">
            <a:avLst/>
          </a:prstGeom>
          <a:solidFill>
            <a:srgbClr val="E3E1DA"/>
          </a:solidFill>
          <a:ln/>
        </p:spPr>
      </p:sp>
      <p:sp>
        <p:nvSpPr>
          <p:cNvPr id="71" name="Shape 69"/>
          <p:cNvSpPr/>
          <p:nvPr/>
        </p:nvSpPr>
        <p:spPr>
          <a:xfrm>
            <a:off x="6832600" y="3063081"/>
            <a:ext cx="203200" cy="203200"/>
          </a:xfrm>
          <a:prstGeom prst="rect">
            <a:avLst/>
          </a:prstGeom>
          <a:solidFill>
            <a:srgbClr val="E3E1DA"/>
          </a:solidFill>
          <a:ln/>
        </p:spPr>
      </p:sp>
      <p:sp>
        <p:nvSpPr>
          <p:cNvPr id="72" name="Shape 70"/>
          <p:cNvSpPr/>
          <p:nvPr/>
        </p:nvSpPr>
        <p:spPr>
          <a:xfrm>
            <a:off x="7054850" y="3063081"/>
            <a:ext cx="203200" cy="203200"/>
          </a:xfrm>
          <a:prstGeom prst="rect">
            <a:avLst/>
          </a:prstGeom>
          <a:solidFill>
            <a:srgbClr val="2E3846"/>
          </a:solidFill>
          <a:ln/>
        </p:spPr>
      </p:sp>
      <p:sp>
        <p:nvSpPr>
          <p:cNvPr id="73" name="Shape 71"/>
          <p:cNvSpPr/>
          <p:nvPr/>
        </p:nvSpPr>
        <p:spPr>
          <a:xfrm>
            <a:off x="7277100" y="3063081"/>
            <a:ext cx="203200" cy="203200"/>
          </a:xfrm>
          <a:prstGeom prst="rect">
            <a:avLst/>
          </a:prstGeom>
          <a:solidFill>
            <a:srgbClr val="2E3846"/>
          </a:solidFill>
          <a:ln/>
        </p:spPr>
      </p:sp>
      <p:sp>
        <p:nvSpPr>
          <p:cNvPr id="74" name="Shape 72"/>
          <p:cNvSpPr/>
          <p:nvPr/>
        </p:nvSpPr>
        <p:spPr>
          <a:xfrm>
            <a:off x="7499350" y="3063081"/>
            <a:ext cx="203200" cy="203200"/>
          </a:xfrm>
          <a:prstGeom prst="rect">
            <a:avLst/>
          </a:prstGeom>
          <a:solidFill>
            <a:srgbClr val="E3E1DA"/>
          </a:solidFill>
          <a:ln/>
        </p:spPr>
      </p:sp>
      <p:sp>
        <p:nvSpPr>
          <p:cNvPr id="75" name="Shape 73"/>
          <p:cNvSpPr/>
          <p:nvPr/>
        </p:nvSpPr>
        <p:spPr>
          <a:xfrm>
            <a:off x="7721600" y="3063081"/>
            <a:ext cx="203200" cy="203200"/>
          </a:xfrm>
          <a:prstGeom prst="rect">
            <a:avLst/>
          </a:prstGeom>
          <a:solidFill>
            <a:srgbClr val="E3E1DA"/>
          </a:solidFill>
          <a:ln/>
        </p:spPr>
      </p:sp>
      <p:sp>
        <p:nvSpPr>
          <p:cNvPr id="76" name="Shape 74"/>
          <p:cNvSpPr/>
          <p:nvPr/>
        </p:nvSpPr>
        <p:spPr>
          <a:xfrm>
            <a:off x="7947025" y="3066256"/>
            <a:ext cx="196850" cy="196850"/>
          </a:xfrm>
          <a:prstGeom prst="rect">
            <a:avLst/>
          </a:prstGeom>
          <a:solidFill>
            <a:srgbClr val="FBF0E8"/>
          </a:solidFill>
          <a:ln w="6350">
            <a:solidFill>
              <a:srgbClr val="D9622B"/>
            </a:solidFill>
            <a:prstDash val="dash"/>
          </a:ln>
        </p:spPr>
      </p:sp>
      <p:sp>
        <p:nvSpPr>
          <p:cNvPr id="77" name="Shape 75"/>
          <p:cNvSpPr/>
          <p:nvPr/>
        </p:nvSpPr>
        <p:spPr>
          <a:xfrm>
            <a:off x="6391275" y="3288506"/>
            <a:ext cx="196850" cy="196850"/>
          </a:xfrm>
          <a:prstGeom prst="rect">
            <a:avLst/>
          </a:prstGeom>
          <a:solidFill>
            <a:srgbClr val="FBF0E8"/>
          </a:solidFill>
          <a:ln w="6350">
            <a:solidFill>
              <a:srgbClr val="D9622B"/>
            </a:solidFill>
            <a:prstDash val="dash"/>
          </a:ln>
        </p:spPr>
      </p:sp>
      <p:sp>
        <p:nvSpPr>
          <p:cNvPr id="78" name="Shape 76"/>
          <p:cNvSpPr/>
          <p:nvPr/>
        </p:nvSpPr>
        <p:spPr>
          <a:xfrm>
            <a:off x="6610350" y="3285331"/>
            <a:ext cx="203200" cy="203200"/>
          </a:xfrm>
          <a:prstGeom prst="rect">
            <a:avLst/>
          </a:prstGeom>
          <a:solidFill>
            <a:srgbClr val="E3E1DA"/>
          </a:solidFill>
          <a:ln/>
        </p:spPr>
      </p:sp>
      <p:sp>
        <p:nvSpPr>
          <p:cNvPr id="79" name="Shape 77"/>
          <p:cNvSpPr/>
          <p:nvPr/>
        </p:nvSpPr>
        <p:spPr>
          <a:xfrm>
            <a:off x="6832600" y="3285331"/>
            <a:ext cx="203200" cy="203200"/>
          </a:xfrm>
          <a:prstGeom prst="rect">
            <a:avLst/>
          </a:prstGeom>
          <a:solidFill>
            <a:srgbClr val="E3E1DA"/>
          </a:solidFill>
          <a:ln/>
        </p:spPr>
      </p:sp>
      <p:sp>
        <p:nvSpPr>
          <p:cNvPr id="80" name="Shape 78"/>
          <p:cNvSpPr/>
          <p:nvPr/>
        </p:nvSpPr>
        <p:spPr>
          <a:xfrm>
            <a:off x="7054850" y="3285331"/>
            <a:ext cx="203200" cy="203200"/>
          </a:xfrm>
          <a:prstGeom prst="rect">
            <a:avLst/>
          </a:prstGeom>
          <a:solidFill>
            <a:srgbClr val="2E3846"/>
          </a:solidFill>
          <a:ln/>
        </p:spPr>
      </p:sp>
      <p:sp>
        <p:nvSpPr>
          <p:cNvPr id="81" name="Shape 79"/>
          <p:cNvSpPr/>
          <p:nvPr/>
        </p:nvSpPr>
        <p:spPr>
          <a:xfrm>
            <a:off x="7277100" y="3285331"/>
            <a:ext cx="203200" cy="203200"/>
          </a:xfrm>
          <a:prstGeom prst="rect">
            <a:avLst/>
          </a:prstGeom>
          <a:solidFill>
            <a:srgbClr val="2E3846"/>
          </a:solidFill>
          <a:ln/>
        </p:spPr>
      </p:sp>
      <p:sp>
        <p:nvSpPr>
          <p:cNvPr id="82" name="Shape 80"/>
          <p:cNvSpPr/>
          <p:nvPr/>
        </p:nvSpPr>
        <p:spPr>
          <a:xfrm>
            <a:off x="7499350" y="3285331"/>
            <a:ext cx="203200" cy="203200"/>
          </a:xfrm>
          <a:prstGeom prst="rect">
            <a:avLst/>
          </a:prstGeom>
          <a:solidFill>
            <a:srgbClr val="E3E1DA"/>
          </a:solidFill>
          <a:ln/>
        </p:spPr>
      </p:sp>
      <p:sp>
        <p:nvSpPr>
          <p:cNvPr id="83" name="Shape 81"/>
          <p:cNvSpPr/>
          <p:nvPr/>
        </p:nvSpPr>
        <p:spPr>
          <a:xfrm>
            <a:off x="7721600" y="3285331"/>
            <a:ext cx="203200" cy="203200"/>
          </a:xfrm>
          <a:prstGeom prst="rect">
            <a:avLst/>
          </a:prstGeom>
          <a:solidFill>
            <a:srgbClr val="E3E1DA"/>
          </a:solidFill>
          <a:ln/>
        </p:spPr>
      </p:sp>
      <p:sp>
        <p:nvSpPr>
          <p:cNvPr id="84" name="Shape 82"/>
          <p:cNvSpPr/>
          <p:nvPr/>
        </p:nvSpPr>
        <p:spPr>
          <a:xfrm>
            <a:off x="7947025" y="3288506"/>
            <a:ext cx="196850" cy="196850"/>
          </a:xfrm>
          <a:prstGeom prst="rect">
            <a:avLst/>
          </a:prstGeom>
          <a:solidFill>
            <a:srgbClr val="FBF0E8"/>
          </a:solidFill>
          <a:ln w="6350">
            <a:solidFill>
              <a:srgbClr val="D9622B"/>
            </a:solidFill>
            <a:prstDash val="dash"/>
          </a:ln>
        </p:spPr>
      </p:sp>
      <p:sp>
        <p:nvSpPr>
          <p:cNvPr id="85" name="Shape 83"/>
          <p:cNvSpPr/>
          <p:nvPr/>
        </p:nvSpPr>
        <p:spPr>
          <a:xfrm>
            <a:off x="6391275" y="3510756"/>
            <a:ext cx="196850" cy="196850"/>
          </a:xfrm>
          <a:prstGeom prst="rect">
            <a:avLst/>
          </a:prstGeom>
          <a:solidFill>
            <a:srgbClr val="FBF0E8"/>
          </a:solidFill>
          <a:ln w="6350">
            <a:solidFill>
              <a:srgbClr val="D9622B"/>
            </a:solidFill>
            <a:prstDash val="dash"/>
          </a:ln>
        </p:spPr>
      </p:sp>
      <p:sp>
        <p:nvSpPr>
          <p:cNvPr id="86" name="Shape 84"/>
          <p:cNvSpPr/>
          <p:nvPr/>
        </p:nvSpPr>
        <p:spPr>
          <a:xfrm>
            <a:off x="6610350" y="3507581"/>
            <a:ext cx="203200" cy="203200"/>
          </a:xfrm>
          <a:prstGeom prst="rect">
            <a:avLst/>
          </a:prstGeom>
          <a:solidFill>
            <a:srgbClr val="E3E1DA"/>
          </a:solidFill>
          <a:ln/>
        </p:spPr>
      </p:sp>
      <p:sp>
        <p:nvSpPr>
          <p:cNvPr id="87" name="Shape 85"/>
          <p:cNvSpPr/>
          <p:nvPr/>
        </p:nvSpPr>
        <p:spPr>
          <a:xfrm>
            <a:off x="6832600" y="3507581"/>
            <a:ext cx="203200" cy="203200"/>
          </a:xfrm>
          <a:prstGeom prst="rect">
            <a:avLst/>
          </a:prstGeom>
          <a:solidFill>
            <a:srgbClr val="E3E1DA"/>
          </a:solidFill>
          <a:ln/>
        </p:spPr>
      </p:sp>
      <p:sp>
        <p:nvSpPr>
          <p:cNvPr id="88" name="Shape 86"/>
          <p:cNvSpPr/>
          <p:nvPr/>
        </p:nvSpPr>
        <p:spPr>
          <a:xfrm>
            <a:off x="7054850" y="3507581"/>
            <a:ext cx="203200" cy="203200"/>
          </a:xfrm>
          <a:prstGeom prst="rect">
            <a:avLst/>
          </a:prstGeom>
          <a:solidFill>
            <a:srgbClr val="2E3846"/>
          </a:solidFill>
          <a:ln/>
        </p:spPr>
      </p:sp>
      <p:sp>
        <p:nvSpPr>
          <p:cNvPr id="89" name="Shape 87"/>
          <p:cNvSpPr/>
          <p:nvPr/>
        </p:nvSpPr>
        <p:spPr>
          <a:xfrm>
            <a:off x="7277100" y="3507581"/>
            <a:ext cx="203200" cy="203200"/>
          </a:xfrm>
          <a:prstGeom prst="rect">
            <a:avLst/>
          </a:prstGeom>
          <a:solidFill>
            <a:srgbClr val="2E3846"/>
          </a:solidFill>
          <a:ln/>
        </p:spPr>
      </p:sp>
      <p:sp>
        <p:nvSpPr>
          <p:cNvPr id="90" name="Shape 88"/>
          <p:cNvSpPr/>
          <p:nvPr/>
        </p:nvSpPr>
        <p:spPr>
          <a:xfrm>
            <a:off x="7499350" y="3507581"/>
            <a:ext cx="203200" cy="203200"/>
          </a:xfrm>
          <a:prstGeom prst="rect">
            <a:avLst/>
          </a:prstGeom>
          <a:solidFill>
            <a:srgbClr val="E3E1DA"/>
          </a:solidFill>
          <a:ln/>
        </p:spPr>
      </p:sp>
      <p:sp>
        <p:nvSpPr>
          <p:cNvPr id="91" name="Shape 89"/>
          <p:cNvSpPr/>
          <p:nvPr/>
        </p:nvSpPr>
        <p:spPr>
          <a:xfrm>
            <a:off x="7721600" y="3507581"/>
            <a:ext cx="203200" cy="203200"/>
          </a:xfrm>
          <a:prstGeom prst="rect">
            <a:avLst/>
          </a:prstGeom>
          <a:solidFill>
            <a:srgbClr val="E3E1DA"/>
          </a:solidFill>
          <a:ln/>
        </p:spPr>
      </p:sp>
      <p:sp>
        <p:nvSpPr>
          <p:cNvPr id="92" name="Shape 90"/>
          <p:cNvSpPr/>
          <p:nvPr/>
        </p:nvSpPr>
        <p:spPr>
          <a:xfrm>
            <a:off x="7947025" y="3510756"/>
            <a:ext cx="196850" cy="196850"/>
          </a:xfrm>
          <a:prstGeom prst="rect">
            <a:avLst/>
          </a:prstGeom>
          <a:solidFill>
            <a:srgbClr val="FBF0E8"/>
          </a:solidFill>
          <a:ln w="6350">
            <a:solidFill>
              <a:srgbClr val="D9622B"/>
            </a:solidFill>
            <a:prstDash val="dash"/>
          </a:ln>
        </p:spPr>
      </p:sp>
      <p:sp>
        <p:nvSpPr>
          <p:cNvPr id="93" name="Shape 91"/>
          <p:cNvSpPr/>
          <p:nvPr/>
        </p:nvSpPr>
        <p:spPr>
          <a:xfrm>
            <a:off x="6391275" y="3733006"/>
            <a:ext cx="196850" cy="196850"/>
          </a:xfrm>
          <a:prstGeom prst="rect">
            <a:avLst/>
          </a:prstGeom>
          <a:solidFill>
            <a:srgbClr val="FBF0E8"/>
          </a:solidFill>
          <a:ln w="6350">
            <a:solidFill>
              <a:srgbClr val="D9622B"/>
            </a:solidFill>
            <a:prstDash val="dash"/>
          </a:ln>
        </p:spPr>
      </p:sp>
      <p:sp>
        <p:nvSpPr>
          <p:cNvPr id="94" name="Shape 92"/>
          <p:cNvSpPr/>
          <p:nvPr/>
        </p:nvSpPr>
        <p:spPr>
          <a:xfrm>
            <a:off x="6610350" y="3729831"/>
            <a:ext cx="203200" cy="203200"/>
          </a:xfrm>
          <a:prstGeom prst="rect">
            <a:avLst/>
          </a:prstGeom>
          <a:solidFill>
            <a:srgbClr val="E3E1DA"/>
          </a:solidFill>
          <a:ln/>
        </p:spPr>
      </p:sp>
      <p:sp>
        <p:nvSpPr>
          <p:cNvPr id="95" name="Shape 93"/>
          <p:cNvSpPr/>
          <p:nvPr/>
        </p:nvSpPr>
        <p:spPr>
          <a:xfrm>
            <a:off x="6832600" y="3729831"/>
            <a:ext cx="203200" cy="203200"/>
          </a:xfrm>
          <a:prstGeom prst="rect">
            <a:avLst/>
          </a:prstGeom>
          <a:solidFill>
            <a:srgbClr val="E3E1DA"/>
          </a:solidFill>
          <a:ln/>
        </p:spPr>
      </p:sp>
      <p:sp>
        <p:nvSpPr>
          <p:cNvPr id="96" name="Shape 94"/>
          <p:cNvSpPr/>
          <p:nvPr/>
        </p:nvSpPr>
        <p:spPr>
          <a:xfrm>
            <a:off x="7054850" y="3729831"/>
            <a:ext cx="203200" cy="203200"/>
          </a:xfrm>
          <a:prstGeom prst="rect">
            <a:avLst/>
          </a:prstGeom>
          <a:solidFill>
            <a:srgbClr val="2E3846"/>
          </a:solidFill>
          <a:ln/>
        </p:spPr>
      </p:sp>
      <p:sp>
        <p:nvSpPr>
          <p:cNvPr id="97" name="Shape 95"/>
          <p:cNvSpPr/>
          <p:nvPr/>
        </p:nvSpPr>
        <p:spPr>
          <a:xfrm>
            <a:off x="7277100" y="3729831"/>
            <a:ext cx="203200" cy="203200"/>
          </a:xfrm>
          <a:prstGeom prst="rect">
            <a:avLst/>
          </a:prstGeom>
          <a:solidFill>
            <a:srgbClr val="2E3846"/>
          </a:solidFill>
          <a:ln/>
        </p:spPr>
      </p:sp>
      <p:sp>
        <p:nvSpPr>
          <p:cNvPr id="98" name="Shape 96"/>
          <p:cNvSpPr/>
          <p:nvPr/>
        </p:nvSpPr>
        <p:spPr>
          <a:xfrm>
            <a:off x="7499350" y="3729831"/>
            <a:ext cx="203200" cy="203200"/>
          </a:xfrm>
          <a:prstGeom prst="rect">
            <a:avLst/>
          </a:prstGeom>
          <a:solidFill>
            <a:srgbClr val="E3E1DA"/>
          </a:solidFill>
          <a:ln/>
        </p:spPr>
      </p:sp>
      <p:sp>
        <p:nvSpPr>
          <p:cNvPr id="99" name="Shape 97"/>
          <p:cNvSpPr/>
          <p:nvPr/>
        </p:nvSpPr>
        <p:spPr>
          <a:xfrm>
            <a:off x="7721600" y="3729831"/>
            <a:ext cx="203200" cy="203200"/>
          </a:xfrm>
          <a:prstGeom prst="rect">
            <a:avLst/>
          </a:prstGeom>
          <a:solidFill>
            <a:srgbClr val="E3E1DA"/>
          </a:solidFill>
          <a:ln/>
        </p:spPr>
      </p:sp>
      <p:sp>
        <p:nvSpPr>
          <p:cNvPr id="100" name="Shape 98"/>
          <p:cNvSpPr/>
          <p:nvPr/>
        </p:nvSpPr>
        <p:spPr>
          <a:xfrm>
            <a:off x="7947025" y="3733006"/>
            <a:ext cx="196850" cy="196850"/>
          </a:xfrm>
          <a:prstGeom prst="rect">
            <a:avLst/>
          </a:prstGeom>
          <a:solidFill>
            <a:srgbClr val="FBF0E8"/>
          </a:solidFill>
          <a:ln w="6350">
            <a:solidFill>
              <a:srgbClr val="D9622B"/>
            </a:solidFill>
            <a:prstDash val="dash"/>
          </a:ln>
        </p:spPr>
      </p:sp>
      <p:sp>
        <p:nvSpPr>
          <p:cNvPr id="101" name="Shape 99"/>
          <p:cNvSpPr/>
          <p:nvPr/>
        </p:nvSpPr>
        <p:spPr>
          <a:xfrm>
            <a:off x="6391275" y="3955256"/>
            <a:ext cx="196850" cy="196850"/>
          </a:xfrm>
          <a:prstGeom prst="rect">
            <a:avLst/>
          </a:prstGeom>
          <a:solidFill>
            <a:srgbClr val="FBF0E8"/>
          </a:solidFill>
          <a:ln w="6350">
            <a:solidFill>
              <a:srgbClr val="D9622B"/>
            </a:solidFill>
            <a:prstDash val="dash"/>
          </a:ln>
        </p:spPr>
      </p:sp>
      <p:sp>
        <p:nvSpPr>
          <p:cNvPr id="102" name="Shape 100"/>
          <p:cNvSpPr/>
          <p:nvPr/>
        </p:nvSpPr>
        <p:spPr>
          <a:xfrm>
            <a:off x="6610350" y="3952081"/>
            <a:ext cx="203200" cy="203200"/>
          </a:xfrm>
          <a:prstGeom prst="rect">
            <a:avLst/>
          </a:prstGeom>
          <a:solidFill>
            <a:srgbClr val="E3E1DA"/>
          </a:solidFill>
          <a:ln/>
        </p:spPr>
      </p:sp>
      <p:sp>
        <p:nvSpPr>
          <p:cNvPr id="103" name="Shape 101"/>
          <p:cNvSpPr/>
          <p:nvPr/>
        </p:nvSpPr>
        <p:spPr>
          <a:xfrm>
            <a:off x="6832600" y="3952081"/>
            <a:ext cx="203200" cy="203200"/>
          </a:xfrm>
          <a:prstGeom prst="rect">
            <a:avLst/>
          </a:prstGeom>
          <a:solidFill>
            <a:srgbClr val="E3E1DA"/>
          </a:solidFill>
          <a:ln/>
        </p:spPr>
      </p:sp>
      <p:sp>
        <p:nvSpPr>
          <p:cNvPr id="104" name="Shape 102"/>
          <p:cNvSpPr/>
          <p:nvPr/>
        </p:nvSpPr>
        <p:spPr>
          <a:xfrm>
            <a:off x="7054850" y="3952081"/>
            <a:ext cx="203200" cy="203200"/>
          </a:xfrm>
          <a:prstGeom prst="rect">
            <a:avLst/>
          </a:prstGeom>
          <a:solidFill>
            <a:srgbClr val="2E3846"/>
          </a:solidFill>
          <a:ln/>
        </p:spPr>
      </p:sp>
      <p:sp>
        <p:nvSpPr>
          <p:cNvPr id="105" name="Shape 103"/>
          <p:cNvSpPr/>
          <p:nvPr/>
        </p:nvSpPr>
        <p:spPr>
          <a:xfrm>
            <a:off x="7277100" y="3952081"/>
            <a:ext cx="203200" cy="203200"/>
          </a:xfrm>
          <a:prstGeom prst="rect">
            <a:avLst/>
          </a:prstGeom>
          <a:solidFill>
            <a:srgbClr val="2E3846"/>
          </a:solidFill>
          <a:ln/>
        </p:spPr>
      </p:sp>
      <p:sp>
        <p:nvSpPr>
          <p:cNvPr id="106" name="Shape 104"/>
          <p:cNvSpPr/>
          <p:nvPr/>
        </p:nvSpPr>
        <p:spPr>
          <a:xfrm>
            <a:off x="7499350" y="3952081"/>
            <a:ext cx="203200" cy="203200"/>
          </a:xfrm>
          <a:prstGeom prst="rect">
            <a:avLst/>
          </a:prstGeom>
          <a:solidFill>
            <a:srgbClr val="E3E1DA"/>
          </a:solidFill>
          <a:ln/>
        </p:spPr>
      </p:sp>
      <p:sp>
        <p:nvSpPr>
          <p:cNvPr id="107" name="Shape 105"/>
          <p:cNvSpPr/>
          <p:nvPr/>
        </p:nvSpPr>
        <p:spPr>
          <a:xfrm>
            <a:off x="7721600" y="3952081"/>
            <a:ext cx="203200" cy="203200"/>
          </a:xfrm>
          <a:prstGeom prst="rect">
            <a:avLst/>
          </a:prstGeom>
          <a:solidFill>
            <a:srgbClr val="E3E1DA"/>
          </a:solidFill>
          <a:ln/>
        </p:spPr>
      </p:sp>
      <p:sp>
        <p:nvSpPr>
          <p:cNvPr id="108" name="Shape 106"/>
          <p:cNvSpPr/>
          <p:nvPr/>
        </p:nvSpPr>
        <p:spPr>
          <a:xfrm>
            <a:off x="7947025" y="3955256"/>
            <a:ext cx="196850" cy="196850"/>
          </a:xfrm>
          <a:prstGeom prst="rect">
            <a:avLst/>
          </a:prstGeom>
          <a:solidFill>
            <a:srgbClr val="FBF0E8"/>
          </a:solidFill>
          <a:ln w="6350">
            <a:solidFill>
              <a:srgbClr val="D9622B"/>
            </a:solidFill>
            <a:prstDash val="dash"/>
          </a:ln>
        </p:spPr>
      </p:sp>
      <p:sp>
        <p:nvSpPr>
          <p:cNvPr id="109" name="Shape 107"/>
          <p:cNvSpPr/>
          <p:nvPr/>
        </p:nvSpPr>
        <p:spPr>
          <a:xfrm>
            <a:off x="6391275" y="4177506"/>
            <a:ext cx="196850" cy="196850"/>
          </a:xfrm>
          <a:prstGeom prst="rect">
            <a:avLst/>
          </a:prstGeom>
          <a:solidFill>
            <a:srgbClr val="FBF0E8"/>
          </a:solidFill>
          <a:ln w="6350">
            <a:solidFill>
              <a:srgbClr val="D9622B"/>
            </a:solidFill>
            <a:prstDash val="dash"/>
          </a:ln>
        </p:spPr>
      </p:sp>
      <p:sp>
        <p:nvSpPr>
          <p:cNvPr id="110" name="Shape 108"/>
          <p:cNvSpPr/>
          <p:nvPr/>
        </p:nvSpPr>
        <p:spPr>
          <a:xfrm>
            <a:off x="6613525" y="4177506"/>
            <a:ext cx="196850" cy="196850"/>
          </a:xfrm>
          <a:prstGeom prst="rect">
            <a:avLst/>
          </a:prstGeom>
          <a:solidFill>
            <a:srgbClr val="FBF0E8"/>
          </a:solidFill>
          <a:ln w="6350">
            <a:solidFill>
              <a:srgbClr val="D9622B"/>
            </a:solidFill>
            <a:prstDash val="dash"/>
          </a:ln>
        </p:spPr>
      </p:sp>
      <p:sp>
        <p:nvSpPr>
          <p:cNvPr id="111" name="Shape 109"/>
          <p:cNvSpPr/>
          <p:nvPr/>
        </p:nvSpPr>
        <p:spPr>
          <a:xfrm>
            <a:off x="6835775" y="4177506"/>
            <a:ext cx="196850" cy="196850"/>
          </a:xfrm>
          <a:prstGeom prst="rect">
            <a:avLst/>
          </a:prstGeom>
          <a:solidFill>
            <a:srgbClr val="FBF0E8"/>
          </a:solidFill>
          <a:ln w="6350">
            <a:solidFill>
              <a:srgbClr val="D9622B"/>
            </a:solidFill>
            <a:prstDash val="dash"/>
          </a:ln>
        </p:spPr>
      </p:sp>
      <p:sp>
        <p:nvSpPr>
          <p:cNvPr id="112" name="Shape 110"/>
          <p:cNvSpPr/>
          <p:nvPr/>
        </p:nvSpPr>
        <p:spPr>
          <a:xfrm>
            <a:off x="7058025" y="4177506"/>
            <a:ext cx="196850" cy="196850"/>
          </a:xfrm>
          <a:prstGeom prst="rect">
            <a:avLst/>
          </a:prstGeom>
          <a:solidFill>
            <a:srgbClr val="FBF0E8"/>
          </a:solidFill>
          <a:ln w="6350">
            <a:solidFill>
              <a:srgbClr val="D9622B"/>
            </a:solidFill>
            <a:prstDash val="dash"/>
          </a:ln>
        </p:spPr>
      </p:sp>
      <p:sp>
        <p:nvSpPr>
          <p:cNvPr id="113" name="Shape 111"/>
          <p:cNvSpPr/>
          <p:nvPr/>
        </p:nvSpPr>
        <p:spPr>
          <a:xfrm>
            <a:off x="7280275" y="4177506"/>
            <a:ext cx="196850" cy="196850"/>
          </a:xfrm>
          <a:prstGeom prst="rect">
            <a:avLst/>
          </a:prstGeom>
          <a:solidFill>
            <a:srgbClr val="FBF0E8"/>
          </a:solidFill>
          <a:ln w="6350">
            <a:solidFill>
              <a:srgbClr val="D9622B"/>
            </a:solidFill>
            <a:prstDash val="dash"/>
          </a:ln>
        </p:spPr>
      </p:sp>
      <p:sp>
        <p:nvSpPr>
          <p:cNvPr id="114" name="Shape 112"/>
          <p:cNvSpPr/>
          <p:nvPr/>
        </p:nvSpPr>
        <p:spPr>
          <a:xfrm>
            <a:off x="7502525" y="4177506"/>
            <a:ext cx="196850" cy="196850"/>
          </a:xfrm>
          <a:prstGeom prst="rect">
            <a:avLst/>
          </a:prstGeom>
          <a:solidFill>
            <a:srgbClr val="FBF0E8"/>
          </a:solidFill>
          <a:ln w="6350">
            <a:solidFill>
              <a:srgbClr val="D9622B"/>
            </a:solidFill>
            <a:prstDash val="dash"/>
          </a:ln>
        </p:spPr>
      </p:sp>
      <p:sp>
        <p:nvSpPr>
          <p:cNvPr id="115" name="Shape 113"/>
          <p:cNvSpPr/>
          <p:nvPr/>
        </p:nvSpPr>
        <p:spPr>
          <a:xfrm>
            <a:off x="7724775" y="4177506"/>
            <a:ext cx="196850" cy="196850"/>
          </a:xfrm>
          <a:prstGeom prst="rect">
            <a:avLst/>
          </a:prstGeom>
          <a:solidFill>
            <a:srgbClr val="FBF0E8"/>
          </a:solidFill>
          <a:ln w="6350">
            <a:solidFill>
              <a:srgbClr val="D9622B"/>
            </a:solidFill>
            <a:prstDash val="dash"/>
          </a:ln>
        </p:spPr>
      </p:sp>
      <p:sp>
        <p:nvSpPr>
          <p:cNvPr id="116" name="Shape 114"/>
          <p:cNvSpPr/>
          <p:nvPr/>
        </p:nvSpPr>
        <p:spPr>
          <a:xfrm>
            <a:off x="7947025" y="4177506"/>
            <a:ext cx="196850" cy="196850"/>
          </a:xfrm>
          <a:prstGeom prst="rect">
            <a:avLst/>
          </a:prstGeom>
          <a:solidFill>
            <a:srgbClr val="FBF0E8"/>
          </a:solidFill>
          <a:ln w="6350">
            <a:solidFill>
              <a:srgbClr val="D9622B"/>
            </a:solidFill>
            <a:prstDash val="dash"/>
          </a:ln>
        </p:spPr>
      </p:sp>
      <p:sp>
        <p:nvSpPr>
          <p:cNvPr id="117" name="Text 115"/>
          <p:cNvSpPr/>
          <p:nvPr/>
        </p:nvSpPr>
        <p:spPr>
          <a:xfrm>
            <a:off x="8324850" y="2818606"/>
            <a:ext cx="294976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Dashed ring = zeros added around our 6×6 “1”.</a:t>
            </a:r>
            <a:endParaRPr lang="en-US" sz="1300" dirty="0"/>
          </a:p>
        </p:txBody>
      </p:sp>
      <p:sp>
        <p:nvSpPr>
          <p:cNvPr id="118" name="Text 116"/>
          <p:cNvSpPr/>
          <p:nvPr/>
        </p:nvSpPr>
        <p:spPr>
          <a:xfrm>
            <a:off x="8324850" y="3382466"/>
            <a:ext cx="2949766"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2430"/>
                </a:solidFill>
                <a:latin typeface="DM Sans" pitchFamily="34" charset="0"/>
                <a:ea typeface="DM Sans" pitchFamily="34" charset="-122"/>
                <a:cs typeface="DM Sans" pitchFamily="34" charset="-120"/>
              </a:rPr>
              <a:t>valid</a:t>
            </a:r>
            <a:r>
              <a:rPr lang="en-US" sz="1300" dirty="0">
                <a:solidFill>
                  <a:srgbClr val="1B2430"/>
                </a:solidFill>
                <a:latin typeface="DM Sans" pitchFamily="34" charset="0"/>
                <a:ea typeface="DM Sans" pitchFamily="34" charset="-122"/>
                <a:cs typeface="DM Sans" pitchFamily="34" charset="-120"/>
              </a:rPr>
              <a:t> (no padding): 6×6 → 4×4. </a:t>
            </a:r>
            <a:r>
              <a:rPr lang="en-US" sz="1300" b="1" dirty="0">
                <a:solidFill>
                  <a:srgbClr val="1B2430"/>
                </a:solidFill>
                <a:latin typeface="DM Sans" pitchFamily="34" charset="0"/>
                <a:ea typeface="DM Sans" pitchFamily="34" charset="-122"/>
                <a:cs typeface="DM Sans" pitchFamily="34" charset="-120"/>
              </a:rPr>
              <a:t>We use this.</a:t>
            </a:r>
            <a:endParaRPr lang="en-US" sz="1300" dirty="0"/>
          </a:p>
        </p:txBody>
      </p:sp>
      <p:sp>
        <p:nvSpPr>
          <p:cNvPr id="119" name="Text 117"/>
          <p:cNvSpPr/>
          <p:nvPr/>
        </p:nvSpPr>
        <p:spPr>
          <a:xfrm>
            <a:off x="8324850" y="3946327"/>
            <a:ext cx="294976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2430"/>
                </a:solidFill>
                <a:latin typeface="DM Sans" pitchFamily="34" charset="0"/>
                <a:ea typeface="DM Sans" pitchFamily="34" charset="-122"/>
                <a:cs typeface="DM Sans" pitchFamily="34" charset="-120"/>
              </a:rPr>
              <a:t>same</a:t>
            </a:r>
            <a:r>
              <a:rPr lang="en-US" sz="1300" dirty="0">
                <a:solidFill>
                  <a:srgbClr val="1B2430"/>
                </a:solidFill>
                <a:latin typeface="DM Sans" pitchFamily="34" charset="0"/>
                <a:ea typeface="DM Sans" pitchFamily="34" charset="-122"/>
                <a:cs typeface="DM Sans" pitchFamily="34" charset="-120"/>
              </a:rPr>
              <a:t> (zeros added): 6×6 → 6×6.</a:t>
            </a:r>
            <a:endParaRPr lang="en-US" sz="1300" dirty="0"/>
          </a:p>
        </p:txBody>
      </p:sp>
      <p:sp>
        <p:nvSpPr>
          <p:cNvPr id="120" name="Shape 118"/>
          <p:cNvSpPr/>
          <p:nvPr/>
        </p:nvSpPr>
        <p:spPr>
          <a:xfrm>
            <a:off x="812800" y="4771231"/>
            <a:ext cx="10566400" cy="767060"/>
          </a:xfrm>
          <a:prstGeom prst="roundRect">
            <a:avLst>
              <a:gd name="adj" fmla="val 13245"/>
            </a:avLst>
          </a:prstGeom>
          <a:solidFill>
            <a:srgbClr val="1B2430"/>
          </a:solidFill>
          <a:ln/>
        </p:spPr>
      </p:sp>
      <p:sp>
        <p:nvSpPr>
          <p:cNvPr id="121" name="Text 119"/>
          <p:cNvSpPr/>
          <p:nvPr/>
        </p:nvSpPr>
        <p:spPr>
          <a:xfrm>
            <a:off x="1041400" y="5012531"/>
            <a:ext cx="384046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5F0"/>
                </a:solidFill>
                <a:latin typeface="JetBrains Mono" pitchFamily="49" charset="0"/>
                <a:ea typeface="JetBrains Mono" pitchFamily="49" charset="-122"/>
                <a:cs typeface="JetBrains Mono" pitchFamily="49" charset="-120"/>
              </a:rPr>
              <a:t>output = (N − F + 2P) ÷ S + 1</a:t>
            </a:r>
            <a:endParaRPr lang="en-US" sz="1600" dirty="0"/>
          </a:p>
        </p:txBody>
      </p:sp>
      <p:sp>
        <p:nvSpPr>
          <p:cNvPr id="122" name="Text 120"/>
          <p:cNvSpPr/>
          <p:nvPr/>
        </p:nvSpPr>
        <p:spPr>
          <a:xfrm>
            <a:off x="4881860" y="4923631"/>
            <a:ext cx="277475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7D2"/>
                </a:solidFill>
                <a:latin typeface="DM Sans" pitchFamily="34" charset="0"/>
                <a:ea typeface="DM Sans" pitchFamily="34" charset="-122"/>
                <a:cs typeface="DM Sans" pitchFamily="34" charset="-120"/>
              </a:rPr>
              <a:t>N image, F filter, P padding, S stride.</a:t>
            </a:r>
            <a:endParaRPr lang="en-US" sz="1300" dirty="0"/>
          </a:p>
          <a:p>
            <a:pPr algn="l" indent="0" marL="0">
              <a:lnSpc>
                <a:spcPts val="1820"/>
              </a:lnSpc>
              <a:buNone/>
            </a:pPr>
            <a:r>
              <a:rPr lang="en-US" sz="1300" dirty="0">
                <a:solidFill>
                  <a:srgbClr val="BFC7D2"/>
                </a:solidFill>
                <a:latin typeface="DM Sans" pitchFamily="34" charset="0"/>
                <a:ea typeface="DM Sans" pitchFamily="34" charset="-122"/>
                <a:cs typeface="DM Sans" pitchFamily="34" charset="-120"/>
              </a:rPr>
              <a:t>Ours: (6 − 3 + 0) ÷ 1 + 1 = </a:t>
            </a:r>
            <a:r>
              <a:rPr lang="en-US" sz="1300" dirty="0">
                <a:solidFill>
                  <a:srgbClr val="F0A070"/>
                </a:solidFill>
                <a:latin typeface="DM Sans" pitchFamily="34" charset="0"/>
                <a:ea typeface="DM Sans" pitchFamily="34" charset="-122"/>
                <a:cs typeface="DM Sans" pitchFamily="34" charset="-120"/>
              </a:rPr>
              <a:t>4</a:t>
            </a:r>
            <a:endParaRPr lang="en-US" sz="1300" dirty="0"/>
          </a:p>
        </p:txBody>
      </p:sp>
      <p:sp>
        <p:nvSpPr>
          <p:cNvPr id="123" name="Text 1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DM Sans" pitchFamily="34" charset="0"/>
                <a:ea typeface="DM Sans" pitchFamily="34" charset="-122"/>
                <a:cs typeface="DM Sans" pitchFamily="34" charset="-120"/>
              </a:rPr>
              <a:t>CNN step by step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819150" y="412750"/>
            <a:ext cx="1108075" cy="515541"/>
          </a:xfrm>
          <a:prstGeom prst="roundRect">
            <a:avLst>
              <a:gd name="adj" fmla="val 11085"/>
            </a:avLst>
          </a:prstGeom>
          <a:solidFill>
            <a:srgbClr val="E8E3D6"/>
          </a:solidFill>
          <a:ln w="12700">
            <a:solidFill>
              <a:srgbClr val="E8E3D6"/>
            </a:solidFill>
            <a:prstDash val="solid"/>
          </a:ln>
        </p:spPr>
      </p:sp>
      <p:sp>
        <p:nvSpPr>
          <p:cNvPr id="3" name="Text 1"/>
          <p:cNvSpPr/>
          <p:nvPr/>
        </p:nvSpPr>
        <p:spPr>
          <a:xfrm>
            <a:off x="85090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2430"/>
                </a:solidFill>
                <a:latin typeface="DM Sans" pitchFamily="34" charset="0"/>
                <a:ea typeface="DM Sans" pitchFamily="34" charset="-122"/>
                <a:cs typeface="DM Sans" pitchFamily="34" charset="-120"/>
              </a:rPr>
              <a:t>Image</a:t>
            </a:r>
            <a:endParaRPr lang="en-US" sz="1200" dirty="0"/>
          </a:p>
        </p:txBody>
      </p:sp>
      <p:sp>
        <p:nvSpPr>
          <p:cNvPr id="4" name="Text 2"/>
          <p:cNvSpPr/>
          <p:nvPr/>
        </p:nvSpPr>
        <p:spPr>
          <a:xfrm>
            <a:off x="85090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JetBrains Mono" pitchFamily="49" charset="0"/>
                <a:ea typeface="JetBrains Mono" pitchFamily="49" charset="-122"/>
                <a:cs typeface="JetBrains Mono" pitchFamily="49" charset="-120"/>
              </a:rPr>
              <a:t>6×6</a:t>
            </a:r>
            <a:endParaRPr lang="en-US" sz="1200" dirty="0"/>
          </a:p>
        </p:txBody>
      </p:sp>
      <p:sp>
        <p:nvSpPr>
          <p:cNvPr id="5" name="Text 3"/>
          <p:cNvSpPr/>
          <p:nvPr/>
        </p:nvSpPr>
        <p:spPr>
          <a:xfrm>
            <a:off x="197167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6" name="Shape 4"/>
          <p:cNvSpPr/>
          <p:nvPr/>
        </p:nvSpPr>
        <p:spPr>
          <a:xfrm>
            <a:off x="2168525" y="412750"/>
            <a:ext cx="1108075" cy="515541"/>
          </a:xfrm>
          <a:prstGeom prst="roundRect">
            <a:avLst>
              <a:gd name="adj" fmla="val 11085"/>
            </a:avLst>
          </a:prstGeom>
          <a:solidFill>
            <a:srgbClr val="E8E3D6"/>
          </a:solidFill>
          <a:ln w="12700">
            <a:solidFill>
              <a:srgbClr val="E8E3D6"/>
            </a:solidFill>
            <a:prstDash val="solid"/>
          </a:ln>
        </p:spPr>
      </p:sp>
      <p:sp>
        <p:nvSpPr>
          <p:cNvPr id="7" name="Text 5"/>
          <p:cNvSpPr/>
          <p:nvPr/>
        </p:nvSpPr>
        <p:spPr>
          <a:xfrm>
            <a:off x="220027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2430"/>
                </a:solidFill>
                <a:latin typeface="DM Sans" pitchFamily="34" charset="0"/>
                <a:ea typeface="DM Sans" pitchFamily="34" charset="-122"/>
                <a:cs typeface="DM Sans" pitchFamily="34" charset="-120"/>
              </a:rPr>
              <a:t>Conv</a:t>
            </a:r>
            <a:endParaRPr lang="en-US" sz="1200" dirty="0"/>
          </a:p>
        </p:txBody>
      </p:sp>
      <p:sp>
        <p:nvSpPr>
          <p:cNvPr id="8" name="Text 6"/>
          <p:cNvSpPr/>
          <p:nvPr/>
        </p:nvSpPr>
        <p:spPr>
          <a:xfrm>
            <a:off x="220027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JetBrains Mono" pitchFamily="49" charset="0"/>
                <a:ea typeface="JetBrains Mono" pitchFamily="49" charset="-122"/>
                <a:cs typeface="JetBrains Mono" pitchFamily="49" charset="-120"/>
              </a:rPr>
              <a:t>4×4</a:t>
            </a:r>
            <a:endParaRPr lang="en-US" sz="1200" dirty="0"/>
          </a:p>
        </p:txBody>
      </p:sp>
      <p:sp>
        <p:nvSpPr>
          <p:cNvPr id="9" name="Text 7"/>
          <p:cNvSpPr/>
          <p:nvPr/>
        </p:nvSpPr>
        <p:spPr>
          <a:xfrm>
            <a:off x="3321050"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10" name="Shape 8"/>
          <p:cNvSpPr/>
          <p:nvPr/>
        </p:nvSpPr>
        <p:spPr>
          <a:xfrm>
            <a:off x="3517900" y="412750"/>
            <a:ext cx="1108075" cy="515541"/>
          </a:xfrm>
          <a:prstGeom prst="roundRect">
            <a:avLst>
              <a:gd name="adj" fmla="val 11085"/>
            </a:avLst>
          </a:prstGeom>
          <a:solidFill>
            <a:srgbClr val="B8501F"/>
          </a:solidFill>
          <a:ln w="12700">
            <a:solidFill>
              <a:srgbClr val="B8501F"/>
            </a:solidFill>
            <a:prstDash val="solid"/>
          </a:ln>
        </p:spPr>
      </p:sp>
      <p:sp>
        <p:nvSpPr>
          <p:cNvPr id="11" name="Text 9"/>
          <p:cNvSpPr/>
          <p:nvPr/>
        </p:nvSpPr>
        <p:spPr>
          <a:xfrm>
            <a:off x="354965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FFDF8"/>
                </a:solidFill>
                <a:latin typeface="DM Sans" pitchFamily="34" charset="0"/>
                <a:ea typeface="DM Sans" pitchFamily="34" charset="-122"/>
                <a:cs typeface="DM Sans" pitchFamily="34" charset="-120"/>
              </a:rPr>
              <a:t>ReLU</a:t>
            </a:r>
            <a:endParaRPr lang="en-US" sz="1200" dirty="0"/>
          </a:p>
        </p:txBody>
      </p:sp>
      <p:sp>
        <p:nvSpPr>
          <p:cNvPr id="12" name="Text 10"/>
          <p:cNvSpPr/>
          <p:nvPr/>
        </p:nvSpPr>
        <p:spPr>
          <a:xfrm>
            <a:off x="354965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FFDF8"/>
                </a:solidFill>
                <a:latin typeface="JetBrains Mono" pitchFamily="49" charset="0"/>
                <a:ea typeface="JetBrains Mono" pitchFamily="49" charset="-122"/>
                <a:cs typeface="JetBrains Mono" pitchFamily="49" charset="-120"/>
              </a:rPr>
              <a:t>4×4</a:t>
            </a:r>
            <a:endParaRPr lang="en-US" sz="1200" dirty="0"/>
          </a:p>
        </p:txBody>
      </p:sp>
      <p:sp>
        <p:nvSpPr>
          <p:cNvPr id="13" name="Text 11"/>
          <p:cNvSpPr/>
          <p:nvPr/>
        </p:nvSpPr>
        <p:spPr>
          <a:xfrm>
            <a:off x="467042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14" name="Shape 12"/>
          <p:cNvSpPr/>
          <p:nvPr/>
        </p:nvSpPr>
        <p:spPr>
          <a:xfrm>
            <a:off x="4867275" y="412750"/>
            <a:ext cx="1108075" cy="515541"/>
          </a:xfrm>
          <a:prstGeom prst="roundRect">
            <a:avLst>
              <a:gd name="adj" fmla="val 11085"/>
            </a:avLst>
          </a:prstGeom>
          <a:noFill/>
          <a:ln w="12700">
            <a:solidFill>
              <a:srgbClr val="D8D4C8"/>
            </a:solidFill>
            <a:prstDash val="solid"/>
          </a:ln>
        </p:spPr>
      </p:sp>
      <p:sp>
        <p:nvSpPr>
          <p:cNvPr id="15" name="Text 13"/>
          <p:cNvSpPr/>
          <p:nvPr/>
        </p:nvSpPr>
        <p:spPr>
          <a:xfrm>
            <a:off x="489902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Pool</a:t>
            </a:r>
            <a:endParaRPr lang="en-US" sz="1200" dirty="0"/>
          </a:p>
        </p:txBody>
      </p:sp>
      <p:sp>
        <p:nvSpPr>
          <p:cNvPr id="16" name="Text 14"/>
          <p:cNvSpPr/>
          <p:nvPr/>
        </p:nvSpPr>
        <p:spPr>
          <a:xfrm>
            <a:off x="489902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2×2</a:t>
            </a:r>
            <a:endParaRPr lang="en-US" sz="1200" dirty="0"/>
          </a:p>
        </p:txBody>
      </p:sp>
      <p:sp>
        <p:nvSpPr>
          <p:cNvPr id="17" name="Text 15"/>
          <p:cNvSpPr/>
          <p:nvPr/>
        </p:nvSpPr>
        <p:spPr>
          <a:xfrm>
            <a:off x="6019800"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18" name="Shape 16"/>
          <p:cNvSpPr/>
          <p:nvPr/>
        </p:nvSpPr>
        <p:spPr>
          <a:xfrm>
            <a:off x="6216650" y="412750"/>
            <a:ext cx="1108075" cy="515541"/>
          </a:xfrm>
          <a:prstGeom prst="roundRect">
            <a:avLst>
              <a:gd name="adj" fmla="val 11085"/>
            </a:avLst>
          </a:prstGeom>
          <a:noFill/>
          <a:ln w="12700">
            <a:solidFill>
              <a:srgbClr val="D8D4C8"/>
            </a:solidFill>
            <a:prstDash val="solid"/>
          </a:ln>
        </p:spPr>
      </p:sp>
      <p:sp>
        <p:nvSpPr>
          <p:cNvPr id="19" name="Text 17"/>
          <p:cNvSpPr/>
          <p:nvPr/>
        </p:nvSpPr>
        <p:spPr>
          <a:xfrm>
            <a:off x="624840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Flatten</a:t>
            </a:r>
            <a:endParaRPr lang="en-US" sz="1200" dirty="0"/>
          </a:p>
        </p:txBody>
      </p:sp>
      <p:sp>
        <p:nvSpPr>
          <p:cNvPr id="20" name="Text 18"/>
          <p:cNvSpPr/>
          <p:nvPr/>
        </p:nvSpPr>
        <p:spPr>
          <a:xfrm>
            <a:off x="624840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4 nums</a:t>
            </a:r>
            <a:endParaRPr lang="en-US" sz="1200" dirty="0"/>
          </a:p>
        </p:txBody>
      </p:sp>
      <p:sp>
        <p:nvSpPr>
          <p:cNvPr id="21" name="Text 19"/>
          <p:cNvSpPr/>
          <p:nvPr/>
        </p:nvSpPr>
        <p:spPr>
          <a:xfrm>
            <a:off x="736917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22" name="Shape 20"/>
          <p:cNvSpPr/>
          <p:nvPr/>
        </p:nvSpPr>
        <p:spPr>
          <a:xfrm>
            <a:off x="7566025" y="412750"/>
            <a:ext cx="1108075" cy="515541"/>
          </a:xfrm>
          <a:prstGeom prst="roundRect">
            <a:avLst>
              <a:gd name="adj" fmla="val 11085"/>
            </a:avLst>
          </a:prstGeom>
          <a:noFill/>
          <a:ln w="12700">
            <a:solidFill>
              <a:srgbClr val="D8D4C8"/>
            </a:solidFill>
            <a:prstDash val="solid"/>
          </a:ln>
        </p:spPr>
      </p:sp>
      <p:sp>
        <p:nvSpPr>
          <p:cNvPr id="23" name="Text 21"/>
          <p:cNvSpPr/>
          <p:nvPr/>
        </p:nvSpPr>
        <p:spPr>
          <a:xfrm>
            <a:off x="759777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Dense</a:t>
            </a:r>
            <a:endParaRPr lang="en-US" sz="1200" dirty="0"/>
          </a:p>
        </p:txBody>
      </p:sp>
      <p:sp>
        <p:nvSpPr>
          <p:cNvPr id="24" name="Text 22"/>
          <p:cNvSpPr/>
          <p:nvPr/>
        </p:nvSpPr>
        <p:spPr>
          <a:xfrm>
            <a:off x="759777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3 scores</a:t>
            </a:r>
            <a:endParaRPr lang="en-US" sz="1200" dirty="0"/>
          </a:p>
        </p:txBody>
      </p:sp>
      <p:sp>
        <p:nvSpPr>
          <p:cNvPr id="25" name="Text 23"/>
          <p:cNvSpPr/>
          <p:nvPr/>
        </p:nvSpPr>
        <p:spPr>
          <a:xfrm>
            <a:off x="8718550"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26" name="Shape 24"/>
          <p:cNvSpPr/>
          <p:nvPr/>
        </p:nvSpPr>
        <p:spPr>
          <a:xfrm>
            <a:off x="8915400" y="412750"/>
            <a:ext cx="1108075" cy="515541"/>
          </a:xfrm>
          <a:prstGeom prst="roundRect">
            <a:avLst>
              <a:gd name="adj" fmla="val 11085"/>
            </a:avLst>
          </a:prstGeom>
          <a:noFill/>
          <a:ln w="12700">
            <a:solidFill>
              <a:srgbClr val="D8D4C8"/>
            </a:solidFill>
            <a:prstDash val="solid"/>
          </a:ln>
        </p:spPr>
      </p:sp>
      <p:sp>
        <p:nvSpPr>
          <p:cNvPr id="27" name="Text 25"/>
          <p:cNvSpPr/>
          <p:nvPr/>
        </p:nvSpPr>
        <p:spPr>
          <a:xfrm>
            <a:off x="894715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Softmax</a:t>
            </a:r>
            <a:endParaRPr lang="en-US" sz="1200" dirty="0"/>
          </a:p>
        </p:txBody>
      </p:sp>
      <p:sp>
        <p:nvSpPr>
          <p:cNvPr id="28" name="Text 26"/>
          <p:cNvSpPr/>
          <p:nvPr/>
        </p:nvSpPr>
        <p:spPr>
          <a:xfrm>
            <a:off x="894715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3 chances</a:t>
            </a:r>
            <a:endParaRPr lang="en-US" sz="1200" dirty="0"/>
          </a:p>
        </p:txBody>
      </p:sp>
      <p:sp>
        <p:nvSpPr>
          <p:cNvPr id="29" name="Text 27"/>
          <p:cNvSpPr/>
          <p:nvPr/>
        </p:nvSpPr>
        <p:spPr>
          <a:xfrm>
            <a:off x="1006792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30" name="Shape 28"/>
          <p:cNvSpPr/>
          <p:nvPr/>
        </p:nvSpPr>
        <p:spPr>
          <a:xfrm>
            <a:off x="10264775" y="412750"/>
            <a:ext cx="1108075" cy="515541"/>
          </a:xfrm>
          <a:prstGeom prst="roundRect">
            <a:avLst>
              <a:gd name="adj" fmla="val 11085"/>
            </a:avLst>
          </a:prstGeom>
          <a:noFill/>
          <a:ln w="12700">
            <a:solidFill>
              <a:srgbClr val="D8D4C8"/>
            </a:solidFill>
            <a:prstDash val="solid"/>
          </a:ln>
        </p:spPr>
      </p:sp>
      <p:sp>
        <p:nvSpPr>
          <p:cNvPr id="31" name="Text 29"/>
          <p:cNvSpPr/>
          <p:nvPr/>
        </p:nvSpPr>
        <p:spPr>
          <a:xfrm>
            <a:off x="1029652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Answer</a:t>
            </a:r>
            <a:endParaRPr lang="en-US" sz="1200" dirty="0"/>
          </a:p>
        </p:txBody>
      </p:sp>
      <p:sp>
        <p:nvSpPr>
          <p:cNvPr id="32" name="Text 30"/>
          <p:cNvSpPr/>
          <p:nvPr/>
        </p:nvSpPr>
        <p:spPr>
          <a:xfrm>
            <a:off x="1029652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“1”</a:t>
            </a:r>
            <a:endParaRPr lang="en-US" sz="1200" dirty="0"/>
          </a:p>
        </p:txBody>
      </p:sp>
      <p:sp>
        <p:nvSpPr>
          <p:cNvPr id="33" name="Text 31"/>
          <p:cNvSpPr/>
          <p:nvPr/>
        </p:nvSpPr>
        <p:spPr>
          <a:xfrm>
            <a:off x="812800" y="113784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501F"/>
                </a:solidFill>
                <a:latin typeface="DM Sans" pitchFamily="34" charset="0"/>
                <a:ea typeface="DM Sans" pitchFamily="34" charset="-122"/>
                <a:cs typeface="DM Sans" pitchFamily="34" charset="-120"/>
              </a:rPr>
              <a:t>STEP 3 · RELU</a:t>
            </a:r>
            <a:endParaRPr lang="en-US" sz="1200" dirty="0"/>
          </a:p>
        </p:txBody>
      </p:sp>
      <p:sp>
        <p:nvSpPr>
          <p:cNvPr id="34" name="Text 32"/>
          <p:cNvSpPr/>
          <p:nvPr>
            <p:ph type="title"/>
          </p:nvPr>
        </p:nvSpPr>
        <p:spPr>
          <a:xfrm>
            <a:off x="812800" y="1401961"/>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430"/>
                </a:solidFill>
                <a:latin typeface="DM Sans" pitchFamily="34" charset="0"/>
                <a:ea typeface="DM Sans" pitchFamily="34" charset="-122"/>
                <a:cs typeface="DM Sans" pitchFamily="34" charset="-120"/>
              </a:rPr>
              <a:t>ReLU: negative numbers become 0</a:t>
            </a:r>
            <a:endParaRPr lang="en-US" sz="3200" dirty="0"/>
          </a:p>
        </p:txBody>
      </p:sp>
      <p:sp>
        <p:nvSpPr>
          <p:cNvPr id="35" name="Text 33"/>
          <p:cNvSpPr/>
          <p:nvPr/>
        </p:nvSpPr>
        <p:spPr>
          <a:xfrm>
            <a:off x="812800" y="2052191"/>
            <a:ext cx="20013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DM Sans" pitchFamily="34" charset="0"/>
                <a:ea typeface="DM Sans" pitchFamily="34" charset="-122"/>
                <a:cs typeface="DM Sans" pitchFamily="34" charset="-120"/>
              </a:rPr>
              <a:t>Feature map (from Conv)</a:t>
            </a:r>
            <a:endParaRPr lang="en-US" sz="1200" dirty="0"/>
          </a:p>
        </p:txBody>
      </p:sp>
      <p:sp>
        <p:nvSpPr>
          <p:cNvPr id="36" name="Text 34"/>
          <p:cNvSpPr/>
          <p:nvPr/>
        </p:nvSpPr>
        <p:spPr>
          <a:xfrm>
            <a:off x="812800" y="2341711"/>
            <a:ext cx="457200" cy="457200"/>
          </a:xfrm>
          <a:prstGeom prst="rect">
            <a:avLst/>
          </a:prstGeom>
          <a:solidFill>
            <a:srgbClr val="B8501F"/>
          </a:solidFill>
          <a:ln/>
        </p:spPr>
        <p:txBody>
          <a:bodyPr wrap="square" lIns="0" tIns="0" rIns="0" bIns="0" rtlCol="0" anchor="t">
            <a:normAutofit/>
          </a:bodyPr>
          <a:lstStyle/>
          <a:p>
            <a:pPr algn="ctr" indent="0" marL="0">
              <a:lnSpc>
                <a:spcPts val="3600"/>
              </a:lnSpc>
              <a:buNone/>
            </a:pPr>
            <a:r>
              <a:rPr lang="en-US" sz="1200" b="1" dirty="0">
                <a:solidFill>
                  <a:srgbClr val="FFFDF8"/>
                </a:solidFill>
                <a:latin typeface="JetBrains Mono" pitchFamily="49" charset="0"/>
                <a:ea typeface="JetBrains Mono" pitchFamily="49" charset="-122"/>
                <a:cs typeface="JetBrains Mono" pitchFamily="49" charset="-120"/>
              </a:rPr>
              <a:t>27</a:t>
            </a:r>
            <a:endParaRPr lang="en-US" sz="1200" dirty="0"/>
          </a:p>
        </p:txBody>
      </p:sp>
      <p:sp>
        <p:nvSpPr>
          <p:cNvPr id="37" name="Text 35"/>
          <p:cNvSpPr/>
          <p:nvPr/>
        </p:nvSpPr>
        <p:spPr>
          <a:xfrm>
            <a:off x="1308100" y="2341711"/>
            <a:ext cx="457200" cy="457200"/>
          </a:xfrm>
          <a:prstGeom prst="rect">
            <a:avLst/>
          </a:prstGeom>
          <a:solidFill>
            <a:srgbClr val="B8501F"/>
          </a:solidFill>
          <a:ln/>
        </p:spPr>
        <p:txBody>
          <a:bodyPr wrap="square" lIns="0" tIns="0" rIns="0" bIns="0" rtlCol="0" anchor="t">
            <a:normAutofit/>
          </a:bodyPr>
          <a:lstStyle/>
          <a:p>
            <a:pPr algn="ctr" indent="0" marL="0">
              <a:lnSpc>
                <a:spcPts val="3600"/>
              </a:lnSpc>
              <a:buNone/>
            </a:pPr>
            <a:r>
              <a:rPr lang="en-US" sz="1200" b="1" dirty="0">
                <a:solidFill>
                  <a:srgbClr val="FFFDF8"/>
                </a:solidFill>
                <a:latin typeface="JetBrains Mono" pitchFamily="49" charset="0"/>
                <a:ea typeface="JetBrains Mono" pitchFamily="49" charset="-122"/>
                <a:cs typeface="JetBrains Mono" pitchFamily="49" charset="-120"/>
              </a:rPr>
              <a:t>27</a:t>
            </a:r>
            <a:endParaRPr lang="en-US" sz="1200" dirty="0"/>
          </a:p>
        </p:txBody>
      </p:sp>
      <p:sp>
        <p:nvSpPr>
          <p:cNvPr id="38" name="Text 36"/>
          <p:cNvSpPr/>
          <p:nvPr/>
        </p:nvSpPr>
        <p:spPr>
          <a:xfrm>
            <a:off x="1803400" y="2341711"/>
            <a:ext cx="457200" cy="457200"/>
          </a:xfrm>
          <a:prstGeom prst="rect">
            <a:avLst/>
          </a:prstGeom>
          <a:solidFill>
            <a:srgbClr val="2B5FA6"/>
          </a:solidFill>
          <a:ln/>
        </p:spPr>
        <p:txBody>
          <a:bodyPr wrap="square" lIns="0" tIns="0" rIns="0" bIns="0" rtlCol="0" anchor="t">
            <a:normAutofit/>
          </a:bodyPr>
          <a:lstStyle/>
          <a:p>
            <a:pPr algn="ctr" indent="0" marL="0">
              <a:lnSpc>
                <a:spcPts val="3600"/>
              </a:lnSpc>
              <a:buNone/>
            </a:pPr>
            <a:r>
              <a:rPr lang="en-US" sz="1200" b="1" dirty="0">
                <a:solidFill>
                  <a:srgbClr val="FFFDF8"/>
                </a:solidFill>
                <a:latin typeface="JetBrains Mono" pitchFamily="49" charset="0"/>
                <a:ea typeface="JetBrains Mono" pitchFamily="49" charset="-122"/>
                <a:cs typeface="JetBrains Mono" pitchFamily="49" charset="-120"/>
              </a:rPr>
              <a:t>−27</a:t>
            </a:r>
            <a:endParaRPr lang="en-US" sz="1200" dirty="0"/>
          </a:p>
        </p:txBody>
      </p:sp>
      <p:sp>
        <p:nvSpPr>
          <p:cNvPr id="39" name="Text 37"/>
          <p:cNvSpPr/>
          <p:nvPr/>
        </p:nvSpPr>
        <p:spPr>
          <a:xfrm>
            <a:off x="2298700" y="2341711"/>
            <a:ext cx="457200" cy="457200"/>
          </a:xfrm>
          <a:prstGeom prst="rect">
            <a:avLst/>
          </a:prstGeom>
          <a:solidFill>
            <a:srgbClr val="2B5FA6"/>
          </a:solidFill>
          <a:ln/>
        </p:spPr>
        <p:txBody>
          <a:bodyPr wrap="square" lIns="0" tIns="0" rIns="0" bIns="0" rtlCol="0" anchor="t">
            <a:normAutofit/>
          </a:bodyPr>
          <a:lstStyle/>
          <a:p>
            <a:pPr algn="ctr" indent="0" marL="0">
              <a:lnSpc>
                <a:spcPts val="3600"/>
              </a:lnSpc>
              <a:buNone/>
            </a:pPr>
            <a:r>
              <a:rPr lang="en-US" sz="1200" b="1" dirty="0">
                <a:solidFill>
                  <a:srgbClr val="FFFDF8"/>
                </a:solidFill>
                <a:latin typeface="JetBrains Mono" pitchFamily="49" charset="0"/>
                <a:ea typeface="JetBrains Mono" pitchFamily="49" charset="-122"/>
                <a:cs typeface="JetBrains Mono" pitchFamily="49" charset="-120"/>
              </a:rPr>
              <a:t>−27</a:t>
            </a:r>
            <a:endParaRPr lang="en-US" sz="1200" dirty="0"/>
          </a:p>
        </p:txBody>
      </p:sp>
      <p:sp>
        <p:nvSpPr>
          <p:cNvPr id="40" name="Text 38"/>
          <p:cNvSpPr/>
          <p:nvPr/>
        </p:nvSpPr>
        <p:spPr>
          <a:xfrm>
            <a:off x="812800" y="2837011"/>
            <a:ext cx="457200" cy="457200"/>
          </a:xfrm>
          <a:prstGeom prst="rect">
            <a:avLst/>
          </a:prstGeom>
          <a:solidFill>
            <a:srgbClr val="B8501F"/>
          </a:solidFill>
          <a:ln/>
        </p:spPr>
        <p:txBody>
          <a:bodyPr wrap="square" lIns="0" tIns="0" rIns="0" bIns="0" rtlCol="0" anchor="t">
            <a:normAutofit/>
          </a:bodyPr>
          <a:lstStyle/>
          <a:p>
            <a:pPr algn="ctr" indent="0" marL="0">
              <a:lnSpc>
                <a:spcPts val="3600"/>
              </a:lnSpc>
              <a:buNone/>
            </a:pPr>
            <a:r>
              <a:rPr lang="en-US" sz="1200" b="1" dirty="0">
                <a:solidFill>
                  <a:srgbClr val="FFFDF8"/>
                </a:solidFill>
                <a:latin typeface="JetBrains Mono" pitchFamily="49" charset="0"/>
                <a:ea typeface="JetBrains Mono" pitchFamily="49" charset="-122"/>
                <a:cs typeface="JetBrains Mono" pitchFamily="49" charset="-120"/>
              </a:rPr>
              <a:t>27</a:t>
            </a:r>
            <a:endParaRPr lang="en-US" sz="1200" dirty="0"/>
          </a:p>
        </p:txBody>
      </p:sp>
      <p:sp>
        <p:nvSpPr>
          <p:cNvPr id="41" name="Text 39"/>
          <p:cNvSpPr/>
          <p:nvPr/>
        </p:nvSpPr>
        <p:spPr>
          <a:xfrm>
            <a:off x="1308100" y="2837011"/>
            <a:ext cx="457200" cy="457200"/>
          </a:xfrm>
          <a:prstGeom prst="rect">
            <a:avLst/>
          </a:prstGeom>
          <a:solidFill>
            <a:srgbClr val="B8501F"/>
          </a:solidFill>
          <a:ln/>
        </p:spPr>
        <p:txBody>
          <a:bodyPr wrap="square" lIns="0" tIns="0" rIns="0" bIns="0" rtlCol="0" anchor="t">
            <a:normAutofit/>
          </a:bodyPr>
          <a:lstStyle/>
          <a:p>
            <a:pPr algn="ctr" indent="0" marL="0">
              <a:lnSpc>
                <a:spcPts val="3600"/>
              </a:lnSpc>
              <a:buNone/>
            </a:pPr>
            <a:r>
              <a:rPr lang="en-US" sz="1200" b="1" dirty="0">
                <a:solidFill>
                  <a:srgbClr val="FFFDF8"/>
                </a:solidFill>
                <a:latin typeface="JetBrains Mono" pitchFamily="49" charset="0"/>
                <a:ea typeface="JetBrains Mono" pitchFamily="49" charset="-122"/>
                <a:cs typeface="JetBrains Mono" pitchFamily="49" charset="-120"/>
              </a:rPr>
              <a:t>27</a:t>
            </a:r>
            <a:endParaRPr lang="en-US" sz="1200" dirty="0"/>
          </a:p>
        </p:txBody>
      </p:sp>
      <p:sp>
        <p:nvSpPr>
          <p:cNvPr id="42" name="Text 40"/>
          <p:cNvSpPr/>
          <p:nvPr/>
        </p:nvSpPr>
        <p:spPr>
          <a:xfrm>
            <a:off x="1803400" y="2837011"/>
            <a:ext cx="457200" cy="457200"/>
          </a:xfrm>
          <a:prstGeom prst="rect">
            <a:avLst/>
          </a:prstGeom>
          <a:solidFill>
            <a:srgbClr val="2B5FA6"/>
          </a:solidFill>
          <a:ln/>
        </p:spPr>
        <p:txBody>
          <a:bodyPr wrap="square" lIns="0" tIns="0" rIns="0" bIns="0" rtlCol="0" anchor="t">
            <a:normAutofit/>
          </a:bodyPr>
          <a:lstStyle/>
          <a:p>
            <a:pPr algn="ctr" indent="0" marL="0">
              <a:lnSpc>
                <a:spcPts val="3600"/>
              </a:lnSpc>
              <a:buNone/>
            </a:pPr>
            <a:r>
              <a:rPr lang="en-US" sz="1200" b="1" dirty="0">
                <a:solidFill>
                  <a:srgbClr val="FFFDF8"/>
                </a:solidFill>
                <a:latin typeface="JetBrains Mono" pitchFamily="49" charset="0"/>
                <a:ea typeface="JetBrains Mono" pitchFamily="49" charset="-122"/>
                <a:cs typeface="JetBrains Mono" pitchFamily="49" charset="-120"/>
              </a:rPr>
              <a:t>−27</a:t>
            </a:r>
            <a:endParaRPr lang="en-US" sz="1200" dirty="0"/>
          </a:p>
        </p:txBody>
      </p:sp>
      <p:sp>
        <p:nvSpPr>
          <p:cNvPr id="43" name="Text 41"/>
          <p:cNvSpPr/>
          <p:nvPr/>
        </p:nvSpPr>
        <p:spPr>
          <a:xfrm>
            <a:off x="2298700" y="2837011"/>
            <a:ext cx="457200" cy="457200"/>
          </a:xfrm>
          <a:prstGeom prst="rect">
            <a:avLst/>
          </a:prstGeom>
          <a:solidFill>
            <a:srgbClr val="2B5FA6"/>
          </a:solidFill>
          <a:ln/>
        </p:spPr>
        <p:txBody>
          <a:bodyPr wrap="square" lIns="0" tIns="0" rIns="0" bIns="0" rtlCol="0" anchor="t">
            <a:normAutofit/>
          </a:bodyPr>
          <a:lstStyle/>
          <a:p>
            <a:pPr algn="ctr" indent="0" marL="0">
              <a:lnSpc>
                <a:spcPts val="3600"/>
              </a:lnSpc>
              <a:buNone/>
            </a:pPr>
            <a:r>
              <a:rPr lang="en-US" sz="1200" b="1" dirty="0">
                <a:solidFill>
                  <a:srgbClr val="FFFDF8"/>
                </a:solidFill>
                <a:latin typeface="JetBrains Mono" pitchFamily="49" charset="0"/>
                <a:ea typeface="JetBrains Mono" pitchFamily="49" charset="-122"/>
                <a:cs typeface="JetBrains Mono" pitchFamily="49" charset="-120"/>
              </a:rPr>
              <a:t>−27</a:t>
            </a:r>
            <a:endParaRPr lang="en-US" sz="1200" dirty="0"/>
          </a:p>
        </p:txBody>
      </p:sp>
      <p:sp>
        <p:nvSpPr>
          <p:cNvPr id="44" name="Text 42"/>
          <p:cNvSpPr/>
          <p:nvPr/>
        </p:nvSpPr>
        <p:spPr>
          <a:xfrm>
            <a:off x="812800" y="3332311"/>
            <a:ext cx="457200" cy="457200"/>
          </a:xfrm>
          <a:prstGeom prst="rect">
            <a:avLst/>
          </a:prstGeom>
          <a:solidFill>
            <a:srgbClr val="B8501F"/>
          </a:solidFill>
          <a:ln/>
        </p:spPr>
        <p:txBody>
          <a:bodyPr wrap="square" lIns="0" tIns="0" rIns="0" bIns="0" rtlCol="0" anchor="t">
            <a:normAutofit/>
          </a:bodyPr>
          <a:lstStyle/>
          <a:p>
            <a:pPr algn="ctr" indent="0" marL="0">
              <a:lnSpc>
                <a:spcPts val="3600"/>
              </a:lnSpc>
              <a:buNone/>
            </a:pPr>
            <a:r>
              <a:rPr lang="en-US" sz="1200" b="1" dirty="0">
                <a:solidFill>
                  <a:srgbClr val="FFFDF8"/>
                </a:solidFill>
                <a:latin typeface="JetBrains Mono" pitchFamily="49" charset="0"/>
                <a:ea typeface="JetBrains Mono" pitchFamily="49" charset="-122"/>
                <a:cs typeface="JetBrains Mono" pitchFamily="49" charset="-120"/>
              </a:rPr>
              <a:t>27</a:t>
            </a:r>
            <a:endParaRPr lang="en-US" sz="1200" dirty="0"/>
          </a:p>
        </p:txBody>
      </p:sp>
      <p:sp>
        <p:nvSpPr>
          <p:cNvPr id="45" name="Text 43"/>
          <p:cNvSpPr/>
          <p:nvPr/>
        </p:nvSpPr>
        <p:spPr>
          <a:xfrm>
            <a:off x="1308100" y="3332311"/>
            <a:ext cx="457200" cy="457200"/>
          </a:xfrm>
          <a:prstGeom prst="rect">
            <a:avLst/>
          </a:prstGeom>
          <a:solidFill>
            <a:srgbClr val="B8501F"/>
          </a:solidFill>
          <a:ln/>
        </p:spPr>
        <p:txBody>
          <a:bodyPr wrap="square" lIns="0" tIns="0" rIns="0" bIns="0" rtlCol="0" anchor="t">
            <a:normAutofit/>
          </a:bodyPr>
          <a:lstStyle/>
          <a:p>
            <a:pPr algn="ctr" indent="0" marL="0">
              <a:lnSpc>
                <a:spcPts val="3600"/>
              </a:lnSpc>
              <a:buNone/>
            </a:pPr>
            <a:r>
              <a:rPr lang="en-US" sz="1200" b="1" dirty="0">
                <a:solidFill>
                  <a:srgbClr val="FFFDF8"/>
                </a:solidFill>
                <a:latin typeface="JetBrains Mono" pitchFamily="49" charset="0"/>
                <a:ea typeface="JetBrains Mono" pitchFamily="49" charset="-122"/>
                <a:cs typeface="JetBrains Mono" pitchFamily="49" charset="-120"/>
              </a:rPr>
              <a:t>27</a:t>
            </a:r>
            <a:endParaRPr lang="en-US" sz="1200" dirty="0"/>
          </a:p>
        </p:txBody>
      </p:sp>
      <p:sp>
        <p:nvSpPr>
          <p:cNvPr id="46" name="Text 44"/>
          <p:cNvSpPr/>
          <p:nvPr/>
        </p:nvSpPr>
        <p:spPr>
          <a:xfrm>
            <a:off x="1803400" y="3332311"/>
            <a:ext cx="457200" cy="457200"/>
          </a:xfrm>
          <a:prstGeom prst="rect">
            <a:avLst/>
          </a:prstGeom>
          <a:solidFill>
            <a:srgbClr val="2B5FA6"/>
          </a:solidFill>
          <a:ln/>
        </p:spPr>
        <p:txBody>
          <a:bodyPr wrap="square" lIns="0" tIns="0" rIns="0" bIns="0" rtlCol="0" anchor="t">
            <a:normAutofit/>
          </a:bodyPr>
          <a:lstStyle/>
          <a:p>
            <a:pPr algn="ctr" indent="0" marL="0">
              <a:lnSpc>
                <a:spcPts val="3600"/>
              </a:lnSpc>
              <a:buNone/>
            </a:pPr>
            <a:r>
              <a:rPr lang="en-US" sz="1200" b="1" dirty="0">
                <a:solidFill>
                  <a:srgbClr val="FFFDF8"/>
                </a:solidFill>
                <a:latin typeface="JetBrains Mono" pitchFamily="49" charset="0"/>
                <a:ea typeface="JetBrains Mono" pitchFamily="49" charset="-122"/>
                <a:cs typeface="JetBrains Mono" pitchFamily="49" charset="-120"/>
              </a:rPr>
              <a:t>−27</a:t>
            </a:r>
            <a:endParaRPr lang="en-US" sz="1200" dirty="0"/>
          </a:p>
        </p:txBody>
      </p:sp>
      <p:sp>
        <p:nvSpPr>
          <p:cNvPr id="47" name="Text 45"/>
          <p:cNvSpPr/>
          <p:nvPr/>
        </p:nvSpPr>
        <p:spPr>
          <a:xfrm>
            <a:off x="2298700" y="3332311"/>
            <a:ext cx="457200" cy="457200"/>
          </a:xfrm>
          <a:prstGeom prst="rect">
            <a:avLst/>
          </a:prstGeom>
          <a:solidFill>
            <a:srgbClr val="2B5FA6"/>
          </a:solidFill>
          <a:ln/>
        </p:spPr>
        <p:txBody>
          <a:bodyPr wrap="square" lIns="0" tIns="0" rIns="0" bIns="0" rtlCol="0" anchor="t">
            <a:normAutofit/>
          </a:bodyPr>
          <a:lstStyle/>
          <a:p>
            <a:pPr algn="ctr" indent="0" marL="0">
              <a:lnSpc>
                <a:spcPts val="3600"/>
              </a:lnSpc>
              <a:buNone/>
            </a:pPr>
            <a:r>
              <a:rPr lang="en-US" sz="1200" b="1" dirty="0">
                <a:solidFill>
                  <a:srgbClr val="FFFDF8"/>
                </a:solidFill>
                <a:latin typeface="JetBrains Mono" pitchFamily="49" charset="0"/>
                <a:ea typeface="JetBrains Mono" pitchFamily="49" charset="-122"/>
                <a:cs typeface="JetBrains Mono" pitchFamily="49" charset="-120"/>
              </a:rPr>
              <a:t>−27</a:t>
            </a:r>
            <a:endParaRPr lang="en-US" sz="1200" dirty="0"/>
          </a:p>
        </p:txBody>
      </p:sp>
      <p:sp>
        <p:nvSpPr>
          <p:cNvPr id="48" name="Text 46"/>
          <p:cNvSpPr/>
          <p:nvPr/>
        </p:nvSpPr>
        <p:spPr>
          <a:xfrm>
            <a:off x="812800" y="3827611"/>
            <a:ext cx="457200" cy="457200"/>
          </a:xfrm>
          <a:prstGeom prst="rect">
            <a:avLst/>
          </a:prstGeom>
          <a:solidFill>
            <a:srgbClr val="B8501F"/>
          </a:solidFill>
          <a:ln/>
        </p:spPr>
        <p:txBody>
          <a:bodyPr wrap="square" lIns="0" tIns="0" rIns="0" bIns="0" rtlCol="0" anchor="t">
            <a:normAutofit/>
          </a:bodyPr>
          <a:lstStyle/>
          <a:p>
            <a:pPr algn="ctr" indent="0" marL="0">
              <a:lnSpc>
                <a:spcPts val="3600"/>
              </a:lnSpc>
              <a:buNone/>
            </a:pPr>
            <a:r>
              <a:rPr lang="en-US" sz="1200" b="1" dirty="0">
                <a:solidFill>
                  <a:srgbClr val="FFFDF8"/>
                </a:solidFill>
                <a:latin typeface="JetBrains Mono" pitchFamily="49" charset="0"/>
                <a:ea typeface="JetBrains Mono" pitchFamily="49" charset="-122"/>
                <a:cs typeface="JetBrains Mono" pitchFamily="49" charset="-120"/>
              </a:rPr>
              <a:t>27</a:t>
            </a:r>
            <a:endParaRPr lang="en-US" sz="1200" dirty="0"/>
          </a:p>
        </p:txBody>
      </p:sp>
      <p:sp>
        <p:nvSpPr>
          <p:cNvPr id="49" name="Text 47"/>
          <p:cNvSpPr/>
          <p:nvPr/>
        </p:nvSpPr>
        <p:spPr>
          <a:xfrm>
            <a:off x="1308100" y="3827611"/>
            <a:ext cx="457200" cy="457200"/>
          </a:xfrm>
          <a:prstGeom prst="rect">
            <a:avLst/>
          </a:prstGeom>
          <a:solidFill>
            <a:srgbClr val="B8501F"/>
          </a:solidFill>
          <a:ln/>
        </p:spPr>
        <p:txBody>
          <a:bodyPr wrap="square" lIns="0" tIns="0" rIns="0" bIns="0" rtlCol="0" anchor="t">
            <a:normAutofit/>
          </a:bodyPr>
          <a:lstStyle/>
          <a:p>
            <a:pPr algn="ctr" indent="0" marL="0">
              <a:lnSpc>
                <a:spcPts val="3600"/>
              </a:lnSpc>
              <a:buNone/>
            </a:pPr>
            <a:r>
              <a:rPr lang="en-US" sz="1200" b="1" dirty="0">
                <a:solidFill>
                  <a:srgbClr val="FFFDF8"/>
                </a:solidFill>
                <a:latin typeface="JetBrains Mono" pitchFamily="49" charset="0"/>
                <a:ea typeface="JetBrains Mono" pitchFamily="49" charset="-122"/>
                <a:cs typeface="JetBrains Mono" pitchFamily="49" charset="-120"/>
              </a:rPr>
              <a:t>27</a:t>
            </a:r>
            <a:endParaRPr lang="en-US" sz="1200" dirty="0"/>
          </a:p>
        </p:txBody>
      </p:sp>
      <p:sp>
        <p:nvSpPr>
          <p:cNvPr id="50" name="Text 48"/>
          <p:cNvSpPr/>
          <p:nvPr/>
        </p:nvSpPr>
        <p:spPr>
          <a:xfrm>
            <a:off x="1803400" y="3827611"/>
            <a:ext cx="457200" cy="457200"/>
          </a:xfrm>
          <a:prstGeom prst="rect">
            <a:avLst/>
          </a:prstGeom>
          <a:solidFill>
            <a:srgbClr val="2B5FA6"/>
          </a:solidFill>
          <a:ln/>
        </p:spPr>
        <p:txBody>
          <a:bodyPr wrap="square" lIns="0" tIns="0" rIns="0" bIns="0" rtlCol="0" anchor="t">
            <a:normAutofit/>
          </a:bodyPr>
          <a:lstStyle/>
          <a:p>
            <a:pPr algn="ctr" indent="0" marL="0">
              <a:lnSpc>
                <a:spcPts val="3600"/>
              </a:lnSpc>
              <a:buNone/>
            </a:pPr>
            <a:r>
              <a:rPr lang="en-US" sz="1200" b="1" dirty="0">
                <a:solidFill>
                  <a:srgbClr val="FFFDF8"/>
                </a:solidFill>
                <a:latin typeface="JetBrains Mono" pitchFamily="49" charset="0"/>
                <a:ea typeface="JetBrains Mono" pitchFamily="49" charset="-122"/>
                <a:cs typeface="JetBrains Mono" pitchFamily="49" charset="-120"/>
              </a:rPr>
              <a:t>−27</a:t>
            </a:r>
            <a:endParaRPr lang="en-US" sz="1200" dirty="0"/>
          </a:p>
        </p:txBody>
      </p:sp>
      <p:sp>
        <p:nvSpPr>
          <p:cNvPr id="51" name="Text 49"/>
          <p:cNvSpPr/>
          <p:nvPr/>
        </p:nvSpPr>
        <p:spPr>
          <a:xfrm>
            <a:off x="2298700" y="3827611"/>
            <a:ext cx="457200" cy="457200"/>
          </a:xfrm>
          <a:prstGeom prst="rect">
            <a:avLst/>
          </a:prstGeom>
          <a:solidFill>
            <a:srgbClr val="2B5FA6"/>
          </a:solidFill>
          <a:ln/>
        </p:spPr>
        <p:txBody>
          <a:bodyPr wrap="square" lIns="0" tIns="0" rIns="0" bIns="0" rtlCol="0" anchor="t">
            <a:normAutofit/>
          </a:bodyPr>
          <a:lstStyle/>
          <a:p>
            <a:pPr algn="ctr" indent="0" marL="0">
              <a:lnSpc>
                <a:spcPts val="3600"/>
              </a:lnSpc>
              <a:buNone/>
            </a:pPr>
            <a:r>
              <a:rPr lang="en-US" sz="1200" b="1" dirty="0">
                <a:solidFill>
                  <a:srgbClr val="FFFDF8"/>
                </a:solidFill>
                <a:latin typeface="JetBrains Mono" pitchFamily="49" charset="0"/>
                <a:ea typeface="JetBrains Mono" pitchFamily="49" charset="-122"/>
                <a:cs typeface="JetBrains Mono" pitchFamily="49" charset="-120"/>
              </a:rPr>
              <a:t>−27</a:t>
            </a:r>
            <a:endParaRPr lang="en-US" sz="1200" dirty="0"/>
          </a:p>
        </p:txBody>
      </p:sp>
      <p:pic>
        <p:nvPicPr>
          <p:cNvPr id="52" name="Image 0" descr="arrow-right">    </p:cNvPr>
          <p:cNvPicPr>
            <a:picLocks noChangeAspect="1"/>
          </p:cNvPicPr>
          <p:nvPr/>
        </p:nvPicPr>
        <p:blipFill>
          <a:blip r:embed="rId1"/>
          <a:srcRect l="0" r="0" t="0" b="0"/>
          <a:stretch/>
        </p:blipFill>
        <p:spPr>
          <a:xfrm>
            <a:off x="3009900" y="3004691"/>
            <a:ext cx="508000" cy="254000"/>
          </a:xfrm>
          <a:prstGeom prst="rect">
            <a:avLst/>
          </a:prstGeom>
        </p:spPr>
      </p:pic>
      <p:sp>
        <p:nvSpPr>
          <p:cNvPr id="53" name="Text 50"/>
          <p:cNvSpPr/>
          <p:nvPr/>
        </p:nvSpPr>
        <p:spPr>
          <a:xfrm>
            <a:off x="3042980" y="3334891"/>
            <a:ext cx="441841"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8501F"/>
                </a:solidFill>
                <a:latin typeface="DM Sans" pitchFamily="34" charset="0"/>
                <a:ea typeface="DM Sans" pitchFamily="34" charset="-122"/>
                <a:cs typeface="DM Sans" pitchFamily="34" charset="-120"/>
              </a:rPr>
              <a:t>ReLU</a:t>
            </a:r>
            <a:endParaRPr lang="en-US" sz="1200" dirty="0"/>
          </a:p>
        </p:txBody>
      </p:sp>
      <p:sp>
        <p:nvSpPr>
          <p:cNvPr id="54" name="Text 51"/>
          <p:cNvSpPr/>
          <p:nvPr/>
        </p:nvSpPr>
        <p:spPr>
          <a:xfrm>
            <a:off x="3771900" y="2052191"/>
            <a:ext cx="20013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DM Sans" pitchFamily="34" charset="0"/>
                <a:ea typeface="DM Sans" pitchFamily="34" charset="-122"/>
                <a:cs typeface="DM Sans" pitchFamily="34" charset="-120"/>
              </a:rPr>
              <a:t>After ReLU</a:t>
            </a:r>
            <a:endParaRPr lang="en-US" sz="1200" dirty="0"/>
          </a:p>
        </p:txBody>
      </p:sp>
      <p:sp>
        <p:nvSpPr>
          <p:cNvPr id="55" name="Text 52"/>
          <p:cNvSpPr/>
          <p:nvPr/>
        </p:nvSpPr>
        <p:spPr>
          <a:xfrm>
            <a:off x="3771900" y="2341711"/>
            <a:ext cx="457200" cy="457200"/>
          </a:xfrm>
          <a:prstGeom prst="rect">
            <a:avLst/>
          </a:prstGeom>
          <a:solidFill>
            <a:srgbClr val="B8501F"/>
          </a:solidFill>
          <a:ln/>
        </p:spPr>
        <p:txBody>
          <a:bodyPr wrap="square" lIns="0" tIns="0" rIns="0" bIns="0" rtlCol="0" anchor="t">
            <a:normAutofit/>
          </a:bodyPr>
          <a:lstStyle/>
          <a:p>
            <a:pPr algn="ctr" indent="0" marL="0">
              <a:lnSpc>
                <a:spcPts val="3600"/>
              </a:lnSpc>
              <a:buNone/>
            </a:pPr>
            <a:r>
              <a:rPr lang="en-US" sz="1200" b="1" dirty="0">
                <a:solidFill>
                  <a:srgbClr val="FFFDF8"/>
                </a:solidFill>
                <a:latin typeface="JetBrains Mono" pitchFamily="49" charset="0"/>
                <a:ea typeface="JetBrains Mono" pitchFamily="49" charset="-122"/>
                <a:cs typeface="JetBrains Mono" pitchFamily="49" charset="-120"/>
              </a:rPr>
              <a:t>27</a:t>
            </a:r>
            <a:endParaRPr lang="en-US" sz="1200" dirty="0"/>
          </a:p>
        </p:txBody>
      </p:sp>
      <p:sp>
        <p:nvSpPr>
          <p:cNvPr id="56" name="Text 53"/>
          <p:cNvSpPr/>
          <p:nvPr/>
        </p:nvSpPr>
        <p:spPr>
          <a:xfrm>
            <a:off x="4267200" y="2341711"/>
            <a:ext cx="457200" cy="457200"/>
          </a:xfrm>
          <a:prstGeom prst="rect">
            <a:avLst/>
          </a:prstGeom>
          <a:solidFill>
            <a:srgbClr val="B8501F"/>
          </a:solidFill>
          <a:ln/>
        </p:spPr>
        <p:txBody>
          <a:bodyPr wrap="square" lIns="0" tIns="0" rIns="0" bIns="0" rtlCol="0" anchor="t">
            <a:normAutofit/>
          </a:bodyPr>
          <a:lstStyle/>
          <a:p>
            <a:pPr algn="ctr" indent="0" marL="0">
              <a:lnSpc>
                <a:spcPts val="3600"/>
              </a:lnSpc>
              <a:buNone/>
            </a:pPr>
            <a:r>
              <a:rPr lang="en-US" sz="1200" b="1" dirty="0">
                <a:solidFill>
                  <a:srgbClr val="FFFDF8"/>
                </a:solidFill>
                <a:latin typeface="JetBrains Mono" pitchFamily="49" charset="0"/>
                <a:ea typeface="JetBrains Mono" pitchFamily="49" charset="-122"/>
                <a:cs typeface="JetBrains Mono" pitchFamily="49" charset="-120"/>
              </a:rPr>
              <a:t>27</a:t>
            </a:r>
            <a:endParaRPr lang="en-US" sz="1200" dirty="0"/>
          </a:p>
        </p:txBody>
      </p:sp>
      <p:sp>
        <p:nvSpPr>
          <p:cNvPr id="57" name="Text 54"/>
          <p:cNvSpPr/>
          <p:nvPr/>
        </p:nvSpPr>
        <p:spPr>
          <a:xfrm>
            <a:off x="4762500" y="2341711"/>
            <a:ext cx="457200" cy="457200"/>
          </a:xfrm>
          <a:prstGeom prst="rect">
            <a:avLst/>
          </a:prstGeom>
          <a:solidFill>
            <a:srgbClr val="E3E1DA"/>
          </a:solidFill>
          <a:ln/>
        </p:spPr>
        <p:txBody>
          <a:bodyPr wrap="square" lIns="0" tIns="0" rIns="0" bIns="0" rtlCol="0" anchor="t">
            <a:normAutofit/>
          </a:bodyPr>
          <a:lstStyle/>
          <a:p>
            <a:pPr algn="ctr" indent="0" marL="0">
              <a:lnSpc>
                <a:spcPts val="3600"/>
              </a:lnSpc>
              <a:buNone/>
            </a:pPr>
            <a:r>
              <a:rPr lang="en-US" sz="1200" dirty="0">
                <a:solidFill>
                  <a:srgbClr val="4A5568"/>
                </a:solidFill>
                <a:latin typeface="JetBrains Mono" pitchFamily="49" charset="0"/>
                <a:ea typeface="JetBrains Mono" pitchFamily="49" charset="-122"/>
                <a:cs typeface="JetBrains Mono" pitchFamily="49" charset="-120"/>
              </a:rPr>
              <a:t>0</a:t>
            </a:r>
            <a:endParaRPr lang="en-US" sz="1200" dirty="0"/>
          </a:p>
        </p:txBody>
      </p:sp>
      <p:sp>
        <p:nvSpPr>
          <p:cNvPr id="58" name="Text 55"/>
          <p:cNvSpPr/>
          <p:nvPr/>
        </p:nvSpPr>
        <p:spPr>
          <a:xfrm>
            <a:off x="5257800" y="2341711"/>
            <a:ext cx="457200" cy="457200"/>
          </a:xfrm>
          <a:prstGeom prst="rect">
            <a:avLst/>
          </a:prstGeom>
          <a:solidFill>
            <a:srgbClr val="E3E1DA"/>
          </a:solidFill>
          <a:ln/>
        </p:spPr>
        <p:txBody>
          <a:bodyPr wrap="square" lIns="0" tIns="0" rIns="0" bIns="0" rtlCol="0" anchor="t">
            <a:normAutofit/>
          </a:bodyPr>
          <a:lstStyle/>
          <a:p>
            <a:pPr algn="ctr" indent="0" marL="0">
              <a:lnSpc>
                <a:spcPts val="3600"/>
              </a:lnSpc>
              <a:buNone/>
            </a:pPr>
            <a:r>
              <a:rPr lang="en-US" sz="1200" dirty="0">
                <a:solidFill>
                  <a:srgbClr val="4A5568"/>
                </a:solidFill>
                <a:latin typeface="JetBrains Mono" pitchFamily="49" charset="0"/>
                <a:ea typeface="JetBrains Mono" pitchFamily="49" charset="-122"/>
                <a:cs typeface="JetBrains Mono" pitchFamily="49" charset="-120"/>
              </a:rPr>
              <a:t>0</a:t>
            </a:r>
            <a:endParaRPr lang="en-US" sz="1200" dirty="0"/>
          </a:p>
        </p:txBody>
      </p:sp>
      <p:sp>
        <p:nvSpPr>
          <p:cNvPr id="59" name="Text 56"/>
          <p:cNvSpPr/>
          <p:nvPr/>
        </p:nvSpPr>
        <p:spPr>
          <a:xfrm>
            <a:off x="3771900" y="2837011"/>
            <a:ext cx="457200" cy="457200"/>
          </a:xfrm>
          <a:prstGeom prst="rect">
            <a:avLst/>
          </a:prstGeom>
          <a:solidFill>
            <a:srgbClr val="B8501F"/>
          </a:solidFill>
          <a:ln/>
        </p:spPr>
        <p:txBody>
          <a:bodyPr wrap="square" lIns="0" tIns="0" rIns="0" bIns="0" rtlCol="0" anchor="t">
            <a:normAutofit/>
          </a:bodyPr>
          <a:lstStyle/>
          <a:p>
            <a:pPr algn="ctr" indent="0" marL="0">
              <a:lnSpc>
                <a:spcPts val="3600"/>
              </a:lnSpc>
              <a:buNone/>
            </a:pPr>
            <a:r>
              <a:rPr lang="en-US" sz="1200" b="1" dirty="0">
                <a:solidFill>
                  <a:srgbClr val="FFFDF8"/>
                </a:solidFill>
                <a:latin typeface="JetBrains Mono" pitchFamily="49" charset="0"/>
                <a:ea typeface="JetBrains Mono" pitchFamily="49" charset="-122"/>
                <a:cs typeface="JetBrains Mono" pitchFamily="49" charset="-120"/>
              </a:rPr>
              <a:t>27</a:t>
            </a:r>
            <a:endParaRPr lang="en-US" sz="1200" dirty="0"/>
          </a:p>
        </p:txBody>
      </p:sp>
      <p:sp>
        <p:nvSpPr>
          <p:cNvPr id="60" name="Text 57"/>
          <p:cNvSpPr/>
          <p:nvPr/>
        </p:nvSpPr>
        <p:spPr>
          <a:xfrm>
            <a:off x="4267200" y="2837011"/>
            <a:ext cx="457200" cy="457200"/>
          </a:xfrm>
          <a:prstGeom prst="rect">
            <a:avLst/>
          </a:prstGeom>
          <a:solidFill>
            <a:srgbClr val="B8501F"/>
          </a:solidFill>
          <a:ln/>
        </p:spPr>
        <p:txBody>
          <a:bodyPr wrap="square" lIns="0" tIns="0" rIns="0" bIns="0" rtlCol="0" anchor="t">
            <a:normAutofit/>
          </a:bodyPr>
          <a:lstStyle/>
          <a:p>
            <a:pPr algn="ctr" indent="0" marL="0">
              <a:lnSpc>
                <a:spcPts val="3600"/>
              </a:lnSpc>
              <a:buNone/>
            </a:pPr>
            <a:r>
              <a:rPr lang="en-US" sz="1200" b="1" dirty="0">
                <a:solidFill>
                  <a:srgbClr val="FFFDF8"/>
                </a:solidFill>
                <a:latin typeface="JetBrains Mono" pitchFamily="49" charset="0"/>
                <a:ea typeface="JetBrains Mono" pitchFamily="49" charset="-122"/>
                <a:cs typeface="JetBrains Mono" pitchFamily="49" charset="-120"/>
              </a:rPr>
              <a:t>27</a:t>
            </a:r>
            <a:endParaRPr lang="en-US" sz="1200" dirty="0"/>
          </a:p>
        </p:txBody>
      </p:sp>
      <p:sp>
        <p:nvSpPr>
          <p:cNvPr id="61" name="Text 58"/>
          <p:cNvSpPr/>
          <p:nvPr/>
        </p:nvSpPr>
        <p:spPr>
          <a:xfrm>
            <a:off x="4762500" y="2837011"/>
            <a:ext cx="457200" cy="457200"/>
          </a:xfrm>
          <a:prstGeom prst="rect">
            <a:avLst/>
          </a:prstGeom>
          <a:solidFill>
            <a:srgbClr val="E3E1DA"/>
          </a:solidFill>
          <a:ln/>
        </p:spPr>
        <p:txBody>
          <a:bodyPr wrap="square" lIns="0" tIns="0" rIns="0" bIns="0" rtlCol="0" anchor="t">
            <a:normAutofit/>
          </a:bodyPr>
          <a:lstStyle/>
          <a:p>
            <a:pPr algn="ctr" indent="0" marL="0">
              <a:lnSpc>
                <a:spcPts val="3600"/>
              </a:lnSpc>
              <a:buNone/>
            </a:pPr>
            <a:r>
              <a:rPr lang="en-US" sz="1200" dirty="0">
                <a:solidFill>
                  <a:srgbClr val="4A5568"/>
                </a:solidFill>
                <a:latin typeface="JetBrains Mono" pitchFamily="49" charset="0"/>
                <a:ea typeface="JetBrains Mono" pitchFamily="49" charset="-122"/>
                <a:cs typeface="JetBrains Mono" pitchFamily="49" charset="-120"/>
              </a:rPr>
              <a:t>0</a:t>
            </a:r>
            <a:endParaRPr lang="en-US" sz="1200" dirty="0"/>
          </a:p>
        </p:txBody>
      </p:sp>
      <p:sp>
        <p:nvSpPr>
          <p:cNvPr id="62" name="Text 59"/>
          <p:cNvSpPr/>
          <p:nvPr/>
        </p:nvSpPr>
        <p:spPr>
          <a:xfrm>
            <a:off x="5257800" y="2837011"/>
            <a:ext cx="457200" cy="457200"/>
          </a:xfrm>
          <a:prstGeom prst="rect">
            <a:avLst/>
          </a:prstGeom>
          <a:solidFill>
            <a:srgbClr val="E3E1DA"/>
          </a:solidFill>
          <a:ln/>
        </p:spPr>
        <p:txBody>
          <a:bodyPr wrap="square" lIns="0" tIns="0" rIns="0" bIns="0" rtlCol="0" anchor="t">
            <a:normAutofit/>
          </a:bodyPr>
          <a:lstStyle/>
          <a:p>
            <a:pPr algn="ctr" indent="0" marL="0">
              <a:lnSpc>
                <a:spcPts val="3600"/>
              </a:lnSpc>
              <a:buNone/>
            </a:pPr>
            <a:r>
              <a:rPr lang="en-US" sz="1200" dirty="0">
                <a:solidFill>
                  <a:srgbClr val="4A5568"/>
                </a:solidFill>
                <a:latin typeface="JetBrains Mono" pitchFamily="49" charset="0"/>
                <a:ea typeface="JetBrains Mono" pitchFamily="49" charset="-122"/>
                <a:cs typeface="JetBrains Mono" pitchFamily="49" charset="-120"/>
              </a:rPr>
              <a:t>0</a:t>
            </a:r>
            <a:endParaRPr lang="en-US" sz="1200" dirty="0"/>
          </a:p>
        </p:txBody>
      </p:sp>
      <p:sp>
        <p:nvSpPr>
          <p:cNvPr id="63" name="Text 60"/>
          <p:cNvSpPr/>
          <p:nvPr/>
        </p:nvSpPr>
        <p:spPr>
          <a:xfrm>
            <a:off x="3771900" y="3332311"/>
            <a:ext cx="457200" cy="457200"/>
          </a:xfrm>
          <a:prstGeom prst="rect">
            <a:avLst/>
          </a:prstGeom>
          <a:solidFill>
            <a:srgbClr val="B8501F"/>
          </a:solidFill>
          <a:ln/>
        </p:spPr>
        <p:txBody>
          <a:bodyPr wrap="square" lIns="0" tIns="0" rIns="0" bIns="0" rtlCol="0" anchor="t">
            <a:normAutofit/>
          </a:bodyPr>
          <a:lstStyle/>
          <a:p>
            <a:pPr algn="ctr" indent="0" marL="0">
              <a:lnSpc>
                <a:spcPts val="3600"/>
              </a:lnSpc>
              <a:buNone/>
            </a:pPr>
            <a:r>
              <a:rPr lang="en-US" sz="1200" b="1" dirty="0">
                <a:solidFill>
                  <a:srgbClr val="FFFDF8"/>
                </a:solidFill>
                <a:latin typeface="JetBrains Mono" pitchFamily="49" charset="0"/>
                <a:ea typeface="JetBrains Mono" pitchFamily="49" charset="-122"/>
                <a:cs typeface="JetBrains Mono" pitchFamily="49" charset="-120"/>
              </a:rPr>
              <a:t>27</a:t>
            </a:r>
            <a:endParaRPr lang="en-US" sz="1200" dirty="0"/>
          </a:p>
        </p:txBody>
      </p:sp>
      <p:sp>
        <p:nvSpPr>
          <p:cNvPr id="64" name="Text 61"/>
          <p:cNvSpPr/>
          <p:nvPr/>
        </p:nvSpPr>
        <p:spPr>
          <a:xfrm>
            <a:off x="4267200" y="3332311"/>
            <a:ext cx="457200" cy="457200"/>
          </a:xfrm>
          <a:prstGeom prst="rect">
            <a:avLst/>
          </a:prstGeom>
          <a:solidFill>
            <a:srgbClr val="B8501F"/>
          </a:solidFill>
          <a:ln/>
        </p:spPr>
        <p:txBody>
          <a:bodyPr wrap="square" lIns="0" tIns="0" rIns="0" bIns="0" rtlCol="0" anchor="t">
            <a:normAutofit/>
          </a:bodyPr>
          <a:lstStyle/>
          <a:p>
            <a:pPr algn="ctr" indent="0" marL="0">
              <a:lnSpc>
                <a:spcPts val="3600"/>
              </a:lnSpc>
              <a:buNone/>
            </a:pPr>
            <a:r>
              <a:rPr lang="en-US" sz="1200" b="1" dirty="0">
                <a:solidFill>
                  <a:srgbClr val="FFFDF8"/>
                </a:solidFill>
                <a:latin typeface="JetBrains Mono" pitchFamily="49" charset="0"/>
                <a:ea typeface="JetBrains Mono" pitchFamily="49" charset="-122"/>
                <a:cs typeface="JetBrains Mono" pitchFamily="49" charset="-120"/>
              </a:rPr>
              <a:t>27</a:t>
            </a:r>
            <a:endParaRPr lang="en-US" sz="1200" dirty="0"/>
          </a:p>
        </p:txBody>
      </p:sp>
      <p:sp>
        <p:nvSpPr>
          <p:cNvPr id="65" name="Text 62"/>
          <p:cNvSpPr/>
          <p:nvPr/>
        </p:nvSpPr>
        <p:spPr>
          <a:xfrm>
            <a:off x="4762500" y="3332311"/>
            <a:ext cx="457200" cy="457200"/>
          </a:xfrm>
          <a:prstGeom prst="rect">
            <a:avLst/>
          </a:prstGeom>
          <a:solidFill>
            <a:srgbClr val="E3E1DA"/>
          </a:solidFill>
          <a:ln/>
        </p:spPr>
        <p:txBody>
          <a:bodyPr wrap="square" lIns="0" tIns="0" rIns="0" bIns="0" rtlCol="0" anchor="t">
            <a:normAutofit/>
          </a:bodyPr>
          <a:lstStyle/>
          <a:p>
            <a:pPr algn="ctr" indent="0" marL="0">
              <a:lnSpc>
                <a:spcPts val="3600"/>
              </a:lnSpc>
              <a:buNone/>
            </a:pPr>
            <a:r>
              <a:rPr lang="en-US" sz="1200" dirty="0">
                <a:solidFill>
                  <a:srgbClr val="4A5568"/>
                </a:solidFill>
                <a:latin typeface="JetBrains Mono" pitchFamily="49" charset="0"/>
                <a:ea typeface="JetBrains Mono" pitchFamily="49" charset="-122"/>
                <a:cs typeface="JetBrains Mono" pitchFamily="49" charset="-120"/>
              </a:rPr>
              <a:t>0</a:t>
            </a:r>
            <a:endParaRPr lang="en-US" sz="1200" dirty="0"/>
          </a:p>
        </p:txBody>
      </p:sp>
      <p:sp>
        <p:nvSpPr>
          <p:cNvPr id="66" name="Text 63"/>
          <p:cNvSpPr/>
          <p:nvPr/>
        </p:nvSpPr>
        <p:spPr>
          <a:xfrm>
            <a:off x="5257800" y="3332311"/>
            <a:ext cx="457200" cy="457200"/>
          </a:xfrm>
          <a:prstGeom prst="rect">
            <a:avLst/>
          </a:prstGeom>
          <a:solidFill>
            <a:srgbClr val="E3E1DA"/>
          </a:solidFill>
          <a:ln/>
        </p:spPr>
        <p:txBody>
          <a:bodyPr wrap="square" lIns="0" tIns="0" rIns="0" bIns="0" rtlCol="0" anchor="t">
            <a:normAutofit/>
          </a:bodyPr>
          <a:lstStyle/>
          <a:p>
            <a:pPr algn="ctr" indent="0" marL="0">
              <a:lnSpc>
                <a:spcPts val="3600"/>
              </a:lnSpc>
              <a:buNone/>
            </a:pPr>
            <a:r>
              <a:rPr lang="en-US" sz="1200" dirty="0">
                <a:solidFill>
                  <a:srgbClr val="4A5568"/>
                </a:solidFill>
                <a:latin typeface="JetBrains Mono" pitchFamily="49" charset="0"/>
                <a:ea typeface="JetBrains Mono" pitchFamily="49" charset="-122"/>
                <a:cs typeface="JetBrains Mono" pitchFamily="49" charset="-120"/>
              </a:rPr>
              <a:t>0</a:t>
            </a:r>
            <a:endParaRPr lang="en-US" sz="1200" dirty="0"/>
          </a:p>
        </p:txBody>
      </p:sp>
      <p:sp>
        <p:nvSpPr>
          <p:cNvPr id="67" name="Text 64"/>
          <p:cNvSpPr/>
          <p:nvPr/>
        </p:nvSpPr>
        <p:spPr>
          <a:xfrm>
            <a:off x="3771900" y="3827611"/>
            <a:ext cx="457200" cy="457200"/>
          </a:xfrm>
          <a:prstGeom prst="rect">
            <a:avLst/>
          </a:prstGeom>
          <a:solidFill>
            <a:srgbClr val="B8501F"/>
          </a:solidFill>
          <a:ln/>
        </p:spPr>
        <p:txBody>
          <a:bodyPr wrap="square" lIns="0" tIns="0" rIns="0" bIns="0" rtlCol="0" anchor="t">
            <a:normAutofit/>
          </a:bodyPr>
          <a:lstStyle/>
          <a:p>
            <a:pPr algn="ctr" indent="0" marL="0">
              <a:lnSpc>
                <a:spcPts val="3600"/>
              </a:lnSpc>
              <a:buNone/>
            </a:pPr>
            <a:r>
              <a:rPr lang="en-US" sz="1200" b="1" dirty="0">
                <a:solidFill>
                  <a:srgbClr val="FFFDF8"/>
                </a:solidFill>
                <a:latin typeface="JetBrains Mono" pitchFamily="49" charset="0"/>
                <a:ea typeface="JetBrains Mono" pitchFamily="49" charset="-122"/>
                <a:cs typeface="JetBrains Mono" pitchFamily="49" charset="-120"/>
              </a:rPr>
              <a:t>27</a:t>
            </a:r>
            <a:endParaRPr lang="en-US" sz="1200" dirty="0"/>
          </a:p>
        </p:txBody>
      </p:sp>
      <p:sp>
        <p:nvSpPr>
          <p:cNvPr id="68" name="Text 65"/>
          <p:cNvSpPr/>
          <p:nvPr/>
        </p:nvSpPr>
        <p:spPr>
          <a:xfrm>
            <a:off x="4267200" y="3827611"/>
            <a:ext cx="457200" cy="457200"/>
          </a:xfrm>
          <a:prstGeom prst="rect">
            <a:avLst/>
          </a:prstGeom>
          <a:solidFill>
            <a:srgbClr val="B8501F"/>
          </a:solidFill>
          <a:ln/>
        </p:spPr>
        <p:txBody>
          <a:bodyPr wrap="square" lIns="0" tIns="0" rIns="0" bIns="0" rtlCol="0" anchor="t">
            <a:normAutofit/>
          </a:bodyPr>
          <a:lstStyle/>
          <a:p>
            <a:pPr algn="ctr" indent="0" marL="0">
              <a:lnSpc>
                <a:spcPts val="3600"/>
              </a:lnSpc>
              <a:buNone/>
            </a:pPr>
            <a:r>
              <a:rPr lang="en-US" sz="1200" b="1" dirty="0">
                <a:solidFill>
                  <a:srgbClr val="FFFDF8"/>
                </a:solidFill>
                <a:latin typeface="JetBrains Mono" pitchFamily="49" charset="0"/>
                <a:ea typeface="JetBrains Mono" pitchFamily="49" charset="-122"/>
                <a:cs typeface="JetBrains Mono" pitchFamily="49" charset="-120"/>
              </a:rPr>
              <a:t>27</a:t>
            </a:r>
            <a:endParaRPr lang="en-US" sz="1200" dirty="0"/>
          </a:p>
        </p:txBody>
      </p:sp>
      <p:sp>
        <p:nvSpPr>
          <p:cNvPr id="69" name="Text 66"/>
          <p:cNvSpPr/>
          <p:nvPr/>
        </p:nvSpPr>
        <p:spPr>
          <a:xfrm>
            <a:off x="4762500" y="3827611"/>
            <a:ext cx="457200" cy="457200"/>
          </a:xfrm>
          <a:prstGeom prst="rect">
            <a:avLst/>
          </a:prstGeom>
          <a:solidFill>
            <a:srgbClr val="E3E1DA"/>
          </a:solidFill>
          <a:ln/>
        </p:spPr>
        <p:txBody>
          <a:bodyPr wrap="square" lIns="0" tIns="0" rIns="0" bIns="0" rtlCol="0" anchor="t">
            <a:normAutofit/>
          </a:bodyPr>
          <a:lstStyle/>
          <a:p>
            <a:pPr algn="ctr" indent="0" marL="0">
              <a:lnSpc>
                <a:spcPts val="3600"/>
              </a:lnSpc>
              <a:buNone/>
            </a:pPr>
            <a:r>
              <a:rPr lang="en-US" sz="1200" dirty="0">
                <a:solidFill>
                  <a:srgbClr val="4A5568"/>
                </a:solidFill>
                <a:latin typeface="JetBrains Mono" pitchFamily="49" charset="0"/>
                <a:ea typeface="JetBrains Mono" pitchFamily="49" charset="-122"/>
                <a:cs typeface="JetBrains Mono" pitchFamily="49" charset="-120"/>
              </a:rPr>
              <a:t>0</a:t>
            </a:r>
            <a:endParaRPr lang="en-US" sz="1200" dirty="0"/>
          </a:p>
        </p:txBody>
      </p:sp>
      <p:sp>
        <p:nvSpPr>
          <p:cNvPr id="70" name="Text 67"/>
          <p:cNvSpPr/>
          <p:nvPr/>
        </p:nvSpPr>
        <p:spPr>
          <a:xfrm>
            <a:off x="5257800" y="3827611"/>
            <a:ext cx="457200" cy="457200"/>
          </a:xfrm>
          <a:prstGeom prst="rect">
            <a:avLst/>
          </a:prstGeom>
          <a:solidFill>
            <a:srgbClr val="E3E1DA"/>
          </a:solidFill>
          <a:ln/>
        </p:spPr>
        <p:txBody>
          <a:bodyPr wrap="square" lIns="0" tIns="0" rIns="0" bIns="0" rtlCol="0" anchor="t">
            <a:normAutofit/>
          </a:bodyPr>
          <a:lstStyle/>
          <a:p>
            <a:pPr algn="ctr" indent="0" marL="0">
              <a:lnSpc>
                <a:spcPts val="3600"/>
              </a:lnSpc>
              <a:buNone/>
            </a:pPr>
            <a:r>
              <a:rPr lang="en-US" sz="1200" dirty="0">
                <a:solidFill>
                  <a:srgbClr val="4A5568"/>
                </a:solidFill>
                <a:latin typeface="JetBrains Mono" pitchFamily="49" charset="0"/>
                <a:ea typeface="JetBrains Mono" pitchFamily="49" charset="-122"/>
                <a:cs typeface="JetBrains Mono" pitchFamily="49" charset="-120"/>
              </a:rPr>
              <a:t>0</a:t>
            </a:r>
            <a:endParaRPr lang="en-US" sz="1200" dirty="0"/>
          </a:p>
        </p:txBody>
      </p:sp>
      <p:sp>
        <p:nvSpPr>
          <p:cNvPr id="71" name="Text 68"/>
          <p:cNvSpPr/>
          <p:nvPr/>
        </p:nvSpPr>
        <p:spPr>
          <a:xfrm>
            <a:off x="5969000" y="2052191"/>
            <a:ext cx="5410200" cy="375890"/>
          </a:xfrm>
          <a:prstGeom prst="roundRect">
            <a:avLst>
              <a:gd name="adj" fmla="val 20272"/>
            </a:avLst>
          </a:prstGeom>
          <a:solidFill>
            <a:srgbClr val="F8D9C4"/>
          </a:solidFill>
          <a:ln/>
        </p:spPr>
        <p:txBody>
          <a:bodyPr wrap="square" lIns="104682" tIns="41182" rIns="0" bIns="15782" rtlCol="0" anchor="t">
            <a:normAutofit/>
          </a:bodyPr>
          <a:lstStyle/>
          <a:p>
            <a:pPr algn="l" indent="0" marL="0">
              <a:lnSpc>
                <a:spcPts val="1960"/>
              </a:lnSpc>
              <a:buNone/>
            </a:pPr>
            <a:r>
              <a:rPr lang="en-US" sz="1400" b="1" dirty="0">
                <a:solidFill>
                  <a:srgbClr val="B8501F"/>
                </a:solidFill>
                <a:latin typeface="JetBrains Mono" pitchFamily="49" charset="0"/>
                <a:ea typeface="JetBrains Mono" pitchFamily="49" charset="-122"/>
                <a:cs typeface="JetBrains Mono" pitchFamily="49" charset="-120"/>
              </a:rPr>
              <a:t>ReLU(x) = max(0, x)</a:t>
            </a:r>
            <a:endParaRPr lang="en-US" sz="1400" dirty="0"/>
          </a:p>
        </p:txBody>
      </p:sp>
      <p:sp>
        <p:nvSpPr>
          <p:cNvPr id="72" name="Shape 69"/>
          <p:cNvSpPr/>
          <p:nvPr/>
        </p:nvSpPr>
        <p:spPr>
          <a:xfrm>
            <a:off x="5969000" y="2529681"/>
            <a:ext cx="5410200" cy="713730"/>
          </a:xfrm>
          <a:prstGeom prst="roundRect">
            <a:avLst>
              <a:gd name="adj" fmla="val 10676"/>
            </a:avLst>
          </a:prstGeom>
          <a:solidFill>
            <a:srgbClr val="FFFDF8"/>
          </a:solidFill>
          <a:ln/>
        </p:spPr>
      </p:sp>
      <p:sp>
        <p:nvSpPr>
          <p:cNvPr id="73" name="Shape 70"/>
          <p:cNvSpPr/>
          <p:nvPr/>
        </p:nvSpPr>
        <p:spPr>
          <a:xfrm>
            <a:off x="5969000" y="2529681"/>
            <a:ext cx="5410200" cy="713730"/>
          </a:xfrm>
          <a:custGeom>
            <a:avLst/>
            <a:gdLst/>
            <a:ahLst/>
            <a:cxnLst/>
            <a:rect l="l" t="t" r="r" b="b"/>
            <a:pathLst>
              <a:path w="5410200" h="713730">
                <a:moveTo>
                  <a:pt x="76200" y="713730"/>
                </a:moveTo>
                <a:lnTo>
                  <a:pt x="76200" y="713730"/>
                </a:lnTo>
                <a:arcTo hR="76200" wR="76200" stAng="5400000" swAng="5400000"/>
                <a:lnTo>
                  <a:pt x="0" y="76200"/>
                </a:lnTo>
                <a:arcTo hR="76200" wR="76200" stAng="10800000" swAng="5400000"/>
                <a:lnTo>
                  <a:pt x="76200" y="0"/>
                </a:lnTo>
                <a:arcTo hR="76200" wR="25400" stAng="16200000" swAng="-5400000"/>
                <a:lnTo>
                  <a:pt x="50800" y="637530"/>
                </a:lnTo>
                <a:arcTo hR="76200" wR="25400" stAng="10800000" swAng="-5400000"/>
                <a:close/>
              </a:path>
            </a:pathLst>
          </a:custGeom>
          <a:solidFill>
            <a:srgbClr val="2B5FA6"/>
          </a:solidFill>
          <a:ln/>
        </p:spPr>
      </p:sp>
      <p:sp>
        <p:nvSpPr>
          <p:cNvPr id="74" name="Text 71"/>
          <p:cNvSpPr/>
          <p:nvPr/>
        </p:nvSpPr>
        <p:spPr>
          <a:xfrm>
            <a:off x="6172200" y="2643981"/>
            <a:ext cx="520623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0"/>
                </a:solidFill>
                <a:latin typeface="DM Sans" pitchFamily="34" charset="0"/>
                <a:ea typeface="DM Sans" pitchFamily="34" charset="-122"/>
                <a:cs typeface="DM Sans" pitchFamily="34" charset="-120"/>
              </a:rPr>
              <a:t>−27 → 0</a:t>
            </a:r>
            <a:endParaRPr lang="en-US" sz="1500" dirty="0"/>
          </a:p>
        </p:txBody>
      </p:sp>
      <p:sp>
        <p:nvSpPr>
          <p:cNvPr id="75" name="Text 72"/>
          <p:cNvSpPr/>
          <p:nvPr/>
        </p:nvSpPr>
        <p:spPr>
          <a:xfrm>
            <a:off x="6172200" y="2897981"/>
            <a:ext cx="520623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Negative = not what this filter looks for. Drop it.</a:t>
            </a:r>
            <a:endParaRPr lang="en-US" sz="1300" dirty="0"/>
          </a:p>
        </p:txBody>
      </p:sp>
      <p:sp>
        <p:nvSpPr>
          <p:cNvPr id="76" name="Shape 73"/>
          <p:cNvSpPr/>
          <p:nvPr/>
        </p:nvSpPr>
        <p:spPr>
          <a:xfrm>
            <a:off x="5969000" y="3345011"/>
            <a:ext cx="5410200" cy="713730"/>
          </a:xfrm>
          <a:prstGeom prst="roundRect">
            <a:avLst>
              <a:gd name="adj" fmla="val 10676"/>
            </a:avLst>
          </a:prstGeom>
          <a:solidFill>
            <a:srgbClr val="FFFDF8"/>
          </a:solidFill>
          <a:ln/>
        </p:spPr>
      </p:sp>
      <p:sp>
        <p:nvSpPr>
          <p:cNvPr id="77" name="Shape 74"/>
          <p:cNvSpPr/>
          <p:nvPr/>
        </p:nvSpPr>
        <p:spPr>
          <a:xfrm>
            <a:off x="5969000" y="3345011"/>
            <a:ext cx="5410200" cy="713730"/>
          </a:xfrm>
          <a:custGeom>
            <a:avLst/>
            <a:gdLst/>
            <a:ahLst/>
            <a:cxnLst/>
            <a:rect l="l" t="t" r="r" b="b"/>
            <a:pathLst>
              <a:path w="5410200" h="713730">
                <a:moveTo>
                  <a:pt x="76200" y="713730"/>
                </a:moveTo>
                <a:lnTo>
                  <a:pt x="76200" y="713730"/>
                </a:lnTo>
                <a:arcTo hR="76200" wR="76200" stAng="5400000" swAng="5400000"/>
                <a:lnTo>
                  <a:pt x="0" y="76200"/>
                </a:lnTo>
                <a:arcTo hR="76200" wR="76200" stAng="10800000" swAng="5400000"/>
                <a:lnTo>
                  <a:pt x="76200" y="0"/>
                </a:lnTo>
                <a:arcTo hR="76200" wR="25400" stAng="16200000" swAng="-5400000"/>
                <a:lnTo>
                  <a:pt x="50800" y="637530"/>
                </a:lnTo>
                <a:arcTo hR="76200" wR="25400" stAng="10800000" swAng="-5400000"/>
                <a:close/>
              </a:path>
            </a:pathLst>
          </a:custGeom>
          <a:solidFill>
            <a:srgbClr val="D9622B"/>
          </a:solidFill>
          <a:ln/>
        </p:spPr>
      </p:sp>
      <p:sp>
        <p:nvSpPr>
          <p:cNvPr id="78" name="Text 75"/>
          <p:cNvSpPr/>
          <p:nvPr/>
        </p:nvSpPr>
        <p:spPr>
          <a:xfrm>
            <a:off x="6172200" y="3459311"/>
            <a:ext cx="520623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0"/>
                </a:solidFill>
                <a:latin typeface="DM Sans" pitchFamily="34" charset="0"/>
                <a:ea typeface="DM Sans" pitchFamily="34" charset="-122"/>
                <a:cs typeface="DM Sans" pitchFamily="34" charset="-120"/>
              </a:rPr>
              <a:t>27 → 27</a:t>
            </a:r>
            <a:endParaRPr lang="en-US" sz="1500" dirty="0"/>
          </a:p>
        </p:txBody>
      </p:sp>
      <p:sp>
        <p:nvSpPr>
          <p:cNvPr id="79" name="Text 76"/>
          <p:cNvSpPr/>
          <p:nvPr/>
        </p:nvSpPr>
        <p:spPr>
          <a:xfrm>
            <a:off x="6172200" y="3713311"/>
            <a:ext cx="520623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Positive = “found it”. Keep it.</a:t>
            </a:r>
            <a:endParaRPr lang="en-US" sz="1300" dirty="0"/>
          </a:p>
        </p:txBody>
      </p:sp>
      <p:sp>
        <p:nvSpPr>
          <p:cNvPr id="80" name="Shape 77"/>
          <p:cNvSpPr/>
          <p:nvPr/>
        </p:nvSpPr>
        <p:spPr>
          <a:xfrm>
            <a:off x="5969000" y="4160341"/>
            <a:ext cx="5410200" cy="713730"/>
          </a:xfrm>
          <a:prstGeom prst="roundRect">
            <a:avLst>
              <a:gd name="adj" fmla="val 10676"/>
            </a:avLst>
          </a:prstGeom>
          <a:solidFill>
            <a:srgbClr val="FFFDF8"/>
          </a:solidFill>
          <a:ln/>
        </p:spPr>
      </p:sp>
      <p:sp>
        <p:nvSpPr>
          <p:cNvPr id="81" name="Shape 78"/>
          <p:cNvSpPr/>
          <p:nvPr/>
        </p:nvSpPr>
        <p:spPr>
          <a:xfrm>
            <a:off x="5969000" y="4160341"/>
            <a:ext cx="5410200" cy="713730"/>
          </a:xfrm>
          <a:custGeom>
            <a:avLst/>
            <a:gdLst/>
            <a:ahLst/>
            <a:cxnLst/>
            <a:rect l="l" t="t" r="r" b="b"/>
            <a:pathLst>
              <a:path w="5410200" h="713730">
                <a:moveTo>
                  <a:pt x="76200" y="713730"/>
                </a:moveTo>
                <a:lnTo>
                  <a:pt x="76200" y="713730"/>
                </a:lnTo>
                <a:arcTo hR="76200" wR="76200" stAng="5400000" swAng="5400000"/>
                <a:lnTo>
                  <a:pt x="0" y="76200"/>
                </a:lnTo>
                <a:arcTo hR="76200" wR="76200" stAng="10800000" swAng="5400000"/>
                <a:lnTo>
                  <a:pt x="76200" y="0"/>
                </a:lnTo>
                <a:arcTo hR="76200" wR="25400" stAng="16200000" swAng="-5400000"/>
                <a:lnTo>
                  <a:pt x="50800" y="637530"/>
                </a:lnTo>
                <a:arcTo hR="76200" wR="25400" stAng="10800000" swAng="-5400000"/>
                <a:close/>
              </a:path>
            </a:pathLst>
          </a:custGeom>
          <a:solidFill>
            <a:srgbClr val="8B93A0"/>
          </a:solidFill>
          <a:ln/>
        </p:spPr>
      </p:sp>
      <p:sp>
        <p:nvSpPr>
          <p:cNvPr id="82" name="Text 79"/>
          <p:cNvSpPr/>
          <p:nvPr/>
        </p:nvSpPr>
        <p:spPr>
          <a:xfrm>
            <a:off x="6172200" y="4274641"/>
            <a:ext cx="520623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0"/>
                </a:solidFill>
                <a:latin typeface="DM Sans" pitchFamily="34" charset="0"/>
                <a:ea typeface="DM Sans" pitchFamily="34" charset="-122"/>
                <a:cs typeface="DM Sans" pitchFamily="34" charset="-120"/>
              </a:rPr>
              <a:t>Size stays 4×4</a:t>
            </a:r>
            <a:endParaRPr lang="en-US" sz="1500" dirty="0"/>
          </a:p>
        </p:txBody>
      </p:sp>
      <p:sp>
        <p:nvSpPr>
          <p:cNvPr id="83" name="Text 80"/>
          <p:cNvSpPr/>
          <p:nvPr/>
        </p:nvSpPr>
        <p:spPr>
          <a:xfrm>
            <a:off x="6172200" y="4528641"/>
            <a:ext cx="520623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ReLU never changes the size. Nothing to learn.</a:t>
            </a:r>
            <a:endParaRPr lang="en-US" sz="1300" dirty="0"/>
          </a:p>
        </p:txBody>
      </p:sp>
      <p:sp>
        <p:nvSpPr>
          <p:cNvPr id="84" name="Text 8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DM Sans" pitchFamily="34" charset="0"/>
                <a:ea typeface="DM Sans" pitchFamily="34" charset="-122"/>
                <a:cs typeface="DM Sans" pitchFamily="34" charset="-120"/>
              </a:rPr>
              <a:t>CNN step by step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819150" y="412750"/>
            <a:ext cx="1108075" cy="515541"/>
          </a:xfrm>
          <a:prstGeom prst="roundRect">
            <a:avLst>
              <a:gd name="adj" fmla="val 11085"/>
            </a:avLst>
          </a:prstGeom>
          <a:solidFill>
            <a:srgbClr val="E8E3D6"/>
          </a:solidFill>
          <a:ln w="12700">
            <a:solidFill>
              <a:srgbClr val="E8E3D6"/>
            </a:solidFill>
            <a:prstDash val="solid"/>
          </a:ln>
        </p:spPr>
      </p:sp>
      <p:sp>
        <p:nvSpPr>
          <p:cNvPr id="3" name="Text 1"/>
          <p:cNvSpPr/>
          <p:nvPr/>
        </p:nvSpPr>
        <p:spPr>
          <a:xfrm>
            <a:off x="85090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2430"/>
                </a:solidFill>
                <a:latin typeface="DM Sans" pitchFamily="34" charset="0"/>
                <a:ea typeface="DM Sans" pitchFamily="34" charset="-122"/>
                <a:cs typeface="DM Sans" pitchFamily="34" charset="-120"/>
              </a:rPr>
              <a:t>Image</a:t>
            </a:r>
            <a:endParaRPr lang="en-US" sz="1200" dirty="0"/>
          </a:p>
        </p:txBody>
      </p:sp>
      <p:sp>
        <p:nvSpPr>
          <p:cNvPr id="4" name="Text 2"/>
          <p:cNvSpPr/>
          <p:nvPr/>
        </p:nvSpPr>
        <p:spPr>
          <a:xfrm>
            <a:off x="85090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JetBrains Mono" pitchFamily="49" charset="0"/>
                <a:ea typeface="JetBrains Mono" pitchFamily="49" charset="-122"/>
                <a:cs typeface="JetBrains Mono" pitchFamily="49" charset="-120"/>
              </a:rPr>
              <a:t>6×6</a:t>
            </a:r>
            <a:endParaRPr lang="en-US" sz="1200" dirty="0"/>
          </a:p>
        </p:txBody>
      </p:sp>
      <p:sp>
        <p:nvSpPr>
          <p:cNvPr id="5" name="Text 3"/>
          <p:cNvSpPr/>
          <p:nvPr/>
        </p:nvSpPr>
        <p:spPr>
          <a:xfrm>
            <a:off x="197167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6" name="Shape 4"/>
          <p:cNvSpPr/>
          <p:nvPr/>
        </p:nvSpPr>
        <p:spPr>
          <a:xfrm>
            <a:off x="2168525" y="412750"/>
            <a:ext cx="1108075" cy="515541"/>
          </a:xfrm>
          <a:prstGeom prst="roundRect">
            <a:avLst>
              <a:gd name="adj" fmla="val 11085"/>
            </a:avLst>
          </a:prstGeom>
          <a:solidFill>
            <a:srgbClr val="E8E3D6"/>
          </a:solidFill>
          <a:ln w="12700">
            <a:solidFill>
              <a:srgbClr val="E8E3D6"/>
            </a:solidFill>
            <a:prstDash val="solid"/>
          </a:ln>
        </p:spPr>
      </p:sp>
      <p:sp>
        <p:nvSpPr>
          <p:cNvPr id="7" name="Text 5"/>
          <p:cNvSpPr/>
          <p:nvPr/>
        </p:nvSpPr>
        <p:spPr>
          <a:xfrm>
            <a:off x="220027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2430"/>
                </a:solidFill>
                <a:latin typeface="DM Sans" pitchFamily="34" charset="0"/>
                <a:ea typeface="DM Sans" pitchFamily="34" charset="-122"/>
                <a:cs typeface="DM Sans" pitchFamily="34" charset="-120"/>
              </a:rPr>
              <a:t>Conv</a:t>
            </a:r>
            <a:endParaRPr lang="en-US" sz="1200" dirty="0"/>
          </a:p>
        </p:txBody>
      </p:sp>
      <p:sp>
        <p:nvSpPr>
          <p:cNvPr id="8" name="Text 6"/>
          <p:cNvSpPr/>
          <p:nvPr/>
        </p:nvSpPr>
        <p:spPr>
          <a:xfrm>
            <a:off x="220027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JetBrains Mono" pitchFamily="49" charset="0"/>
                <a:ea typeface="JetBrains Mono" pitchFamily="49" charset="-122"/>
                <a:cs typeface="JetBrains Mono" pitchFamily="49" charset="-120"/>
              </a:rPr>
              <a:t>4×4</a:t>
            </a:r>
            <a:endParaRPr lang="en-US" sz="1200" dirty="0"/>
          </a:p>
        </p:txBody>
      </p:sp>
      <p:sp>
        <p:nvSpPr>
          <p:cNvPr id="9" name="Text 7"/>
          <p:cNvSpPr/>
          <p:nvPr/>
        </p:nvSpPr>
        <p:spPr>
          <a:xfrm>
            <a:off x="3321050"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10" name="Shape 8"/>
          <p:cNvSpPr/>
          <p:nvPr/>
        </p:nvSpPr>
        <p:spPr>
          <a:xfrm>
            <a:off x="3517900" y="412750"/>
            <a:ext cx="1108075" cy="515541"/>
          </a:xfrm>
          <a:prstGeom prst="roundRect">
            <a:avLst>
              <a:gd name="adj" fmla="val 11085"/>
            </a:avLst>
          </a:prstGeom>
          <a:solidFill>
            <a:srgbClr val="E8E3D6"/>
          </a:solidFill>
          <a:ln w="12700">
            <a:solidFill>
              <a:srgbClr val="E8E3D6"/>
            </a:solidFill>
            <a:prstDash val="solid"/>
          </a:ln>
        </p:spPr>
      </p:sp>
      <p:sp>
        <p:nvSpPr>
          <p:cNvPr id="11" name="Text 9"/>
          <p:cNvSpPr/>
          <p:nvPr/>
        </p:nvSpPr>
        <p:spPr>
          <a:xfrm>
            <a:off x="354965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2430"/>
                </a:solidFill>
                <a:latin typeface="DM Sans" pitchFamily="34" charset="0"/>
                <a:ea typeface="DM Sans" pitchFamily="34" charset="-122"/>
                <a:cs typeface="DM Sans" pitchFamily="34" charset="-120"/>
              </a:rPr>
              <a:t>ReLU</a:t>
            </a:r>
            <a:endParaRPr lang="en-US" sz="1200" dirty="0"/>
          </a:p>
        </p:txBody>
      </p:sp>
      <p:sp>
        <p:nvSpPr>
          <p:cNvPr id="12" name="Text 10"/>
          <p:cNvSpPr/>
          <p:nvPr/>
        </p:nvSpPr>
        <p:spPr>
          <a:xfrm>
            <a:off x="354965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JetBrains Mono" pitchFamily="49" charset="0"/>
                <a:ea typeface="JetBrains Mono" pitchFamily="49" charset="-122"/>
                <a:cs typeface="JetBrains Mono" pitchFamily="49" charset="-120"/>
              </a:rPr>
              <a:t>4×4</a:t>
            </a:r>
            <a:endParaRPr lang="en-US" sz="1200" dirty="0"/>
          </a:p>
        </p:txBody>
      </p:sp>
      <p:sp>
        <p:nvSpPr>
          <p:cNvPr id="13" name="Text 11"/>
          <p:cNvSpPr/>
          <p:nvPr/>
        </p:nvSpPr>
        <p:spPr>
          <a:xfrm>
            <a:off x="467042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14" name="Shape 12"/>
          <p:cNvSpPr/>
          <p:nvPr/>
        </p:nvSpPr>
        <p:spPr>
          <a:xfrm>
            <a:off x="4867275" y="412750"/>
            <a:ext cx="1108075" cy="515541"/>
          </a:xfrm>
          <a:prstGeom prst="roundRect">
            <a:avLst>
              <a:gd name="adj" fmla="val 11085"/>
            </a:avLst>
          </a:prstGeom>
          <a:solidFill>
            <a:srgbClr val="B8501F"/>
          </a:solidFill>
          <a:ln w="12700">
            <a:solidFill>
              <a:srgbClr val="B8501F"/>
            </a:solidFill>
            <a:prstDash val="solid"/>
          </a:ln>
        </p:spPr>
      </p:sp>
      <p:sp>
        <p:nvSpPr>
          <p:cNvPr id="15" name="Text 13"/>
          <p:cNvSpPr/>
          <p:nvPr/>
        </p:nvSpPr>
        <p:spPr>
          <a:xfrm>
            <a:off x="489902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FFDF8"/>
                </a:solidFill>
                <a:latin typeface="DM Sans" pitchFamily="34" charset="0"/>
                <a:ea typeface="DM Sans" pitchFamily="34" charset="-122"/>
                <a:cs typeface="DM Sans" pitchFamily="34" charset="-120"/>
              </a:rPr>
              <a:t>Pool</a:t>
            </a:r>
            <a:endParaRPr lang="en-US" sz="1200" dirty="0"/>
          </a:p>
        </p:txBody>
      </p:sp>
      <p:sp>
        <p:nvSpPr>
          <p:cNvPr id="16" name="Text 14"/>
          <p:cNvSpPr/>
          <p:nvPr/>
        </p:nvSpPr>
        <p:spPr>
          <a:xfrm>
            <a:off x="489902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FFDF8"/>
                </a:solidFill>
                <a:latin typeface="JetBrains Mono" pitchFamily="49" charset="0"/>
                <a:ea typeface="JetBrains Mono" pitchFamily="49" charset="-122"/>
                <a:cs typeface="JetBrains Mono" pitchFamily="49" charset="-120"/>
              </a:rPr>
              <a:t>2×2</a:t>
            </a:r>
            <a:endParaRPr lang="en-US" sz="1200" dirty="0"/>
          </a:p>
        </p:txBody>
      </p:sp>
      <p:sp>
        <p:nvSpPr>
          <p:cNvPr id="17" name="Text 15"/>
          <p:cNvSpPr/>
          <p:nvPr/>
        </p:nvSpPr>
        <p:spPr>
          <a:xfrm>
            <a:off x="6019800"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18" name="Shape 16"/>
          <p:cNvSpPr/>
          <p:nvPr/>
        </p:nvSpPr>
        <p:spPr>
          <a:xfrm>
            <a:off x="6216650" y="412750"/>
            <a:ext cx="1108075" cy="515541"/>
          </a:xfrm>
          <a:prstGeom prst="roundRect">
            <a:avLst>
              <a:gd name="adj" fmla="val 11085"/>
            </a:avLst>
          </a:prstGeom>
          <a:noFill/>
          <a:ln w="12700">
            <a:solidFill>
              <a:srgbClr val="D8D4C8"/>
            </a:solidFill>
            <a:prstDash val="solid"/>
          </a:ln>
        </p:spPr>
      </p:sp>
      <p:sp>
        <p:nvSpPr>
          <p:cNvPr id="19" name="Text 17"/>
          <p:cNvSpPr/>
          <p:nvPr/>
        </p:nvSpPr>
        <p:spPr>
          <a:xfrm>
            <a:off x="624840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Flatten</a:t>
            </a:r>
            <a:endParaRPr lang="en-US" sz="1200" dirty="0"/>
          </a:p>
        </p:txBody>
      </p:sp>
      <p:sp>
        <p:nvSpPr>
          <p:cNvPr id="20" name="Text 18"/>
          <p:cNvSpPr/>
          <p:nvPr/>
        </p:nvSpPr>
        <p:spPr>
          <a:xfrm>
            <a:off x="624840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4 nums</a:t>
            </a:r>
            <a:endParaRPr lang="en-US" sz="1200" dirty="0"/>
          </a:p>
        </p:txBody>
      </p:sp>
      <p:sp>
        <p:nvSpPr>
          <p:cNvPr id="21" name="Text 19"/>
          <p:cNvSpPr/>
          <p:nvPr/>
        </p:nvSpPr>
        <p:spPr>
          <a:xfrm>
            <a:off x="736917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22" name="Shape 20"/>
          <p:cNvSpPr/>
          <p:nvPr/>
        </p:nvSpPr>
        <p:spPr>
          <a:xfrm>
            <a:off x="7566025" y="412750"/>
            <a:ext cx="1108075" cy="515541"/>
          </a:xfrm>
          <a:prstGeom prst="roundRect">
            <a:avLst>
              <a:gd name="adj" fmla="val 11085"/>
            </a:avLst>
          </a:prstGeom>
          <a:noFill/>
          <a:ln w="12700">
            <a:solidFill>
              <a:srgbClr val="D8D4C8"/>
            </a:solidFill>
            <a:prstDash val="solid"/>
          </a:ln>
        </p:spPr>
      </p:sp>
      <p:sp>
        <p:nvSpPr>
          <p:cNvPr id="23" name="Text 21"/>
          <p:cNvSpPr/>
          <p:nvPr/>
        </p:nvSpPr>
        <p:spPr>
          <a:xfrm>
            <a:off x="759777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Dense</a:t>
            </a:r>
            <a:endParaRPr lang="en-US" sz="1200" dirty="0"/>
          </a:p>
        </p:txBody>
      </p:sp>
      <p:sp>
        <p:nvSpPr>
          <p:cNvPr id="24" name="Text 22"/>
          <p:cNvSpPr/>
          <p:nvPr/>
        </p:nvSpPr>
        <p:spPr>
          <a:xfrm>
            <a:off x="759777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3 scores</a:t>
            </a:r>
            <a:endParaRPr lang="en-US" sz="1200" dirty="0"/>
          </a:p>
        </p:txBody>
      </p:sp>
      <p:sp>
        <p:nvSpPr>
          <p:cNvPr id="25" name="Text 23"/>
          <p:cNvSpPr/>
          <p:nvPr/>
        </p:nvSpPr>
        <p:spPr>
          <a:xfrm>
            <a:off x="8718550"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26" name="Shape 24"/>
          <p:cNvSpPr/>
          <p:nvPr/>
        </p:nvSpPr>
        <p:spPr>
          <a:xfrm>
            <a:off x="8915400" y="412750"/>
            <a:ext cx="1108075" cy="515541"/>
          </a:xfrm>
          <a:prstGeom prst="roundRect">
            <a:avLst>
              <a:gd name="adj" fmla="val 11085"/>
            </a:avLst>
          </a:prstGeom>
          <a:noFill/>
          <a:ln w="12700">
            <a:solidFill>
              <a:srgbClr val="D8D4C8"/>
            </a:solidFill>
            <a:prstDash val="solid"/>
          </a:ln>
        </p:spPr>
      </p:sp>
      <p:sp>
        <p:nvSpPr>
          <p:cNvPr id="27" name="Text 25"/>
          <p:cNvSpPr/>
          <p:nvPr/>
        </p:nvSpPr>
        <p:spPr>
          <a:xfrm>
            <a:off x="894715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Softmax</a:t>
            </a:r>
            <a:endParaRPr lang="en-US" sz="1200" dirty="0"/>
          </a:p>
        </p:txBody>
      </p:sp>
      <p:sp>
        <p:nvSpPr>
          <p:cNvPr id="28" name="Text 26"/>
          <p:cNvSpPr/>
          <p:nvPr/>
        </p:nvSpPr>
        <p:spPr>
          <a:xfrm>
            <a:off x="894715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3 chances</a:t>
            </a:r>
            <a:endParaRPr lang="en-US" sz="1200" dirty="0"/>
          </a:p>
        </p:txBody>
      </p:sp>
      <p:sp>
        <p:nvSpPr>
          <p:cNvPr id="29" name="Text 27"/>
          <p:cNvSpPr/>
          <p:nvPr/>
        </p:nvSpPr>
        <p:spPr>
          <a:xfrm>
            <a:off x="1006792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30" name="Shape 28"/>
          <p:cNvSpPr/>
          <p:nvPr/>
        </p:nvSpPr>
        <p:spPr>
          <a:xfrm>
            <a:off x="10264775" y="412750"/>
            <a:ext cx="1108075" cy="515541"/>
          </a:xfrm>
          <a:prstGeom prst="roundRect">
            <a:avLst>
              <a:gd name="adj" fmla="val 11085"/>
            </a:avLst>
          </a:prstGeom>
          <a:noFill/>
          <a:ln w="12700">
            <a:solidFill>
              <a:srgbClr val="D8D4C8"/>
            </a:solidFill>
            <a:prstDash val="solid"/>
          </a:ln>
        </p:spPr>
      </p:sp>
      <p:sp>
        <p:nvSpPr>
          <p:cNvPr id="31" name="Text 29"/>
          <p:cNvSpPr/>
          <p:nvPr/>
        </p:nvSpPr>
        <p:spPr>
          <a:xfrm>
            <a:off x="1029652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Answer</a:t>
            </a:r>
            <a:endParaRPr lang="en-US" sz="1200" dirty="0"/>
          </a:p>
        </p:txBody>
      </p:sp>
      <p:sp>
        <p:nvSpPr>
          <p:cNvPr id="32" name="Text 30"/>
          <p:cNvSpPr/>
          <p:nvPr/>
        </p:nvSpPr>
        <p:spPr>
          <a:xfrm>
            <a:off x="1029652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“1”</a:t>
            </a:r>
            <a:endParaRPr lang="en-US" sz="1200" dirty="0"/>
          </a:p>
        </p:txBody>
      </p:sp>
      <p:sp>
        <p:nvSpPr>
          <p:cNvPr id="33" name="Text 31"/>
          <p:cNvSpPr/>
          <p:nvPr/>
        </p:nvSpPr>
        <p:spPr>
          <a:xfrm>
            <a:off x="812800" y="113784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501F"/>
                </a:solidFill>
                <a:latin typeface="DM Sans" pitchFamily="34" charset="0"/>
                <a:ea typeface="DM Sans" pitchFamily="34" charset="-122"/>
                <a:cs typeface="DM Sans" pitchFamily="34" charset="-120"/>
              </a:rPr>
              <a:t>STEP 4 · MAX POOLING 2×2</a:t>
            </a:r>
            <a:endParaRPr lang="en-US" sz="1200" dirty="0"/>
          </a:p>
        </p:txBody>
      </p:sp>
      <p:sp>
        <p:nvSpPr>
          <p:cNvPr id="34" name="Text 32"/>
          <p:cNvSpPr/>
          <p:nvPr>
            <p:ph type="title"/>
          </p:nvPr>
        </p:nvSpPr>
        <p:spPr>
          <a:xfrm>
            <a:off x="812800" y="1401961"/>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430"/>
                </a:solidFill>
                <a:latin typeface="DM Sans" pitchFamily="34" charset="0"/>
                <a:ea typeface="DM Sans" pitchFamily="34" charset="-122"/>
                <a:cs typeface="DM Sans" pitchFamily="34" charset="-120"/>
              </a:rPr>
              <a:t>Pooling: keep the biggest of each block</a:t>
            </a:r>
            <a:endParaRPr lang="en-US" sz="3200" dirty="0"/>
          </a:p>
        </p:txBody>
      </p:sp>
      <p:sp>
        <p:nvSpPr>
          <p:cNvPr id="35" name="Text 33"/>
          <p:cNvSpPr/>
          <p:nvPr/>
        </p:nvSpPr>
        <p:spPr>
          <a:xfrm>
            <a:off x="812800" y="2052191"/>
            <a:ext cx="221068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DM Sans" pitchFamily="34" charset="0"/>
                <a:ea typeface="DM Sans" pitchFamily="34" charset="-122"/>
                <a:cs typeface="DM Sans" pitchFamily="34" charset="-120"/>
              </a:rPr>
              <a:t>After ReLU 4×4</a:t>
            </a:r>
            <a:endParaRPr lang="en-US" sz="1200" dirty="0"/>
          </a:p>
        </p:txBody>
      </p:sp>
      <p:sp>
        <p:nvSpPr>
          <p:cNvPr id="36" name="Text 34"/>
          <p:cNvSpPr/>
          <p:nvPr/>
        </p:nvSpPr>
        <p:spPr>
          <a:xfrm>
            <a:off x="812800" y="2329011"/>
            <a:ext cx="508000" cy="508000"/>
          </a:xfrm>
          <a:prstGeom prst="rect">
            <a:avLst/>
          </a:prstGeom>
          <a:solidFill>
            <a:srgbClr val="D6E3F5"/>
          </a:solidFill>
          <a:ln/>
        </p:spPr>
        <p:txBody>
          <a:bodyPr wrap="square" lIns="0" tIns="0" rIns="0" bIns="0" rtlCol="0" anchor="t">
            <a:normAutofit/>
          </a:bodyPr>
          <a:lstStyle/>
          <a:p>
            <a:pPr algn="ctr" indent="0" marL="0">
              <a:lnSpc>
                <a:spcPts val="4004"/>
              </a:lnSpc>
              <a:buNone/>
            </a:pPr>
            <a:r>
              <a:rPr lang="en-US" sz="1400" b="1" dirty="0">
                <a:solidFill>
                  <a:srgbClr val="1B2430"/>
                </a:solidFill>
                <a:latin typeface="JetBrains Mono" pitchFamily="49" charset="0"/>
                <a:ea typeface="JetBrains Mono" pitchFamily="49" charset="-122"/>
                <a:cs typeface="JetBrains Mono" pitchFamily="49" charset="-120"/>
              </a:rPr>
              <a:t>27</a:t>
            </a:r>
            <a:endParaRPr lang="en-US" sz="1400" dirty="0"/>
          </a:p>
        </p:txBody>
      </p:sp>
      <p:sp>
        <p:nvSpPr>
          <p:cNvPr id="37" name="Text 35"/>
          <p:cNvSpPr/>
          <p:nvPr/>
        </p:nvSpPr>
        <p:spPr>
          <a:xfrm>
            <a:off x="1358900" y="2329011"/>
            <a:ext cx="508000" cy="508000"/>
          </a:xfrm>
          <a:prstGeom prst="rect">
            <a:avLst/>
          </a:prstGeom>
          <a:solidFill>
            <a:srgbClr val="D6E3F5"/>
          </a:solidFill>
          <a:ln/>
        </p:spPr>
        <p:txBody>
          <a:bodyPr wrap="square" lIns="0" tIns="0" rIns="0" bIns="0" rtlCol="0" anchor="t">
            <a:normAutofit/>
          </a:bodyPr>
          <a:lstStyle/>
          <a:p>
            <a:pPr algn="ctr" indent="0" marL="0">
              <a:lnSpc>
                <a:spcPts val="4004"/>
              </a:lnSpc>
              <a:buNone/>
            </a:pPr>
            <a:r>
              <a:rPr lang="en-US" sz="1400" dirty="0">
                <a:solidFill>
                  <a:srgbClr val="1B2430"/>
                </a:solidFill>
                <a:latin typeface="JetBrains Mono" pitchFamily="49" charset="0"/>
                <a:ea typeface="JetBrains Mono" pitchFamily="49" charset="-122"/>
                <a:cs typeface="JetBrains Mono" pitchFamily="49" charset="-120"/>
              </a:rPr>
              <a:t>27</a:t>
            </a:r>
            <a:endParaRPr lang="en-US" sz="1400" dirty="0"/>
          </a:p>
        </p:txBody>
      </p:sp>
      <p:sp>
        <p:nvSpPr>
          <p:cNvPr id="38" name="Text 36"/>
          <p:cNvSpPr/>
          <p:nvPr/>
        </p:nvSpPr>
        <p:spPr>
          <a:xfrm>
            <a:off x="1905000" y="2329011"/>
            <a:ext cx="508000" cy="508000"/>
          </a:xfrm>
          <a:prstGeom prst="rect">
            <a:avLst/>
          </a:prstGeom>
          <a:solidFill>
            <a:srgbClr val="F8D9C4"/>
          </a:solidFill>
          <a:ln/>
        </p:spPr>
        <p:txBody>
          <a:bodyPr wrap="square" lIns="0" tIns="0" rIns="0" bIns="0" rtlCol="0" anchor="t">
            <a:normAutofit/>
          </a:bodyPr>
          <a:lstStyle/>
          <a:p>
            <a:pPr algn="ctr" indent="0" marL="0">
              <a:lnSpc>
                <a:spcPts val="4004"/>
              </a:lnSpc>
              <a:buNone/>
            </a:pPr>
            <a:r>
              <a:rPr lang="en-US" sz="1400" b="1" dirty="0">
                <a:solidFill>
                  <a:srgbClr val="1B2430"/>
                </a:solidFill>
                <a:latin typeface="JetBrains Mono" pitchFamily="49" charset="0"/>
                <a:ea typeface="JetBrains Mono" pitchFamily="49" charset="-122"/>
                <a:cs typeface="JetBrains Mono" pitchFamily="49" charset="-120"/>
              </a:rPr>
              <a:t>0</a:t>
            </a:r>
            <a:endParaRPr lang="en-US" sz="1400" dirty="0"/>
          </a:p>
        </p:txBody>
      </p:sp>
      <p:sp>
        <p:nvSpPr>
          <p:cNvPr id="39" name="Text 37"/>
          <p:cNvSpPr/>
          <p:nvPr/>
        </p:nvSpPr>
        <p:spPr>
          <a:xfrm>
            <a:off x="2451100" y="2329011"/>
            <a:ext cx="508000" cy="508000"/>
          </a:xfrm>
          <a:prstGeom prst="rect">
            <a:avLst/>
          </a:prstGeom>
          <a:solidFill>
            <a:srgbClr val="F8D9C4"/>
          </a:solidFill>
          <a:ln/>
        </p:spPr>
        <p:txBody>
          <a:bodyPr wrap="square" lIns="0" tIns="0" rIns="0" bIns="0" rtlCol="0" anchor="t">
            <a:normAutofit/>
          </a:bodyPr>
          <a:lstStyle/>
          <a:p>
            <a:pPr algn="ctr" indent="0" marL="0">
              <a:lnSpc>
                <a:spcPts val="4004"/>
              </a:lnSpc>
              <a:buNone/>
            </a:pPr>
            <a:r>
              <a:rPr lang="en-US" sz="1400" dirty="0">
                <a:solidFill>
                  <a:srgbClr val="1B2430"/>
                </a:solidFill>
                <a:latin typeface="JetBrains Mono" pitchFamily="49" charset="0"/>
                <a:ea typeface="JetBrains Mono" pitchFamily="49" charset="-122"/>
                <a:cs typeface="JetBrains Mono" pitchFamily="49" charset="-120"/>
              </a:rPr>
              <a:t>0</a:t>
            </a:r>
            <a:endParaRPr lang="en-US" sz="1400" dirty="0"/>
          </a:p>
        </p:txBody>
      </p:sp>
      <p:sp>
        <p:nvSpPr>
          <p:cNvPr id="40" name="Text 38"/>
          <p:cNvSpPr/>
          <p:nvPr/>
        </p:nvSpPr>
        <p:spPr>
          <a:xfrm>
            <a:off x="812800" y="2875111"/>
            <a:ext cx="508000" cy="508000"/>
          </a:xfrm>
          <a:prstGeom prst="rect">
            <a:avLst/>
          </a:prstGeom>
          <a:solidFill>
            <a:srgbClr val="D6E3F5"/>
          </a:solidFill>
          <a:ln/>
        </p:spPr>
        <p:txBody>
          <a:bodyPr wrap="square" lIns="0" tIns="0" rIns="0" bIns="0" rtlCol="0" anchor="t">
            <a:normAutofit/>
          </a:bodyPr>
          <a:lstStyle/>
          <a:p>
            <a:pPr algn="ctr" indent="0" marL="0">
              <a:lnSpc>
                <a:spcPts val="4004"/>
              </a:lnSpc>
              <a:buNone/>
            </a:pPr>
            <a:r>
              <a:rPr lang="en-US" sz="1400" dirty="0">
                <a:solidFill>
                  <a:srgbClr val="1B2430"/>
                </a:solidFill>
                <a:latin typeface="JetBrains Mono" pitchFamily="49" charset="0"/>
                <a:ea typeface="JetBrains Mono" pitchFamily="49" charset="-122"/>
                <a:cs typeface="JetBrains Mono" pitchFamily="49" charset="-120"/>
              </a:rPr>
              <a:t>27</a:t>
            </a:r>
            <a:endParaRPr lang="en-US" sz="1400" dirty="0"/>
          </a:p>
        </p:txBody>
      </p:sp>
      <p:sp>
        <p:nvSpPr>
          <p:cNvPr id="41" name="Text 39"/>
          <p:cNvSpPr/>
          <p:nvPr/>
        </p:nvSpPr>
        <p:spPr>
          <a:xfrm>
            <a:off x="1358900" y="2875111"/>
            <a:ext cx="508000" cy="508000"/>
          </a:xfrm>
          <a:prstGeom prst="rect">
            <a:avLst/>
          </a:prstGeom>
          <a:solidFill>
            <a:srgbClr val="D6E3F5"/>
          </a:solidFill>
          <a:ln/>
        </p:spPr>
        <p:txBody>
          <a:bodyPr wrap="square" lIns="0" tIns="0" rIns="0" bIns="0" rtlCol="0" anchor="t">
            <a:normAutofit/>
          </a:bodyPr>
          <a:lstStyle/>
          <a:p>
            <a:pPr algn="ctr" indent="0" marL="0">
              <a:lnSpc>
                <a:spcPts val="4004"/>
              </a:lnSpc>
              <a:buNone/>
            </a:pPr>
            <a:r>
              <a:rPr lang="en-US" sz="1400" dirty="0">
                <a:solidFill>
                  <a:srgbClr val="1B2430"/>
                </a:solidFill>
                <a:latin typeface="JetBrains Mono" pitchFamily="49" charset="0"/>
                <a:ea typeface="JetBrains Mono" pitchFamily="49" charset="-122"/>
                <a:cs typeface="JetBrains Mono" pitchFamily="49" charset="-120"/>
              </a:rPr>
              <a:t>27</a:t>
            </a:r>
            <a:endParaRPr lang="en-US" sz="1400" dirty="0"/>
          </a:p>
        </p:txBody>
      </p:sp>
      <p:sp>
        <p:nvSpPr>
          <p:cNvPr id="42" name="Text 40"/>
          <p:cNvSpPr/>
          <p:nvPr/>
        </p:nvSpPr>
        <p:spPr>
          <a:xfrm>
            <a:off x="1905000" y="2875111"/>
            <a:ext cx="508000" cy="508000"/>
          </a:xfrm>
          <a:prstGeom prst="rect">
            <a:avLst/>
          </a:prstGeom>
          <a:solidFill>
            <a:srgbClr val="F8D9C4"/>
          </a:solidFill>
          <a:ln/>
        </p:spPr>
        <p:txBody>
          <a:bodyPr wrap="square" lIns="0" tIns="0" rIns="0" bIns="0" rtlCol="0" anchor="t">
            <a:normAutofit/>
          </a:bodyPr>
          <a:lstStyle/>
          <a:p>
            <a:pPr algn="ctr" indent="0" marL="0">
              <a:lnSpc>
                <a:spcPts val="4004"/>
              </a:lnSpc>
              <a:buNone/>
            </a:pPr>
            <a:r>
              <a:rPr lang="en-US" sz="1400" dirty="0">
                <a:solidFill>
                  <a:srgbClr val="1B2430"/>
                </a:solidFill>
                <a:latin typeface="JetBrains Mono" pitchFamily="49" charset="0"/>
                <a:ea typeface="JetBrains Mono" pitchFamily="49" charset="-122"/>
                <a:cs typeface="JetBrains Mono" pitchFamily="49" charset="-120"/>
              </a:rPr>
              <a:t>0</a:t>
            </a:r>
            <a:endParaRPr lang="en-US" sz="1400" dirty="0"/>
          </a:p>
        </p:txBody>
      </p:sp>
      <p:sp>
        <p:nvSpPr>
          <p:cNvPr id="43" name="Text 41"/>
          <p:cNvSpPr/>
          <p:nvPr/>
        </p:nvSpPr>
        <p:spPr>
          <a:xfrm>
            <a:off x="2451100" y="2875111"/>
            <a:ext cx="508000" cy="508000"/>
          </a:xfrm>
          <a:prstGeom prst="rect">
            <a:avLst/>
          </a:prstGeom>
          <a:solidFill>
            <a:srgbClr val="F8D9C4"/>
          </a:solidFill>
          <a:ln/>
        </p:spPr>
        <p:txBody>
          <a:bodyPr wrap="square" lIns="0" tIns="0" rIns="0" bIns="0" rtlCol="0" anchor="t">
            <a:normAutofit/>
          </a:bodyPr>
          <a:lstStyle/>
          <a:p>
            <a:pPr algn="ctr" indent="0" marL="0">
              <a:lnSpc>
                <a:spcPts val="4004"/>
              </a:lnSpc>
              <a:buNone/>
            </a:pPr>
            <a:r>
              <a:rPr lang="en-US" sz="1400" dirty="0">
                <a:solidFill>
                  <a:srgbClr val="1B2430"/>
                </a:solidFill>
                <a:latin typeface="JetBrains Mono" pitchFamily="49" charset="0"/>
                <a:ea typeface="JetBrains Mono" pitchFamily="49" charset="-122"/>
                <a:cs typeface="JetBrains Mono" pitchFamily="49" charset="-120"/>
              </a:rPr>
              <a:t>0</a:t>
            </a:r>
            <a:endParaRPr lang="en-US" sz="1400" dirty="0"/>
          </a:p>
        </p:txBody>
      </p:sp>
      <p:sp>
        <p:nvSpPr>
          <p:cNvPr id="44" name="Text 42"/>
          <p:cNvSpPr/>
          <p:nvPr/>
        </p:nvSpPr>
        <p:spPr>
          <a:xfrm>
            <a:off x="812800" y="3421211"/>
            <a:ext cx="508000" cy="508000"/>
          </a:xfrm>
          <a:prstGeom prst="rect">
            <a:avLst/>
          </a:prstGeom>
          <a:solidFill>
            <a:srgbClr val="E3DCF2"/>
          </a:solidFill>
          <a:ln/>
        </p:spPr>
        <p:txBody>
          <a:bodyPr wrap="square" lIns="0" tIns="0" rIns="0" bIns="0" rtlCol="0" anchor="t">
            <a:normAutofit/>
          </a:bodyPr>
          <a:lstStyle/>
          <a:p>
            <a:pPr algn="ctr" indent="0" marL="0">
              <a:lnSpc>
                <a:spcPts val="4004"/>
              </a:lnSpc>
              <a:buNone/>
            </a:pPr>
            <a:r>
              <a:rPr lang="en-US" sz="1400" b="1" dirty="0">
                <a:solidFill>
                  <a:srgbClr val="1B2430"/>
                </a:solidFill>
                <a:latin typeface="JetBrains Mono" pitchFamily="49" charset="0"/>
                <a:ea typeface="JetBrains Mono" pitchFamily="49" charset="-122"/>
                <a:cs typeface="JetBrains Mono" pitchFamily="49" charset="-120"/>
              </a:rPr>
              <a:t>27</a:t>
            </a:r>
            <a:endParaRPr lang="en-US" sz="1400" dirty="0"/>
          </a:p>
        </p:txBody>
      </p:sp>
      <p:sp>
        <p:nvSpPr>
          <p:cNvPr id="45" name="Text 43"/>
          <p:cNvSpPr/>
          <p:nvPr/>
        </p:nvSpPr>
        <p:spPr>
          <a:xfrm>
            <a:off x="1358900" y="3421211"/>
            <a:ext cx="508000" cy="508000"/>
          </a:xfrm>
          <a:prstGeom prst="rect">
            <a:avLst/>
          </a:prstGeom>
          <a:solidFill>
            <a:srgbClr val="E3DCF2"/>
          </a:solidFill>
          <a:ln/>
        </p:spPr>
        <p:txBody>
          <a:bodyPr wrap="square" lIns="0" tIns="0" rIns="0" bIns="0" rtlCol="0" anchor="t">
            <a:normAutofit/>
          </a:bodyPr>
          <a:lstStyle/>
          <a:p>
            <a:pPr algn="ctr" indent="0" marL="0">
              <a:lnSpc>
                <a:spcPts val="4004"/>
              </a:lnSpc>
              <a:buNone/>
            </a:pPr>
            <a:r>
              <a:rPr lang="en-US" sz="1400" dirty="0">
                <a:solidFill>
                  <a:srgbClr val="1B2430"/>
                </a:solidFill>
                <a:latin typeface="JetBrains Mono" pitchFamily="49" charset="0"/>
                <a:ea typeface="JetBrains Mono" pitchFamily="49" charset="-122"/>
                <a:cs typeface="JetBrains Mono" pitchFamily="49" charset="-120"/>
              </a:rPr>
              <a:t>27</a:t>
            </a:r>
            <a:endParaRPr lang="en-US" sz="1400" dirty="0"/>
          </a:p>
        </p:txBody>
      </p:sp>
      <p:sp>
        <p:nvSpPr>
          <p:cNvPr id="46" name="Text 44"/>
          <p:cNvSpPr/>
          <p:nvPr/>
        </p:nvSpPr>
        <p:spPr>
          <a:xfrm>
            <a:off x="1905000" y="3421211"/>
            <a:ext cx="508000" cy="508000"/>
          </a:xfrm>
          <a:prstGeom prst="rect">
            <a:avLst/>
          </a:prstGeom>
          <a:solidFill>
            <a:srgbClr val="D7EBDD"/>
          </a:solidFill>
          <a:ln/>
        </p:spPr>
        <p:txBody>
          <a:bodyPr wrap="square" lIns="0" tIns="0" rIns="0" bIns="0" rtlCol="0" anchor="t">
            <a:normAutofit/>
          </a:bodyPr>
          <a:lstStyle/>
          <a:p>
            <a:pPr algn="ctr" indent="0" marL="0">
              <a:lnSpc>
                <a:spcPts val="4004"/>
              </a:lnSpc>
              <a:buNone/>
            </a:pPr>
            <a:r>
              <a:rPr lang="en-US" sz="1400" b="1" dirty="0">
                <a:solidFill>
                  <a:srgbClr val="1B2430"/>
                </a:solidFill>
                <a:latin typeface="JetBrains Mono" pitchFamily="49" charset="0"/>
                <a:ea typeface="JetBrains Mono" pitchFamily="49" charset="-122"/>
                <a:cs typeface="JetBrains Mono" pitchFamily="49" charset="-120"/>
              </a:rPr>
              <a:t>0</a:t>
            </a:r>
            <a:endParaRPr lang="en-US" sz="1400" dirty="0"/>
          </a:p>
        </p:txBody>
      </p:sp>
      <p:sp>
        <p:nvSpPr>
          <p:cNvPr id="47" name="Text 45"/>
          <p:cNvSpPr/>
          <p:nvPr/>
        </p:nvSpPr>
        <p:spPr>
          <a:xfrm>
            <a:off x="2451100" y="3421211"/>
            <a:ext cx="508000" cy="508000"/>
          </a:xfrm>
          <a:prstGeom prst="rect">
            <a:avLst/>
          </a:prstGeom>
          <a:solidFill>
            <a:srgbClr val="D7EBDD"/>
          </a:solidFill>
          <a:ln/>
        </p:spPr>
        <p:txBody>
          <a:bodyPr wrap="square" lIns="0" tIns="0" rIns="0" bIns="0" rtlCol="0" anchor="t">
            <a:normAutofit/>
          </a:bodyPr>
          <a:lstStyle/>
          <a:p>
            <a:pPr algn="ctr" indent="0" marL="0">
              <a:lnSpc>
                <a:spcPts val="4004"/>
              </a:lnSpc>
              <a:buNone/>
            </a:pPr>
            <a:r>
              <a:rPr lang="en-US" sz="1400" dirty="0">
                <a:solidFill>
                  <a:srgbClr val="1B2430"/>
                </a:solidFill>
                <a:latin typeface="JetBrains Mono" pitchFamily="49" charset="0"/>
                <a:ea typeface="JetBrains Mono" pitchFamily="49" charset="-122"/>
                <a:cs typeface="JetBrains Mono" pitchFamily="49" charset="-120"/>
              </a:rPr>
              <a:t>0</a:t>
            </a:r>
            <a:endParaRPr lang="en-US" sz="1400" dirty="0"/>
          </a:p>
        </p:txBody>
      </p:sp>
      <p:sp>
        <p:nvSpPr>
          <p:cNvPr id="48" name="Text 46"/>
          <p:cNvSpPr/>
          <p:nvPr/>
        </p:nvSpPr>
        <p:spPr>
          <a:xfrm>
            <a:off x="812800" y="3967311"/>
            <a:ext cx="508000" cy="508000"/>
          </a:xfrm>
          <a:prstGeom prst="rect">
            <a:avLst/>
          </a:prstGeom>
          <a:solidFill>
            <a:srgbClr val="E3DCF2"/>
          </a:solidFill>
          <a:ln/>
        </p:spPr>
        <p:txBody>
          <a:bodyPr wrap="square" lIns="0" tIns="0" rIns="0" bIns="0" rtlCol="0" anchor="t">
            <a:normAutofit/>
          </a:bodyPr>
          <a:lstStyle/>
          <a:p>
            <a:pPr algn="ctr" indent="0" marL="0">
              <a:lnSpc>
                <a:spcPts val="4004"/>
              </a:lnSpc>
              <a:buNone/>
            </a:pPr>
            <a:r>
              <a:rPr lang="en-US" sz="1400" dirty="0">
                <a:solidFill>
                  <a:srgbClr val="1B2430"/>
                </a:solidFill>
                <a:latin typeface="JetBrains Mono" pitchFamily="49" charset="0"/>
                <a:ea typeface="JetBrains Mono" pitchFamily="49" charset="-122"/>
                <a:cs typeface="JetBrains Mono" pitchFamily="49" charset="-120"/>
              </a:rPr>
              <a:t>27</a:t>
            </a:r>
            <a:endParaRPr lang="en-US" sz="1400" dirty="0"/>
          </a:p>
        </p:txBody>
      </p:sp>
      <p:sp>
        <p:nvSpPr>
          <p:cNvPr id="49" name="Text 47"/>
          <p:cNvSpPr/>
          <p:nvPr/>
        </p:nvSpPr>
        <p:spPr>
          <a:xfrm>
            <a:off x="1358900" y="3967311"/>
            <a:ext cx="508000" cy="508000"/>
          </a:xfrm>
          <a:prstGeom prst="rect">
            <a:avLst/>
          </a:prstGeom>
          <a:solidFill>
            <a:srgbClr val="E3DCF2"/>
          </a:solidFill>
          <a:ln/>
        </p:spPr>
        <p:txBody>
          <a:bodyPr wrap="square" lIns="0" tIns="0" rIns="0" bIns="0" rtlCol="0" anchor="t">
            <a:normAutofit/>
          </a:bodyPr>
          <a:lstStyle/>
          <a:p>
            <a:pPr algn="ctr" indent="0" marL="0">
              <a:lnSpc>
                <a:spcPts val="4004"/>
              </a:lnSpc>
              <a:buNone/>
            </a:pPr>
            <a:r>
              <a:rPr lang="en-US" sz="1400" dirty="0">
                <a:solidFill>
                  <a:srgbClr val="1B2430"/>
                </a:solidFill>
                <a:latin typeface="JetBrains Mono" pitchFamily="49" charset="0"/>
                <a:ea typeface="JetBrains Mono" pitchFamily="49" charset="-122"/>
                <a:cs typeface="JetBrains Mono" pitchFamily="49" charset="-120"/>
              </a:rPr>
              <a:t>27</a:t>
            </a:r>
            <a:endParaRPr lang="en-US" sz="1400" dirty="0"/>
          </a:p>
        </p:txBody>
      </p:sp>
      <p:sp>
        <p:nvSpPr>
          <p:cNvPr id="50" name="Text 48"/>
          <p:cNvSpPr/>
          <p:nvPr/>
        </p:nvSpPr>
        <p:spPr>
          <a:xfrm>
            <a:off x="1905000" y="3967311"/>
            <a:ext cx="508000" cy="508000"/>
          </a:xfrm>
          <a:prstGeom prst="rect">
            <a:avLst/>
          </a:prstGeom>
          <a:solidFill>
            <a:srgbClr val="D7EBDD"/>
          </a:solidFill>
          <a:ln/>
        </p:spPr>
        <p:txBody>
          <a:bodyPr wrap="square" lIns="0" tIns="0" rIns="0" bIns="0" rtlCol="0" anchor="t">
            <a:normAutofit/>
          </a:bodyPr>
          <a:lstStyle/>
          <a:p>
            <a:pPr algn="ctr" indent="0" marL="0">
              <a:lnSpc>
                <a:spcPts val="4004"/>
              </a:lnSpc>
              <a:buNone/>
            </a:pPr>
            <a:r>
              <a:rPr lang="en-US" sz="1400" dirty="0">
                <a:solidFill>
                  <a:srgbClr val="1B2430"/>
                </a:solidFill>
                <a:latin typeface="JetBrains Mono" pitchFamily="49" charset="0"/>
                <a:ea typeface="JetBrains Mono" pitchFamily="49" charset="-122"/>
                <a:cs typeface="JetBrains Mono" pitchFamily="49" charset="-120"/>
              </a:rPr>
              <a:t>0</a:t>
            </a:r>
            <a:endParaRPr lang="en-US" sz="1400" dirty="0"/>
          </a:p>
        </p:txBody>
      </p:sp>
      <p:sp>
        <p:nvSpPr>
          <p:cNvPr id="51" name="Text 49"/>
          <p:cNvSpPr/>
          <p:nvPr/>
        </p:nvSpPr>
        <p:spPr>
          <a:xfrm>
            <a:off x="2451100" y="3967311"/>
            <a:ext cx="508000" cy="508000"/>
          </a:xfrm>
          <a:prstGeom prst="rect">
            <a:avLst/>
          </a:prstGeom>
          <a:solidFill>
            <a:srgbClr val="D7EBDD"/>
          </a:solidFill>
          <a:ln/>
        </p:spPr>
        <p:txBody>
          <a:bodyPr wrap="square" lIns="0" tIns="0" rIns="0" bIns="0" rtlCol="0" anchor="t">
            <a:normAutofit/>
          </a:bodyPr>
          <a:lstStyle/>
          <a:p>
            <a:pPr algn="ctr" indent="0" marL="0">
              <a:lnSpc>
                <a:spcPts val="4004"/>
              </a:lnSpc>
              <a:buNone/>
            </a:pPr>
            <a:r>
              <a:rPr lang="en-US" sz="1400" dirty="0">
                <a:solidFill>
                  <a:srgbClr val="1B2430"/>
                </a:solidFill>
                <a:latin typeface="JetBrains Mono" pitchFamily="49" charset="0"/>
                <a:ea typeface="JetBrains Mono" pitchFamily="49" charset="-122"/>
                <a:cs typeface="JetBrains Mono" pitchFamily="49" charset="-120"/>
              </a:rPr>
              <a:t>0</a:t>
            </a:r>
            <a:endParaRPr lang="en-US" sz="1400" dirty="0"/>
          </a:p>
        </p:txBody>
      </p:sp>
      <p:pic>
        <p:nvPicPr>
          <p:cNvPr id="52" name="Image 0" descr="arrow-right">    </p:cNvPr>
          <p:cNvPicPr>
            <a:picLocks noChangeAspect="1"/>
          </p:cNvPicPr>
          <p:nvPr/>
        </p:nvPicPr>
        <p:blipFill>
          <a:blip r:embed="rId1"/>
          <a:srcRect l="0" r="0" t="0" b="0"/>
          <a:stretch/>
        </p:blipFill>
        <p:spPr>
          <a:xfrm>
            <a:off x="3136900" y="3162151"/>
            <a:ext cx="406400" cy="203200"/>
          </a:xfrm>
          <a:prstGeom prst="rect">
            <a:avLst/>
          </a:prstGeom>
        </p:spPr>
      </p:pic>
      <p:sp>
        <p:nvSpPr>
          <p:cNvPr id="53" name="Text 50"/>
          <p:cNvSpPr/>
          <p:nvPr/>
        </p:nvSpPr>
        <p:spPr>
          <a:xfrm>
            <a:off x="3721100" y="2598291"/>
            <a:ext cx="11049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DM Sans" pitchFamily="34" charset="0"/>
                <a:ea typeface="DM Sans" pitchFamily="34" charset="-122"/>
                <a:cs typeface="DM Sans" pitchFamily="34" charset="-120"/>
              </a:rPr>
              <a:t>Pooled 2×2</a:t>
            </a:r>
            <a:endParaRPr lang="en-US" sz="1200" dirty="0"/>
          </a:p>
        </p:txBody>
      </p:sp>
      <p:sp>
        <p:nvSpPr>
          <p:cNvPr id="54" name="Text 51"/>
          <p:cNvSpPr/>
          <p:nvPr/>
        </p:nvSpPr>
        <p:spPr>
          <a:xfrm>
            <a:off x="3721100" y="2875111"/>
            <a:ext cx="508000" cy="508000"/>
          </a:xfrm>
          <a:prstGeom prst="rect">
            <a:avLst/>
          </a:prstGeom>
          <a:solidFill>
            <a:srgbClr val="D6E3F5"/>
          </a:solidFill>
          <a:ln/>
        </p:spPr>
        <p:txBody>
          <a:bodyPr wrap="square" lIns="0" tIns="0" rIns="0" bIns="0" rtlCol="0" anchor="t">
            <a:normAutofit/>
          </a:bodyPr>
          <a:lstStyle/>
          <a:p>
            <a:pPr algn="ctr" indent="0" marL="0">
              <a:lnSpc>
                <a:spcPts val="4004"/>
              </a:lnSpc>
              <a:buNone/>
            </a:pPr>
            <a:r>
              <a:rPr lang="en-US" sz="1400" b="1" dirty="0">
                <a:solidFill>
                  <a:srgbClr val="1B2430"/>
                </a:solidFill>
                <a:latin typeface="JetBrains Mono" pitchFamily="49" charset="0"/>
                <a:ea typeface="JetBrains Mono" pitchFamily="49" charset="-122"/>
                <a:cs typeface="JetBrains Mono" pitchFamily="49" charset="-120"/>
              </a:rPr>
              <a:t>27</a:t>
            </a:r>
            <a:endParaRPr lang="en-US" sz="1400" dirty="0"/>
          </a:p>
        </p:txBody>
      </p:sp>
      <p:sp>
        <p:nvSpPr>
          <p:cNvPr id="55" name="Text 52"/>
          <p:cNvSpPr/>
          <p:nvPr/>
        </p:nvSpPr>
        <p:spPr>
          <a:xfrm>
            <a:off x="4267200" y="2875111"/>
            <a:ext cx="508000" cy="508000"/>
          </a:xfrm>
          <a:prstGeom prst="rect">
            <a:avLst/>
          </a:prstGeom>
          <a:solidFill>
            <a:srgbClr val="F8D9C4"/>
          </a:solidFill>
          <a:ln/>
        </p:spPr>
        <p:txBody>
          <a:bodyPr wrap="square" lIns="0" tIns="0" rIns="0" bIns="0" rtlCol="0" anchor="t">
            <a:normAutofit/>
          </a:bodyPr>
          <a:lstStyle/>
          <a:p>
            <a:pPr algn="ctr" indent="0" marL="0">
              <a:lnSpc>
                <a:spcPts val="4004"/>
              </a:lnSpc>
              <a:buNone/>
            </a:pPr>
            <a:r>
              <a:rPr lang="en-US" sz="1400" b="1" dirty="0">
                <a:solidFill>
                  <a:srgbClr val="1B2430"/>
                </a:solidFill>
                <a:latin typeface="JetBrains Mono" pitchFamily="49" charset="0"/>
                <a:ea typeface="JetBrains Mono" pitchFamily="49" charset="-122"/>
                <a:cs typeface="JetBrains Mono" pitchFamily="49" charset="-120"/>
              </a:rPr>
              <a:t>0</a:t>
            </a:r>
            <a:endParaRPr lang="en-US" sz="1400" dirty="0"/>
          </a:p>
        </p:txBody>
      </p:sp>
      <p:sp>
        <p:nvSpPr>
          <p:cNvPr id="56" name="Text 53"/>
          <p:cNvSpPr/>
          <p:nvPr/>
        </p:nvSpPr>
        <p:spPr>
          <a:xfrm>
            <a:off x="3721100" y="3421211"/>
            <a:ext cx="508000" cy="508000"/>
          </a:xfrm>
          <a:prstGeom prst="rect">
            <a:avLst/>
          </a:prstGeom>
          <a:solidFill>
            <a:srgbClr val="E3DCF2"/>
          </a:solidFill>
          <a:ln/>
        </p:spPr>
        <p:txBody>
          <a:bodyPr wrap="square" lIns="0" tIns="0" rIns="0" bIns="0" rtlCol="0" anchor="t">
            <a:normAutofit/>
          </a:bodyPr>
          <a:lstStyle/>
          <a:p>
            <a:pPr algn="ctr" indent="0" marL="0">
              <a:lnSpc>
                <a:spcPts val="4004"/>
              </a:lnSpc>
              <a:buNone/>
            </a:pPr>
            <a:r>
              <a:rPr lang="en-US" sz="1400" b="1" dirty="0">
                <a:solidFill>
                  <a:srgbClr val="1B2430"/>
                </a:solidFill>
                <a:latin typeface="JetBrains Mono" pitchFamily="49" charset="0"/>
                <a:ea typeface="JetBrains Mono" pitchFamily="49" charset="-122"/>
                <a:cs typeface="JetBrains Mono" pitchFamily="49" charset="-120"/>
              </a:rPr>
              <a:t>27</a:t>
            </a:r>
            <a:endParaRPr lang="en-US" sz="1400" dirty="0"/>
          </a:p>
        </p:txBody>
      </p:sp>
      <p:sp>
        <p:nvSpPr>
          <p:cNvPr id="57" name="Text 54"/>
          <p:cNvSpPr/>
          <p:nvPr/>
        </p:nvSpPr>
        <p:spPr>
          <a:xfrm>
            <a:off x="4267200" y="3421211"/>
            <a:ext cx="508000" cy="508000"/>
          </a:xfrm>
          <a:prstGeom prst="rect">
            <a:avLst/>
          </a:prstGeom>
          <a:solidFill>
            <a:srgbClr val="D7EBDD"/>
          </a:solidFill>
          <a:ln/>
        </p:spPr>
        <p:txBody>
          <a:bodyPr wrap="square" lIns="0" tIns="0" rIns="0" bIns="0" rtlCol="0" anchor="t">
            <a:normAutofit/>
          </a:bodyPr>
          <a:lstStyle/>
          <a:p>
            <a:pPr algn="ctr" indent="0" marL="0">
              <a:lnSpc>
                <a:spcPts val="4004"/>
              </a:lnSpc>
              <a:buNone/>
            </a:pPr>
            <a:r>
              <a:rPr lang="en-US" sz="1400" b="1" dirty="0">
                <a:solidFill>
                  <a:srgbClr val="1B2430"/>
                </a:solidFill>
                <a:latin typeface="JetBrains Mono" pitchFamily="49" charset="0"/>
                <a:ea typeface="JetBrains Mono" pitchFamily="49" charset="-122"/>
                <a:cs typeface="JetBrains Mono" pitchFamily="49" charset="-120"/>
              </a:rPr>
              <a:t>0</a:t>
            </a:r>
            <a:endParaRPr lang="en-US" sz="1400" dirty="0"/>
          </a:p>
        </p:txBody>
      </p:sp>
      <p:sp>
        <p:nvSpPr>
          <p:cNvPr id="58" name="Text 55"/>
          <p:cNvSpPr/>
          <p:nvPr/>
        </p:nvSpPr>
        <p:spPr>
          <a:xfrm>
            <a:off x="812800" y="4602311"/>
            <a:ext cx="2095500" cy="289520"/>
          </a:xfrm>
          <a:prstGeom prst="roundRect">
            <a:avLst>
              <a:gd name="adj" fmla="val 17546"/>
            </a:avLst>
          </a:prstGeom>
          <a:solidFill>
            <a:srgbClr val="D6E3F5"/>
          </a:solidFill>
          <a:ln/>
        </p:spPr>
        <p:txBody>
          <a:bodyPr wrap="square" lIns="74021" tIns="23221" rIns="16490" bIns="0" rtlCol="0" anchor="t">
            <a:normAutofit/>
          </a:bodyPr>
          <a:lstStyle/>
          <a:p>
            <a:pPr algn="l" indent="0" marL="0">
              <a:lnSpc>
                <a:spcPts val="1680"/>
              </a:lnSpc>
              <a:buNone/>
            </a:pPr>
            <a:r>
              <a:rPr lang="en-US" sz="1200" dirty="0">
                <a:solidFill>
                  <a:srgbClr val="1B2430"/>
                </a:solidFill>
                <a:latin typeface="JetBrains Mono" pitchFamily="49" charset="0"/>
                <a:ea typeface="JetBrains Mono" pitchFamily="49" charset="-122"/>
                <a:cs typeface="JetBrains Mono" pitchFamily="49" charset="-120"/>
              </a:rPr>
              <a:t>27,27,27,27 → 27</a:t>
            </a:r>
            <a:endParaRPr lang="en-US" sz="1200" dirty="0"/>
          </a:p>
        </p:txBody>
      </p:sp>
      <p:sp>
        <p:nvSpPr>
          <p:cNvPr id="59" name="Text 56"/>
          <p:cNvSpPr/>
          <p:nvPr/>
        </p:nvSpPr>
        <p:spPr>
          <a:xfrm>
            <a:off x="2908300" y="4602311"/>
            <a:ext cx="2095500" cy="289520"/>
          </a:xfrm>
          <a:prstGeom prst="roundRect">
            <a:avLst>
              <a:gd name="adj" fmla="val 17546"/>
            </a:avLst>
          </a:prstGeom>
          <a:solidFill>
            <a:srgbClr val="F8D9C4"/>
          </a:solidFill>
          <a:ln/>
        </p:spPr>
        <p:txBody>
          <a:bodyPr wrap="square" lIns="74021" tIns="23221" rIns="16490" bIns="0" rtlCol="0" anchor="t">
            <a:normAutofit/>
          </a:bodyPr>
          <a:lstStyle/>
          <a:p>
            <a:pPr algn="l" indent="0" marL="0">
              <a:lnSpc>
                <a:spcPts val="1680"/>
              </a:lnSpc>
              <a:buNone/>
            </a:pPr>
            <a:r>
              <a:rPr lang="en-US" sz="1200" dirty="0">
                <a:solidFill>
                  <a:srgbClr val="1B2430"/>
                </a:solidFill>
                <a:latin typeface="JetBrains Mono" pitchFamily="49" charset="0"/>
                <a:ea typeface="JetBrains Mono" pitchFamily="49" charset="-122"/>
                <a:cs typeface="JetBrains Mono" pitchFamily="49" charset="-120"/>
              </a:rPr>
              <a:t>0, 0, 0, 0 → 0</a:t>
            </a:r>
            <a:endParaRPr lang="en-US" sz="1200" dirty="0"/>
          </a:p>
        </p:txBody>
      </p:sp>
      <p:sp>
        <p:nvSpPr>
          <p:cNvPr id="60" name="Text 57"/>
          <p:cNvSpPr/>
          <p:nvPr/>
        </p:nvSpPr>
        <p:spPr>
          <a:xfrm>
            <a:off x="812800" y="4891832"/>
            <a:ext cx="2095500" cy="289520"/>
          </a:xfrm>
          <a:prstGeom prst="roundRect">
            <a:avLst>
              <a:gd name="adj" fmla="val 17546"/>
            </a:avLst>
          </a:prstGeom>
          <a:solidFill>
            <a:srgbClr val="E3DCF2"/>
          </a:solidFill>
          <a:ln/>
        </p:spPr>
        <p:txBody>
          <a:bodyPr wrap="square" lIns="74021" tIns="23221" rIns="16490" bIns="0" rtlCol="0" anchor="t">
            <a:normAutofit/>
          </a:bodyPr>
          <a:lstStyle/>
          <a:p>
            <a:pPr algn="l" indent="0" marL="0">
              <a:lnSpc>
                <a:spcPts val="1680"/>
              </a:lnSpc>
              <a:buNone/>
            </a:pPr>
            <a:r>
              <a:rPr lang="en-US" sz="1200" dirty="0">
                <a:solidFill>
                  <a:srgbClr val="1B2430"/>
                </a:solidFill>
                <a:latin typeface="JetBrains Mono" pitchFamily="49" charset="0"/>
                <a:ea typeface="JetBrains Mono" pitchFamily="49" charset="-122"/>
                <a:cs typeface="JetBrains Mono" pitchFamily="49" charset="-120"/>
              </a:rPr>
              <a:t>27,27,27,27 → 27</a:t>
            </a:r>
            <a:endParaRPr lang="en-US" sz="1200" dirty="0"/>
          </a:p>
        </p:txBody>
      </p:sp>
      <p:sp>
        <p:nvSpPr>
          <p:cNvPr id="61" name="Text 58"/>
          <p:cNvSpPr/>
          <p:nvPr/>
        </p:nvSpPr>
        <p:spPr>
          <a:xfrm>
            <a:off x="2908300" y="4891832"/>
            <a:ext cx="2095500" cy="289520"/>
          </a:xfrm>
          <a:prstGeom prst="roundRect">
            <a:avLst>
              <a:gd name="adj" fmla="val 17546"/>
            </a:avLst>
          </a:prstGeom>
          <a:solidFill>
            <a:srgbClr val="D7EBDD"/>
          </a:solidFill>
          <a:ln/>
        </p:spPr>
        <p:txBody>
          <a:bodyPr wrap="square" lIns="74021" tIns="23221" rIns="16490" bIns="0" rtlCol="0" anchor="t">
            <a:normAutofit/>
          </a:bodyPr>
          <a:lstStyle/>
          <a:p>
            <a:pPr algn="l" indent="0" marL="0">
              <a:lnSpc>
                <a:spcPts val="1680"/>
              </a:lnSpc>
              <a:buNone/>
            </a:pPr>
            <a:r>
              <a:rPr lang="en-US" sz="1200" dirty="0">
                <a:solidFill>
                  <a:srgbClr val="1B2430"/>
                </a:solidFill>
                <a:latin typeface="JetBrains Mono" pitchFamily="49" charset="0"/>
                <a:ea typeface="JetBrains Mono" pitchFamily="49" charset="-122"/>
                <a:cs typeface="JetBrains Mono" pitchFamily="49" charset="-120"/>
              </a:rPr>
              <a:t>0, 0, 0, 0 → 0</a:t>
            </a:r>
            <a:endParaRPr lang="en-US" sz="1200" dirty="0"/>
          </a:p>
        </p:txBody>
      </p:sp>
      <p:sp>
        <p:nvSpPr>
          <p:cNvPr id="62" name="Shape 59"/>
          <p:cNvSpPr/>
          <p:nvPr/>
        </p:nvSpPr>
        <p:spPr>
          <a:xfrm>
            <a:off x="5359400" y="2052191"/>
            <a:ext cx="6019800" cy="713730"/>
          </a:xfrm>
          <a:prstGeom prst="roundRect">
            <a:avLst>
              <a:gd name="adj" fmla="val 10676"/>
            </a:avLst>
          </a:prstGeom>
          <a:solidFill>
            <a:srgbClr val="FFFDF8"/>
          </a:solidFill>
          <a:ln/>
        </p:spPr>
      </p:sp>
      <p:sp>
        <p:nvSpPr>
          <p:cNvPr id="63" name="Shape 60"/>
          <p:cNvSpPr/>
          <p:nvPr/>
        </p:nvSpPr>
        <p:spPr>
          <a:xfrm>
            <a:off x="5359400" y="2052191"/>
            <a:ext cx="6019800" cy="713730"/>
          </a:xfrm>
          <a:custGeom>
            <a:avLst/>
            <a:gdLst/>
            <a:ahLst/>
            <a:cxnLst/>
            <a:rect l="l" t="t" r="r" b="b"/>
            <a:pathLst>
              <a:path w="6019800" h="713730">
                <a:moveTo>
                  <a:pt x="76200" y="713730"/>
                </a:moveTo>
                <a:lnTo>
                  <a:pt x="76200" y="713730"/>
                </a:lnTo>
                <a:arcTo hR="76200" wR="76200" stAng="5400000" swAng="5400000"/>
                <a:lnTo>
                  <a:pt x="0" y="76200"/>
                </a:lnTo>
                <a:arcTo hR="76200" wR="76200" stAng="10800000" swAng="5400000"/>
                <a:lnTo>
                  <a:pt x="76200" y="0"/>
                </a:lnTo>
                <a:arcTo hR="76200" wR="25400" stAng="16200000" swAng="-5400000"/>
                <a:lnTo>
                  <a:pt x="50800" y="637530"/>
                </a:lnTo>
                <a:arcTo hR="76200" wR="25400" stAng="10800000" swAng="-5400000"/>
                <a:close/>
              </a:path>
            </a:pathLst>
          </a:custGeom>
          <a:solidFill>
            <a:srgbClr val="D9622B"/>
          </a:solidFill>
          <a:ln/>
        </p:spPr>
      </p:sp>
      <p:sp>
        <p:nvSpPr>
          <p:cNvPr id="64" name="Text 61"/>
          <p:cNvSpPr/>
          <p:nvPr/>
        </p:nvSpPr>
        <p:spPr>
          <a:xfrm>
            <a:off x="5562600" y="2166491"/>
            <a:ext cx="583412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0"/>
                </a:solidFill>
                <a:latin typeface="DM Sans" pitchFamily="34" charset="0"/>
                <a:ea typeface="DM Sans" pitchFamily="34" charset="-122"/>
                <a:cs typeface="DM Sans" pitchFamily="34" charset="-120"/>
              </a:rPr>
              <a:t>Size: 4 ÷ 2 = 2</a:t>
            </a:r>
            <a:endParaRPr lang="en-US" sz="1500" dirty="0"/>
          </a:p>
        </p:txBody>
      </p:sp>
      <p:sp>
        <p:nvSpPr>
          <p:cNvPr id="65" name="Text 62"/>
          <p:cNvSpPr/>
          <p:nvPr/>
        </p:nvSpPr>
        <p:spPr>
          <a:xfrm>
            <a:off x="5562600" y="2420491"/>
            <a:ext cx="583412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Automatic. We only choose the pool size, 2×2.</a:t>
            </a:r>
            <a:endParaRPr lang="en-US" sz="1300" dirty="0"/>
          </a:p>
        </p:txBody>
      </p:sp>
      <p:sp>
        <p:nvSpPr>
          <p:cNvPr id="66" name="Shape 63"/>
          <p:cNvSpPr/>
          <p:nvPr/>
        </p:nvSpPr>
        <p:spPr>
          <a:xfrm>
            <a:off x="5359400" y="2867521"/>
            <a:ext cx="6019800" cy="713730"/>
          </a:xfrm>
          <a:prstGeom prst="roundRect">
            <a:avLst>
              <a:gd name="adj" fmla="val 10676"/>
            </a:avLst>
          </a:prstGeom>
          <a:solidFill>
            <a:srgbClr val="FFFDF8"/>
          </a:solidFill>
          <a:ln/>
        </p:spPr>
      </p:sp>
      <p:sp>
        <p:nvSpPr>
          <p:cNvPr id="67" name="Shape 64"/>
          <p:cNvSpPr/>
          <p:nvPr/>
        </p:nvSpPr>
        <p:spPr>
          <a:xfrm>
            <a:off x="5359400" y="2867521"/>
            <a:ext cx="6019800" cy="713730"/>
          </a:xfrm>
          <a:custGeom>
            <a:avLst/>
            <a:gdLst/>
            <a:ahLst/>
            <a:cxnLst/>
            <a:rect l="l" t="t" r="r" b="b"/>
            <a:pathLst>
              <a:path w="6019800" h="713730">
                <a:moveTo>
                  <a:pt x="76200" y="713730"/>
                </a:moveTo>
                <a:lnTo>
                  <a:pt x="76200" y="713730"/>
                </a:lnTo>
                <a:arcTo hR="76200" wR="76200" stAng="5400000" swAng="5400000"/>
                <a:lnTo>
                  <a:pt x="0" y="76200"/>
                </a:lnTo>
                <a:arcTo hR="76200" wR="76200" stAng="10800000" swAng="5400000"/>
                <a:lnTo>
                  <a:pt x="76200" y="0"/>
                </a:lnTo>
                <a:arcTo hR="76200" wR="25400" stAng="16200000" swAng="-5400000"/>
                <a:lnTo>
                  <a:pt x="50800" y="637530"/>
                </a:lnTo>
                <a:arcTo hR="76200" wR="25400" stAng="10800000" swAng="-5400000"/>
                <a:close/>
              </a:path>
            </a:pathLst>
          </a:custGeom>
          <a:solidFill>
            <a:srgbClr val="2B5FA6"/>
          </a:solidFill>
          <a:ln/>
        </p:spPr>
      </p:sp>
      <p:sp>
        <p:nvSpPr>
          <p:cNvPr id="68" name="Text 65"/>
          <p:cNvSpPr/>
          <p:nvPr/>
        </p:nvSpPr>
        <p:spPr>
          <a:xfrm>
            <a:off x="5562600" y="2981821"/>
            <a:ext cx="583412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0"/>
                </a:solidFill>
                <a:latin typeface="DM Sans" pitchFamily="34" charset="0"/>
                <a:ea typeface="DM Sans" pitchFamily="34" charset="-122"/>
                <a:cs typeface="DM Sans" pitchFamily="34" charset="-120"/>
              </a:rPr>
              <a:t>Same message, fewer numbers</a:t>
            </a:r>
            <a:endParaRPr lang="en-US" sz="1500" dirty="0"/>
          </a:p>
        </p:txBody>
      </p:sp>
      <p:sp>
        <p:nvSpPr>
          <p:cNvPr id="69" name="Text 66"/>
          <p:cNvSpPr/>
          <p:nvPr/>
        </p:nvSpPr>
        <p:spPr>
          <a:xfrm>
            <a:off x="5562600" y="3235821"/>
            <a:ext cx="583412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Still says: edge on the left, nothing on the right.</a:t>
            </a:r>
            <a:endParaRPr lang="en-US" sz="1300" dirty="0"/>
          </a:p>
        </p:txBody>
      </p:sp>
      <p:sp>
        <p:nvSpPr>
          <p:cNvPr id="70" name="Shape 67"/>
          <p:cNvSpPr/>
          <p:nvPr/>
        </p:nvSpPr>
        <p:spPr>
          <a:xfrm>
            <a:off x="5359400" y="3682851"/>
            <a:ext cx="6019800" cy="713730"/>
          </a:xfrm>
          <a:prstGeom prst="roundRect">
            <a:avLst>
              <a:gd name="adj" fmla="val 10676"/>
            </a:avLst>
          </a:prstGeom>
          <a:solidFill>
            <a:srgbClr val="FFFDF8"/>
          </a:solidFill>
          <a:ln/>
        </p:spPr>
      </p:sp>
      <p:sp>
        <p:nvSpPr>
          <p:cNvPr id="71" name="Shape 68"/>
          <p:cNvSpPr/>
          <p:nvPr/>
        </p:nvSpPr>
        <p:spPr>
          <a:xfrm>
            <a:off x="5359400" y="3682851"/>
            <a:ext cx="6019800" cy="713730"/>
          </a:xfrm>
          <a:custGeom>
            <a:avLst/>
            <a:gdLst/>
            <a:ahLst/>
            <a:cxnLst/>
            <a:rect l="l" t="t" r="r" b="b"/>
            <a:pathLst>
              <a:path w="6019800" h="713730">
                <a:moveTo>
                  <a:pt x="76200" y="713730"/>
                </a:moveTo>
                <a:lnTo>
                  <a:pt x="76200" y="713730"/>
                </a:lnTo>
                <a:arcTo hR="76200" wR="76200" stAng="5400000" swAng="5400000"/>
                <a:lnTo>
                  <a:pt x="0" y="76200"/>
                </a:lnTo>
                <a:arcTo hR="76200" wR="76200" stAng="10800000" swAng="5400000"/>
                <a:lnTo>
                  <a:pt x="76200" y="0"/>
                </a:lnTo>
                <a:arcTo hR="76200" wR="25400" stAng="16200000" swAng="-5400000"/>
                <a:lnTo>
                  <a:pt x="50800" y="637530"/>
                </a:lnTo>
                <a:arcTo hR="76200" wR="25400" stAng="10800000" swAng="-5400000"/>
                <a:close/>
              </a:path>
            </a:pathLst>
          </a:custGeom>
          <a:solidFill>
            <a:srgbClr val="8B93A0"/>
          </a:solidFill>
          <a:ln/>
        </p:spPr>
      </p:sp>
      <p:sp>
        <p:nvSpPr>
          <p:cNvPr id="72" name="Text 69"/>
          <p:cNvSpPr/>
          <p:nvPr/>
        </p:nvSpPr>
        <p:spPr>
          <a:xfrm>
            <a:off x="5562600" y="3797151"/>
            <a:ext cx="583412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0"/>
                </a:solidFill>
                <a:latin typeface="DM Sans" pitchFamily="34" charset="0"/>
                <a:ea typeface="DM Sans" pitchFamily="34" charset="-122"/>
                <a:cs typeface="DM Sans" pitchFamily="34" charset="-120"/>
              </a:rPr>
              <a:t>Small moves don’t matter</a:t>
            </a:r>
            <a:endParaRPr lang="en-US" sz="1500" dirty="0"/>
          </a:p>
        </p:txBody>
      </p:sp>
      <p:sp>
        <p:nvSpPr>
          <p:cNvPr id="73" name="Text 70"/>
          <p:cNvSpPr/>
          <p:nvPr/>
        </p:nvSpPr>
        <p:spPr>
          <a:xfrm>
            <a:off x="5562600" y="4051151"/>
            <a:ext cx="583412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Move the stroke 1 pixel: the biggest value is still in its block.</a:t>
            </a:r>
            <a:endParaRPr lang="en-US" sz="1300" dirty="0"/>
          </a:p>
        </p:txBody>
      </p:sp>
      <p:sp>
        <p:nvSpPr>
          <p:cNvPr id="74" name="Shape 71"/>
          <p:cNvSpPr/>
          <p:nvPr/>
        </p:nvSpPr>
        <p:spPr>
          <a:xfrm>
            <a:off x="5359400" y="4498181"/>
            <a:ext cx="6019800" cy="713730"/>
          </a:xfrm>
          <a:prstGeom prst="roundRect">
            <a:avLst>
              <a:gd name="adj" fmla="val 10676"/>
            </a:avLst>
          </a:prstGeom>
          <a:solidFill>
            <a:srgbClr val="FFFDF8"/>
          </a:solidFill>
          <a:ln/>
        </p:spPr>
      </p:sp>
      <p:sp>
        <p:nvSpPr>
          <p:cNvPr id="75" name="Shape 72"/>
          <p:cNvSpPr/>
          <p:nvPr/>
        </p:nvSpPr>
        <p:spPr>
          <a:xfrm>
            <a:off x="5359400" y="4498181"/>
            <a:ext cx="6019800" cy="713730"/>
          </a:xfrm>
          <a:custGeom>
            <a:avLst/>
            <a:gdLst/>
            <a:ahLst/>
            <a:cxnLst/>
            <a:rect l="l" t="t" r="r" b="b"/>
            <a:pathLst>
              <a:path w="6019800" h="713730">
                <a:moveTo>
                  <a:pt x="76200" y="713730"/>
                </a:moveTo>
                <a:lnTo>
                  <a:pt x="76200" y="713730"/>
                </a:lnTo>
                <a:arcTo hR="76200" wR="76200" stAng="5400000" swAng="5400000"/>
                <a:lnTo>
                  <a:pt x="0" y="76200"/>
                </a:lnTo>
                <a:arcTo hR="76200" wR="76200" stAng="10800000" swAng="5400000"/>
                <a:lnTo>
                  <a:pt x="76200" y="0"/>
                </a:lnTo>
                <a:arcTo hR="76200" wR="25400" stAng="16200000" swAng="-5400000"/>
                <a:lnTo>
                  <a:pt x="50800" y="637530"/>
                </a:lnTo>
                <a:arcTo hR="76200" wR="25400" stAng="10800000" swAng="-5400000"/>
                <a:close/>
              </a:path>
            </a:pathLst>
          </a:custGeom>
          <a:solidFill>
            <a:srgbClr val="8B93A0"/>
          </a:solidFill>
          <a:ln/>
        </p:spPr>
      </p:sp>
      <p:sp>
        <p:nvSpPr>
          <p:cNvPr id="76" name="Text 73"/>
          <p:cNvSpPr/>
          <p:nvPr/>
        </p:nvSpPr>
        <p:spPr>
          <a:xfrm>
            <a:off x="5562600" y="4612481"/>
            <a:ext cx="583412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0"/>
                </a:solidFill>
                <a:latin typeface="DM Sans" pitchFamily="34" charset="0"/>
                <a:ea typeface="DM Sans" pitchFamily="34" charset="-122"/>
                <a:cs typeface="DM Sans" pitchFamily="34" charset="-120"/>
              </a:rPr>
              <a:t>Nothing to learn</a:t>
            </a:r>
            <a:endParaRPr lang="en-US" sz="1500" dirty="0"/>
          </a:p>
        </p:txBody>
      </p:sp>
      <p:sp>
        <p:nvSpPr>
          <p:cNvPr id="77" name="Text 74"/>
          <p:cNvSpPr/>
          <p:nvPr/>
        </p:nvSpPr>
        <p:spPr>
          <a:xfrm>
            <a:off x="5562600" y="4866481"/>
            <a:ext cx="583412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Pooling is a fixed rule. No weights.</a:t>
            </a:r>
            <a:endParaRPr lang="en-US" sz="1300" dirty="0"/>
          </a:p>
        </p:txBody>
      </p:sp>
      <p:sp>
        <p:nvSpPr>
          <p:cNvPr id="78" name="Text 7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DM Sans" pitchFamily="34" charset="0"/>
                <a:ea typeface="DM Sans" pitchFamily="34" charset="-122"/>
                <a:cs typeface="DM Sans" pitchFamily="34" charset="-120"/>
              </a:rPr>
              <a:t>CNN step by step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819150" y="412750"/>
            <a:ext cx="1108075" cy="515541"/>
          </a:xfrm>
          <a:prstGeom prst="roundRect">
            <a:avLst>
              <a:gd name="adj" fmla="val 11085"/>
            </a:avLst>
          </a:prstGeom>
          <a:solidFill>
            <a:srgbClr val="E8E3D6"/>
          </a:solidFill>
          <a:ln w="12700">
            <a:solidFill>
              <a:srgbClr val="E8E3D6"/>
            </a:solidFill>
            <a:prstDash val="solid"/>
          </a:ln>
        </p:spPr>
      </p:sp>
      <p:sp>
        <p:nvSpPr>
          <p:cNvPr id="3" name="Text 1"/>
          <p:cNvSpPr/>
          <p:nvPr/>
        </p:nvSpPr>
        <p:spPr>
          <a:xfrm>
            <a:off x="85090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2430"/>
                </a:solidFill>
                <a:latin typeface="DM Sans" pitchFamily="34" charset="0"/>
                <a:ea typeface="DM Sans" pitchFamily="34" charset="-122"/>
                <a:cs typeface="DM Sans" pitchFamily="34" charset="-120"/>
              </a:rPr>
              <a:t>Image</a:t>
            </a:r>
            <a:endParaRPr lang="en-US" sz="1200" dirty="0"/>
          </a:p>
        </p:txBody>
      </p:sp>
      <p:sp>
        <p:nvSpPr>
          <p:cNvPr id="4" name="Text 2"/>
          <p:cNvSpPr/>
          <p:nvPr/>
        </p:nvSpPr>
        <p:spPr>
          <a:xfrm>
            <a:off x="85090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JetBrains Mono" pitchFamily="49" charset="0"/>
                <a:ea typeface="JetBrains Mono" pitchFamily="49" charset="-122"/>
                <a:cs typeface="JetBrains Mono" pitchFamily="49" charset="-120"/>
              </a:rPr>
              <a:t>6×6</a:t>
            </a:r>
            <a:endParaRPr lang="en-US" sz="1200" dirty="0"/>
          </a:p>
        </p:txBody>
      </p:sp>
      <p:sp>
        <p:nvSpPr>
          <p:cNvPr id="5" name="Text 3"/>
          <p:cNvSpPr/>
          <p:nvPr/>
        </p:nvSpPr>
        <p:spPr>
          <a:xfrm>
            <a:off x="197167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6" name="Shape 4"/>
          <p:cNvSpPr/>
          <p:nvPr/>
        </p:nvSpPr>
        <p:spPr>
          <a:xfrm>
            <a:off x="2168525" y="412750"/>
            <a:ext cx="1108075" cy="515541"/>
          </a:xfrm>
          <a:prstGeom prst="roundRect">
            <a:avLst>
              <a:gd name="adj" fmla="val 11085"/>
            </a:avLst>
          </a:prstGeom>
          <a:solidFill>
            <a:srgbClr val="B8501F"/>
          </a:solidFill>
          <a:ln w="12700">
            <a:solidFill>
              <a:srgbClr val="B8501F"/>
            </a:solidFill>
            <a:prstDash val="solid"/>
          </a:ln>
        </p:spPr>
      </p:sp>
      <p:sp>
        <p:nvSpPr>
          <p:cNvPr id="7" name="Text 5"/>
          <p:cNvSpPr/>
          <p:nvPr/>
        </p:nvSpPr>
        <p:spPr>
          <a:xfrm>
            <a:off x="220027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FFDF8"/>
                </a:solidFill>
                <a:latin typeface="DM Sans" pitchFamily="34" charset="0"/>
                <a:ea typeface="DM Sans" pitchFamily="34" charset="-122"/>
                <a:cs typeface="DM Sans" pitchFamily="34" charset="-120"/>
              </a:rPr>
              <a:t>Conv</a:t>
            </a:r>
            <a:endParaRPr lang="en-US" sz="1200" dirty="0"/>
          </a:p>
        </p:txBody>
      </p:sp>
      <p:sp>
        <p:nvSpPr>
          <p:cNvPr id="8" name="Text 6"/>
          <p:cNvSpPr/>
          <p:nvPr/>
        </p:nvSpPr>
        <p:spPr>
          <a:xfrm>
            <a:off x="220027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FFDF8"/>
                </a:solidFill>
                <a:latin typeface="JetBrains Mono" pitchFamily="49" charset="0"/>
                <a:ea typeface="JetBrains Mono" pitchFamily="49" charset="-122"/>
                <a:cs typeface="JetBrains Mono" pitchFamily="49" charset="-120"/>
              </a:rPr>
              <a:t>↻</a:t>
            </a:r>
            <a:endParaRPr lang="en-US" sz="1200" dirty="0"/>
          </a:p>
        </p:txBody>
      </p:sp>
      <p:sp>
        <p:nvSpPr>
          <p:cNvPr id="9" name="Text 7"/>
          <p:cNvSpPr/>
          <p:nvPr/>
        </p:nvSpPr>
        <p:spPr>
          <a:xfrm>
            <a:off x="3321050"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10" name="Shape 8"/>
          <p:cNvSpPr/>
          <p:nvPr/>
        </p:nvSpPr>
        <p:spPr>
          <a:xfrm>
            <a:off x="3517900" y="412750"/>
            <a:ext cx="1108075" cy="515541"/>
          </a:xfrm>
          <a:prstGeom prst="roundRect">
            <a:avLst>
              <a:gd name="adj" fmla="val 11085"/>
            </a:avLst>
          </a:prstGeom>
          <a:solidFill>
            <a:srgbClr val="B8501F"/>
          </a:solidFill>
          <a:ln w="12700">
            <a:solidFill>
              <a:srgbClr val="B8501F"/>
            </a:solidFill>
            <a:prstDash val="solid"/>
          </a:ln>
        </p:spPr>
      </p:sp>
      <p:sp>
        <p:nvSpPr>
          <p:cNvPr id="11" name="Text 9"/>
          <p:cNvSpPr/>
          <p:nvPr/>
        </p:nvSpPr>
        <p:spPr>
          <a:xfrm>
            <a:off x="354965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FFDF8"/>
                </a:solidFill>
                <a:latin typeface="DM Sans" pitchFamily="34" charset="0"/>
                <a:ea typeface="DM Sans" pitchFamily="34" charset="-122"/>
                <a:cs typeface="DM Sans" pitchFamily="34" charset="-120"/>
              </a:rPr>
              <a:t>ReLU</a:t>
            </a:r>
            <a:endParaRPr lang="en-US" sz="1200" dirty="0"/>
          </a:p>
        </p:txBody>
      </p:sp>
      <p:sp>
        <p:nvSpPr>
          <p:cNvPr id="12" name="Text 10"/>
          <p:cNvSpPr/>
          <p:nvPr/>
        </p:nvSpPr>
        <p:spPr>
          <a:xfrm>
            <a:off x="354965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FFDF8"/>
                </a:solidFill>
                <a:latin typeface="JetBrains Mono" pitchFamily="49" charset="0"/>
                <a:ea typeface="JetBrains Mono" pitchFamily="49" charset="-122"/>
                <a:cs typeface="JetBrains Mono" pitchFamily="49" charset="-120"/>
              </a:rPr>
              <a:t>↻</a:t>
            </a:r>
            <a:endParaRPr lang="en-US" sz="1200" dirty="0"/>
          </a:p>
        </p:txBody>
      </p:sp>
      <p:sp>
        <p:nvSpPr>
          <p:cNvPr id="13" name="Text 11"/>
          <p:cNvSpPr/>
          <p:nvPr/>
        </p:nvSpPr>
        <p:spPr>
          <a:xfrm>
            <a:off x="467042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14" name="Shape 12"/>
          <p:cNvSpPr/>
          <p:nvPr/>
        </p:nvSpPr>
        <p:spPr>
          <a:xfrm>
            <a:off x="4867275" y="412750"/>
            <a:ext cx="1108075" cy="515541"/>
          </a:xfrm>
          <a:prstGeom prst="roundRect">
            <a:avLst>
              <a:gd name="adj" fmla="val 11085"/>
            </a:avLst>
          </a:prstGeom>
          <a:solidFill>
            <a:srgbClr val="B8501F"/>
          </a:solidFill>
          <a:ln w="12700">
            <a:solidFill>
              <a:srgbClr val="B8501F"/>
            </a:solidFill>
            <a:prstDash val="solid"/>
          </a:ln>
        </p:spPr>
      </p:sp>
      <p:sp>
        <p:nvSpPr>
          <p:cNvPr id="15" name="Text 13"/>
          <p:cNvSpPr/>
          <p:nvPr/>
        </p:nvSpPr>
        <p:spPr>
          <a:xfrm>
            <a:off x="489902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FFDF8"/>
                </a:solidFill>
                <a:latin typeface="DM Sans" pitchFamily="34" charset="0"/>
                <a:ea typeface="DM Sans" pitchFamily="34" charset="-122"/>
                <a:cs typeface="DM Sans" pitchFamily="34" charset="-120"/>
              </a:rPr>
              <a:t>Pool</a:t>
            </a:r>
            <a:endParaRPr lang="en-US" sz="1200" dirty="0"/>
          </a:p>
        </p:txBody>
      </p:sp>
      <p:sp>
        <p:nvSpPr>
          <p:cNvPr id="16" name="Text 14"/>
          <p:cNvSpPr/>
          <p:nvPr/>
        </p:nvSpPr>
        <p:spPr>
          <a:xfrm>
            <a:off x="489902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FFDF8"/>
                </a:solidFill>
                <a:latin typeface="JetBrains Mono" pitchFamily="49" charset="0"/>
                <a:ea typeface="JetBrains Mono" pitchFamily="49" charset="-122"/>
                <a:cs typeface="JetBrains Mono" pitchFamily="49" charset="-120"/>
              </a:rPr>
              <a:t>↻</a:t>
            </a:r>
            <a:endParaRPr lang="en-US" sz="1200" dirty="0"/>
          </a:p>
        </p:txBody>
      </p:sp>
      <p:sp>
        <p:nvSpPr>
          <p:cNvPr id="17" name="Text 15"/>
          <p:cNvSpPr/>
          <p:nvPr/>
        </p:nvSpPr>
        <p:spPr>
          <a:xfrm>
            <a:off x="6019800"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18" name="Shape 16"/>
          <p:cNvSpPr/>
          <p:nvPr/>
        </p:nvSpPr>
        <p:spPr>
          <a:xfrm>
            <a:off x="6216650" y="412750"/>
            <a:ext cx="1108075" cy="515541"/>
          </a:xfrm>
          <a:prstGeom prst="roundRect">
            <a:avLst>
              <a:gd name="adj" fmla="val 11085"/>
            </a:avLst>
          </a:prstGeom>
          <a:noFill/>
          <a:ln w="12700">
            <a:solidFill>
              <a:srgbClr val="D8D4C8"/>
            </a:solidFill>
            <a:prstDash val="solid"/>
          </a:ln>
        </p:spPr>
      </p:sp>
      <p:sp>
        <p:nvSpPr>
          <p:cNvPr id="19" name="Text 17"/>
          <p:cNvSpPr/>
          <p:nvPr/>
        </p:nvSpPr>
        <p:spPr>
          <a:xfrm>
            <a:off x="624840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Flatten</a:t>
            </a:r>
            <a:endParaRPr lang="en-US" sz="1200" dirty="0"/>
          </a:p>
        </p:txBody>
      </p:sp>
      <p:sp>
        <p:nvSpPr>
          <p:cNvPr id="20" name="Text 18"/>
          <p:cNvSpPr/>
          <p:nvPr/>
        </p:nvSpPr>
        <p:spPr>
          <a:xfrm>
            <a:off x="624840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4 nums</a:t>
            </a:r>
            <a:endParaRPr lang="en-US" sz="1200" dirty="0"/>
          </a:p>
        </p:txBody>
      </p:sp>
      <p:sp>
        <p:nvSpPr>
          <p:cNvPr id="21" name="Text 19"/>
          <p:cNvSpPr/>
          <p:nvPr/>
        </p:nvSpPr>
        <p:spPr>
          <a:xfrm>
            <a:off x="736917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22" name="Shape 20"/>
          <p:cNvSpPr/>
          <p:nvPr/>
        </p:nvSpPr>
        <p:spPr>
          <a:xfrm>
            <a:off x="7566025" y="412750"/>
            <a:ext cx="1108075" cy="515541"/>
          </a:xfrm>
          <a:prstGeom prst="roundRect">
            <a:avLst>
              <a:gd name="adj" fmla="val 11085"/>
            </a:avLst>
          </a:prstGeom>
          <a:noFill/>
          <a:ln w="12700">
            <a:solidFill>
              <a:srgbClr val="D8D4C8"/>
            </a:solidFill>
            <a:prstDash val="solid"/>
          </a:ln>
        </p:spPr>
      </p:sp>
      <p:sp>
        <p:nvSpPr>
          <p:cNvPr id="23" name="Text 21"/>
          <p:cNvSpPr/>
          <p:nvPr/>
        </p:nvSpPr>
        <p:spPr>
          <a:xfrm>
            <a:off x="759777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Dense</a:t>
            </a:r>
            <a:endParaRPr lang="en-US" sz="1200" dirty="0"/>
          </a:p>
        </p:txBody>
      </p:sp>
      <p:sp>
        <p:nvSpPr>
          <p:cNvPr id="24" name="Text 22"/>
          <p:cNvSpPr/>
          <p:nvPr/>
        </p:nvSpPr>
        <p:spPr>
          <a:xfrm>
            <a:off x="759777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3 scores</a:t>
            </a:r>
            <a:endParaRPr lang="en-US" sz="1200" dirty="0"/>
          </a:p>
        </p:txBody>
      </p:sp>
      <p:sp>
        <p:nvSpPr>
          <p:cNvPr id="25" name="Text 23"/>
          <p:cNvSpPr/>
          <p:nvPr/>
        </p:nvSpPr>
        <p:spPr>
          <a:xfrm>
            <a:off x="8718550"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26" name="Shape 24"/>
          <p:cNvSpPr/>
          <p:nvPr/>
        </p:nvSpPr>
        <p:spPr>
          <a:xfrm>
            <a:off x="8915400" y="412750"/>
            <a:ext cx="1108075" cy="515541"/>
          </a:xfrm>
          <a:prstGeom prst="roundRect">
            <a:avLst>
              <a:gd name="adj" fmla="val 11085"/>
            </a:avLst>
          </a:prstGeom>
          <a:noFill/>
          <a:ln w="12700">
            <a:solidFill>
              <a:srgbClr val="D8D4C8"/>
            </a:solidFill>
            <a:prstDash val="solid"/>
          </a:ln>
        </p:spPr>
      </p:sp>
      <p:sp>
        <p:nvSpPr>
          <p:cNvPr id="27" name="Text 25"/>
          <p:cNvSpPr/>
          <p:nvPr/>
        </p:nvSpPr>
        <p:spPr>
          <a:xfrm>
            <a:off x="894715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Softmax</a:t>
            </a:r>
            <a:endParaRPr lang="en-US" sz="1200" dirty="0"/>
          </a:p>
        </p:txBody>
      </p:sp>
      <p:sp>
        <p:nvSpPr>
          <p:cNvPr id="28" name="Text 26"/>
          <p:cNvSpPr/>
          <p:nvPr/>
        </p:nvSpPr>
        <p:spPr>
          <a:xfrm>
            <a:off x="894715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3 chances</a:t>
            </a:r>
            <a:endParaRPr lang="en-US" sz="1200" dirty="0"/>
          </a:p>
        </p:txBody>
      </p:sp>
      <p:sp>
        <p:nvSpPr>
          <p:cNvPr id="29" name="Text 27"/>
          <p:cNvSpPr/>
          <p:nvPr/>
        </p:nvSpPr>
        <p:spPr>
          <a:xfrm>
            <a:off x="1006792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30" name="Shape 28"/>
          <p:cNvSpPr/>
          <p:nvPr/>
        </p:nvSpPr>
        <p:spPr>
          <a:xfrm>
            <a:off x="10264775" y="412750"/>
            <a:ext cx="1108075" cy="515541"/>
          </a:xfrm>
          <a:prstGeom prst="roundRect">
            <a:avLst>
              <a:gd name="adj" fmla="val 11085"/>
            </a:avLst>
          </a:prstGeom>
          <a:noFill/>
          <a:ln w="12700">
            <a:solidFill>
              <a:srgbClr val="D8D4C8"/>
            </a:solidFill>
            <a:prstDash val="solid"/>
          </a:ln>
        </p:spPr>
      </p:sp>
      <p:sp>
        <p:nvSpPr>
          <p:cNvPr id="31" name="Text 29"/>
          <p:cNvSpPr/>
          <p:nvPr/>
        </p:nvSpPr>
        <p:spPr>
          <a:xfrm>
            <a:off x="1029652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Answer</a:t>
            </a:r>
            <a:endParaRPr lang="en-US" sz="1200" dirty="0"/>
          </a:p>
        </p:txBody>
      </p:sp>
      <p:sp>
        <p:nvSpPr>
          <p:cNvPr id="32" name="Text 30"/>
          <p:cNvSpPr/>
          <p:nvPr/>
        </p:nvSpPr>
        <p:spPr>
          <a:xfrm>
            <a:off x="1029652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“1”</a:t>
            </a:r>
            <a:endParaRPr lang="en-US" sz="1200" dirty="0"/>
          </a:p>
        </p:txBody>
      </p:sp>
      <p:sp>
        <p:nvSpPr>
          <p:cNvPr id="33" name="Text 31"/>
          <p:cNvSpPr/>
          <p:nvPr/>
        </p:nvSpPr>
        <p:spPr>
          <a:xfrm>
            <a:off x="812800" y="113784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501F"/>
                </a:solidFill>
                <a:latin typeface="DM Sans" pitchFamily="34" charset="0"/>
                <a:ea typeface="DM Sans" pitchFamily="34" charset="-122"/>
                <a:cs typeface="DM Sans" pitchFamily="34" charset="-120"/>
              </a:rPr>
              <a:t>PART 1 · IN REAL CNNS</a:t>
            </a:r>
            <a:endParaRPr lang="en-US" sz="1200" dirty="0"/>
          </a:p>
        </p:txBody>
      </p:sp>
      <p:sp>
        <p:nvSpPr>
          <p:cNvPr id="34" name="Text 32"/>
          <p:cNvSpPr/>
          <p:nvPr>
            <p:ph type="title"/>
          </p:nvPr>
        </p:nvSpPr>
        <p:spPr>
          <a:xfrm>
            <a:off x="812800" y="1401961"/>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430"/>
                </a:solidFill>
                <a:latin typeface="DM Sans" pitchFamily="34" charset="0"/>
                <a:ea typeface="DM Sans" pitchFamily="34" charset="-122"/>
                <a:cs typeface="DM Sans" pitchFamily="34" charset="-120"/>
              </a:rPr>
              <a:t>More filters, more blocks</a:t>
            </a:r>
            <a:endParaRPr lang="en-US" sz="3200" dirty="0"/>
          </a:p>
        </p:txBody>
      </p:sp>
      <p:sp>
        <p:nvSpPr>
          <p:cNvPr id="35" name="Text 33"/>
          <p:cNvSpPr/>
          <p:nvPr/>
        </p:nvSpPr>
        <p:spPr>
          <a:xfrm>
            <a:off x="812800" y="2052191"/>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DM Sans" pitchFamily="34" charset="0"/>
                <a:ea typeface="DM Sans" pitchFamily="34" charset="-122"/>
                <a:cs typeface="DM Sans" pitchFamily="34" charset="-120"/>
              </a:rPr>
              <a:t>More filters:</a:t>
            </a:r>
            <a:r>
              <a:rPr lang="en-US" sz="1300" dirty="0">
                <a:solidFill>
                  <a:srgbClr val="4A5568"/>
                </a:solidFill>
                <a:latin typeface="DM Sans" pitchFamily="34" charset="0"/>
                <a:ea typeface="DM Sans" pitchFamily="34" charset="-122"/>
                <a:cs typeface="DM Sans" pitchFamily="34" charset="-120"/>
              </a:rPr>
              <a:t> our example used 1 filter → 1 map. A real layer uses many, e.g. 16 filters → 16 maps.</a:t>
            </a:r>
            <a:endParaRPr lang="en-US" sz="1300" dirty="0"/>
          </a:p>
        </p:txBody>
      </p:sp>
      <p:sp>
        <p:nvSpPr>
          <p:cNvPr id="36" name="Shape 34"/>
          <p:cNvSpPr/>
          <p:nvPr/>
        </p:nvSpPr>
        <p:spPr>
          <a:xfrm>
            <a:off x="819150" y="2365871"/>
            <a:ext cx="3407817" cy="1155700"/>
          </a:xfrm>
          <a:prstGeom prst="roundRect">
            <a:avLst>
              <a:gd name="adj" fmla="val 8242"/>
            </a:avLst>
          </a:prstGeom>
          <a:solidFill>
            <a:srgbClr val="FFFDF8"/>
          </a:solidFill>
          <a:ln w="12700">
            <a:solidFill>
              <a:srgbClr val="D9622B"/>
            </a:solidFill>
            <a:prstDash val="solid"/>
          </a:ln>
        </p:spPr>
      </p:sp>
      <p:sp>
        <p:nvSpPr>
          <p:cNvPr id="37" name="Text 35"/>
          <p:cNvSpPr/>
          <p:nvPr/>
        </p:nvSpPr>
        <p:spPr>
          <a:xfrm>
            <a:off x="952500" y="2499221"/>
            <a:ext cx="279400" cy="279400"/>
          </a:xfrm>
          <a:prstGeom prst="rect">
            <a:avLst/>
          </a:prstGeom>
          <a:solidFill>
            <a:srgbClr val="D6E3F5"/>
          </a:solidFill>
          <a:ln/>
        </p:spPr>
        <p:txBody>
          <a:bodyPr wrap="square" lIns="0" tIns="0" rIns="0" bIns="0" rtlCol="0" anchor="t">
            <a:normAutofit/>
          </a:bodyPr>
          <a:lstStyle/>
          <a:p>
            <a:pPr algn="ctr" indent="0" marL="0">
              <a:lnSpc>
                <a:spcPts val="2196"/>
              </a:lnSpc>
              <a:buNone/>
            </a:pPr>
            <a:r>
              <a:rPr lang="en-US" sz="1200" dirty="0">
                <a:solidFill>
                  <a:srgbClr val="1B2430"/>
                </a:solidFill>
                <a:latin typeface="JetBrains Mono" pitchFamily="49" charset="0"/>
                <a:ea typeface="JetBrains Mono" pitchFamily="49" charset="-122"/>
                <a:cs typeface="JetBrains Mono" pitchFamily="49" charset="-120"/>
              </a:rPr>
              <a:t>−1</a:t>
            </a:r>
            <a:endParaRPr lang="en-US" sz="1200" dirty="0"/>
          </a:p>
        </p:txBody>
      </p:sp>
      <p:sp>
        <p:nvSpPr>
          <p:cNvPr id="38" name="Text 36"/>
          <p:cNvSpPr/>
          <p:nvPr/>
        </p:nvSpPr>
        <p:spPr>
          <a:xfrm>
            <a:off x="1257300" y="2499221"/>
            <a:ext cx="279400" cy="279400"/>
          </a:xfrm>
          <a:prstGeom prst="rect">
            <a:avLst/>
          </a:prstGeom>
          <a:solidFill>
            <a:srgbClr val="E3E1DA"/>
          </a:solidFill>
          <a:ln/>
        </p:spPr>
        <p:txBody>
          <a:bodyPr wrap="square" lIns="0" tIns="0" rIns="0" bIns="0" rtlCol="0" anchor="t">
            <a:normAutofit/>
          </a:bodyPr>
          <a:lstStyle/>
          <a:p>
            <a:pPr algn="ctr" indent="0" marL="0">
              <a:lnSpc>
                <a:spcPts val="2196"/>
              </a:lnSpc>
              <a:buNone/>
            </a:pPr>
            <a:r>
              <a:rPr lang="en-US" sz="1200" dirty="0">
                <a:solidFill>
                  <a:srgbClr val="1B2430"/>
                </a:solidFill>
                <a:latin typeface="JetBrains Mono" pitchFamily="49" charset="0"/>
                <a:ea typeface="JetBrains Mono" pitchFamily="49" charset="-122"/>
                <a:cs typeface="JetBrains Mono" pitchFamily="49" charset="-120"/>
              </a:rPr>
              <a:t>0</a:t>
            </a:r>
            <a:endParaRPr lang="en-US" sz="1200" dirty="0"/>
          </a:p>
        </p:txBody>
      </p:sp>
      <p:sp>
        <p:nvSpPr>
          <p:cNvPr id="39" name="Text 37"/>
          <p:cNvSpPr/>
          <p:nvPr/>
        </p:nvSpPr>
        <p:spPr>
          <a:xfrm>
            <a:off x="1562100" y="2499221"/>
            <a:ext cx="279400" cy="279400"/>
          </a:xfrm>
          <a:prstGeom prst="rect">
            <a:avLst/>
          </a:prstGeom>
          <a:solidFill>
            <a:srgbClr val="F8D9C4"/>
          </a:solidFill>
          <a:ln/>
        </p:spPr>
        <p:txBody>
          <a:bodyPr wrap="square" lIns="0" tIns="0" rIns="0" bIns="0" rtlCol="0" anchor="t">
            <a:normAutofit/>
          </a:bodyPr>
          <a:lstStyle/>
          <a:p>
            <a:pPr algn="ctr" indent="0" marL="0">
              <a:lnSpc>
                <a:spcPts val="2196"/>
              </a:lnSpc>
              <a:buNone/>
            </a:pPr>
            <a:r>
              <a:rPr lang="en-US" sz="1200" dirty="0">
                <a:solidFill>
                  <a:srgbClr val="1B2430"/>
                </a:solidFill>
                <a:latin typeface="JetBrains Mono" pitchFamily="49" charset="0"/>
                <a:ea typeface="JetBrains Mono" pitchFamily="49" charset="-122"/>
                <a:cs typeface="JetBrains Mono" pitchFamily="49" charset="-120"/>
              </a:rPr>
              <a:t>1</a:t>
            </a:r>
            <a:endParaRPr lang="en-US" sz="1200" dirty="0"/>
          </a:p>
        </p:txBody>
      </p:sp>
      <p:sp>
        <p:nvSpPr>
          <p:cNvPr id="40" name="Text 38"/>
          <p:cNvSpPr/>
          <p:nvPr/>
        </p:nvSpPr>
        <p:spPr>
          <a:xfrm>
            <a:off x="952500" y="2804021"/>
            <a:ext cx="279400" cy="279400"/>
          </a:xfrm>
          <a:prstGeom prst="rect">
            <a:avLst/>
          </a:prstGeom>
          <a:solidFill>
            <a:srgbClr val="D6E3F5"/>
          </a:solidFill>
          <a:ln/>
        </p:spPr>
        <p:txBody>
          <a:bodyPr wrap="square" lIns="0" tIns="0" rIns="0" bIns="0" rtlCol="0" anchor="t">
            <a:normAutofit/>
          </a:bodyPr>
          <a:lstStyle/>
          <a:p>
            <a:pPr algn="ctr" indent="0" marL="0">
              <a:lnSpc>
                <a:spcPts val="2196"/>
              </a:lnSpc>
              <a:buNone/>
            </a:pPr>
            <a:r>
              <a:rPr lang="en-US" sz="1200" dirty="0">
                <a:solidFill>
                  <a:srgbClr val="1B2430"/>
                </a:solidFill>
                <a:latin typeface="JetBrains Mono" pitchFamily="49" charset="0"/>
                <a:ea typeface="JetBrains Mono" pitchFamily="49" charset="-122"/>
                <a:cs typeface="JetBrains Mono" pitchFamily="49" charset="-120"/>
              </a:rPr>
              <a:t>−1</a:t>
            </a:r>
            <a:endParaRPr lang="en-US" sz="1200" dirty="0"/>
          </a:p>
        </p:txBody>
      </p:sp>
      <p:sp>
        <p:nvSpPr>
          <p:cNvPr id="41" name="Text 39"/>
          <p:cNvSpPr/>
          <p:nvPr/>
        </p:nvSpPr>
        <p:spPr>
          <a:xfrm>
            <a:off x="1257300" y="2804021"/>
            <a:ext cx="279400" cy="279400"/>
          </a:xfrm>
          <a:prstGeom prst="rect">
            <a:avLst/>
          </a:prstGeom>
          <a:solidFill>
            <a:srgbClr val="E3E1DA"/>
          </a:solidFill>
          <a:ln/>
        </p:spPr>
        <p:txBody>
          <a:bodyPr wrap="square" lIns="0" tIns="0" rIns="0" bIns="0" rtlCol="0" anchor="t">
            <a:normAutofit/>
          </a:bodyPr>
          <a:lstStyle/>
          <a:p>
            <a:pPr algn="ctr" indent="0" marL="0">
              <a:lnSpc>
                <a:spcPts val="2196"/>
              </a:lnSpc>
              <a:buNone/>
            </a:pPr>
            <a:r>
              <a:rPr lang="en-US" sz="1200" dirty="0">
                <a:solidFill>
                  <a:srgbClr val="1B2430"/>
                </a:solidFill>
                <a:latin typeface="JetBrains Mono" pitchFamily="49" charset="0"/>
                <a:ea typeface="JetBrains Mono" pitchFamily="49" charset="-122"/>
                <a:cs typeface="JetBrains Mono" pitchFamily="49" charset="-120"/>
              </a:rPr>
              <a:t>0</a:t>
            </a:r>
            <a:endParaRPr lang="en-US" sz="1200" dirty="0"/>
          </a:p>
        </p:txBody>
      </p:sp>
      <p:sp>
        <p:nvSpPr>
          <p:cNvPr id="42" name="Text 40"/>
          <p:cNvSpPr/>
          <p:nvPr/>
        </p:nvSpPr>
        <p:spPr>
          <a:xfrm>
            <a:off x="1562100" y="2804021"/>
            <a:ext cx="279400" cy="279400"/>
          </a:xfrm>
          <a:prstGeom prst="rect">
            <a:avLst/>
          </a:prstGeom>
          <a:solidFill>
            <a:srgbClr val="F8D9C4"/>
          </a:solidFill>
          <a:ln/>
        </p:spPr>
        <p:txBody>
          <a:bodyPr wrap="square" lIns="0" tIns="0" rIns="0" bIns="0" rtlCol="0" anchor="t">
            <a:normAutofit/>
          </a:bodyPr>
          <a:lstStyle/>
          <a:p>
            <a:pPr algn="ctr" indent="0" marL="0">
              <a:lnSpc>
                <a:spcPts val="2196"/>
              </a:lnSpc>
              <a:buNone/>
            </a:pPr>
            <a:r>
              <a:rPr lang="en-US" sz="1200" dirty="0">
                <a:solidFill>
                  <a:srgbClr val="1B2430"/>
                </a:solidFill>
                <a:latin typeface="JetBrains Mono" pitchFamily="49" charset="0"/>
                <a:ea typeface="JetBrains Mono" pitchFamily="49" charset="-122"/>
                <a:cs typeface="JetBrains Mono" pitchFamily="49" charset="-120"/>
              </a:rPr>
              <a:t>1</a:t>
            </a:r>
            <a:endParaRPr lang="en-US" sz="1200" dirty="0"/>
          </a:p>
        </p:txBody>
      </p:sp>
      <p:sp>
        <p:nvSpPr>
          <p:cNvPr id="43" name="Text 41"/>
          <p:cNvSpPr/>
          <p:nvPr/>
        </p:nvSpPr>
        <p:spPr>
          <a:xfrm>
            <a:off x="952500" y="3108821"/>
            <a:ext cx="279400" cy="279400"/>
          </a:xfrm>
          <a:prstGeom prst="rect">
            <a:avLst/>
          </a:prstGeom>
          <a:solidFill>
            <a:srgbClr val="D6E3F5"/>
          </a:solidFill>
          <a:ln/>
        </p:spPr>
        <p:txBody>
          <a:bodyPr wrap="square" lIns="0" tIns="0" rIns="0" bIns="0" rtlCol="0" anchor="t">
            <a:normAutofit/>
          </a:bodyPr>
          <a:lstStyle/>
          <a:p>
            <a:pPr algn="ctr" indent="0" marL="0">
              <a:lnSpc>
                <a:spcPts val="2196"/>
              </a:lnSpc>
              <a:buNone/>
            </a:pPr>
            <a:r>
              <a:rPr lang="en-US" sz="1200" dirty="0">
                <a:solidFill>
                  <a:srgbClr val="1B2430"/>
                </a:solidFill>
                <a:latin typeface="JetBrains Mono" pitchFamily="49" charset="0"/>
                <a:ea typeface="JetBrains Mono" pitchFamily="49" charset="-122"/>
                <a:cs typeface="JetBrains Mono" pitchFamily="49" charset="-120"/>
              </a:rPr>
              <a:t>−1</a:t>
            </a:r>
            <a:endParaRPr lang="en-US" sz="1200" dirty="0"/>
          </a:p>
        </p:txBody>
      </p:sp>
      <p:sp>
        <p:nvSpPr>
          <p:cNvPr id="44" name="Text 42"/>
          <p:cNvSpPr/>
          <p:nvPr/>
        </p:nvSpPr>
        <p:spPr>
          <a:xfrm>
            <a:off x="1257300" y="3108821"/>
            <a:ext cx="279400" cy="279400"/>
          </a:xfrm>
          <a:prstGeom prst="rect">
            <a:avLst/>
          </a:prstGeom>
          <a:solidFill>
            <a:srgbClr val="E3E1DA"/>
          </a:solidFill>
          <a:ln/>
        </p:spPr>
        <p:txBody>
          <a:bodyPr wrap="square" lIns="0" tIns="0" rIns="0" bIns="0" rtlCol="0" anchor="t">
            <a:normAutofit/>
          </a:bodyPr>
          <a:lstStyle/>
          <a:p>
            <a:pPr algn="ctr" indent="0" marL="0">
              <a:lnSpc>
                <a:spcPts val="2196"/>
              </a:lnSpc>
              <a:buNone/>
            </a:pPr>
            <a:r>
              <a:rPr lang="en-US" sz="1200" dirty="0">
                <a:solidFill>
                  <a:srgbClr val="1B2430"/>
                </a:solidFill>
                <a:latin typeface="JetBrains Mono" pitchFamily="49" charset="0"/>
                <a:ea typeface="JetBrains Mono" pitchFamily="49" charset="-122"/>
                <a:cs typeface="JetBrains Mono" pitchFamily="49" charset="-120"/>
              </a:rPr>
              <a:t>0</a:t>
            </a:r>
            <a:endParaRPr lang="en-US" sz="1200" dirty="0"/>
          </a:p>
        </p:txBody>
      </p:sp>
      <p:sp>
        <p:nvSpPr>
          <p:cNvPr id="45" name="Text 43"/>
          <p:cNvSpPr/>
          <p:nvPr/>
        </p:nvSpPr>
        <p:spPr>
          <a:xfrm>
            <a:off x="1562100" y="3108821"/>
            <a:ext cx="279400" cy="279400"/>
          </a:xfrm>
          <a:prstGeom prst="rect">
            <a:avLst/>
          </a:prstGeom>
          <a:solidFill>
            <a:srgbClr val="F8D9C4"/>
          </a:solidFill>
          <a:ln/>
        </p:spPr>
        <p:txBody>
          <a:bodyPr wrap="square" lIns="0" tIns="0" rIns="0" bIns="0" rtlCol="0" anchor="t">
            <a:normAutofit/>
          </a:bodyPr>
          <a:lstStyle/>
          <a:p>
            <a:pPr algn="ctr" indent="0" marL="0">
              <a:lnSpc>
                <a:spcPts val="2196"/>
              </a:lnSpc>
              <a:buNone/>
            </a:pPr>
            <a:r>
              <a:rPr lang="en-US" sz="1200" dirty="0">
                <a:solidFill>
                  <a:srgbClr val="1B2430"/>
                </a:solidFill>
                <a:latin typeface="JetBrains Mono" pitchFamily="49" charset="0"/>
                <a:ea typeface="JetBrains Mono" pitchFamily="49" charset="-122"/>
                <a:cs typeface="JetBrains Mono" pitchFamily="49" charset="-120"/>
              </a:rPr>
              <a:t>1</a:t>
            </a:r>
            <a:endParaRPr lang="en-US" sz="1200" dirty="0"/>
          </a:p>
        </p:txBody>
      </p:sp>
      <p:sp>
        <p:nvSpPr>
          <p:cNvPr id="46" name="Text 44"/>
          <p:cNvSpPr/>
          <p:nvPr/>
        </p:nvSpPr>
        <p:spPr>
          <a:xfrm>
            <a:off x="1993900" y="2717701"/>
            <a:ext cx="149917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430"/>
                </a:solidFill>
                <a:latin typeface="DM Sans" pitchFamily="34" charset="0"/>
                <a:ea typeface="DM Sans" pitchFamily="34" charset="-122"/>
                <a:cs typeface="DM Sans" pitchFamily="34" charset="-120"/>
              </a:rPr>
              <a:t>Vertical edges</a:t>
            </a:r>
            <a:endParaRPr lang="en-US" sz="1400" dirty="0"/>
          </a:p>
        </p:txBody>
      </p:sp>
      <p:sp>
        <p:nvSpPr>
          <p:cNvPr id="47" name="Text 45"/>
          <p:cNvSpPr/>
          <p:nvPr/>
        </p:nvSpPr>
        <p:spPr>
          <a:xfrm>
            <a:off x="1993900" y="2956421"/>
            <a:ext cx="130011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F"/>
                </a:solidFill>
                <a:latin typeface="DM Sans" pitchFamily="34" charset="0"/>
                <a:ea typeface="DM Sans" pitchFamily="34" charset="-122"/>
                <a:cs typeface="DM Sans" pitchFamily="34" charset="-120"/>
              </a:rPr>
              <a:t>ours</a:t>
            </a:r>
            <a:endParaRPr lang="en-US" sz="1200" dirty="0"/>
          </a:p>
        </p:txBody>
      </p:sp>
      <p:sp>
        <p:nvSpPr>
          <p:cNvPr id="48" name="Shape 46"/>
          <p:cNvSpPr/>
          <p:nvPr/>
        </p:nvSpPr>
        <p:spPr>
          <a:xfrm>
            <a:off x="4392067" y="2365871"/>
            <a:ext cx="3407866" cy="1155700"/>
          </a:xfrm>
          <a:prstGeom prst="roundRect">
            <a:avLst>
              <a:gd name="adj" fmla="val 8242"/>
            </a:avLst>
          </a:prstGeom>
          <a:solidFill>
            <a:srgbClr val="FFFDF8"/>
          </a:solidFill>
          <a:ln w="12700">
            <a:solidFill>
              <a:srgbClr val="D8D4C8"/>
            </a:solidFill>
            <a:prstDash val="solid"/>
          </a:ln>
        </p:spPr>
      </p:sp>
      <p:sp>
        <p:nvSpPr>
          <p:cNvPr id="49" name="Text 47"/>
          <p:cNvSpPr/>
          <p:nvPr/>
        </p:nvSpPr>
        <p:spPr>
          <a:xfrm>
            <a:off x="4525417" y="2499221"/>
            <a:ext cx="279400" cy="279400"/>
          </a:xfrm>
          <a:prstGeom prst="rect">
            <a:avLst/>
          </a:prstGeom>
          <a:solidFill>
            <a:srgbClr val="D6E3F5"/>
          </a:solidFill>
          <a:ln/>
        </p:spPr>
        <p:txBody>
          <a:bodyPr wrap="square" lIns="0" tIns="0" rIns="0" bIns="0" rtlCol="0" anchor="t">
            <a:normAutofit/>
          </a:bodyPr>
          <a:lstStyle/>
          <a:p>
            <a:pPr algn="ctr" indent="0" marL="0">
              <a:lnSpc>
                <a:spcPts val="2196"/>
              </a:lnSpc>
              <a:buNone/>
            </a:pPr>
            <a:r>
              <a:rPr lang="en-US" sz="1200" dirty="0">
                <a:solidFill>
                  <a:srgbClr val="1B2430"/>
                </a:solidFill>
                <a:latin typeface="JetBrains Mono" pitchFamily="49" charset="0"/>
                <a:ea typeface="JetBrains Mono" pitchFamily="49" charset="-122"/>
                <a:cs typeface="JetBrains Mono" pitchFamily="49" charset="-120"/>
              </a:rPr>
              <a:t>−1</a:t>
            </a:r>
            <a:endParaRPr lang="en-US" sz="1200" dirty="0"/>
          </a:p>
        </p:txBody>
      </p:sp>
      <p:sp>
        <p:nvSpPr>
          <p:cNvPr id="50" name="Text 48"/>
          <p:cNvSpPr/>
          <p:nvPr/>
        </p:nvSpPr>
        <p:spPr>
          <a:xfrm>
            <a:off x="4830217" y="2499221"/>
            <a:ext cx="279400" cy="279400"/>
          </a:xfrm>
          <a:prstGeom prst="rect">
            <a:avLst/>
          </a:prstGeom>
          <a:solidFill>
            <a:srgbClr val="D6E3F5"/>
          </a:solidFill>
          <a:ln/>
        </p:spPr>
        <p:txBody>
          <a:bodyPr wrap="square" lIns="0" tIns="0" rIns="0" bIns="0" rtlCol="0" anchor="t">
            <a:normAutofit/>
          </a:bodyPr>
          <a:lstStyle/>
          <a:p>
            <a:pPr algn="ctr" indent="0" marL="0">
              <a:lnSpc>
                <a:spcPts val="2196"/>
              </a:lnSpc>
              <a:buNone/>
            </a:pPr>
            <a:r>
              <a:rPr lang="en-US" sz="1200" dirty="0">
                <a:solidFill>
                  <a:srgbClr val="1B2430"/>
                </a:solidFill>
                <a:latin typeface="JetBrains Mono" pitchFamily="49" charset="0"/>
                <a:ea typeface="JetBrains Mono" pitchFamily="49" charset="-122"/>
                <a:cs typeface="JetBrains Mono" pitchFamily="49" charset="-120"/>
              </a:rPr>
              <a:t>−1</a:t>
            </a:r>
            <a:endParaRPr lang="en-US" sz="1200" dirty="0"/>
          </a:p>
        </p:txBody>
      </p:sp>
      <p:sp>
        <p:nvSpPr>
          <p:cNvPr id="51" name="Text 49"/>
          <p:cNvSpPr/>
          <p:nvPr/>
        </p:nvSpPr>
        <p:spPr>
          <a:xfrm>
            <a:off x="5135017" y="2499221"/>
            <a:ext cx="279400" cy="279400"/>
          </a:xfrm>
          <a:prstGeom prst="rect">
            <a:avLst/>
          </a:prstGeom>
          <a:solidFill>
            <a:srgbClr val="D6E3F5"/>
          </a:solidFill>
          <a:ln/>
        </p:spPr>
        <p:txBody>
          <a:bodyPr wrap="square" lIns="0" tIns="0" rIns="0" bIns="0" rtlCol="0" anchor="t">
            <a:normAutofit/>
          </a:bodyPr>
          <a:lstStyle/>
          <a:p>
            <a:pPr algn="ctr" indent="0" marL="0">
              <a:lnSpc>
                <a:spcPts val="2196"/>
              </a:lnSpc>
              <a:buNone/>
            </a:pPr>
            <a:r>
              <a:rPr lang="en-US" sz="1200" dirty="0">
                <a:solidFill>
                  <a:srgbClr val="1B2430"/>
                </a:solidFill>
                <a:latin typeface="JetBrains Mono" pitchFamily="49" charset="0"/>
                <a:ea typeface="JetBrains Mono" pitchFamily="49" charset="-122"/>
                <a:cs typeface="JetBrains Mono" pitchFamily="49" charset="-120"/>
              </a:rPr>
              <a:t>−1</a:t>
            </a:r>
            <a:endParaRPr lang="en-US" sz="1200" dirty="0"/>
          </a:p>
        </p:txBody>
      </p:sp>
      <p:sp>
        <p:nvSpPr>
          <p:cNvPr id="52" name="Text 50"/>
          <p:cNvSpPr/>
          <p:nvPr/>
        </p:nvSpPr>
        <p:spPr>
          <a:xfrm>
            <a:off x="4525417" y="2804021"/>
            <a:ext cx="279400" cy="279400"/>
          </a:xfrm>
          <a:prstGeom prst="rect">
            <a:avLst/>
          </a:prstGeom>
          <a:solidFill>
            <a:srgbClr val="E3E1DA"/>
          </a:solidFill>
          <a:ln/>
        </p:spPr>
        <p:txBody>
          <a:bodyPr wrap="square" lIns="0" tIns="0" rIns="0" bIns="0" rtlCol="0" anchor="t">
            <a:normAutofit/>
          </a:bodyPr>
          <a:lstStyle/>
          <a:p>
            <a:pPr algn="ctr" indent="0" marL="0">
              <a:lnSpc>
                <a:spcPts val="2196"/>
              </a:lnSpc>
              <a:buNone/>
            </a:pPr>
            <a:r>
              <a:rPr lang="en-US" sz="1200" dirty="0">
                <a:solidFill>
                  <a:srgbClr val="1B2430"/>
                </a:solidFill>
                <a:latin typeface="JetBrains Mono" pitchFamily="49" charset="0"/>
                <a:ea typeface="JetBrains Mono" pitchFamily="49" charset="-122"/>
                <a:cs typeface="JetBrains Mono" pitchFamily="49" charset="-120"/>
              </a:rPr>
              <a:t>0</a:t>
            </a:r>
            <a:endParaRPr lang="en-US" sz="1200" dirty="0"/>
          </a:p>
        </p:txBody>
      </p:sp>
      <p:sp>
        <p:nvSpPr>
          <p:cNvPr id="53" name="Text 51"/>
          <p:cNvSpPr/>
          <p:nvPr/>
        </p:nvSpPr>
        <p:spPr>
          <a:xfrm>
            <a:off x="4830217" y="2804021"/>
            <a:ext cx="279400" cy="279400"/>
          </a:xfrm>
          <a:prstGeom prst="rect">
            <a:avLst/>
          </a:prstGeom>
          <a:solidFill>
            <a:srgbClr val="E3E1DA"/>
          </a:solidFill>
          <a:ln/>
        </p:spPr>
        <p:txBody>
          <a:bodyPr wrap="square" lIns="0" tIns="0" rIns="0" bIns="0" rtlCol="0" anchor="t">
            <a:normAutofit/>
          </a:bodyPr>
          <a:lstStyle/>
          <a:p>
            <a:pPr algn="ctr" indent="0" marL="0">
              <a:lnSpc>
                <a:spcPts val="2196"/>
              </a:lnSpc>
              <a:buNone/>
            </a:pPr>
            <a:r>
              <a:rPr lang="en-US" sz="1200" dirty="0">
                <a:solidFill>
                  <a:srgbClr val="1B2430"/>
                </a:solidFill>
                <a:latin typeface="JetBrains Mono" pitchFamily="49" charset="0"/>
                <a:ea typeface="JetBrains Mono" pitchFamily="49" charset="-122"/>
                <a:cs typeface="JetBrains Mono" pitchFamily="49" charset="-120"/>
              </a:rPr>
              <a:t>0</a:t>
            </a:r>
            <a:endParaRPr lang="en-US" sz="1200" dirty="0"/>
          </a:p>
        </p:txBody>
      </p:sp>
      <p:sp>
        <p:nvSpPr>
          <p:cNvPr id="54" name="Text 52"/>
          <p:cNvSpPr/>
          <p:nvPr/>
        </p:nvSpPr>
        <p:spPr>
          <a:xfrm>
            <a:off x="5135017" y="2804021"/>
            <a:ext cx="279400" cy="279400"/>
          </a:xfrm>
          <a:prstGeom prst="rect">
            <a:avLst/>
          </a:prstGeom>
          <a:solidFill>
            <a:srgbClr val="E3E1DA"/>
          </a:solidFill>
          <a:ln/>
        </p:spPr>
        <p:txBody>
          <a:bodyPr wrap="square" lIns="0" tIns="0" rIns="0" bIns="0" rtlCol="0" anchor="t">
            <a:normAutofit/>
          </a:bodyPr>
          <a:lstStyle/>
          <a:p>
            <a:pPr algn="ctr" indent="0" marL="0">
              <a:lnSpc>
                <a:spcPts val="2196"/>
              </a:lnSpc>
              <a:buNone/>
            </a:pPr>
            <a:r>
              <a:rPr lang="en-US" sz="1200" dirty="0">
                <a:solidFill>
                  <a:srgbClr val="1B2430"/>
                </a:solidFill>
                <a:latin typeface="JetBrains Mono" pitchFamily="49" charset="0"/>
                <a:ea typeface="JetBrains Mono" pitchFamily="49" charset="-122"/>
                <a:cs typeface="JetBrains Mono" pitchFamily="49" charset="-120"/>
              </a:rPr>
              <a:t>0</a:t>
            </a:r>
            <a:endParaRPr lang="en-US" sz="1200" dirty="0"/>
          </a:p>
        </p:txBody>
      </p:sp>
      <p:sp>
        <p:nvSpPr>
          <p:cNvPr id="55" name="Text 53"/>
          <p:cNvSpPr/>
          <p:nvPr/>
        </p:nvSpPr>
        <p:spPr>
          <a:xfrm>
            <a:off x="4525417" y="3108821"/>
            <a:ext cx="279400" cy="279400"/>
          </a:xfrm>
          <a:prstGeom prst="rect">
            <a:avLst/>
          </a:prstGeom>
          <a:solidFill>
            <a:srgbClr val="F8D9C4"/>
          </a:solidFill>
          <a:ln/>
        </p:spPr>
        <p:txBody>
          <a:bodyPr wrap="square" lIns="0" tIns="0" rIns="0" bIns="0" rtlCol="0" anchor="t">
            <a:normAutofit/>
          </a:bodyPr>
          <a:lstStyle/>
          <a:p>
            <a:pPr algn="ctr" indent="0" marL="0">
              <a:lnSpc>
                <a:spcPts val="2196"/>
              </a:lnSpc>
              <a:buNone/>
            </a:pPr>
            <a:r>
              <a:rPr lang="en-US" sz="1200" dirty="0">
                <a:solidFill>
                  <a:srgbClr val="1B2430"/>
                </a:solidFill>
                <a:latin typeface="JetBrains Mono" pitchFamily="49" charset="0"/>
                <a:ea typeface="JetBrains Mono" pitchFamily="49" charset="-122"/>
                <a:cs typeface="JetBrains Mono" pitchFamily="49" charset="-120"/>
              </a:rPr>
              <a:t>1</a:t>
            </a:r>
            <a:endParaRPr lang="en-US" sz="1200" dirty="0"/>
          </a:p>
        </p:txBody>
      </p:sp>
      <p:sp>
        <p:nvSpPr>
          <p:cNvPr id="56" name="Text 54"/>
          <p:cNvSpPr/>
          <p:nvPr/>
        </p:nvSpPr>
        <p:spPr>
          <a:xfrm>
            <a:off x="4830217" y="3108821"/>
            <a:ext cx="279400" cy="279400"/>
          </a:xfrm>
          <a:prstGeom prst="rect">
            <a:avLst/>
          </a:prstGeom>
          <a:solidFill>
            <a:srgbClr val="F8D9C4"/>
          </a:solidFill>
          <a:ln/>
        </p:spPr>
        <p:txBody>
          <a:bodyPr wrap="square" lIns="0" tIns="0" rIns="0" bIns="0" rtlCol="0" anchor="t">
            <a:normAutofit/>
          </a:bodyPr>
          <a:lstStyle/>
          <a:p>
            <a:pPr algn="ctr" indent="0" marL="0">
              <a:lnSpc>
                <a:spcPts val="2196"/>
              </a:lnSpc>
              <a:buNone/>
            </a:pPr>
            <a:r>
              <a:rPr lang="en-US" sz="1200" dirty="0">
                <a:solidFill>
                  <a:srgbClr val="1B2430"/>
                </a:solidFill>
                <a:latin typeface="JetBrains Mono" pitchFamily="49" charset="0"/>
                <a:ea typeface="JetBrains Mono" pitchFamily="49" charset="-122"/>
                <a:cs typeface="JetBrains Mono" pitchFamily="49" charset="-120"/>
              </a:rPr>
              <a:t>1</a:t>
            </a:r>
            <a:endParaRPr lang="en-US" sz="1200" dirty="0"/>
          </a:p>
        </p:txBody>
      </p:sp>
      <p:sp>
        <p:nvSpPr>
          <p:cNvPr id="57" name="Text 55"/>
          <p:cNvSpPr/>
          <p:nvPr/>
        </p:nvSpPr>
        <p:spPr>
          <a:xfrm>
            <a:off x="5135017" y="3108821"/>
            <a:ext cx="279400" cy="279400"/>
          </a:xfrm>
          <a:prstGeom prst="rect">
            <a:avLst/>
          </a:prstGeom>
          <a:solidFill>
            <a:srgbClr val="F8D9C4"/>
          </a:solidFill>
          <a:ln/>
        </p:spPr>
        <p:txBody>
          <a:bodyPr wrap="square" lIns="0" tIns="0" rIns="0" bIns="0" rtlCol="0" anchor="t">
            <a:normAutofit/>
          </a:bodyPr>
          <a:lstStyle/>
          <a:p>
            <a:pPr algn="ctr" indent="0" marL="0">
              <a:lnSpc>
                <a:spcPts val="2196"/>
              </a:lnSpc>
              <a:buNone/>
            </a:pPr>
            <a:r>
              <a:rPr lang="en-US" sz="1200" dirty="0">
                <a:solidFill>
                  <a:srgbClr val="1B2430"/>
                </a:solidFill>
                <a:latin typeface="JetBrains Mono" pitchFamily="49" charset="0"/>
                <a:ea typeface="JetBrains Mono" pitchFamily="49" charset="-122"/>
                <a:cs typeface="JetBrains Mono" pitchFamily="49" charset="-120"/>
              </a:rPr>
              <a:t>1</a:t>
            </a:r>
            <a:endParaRPr lang="en-US" sz="1200" dirty="0"/>
          </a:p>
        </p:txBody>
      </p:sp>
      <p:sp>
        <p:nvSpPr>
          <p:cNvPr id="58" name="Text 56"/>
          <p:cNvSpPr/>
          <p:nvPr/>
        </p:nvSpPr>
        <p:spPr>
          <a:xfrm>
            <a:off x="5566817" y="2717701"/>
            <a:ext cx="175224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430"/>
                </a:solidFill>
                <a:latin typeface="DM Sans" pitchFamily="34" charset="0"/>
                <a:ea typeface="DM Sans" pitchFamily="34" charset="-122"/>
                <a:cs typeface="DM Sans" pitchFamily="34" charset="-120"/>
              </a:rPr>
              <a:t>Horizontal edges</a:t>
            </a:r>
            <a:endParaRPr lang="en-US" sz="1400" dirty="0"/>
          </a:p>
        </p:txBody>
      </p:sp>
      <p:sp>
        <p:nvSpPr>
          <p:cNvPr id="59" name="Text 57"/>
          <p:cNvSpPr/>
          <p:nvPr/>
        </p:nvSpPr>
        <p:spPr>
          <a:xfrm>
            <a:off x="5566817" y="2956421"/>
            <a:ext cx="15110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DM Sans" pitchFamily="34" charset="0"/>
                <a:ea typeface="DM Sans" pitchFamily="34" charset="-122"/>
                <a:cs typeface="DM Sans" pitchFamily="34" charset="-120"/>
              </a:rPr>
              <a:t>like the top of a 7</a:t>
            </a:r>
            <a:endParaRPr lang="en-US" sz="1200" dirty="0"/>
          </a:p>
        </p:txBody>
      </p:sp>
      <p:sp>
        <p:nvSpPr>
          <p:cNvPr id="60" name="Shape 58"/>
          <p:cNvSpPr/>
          <p:nvPr/>
        </p:nvSpPr>
        <p:spPr>
          <a:xfrm>
            <a:off x="7965033" y="2365871"/>
            <a:ext cx="3407817" cy="1155700"/>
          </a:xfrm>
          <a:prstGeom prst="roundRect">
            <a:avLst>
              <a:gd name="adj" fmla="val 8242"/>
            </a:avLst>
          </a:prstGeom>
          <a:solidFill>
            <a:srgbClr val="FFFDF8"/>
          </a:solidFill>
          <a:ln w="12700">
            <a:solidFill>
              <a:srgbClr val="D8D4C8"/>
            </a:solidFill>
            <a:prstDash val="solid"/>
          </a:ln>
        </p:spPr>
      </p:sp>
      <p:sp>
        <p:nvSpPr>
          <p:cNvPr id="61" name="Text 59"/>
          <p:cNvSpPr/>
          <p:nvPr/>
        </p:nvSpPr>
        <p:spPr>
          <a:xfrm>
            <a:off x="8098383" y="2499221"/>
            <a:ext cx="279400" cy="279400"/>
          </a:xfrm>
          <a:prstGeom prst="rect">
            <a:avLst/>
          </a:prstGeom>
          <a:solidFill>
            <a:srgbClr val="E3E1DA"/>
          </a:solidFill>
          <a:ln/>
        </p:spPr>
        <p:txBody>
          <a:bodyPr wrap="square" lIns="0" tIns="0" rIns="0" bIns="0" rtlCol="0" anchor="t">
            <a:normAutofit/>
          </a:bodyPr>
          <a:lstStyle/>
          <a:p>
            <a:pPr algn="ctr" indent="0" marL="0">
              <a:lnSpc>
                <a:spcPts val="2196"/>
              </a:lnSpc>
              <a:buNone/>
            </a:pPr>
            <a:r>
              <a:rPr lang="en-US" sz="1200" dirty="0">
                <a:solidFill>
                  <a:srgbClr val="1B2430"/>
                </a:solidFill>
                <a:latin typeface="JetBrains Mono" pitchFamily="49" charset="0"/>
                <a:ea typeface="JetBrains Mono" pitchFamily="49" charset="-122"/>
                <a:cs typeface="JetBrains Mono" pitchFamily="49" charset="-120"/>
              </a:rPr>
              <a:t>0</a:t>
            </a:r>
            <a:endParaRPr lang="en-US" sz="1200" dirty="0"/>
          </a:p>
        </p:txBody>
      </p:sp>
      <p:sp>
        <p:nvSpPr>
          <p:cNvPr id="62" name="Text 60"/>
          <p:cNvSpPr/>
          <p:nvPr/>
        </p:nvSpPr>
        <p:spPr>
          <a:xfrm>
            <a:off x="8403183" y="2499221"/>
            <a:ext cx="279400" cy="279400"/>
          </a:xfrm>
          <a:prstGeom prst="rect">
            <a:avLst/>
          </a:prstGeom>
          <a:solidFill>
            <a:srgbClr val="F8D9C4"/>
          </a:solidFill>
          <a:ln/>
        </p:spPr>
        <p:txBody>
          <a:bodyPr wrap="square" lIns="0" tIns="0" rIns="0" bIns="0" rtlCol="0" anchor="t">
            <a:normAutofit/>
          </a:bodyPr>
          <a:lstStyle/>
          <a:p>
            <a:pPr algn="ctr" indent="0" marL="0">
              <a:lnSpc>
                <a:spcPts val="2196"/>
              </a:lnSpc>
              <a:buNone/>
            </a:pPr>
            <a:r>
              <a:rPr lang="en-US" sz="1200" dirty="0">
                <a:solidFill>
                  <a:srgbClr val="1B2430"/>
                </a:solidFill>
                <a:latin typeface="JetBrains Mono" pitchFamily="49" charset="0"/>
                <a:ea typeface="JetBrains Mono" pitchFamily="49" charset="-122"/>
                <a:cs typeface="JetBrains Mono" pitchFamily="49" charset="-120"/>
              </a:rPr>
              <a:t>1</a:t>
            </a:r>
            <a:endParaRPr lang="en-US" sz="1200" dirty="0"/>
          </a:p>
        </p:txBody>
      </p:sp>
      <p:sp>
        <p:nvSpPr>
          <p:cNvPr id="63" name="Text 61"/>
          <p:cNvSpPr/>
          <p:nvPr/>
        </p:nvSpPr>
        <p:spPr>
          <a:xfrm>
            <a:off x="8707983" y="2499221"/>
            <a:ext cx="279400" cy="279400"/>
          </a:xfrm>
          <a:prstGeom prst="rect">
            <a:avLst/>
          </a:prstGeom>
          <a:solidFill>
            <a:srgbClr val="F8D9C4"/>
          </a:solidFill>
          <a:ln/>
        </p:spPr>
        <p:txBody>
          <a:bodyPr wrap="square" lIns="0" tIns="0" rIns="0" bIns="0" rtlCol="0" anchor="t">
            <a:normAutofit/>
          </a:bodyPr>
          <a:lstStyle/>
          <a:p>
            <a:pPr algn="ctr" indent="0" marL="0">
              <a:lnSpc>
                <a:spcPts val="2196"/>
              </a:lnSpc>
              <a:buNone/>
            </a:pPr>
            <a:r>
              <a:rPr lang="en-US" sz="1200" dirty="0">
                <a:solidFill>
                  <a:srgbClr val="1B2430"/>
                </a:solidFill>
                <a:latin typeface="JetBrains Mono" pitchFamily="49" charset="0"/>
                <a:ea typeface="JetBrains Mono" pitchFamily="49" charset="-122"/>
                <a:cs typeface="JetBrains Mono" pitchFamily="49" charset="-120"/>
              </a:rPr>
              <a:t>1</a:t>
            </a:r>
            <a:endParaRPr lang="en-US" sz="1200" dirty="0"/>
          </a:p>
        </p:txBody>
      </p:sp>
      <p:sp>
        <p:nvSpPr>
          <p:cNvPr id="64" name="Text 62"/>
          <p:cNvSpPr/>
          <p:nvPr/>
        </p:nvSpPr>
        <p:spPr>
          <a:xfrm>
            <a:off x="8098383" y="2804021"/>
            <a:ext cx="279400" cy="279400"/>
          </a:xfrm>
          <a:prstGeom prst="rect">
            <a:avLst/>
          </a:prstGeom>
          <a:solidFill>
            <a:srgbClr val="D6E3F5"/>
          </a:solidFill>
          <a:ln/>
        </p:spPr>
        <p:txBody>
          <a:bodyPr wrap="square" lIns="0" tIns="0" rIns="0" bIns="0" rtlCol="0" anchor="t">
            <a:normAutofit/>
          </a:bodyPr>
          <a:lstStyle/>
          <a:p>
            <a:pPr algn="ctr" indent="0" marL="0">
              <a:lnSpc>
                <a:spcPts val="2196"/>
              </a:lnSpc>
              <a:buNone/>
            </a:pPr>
            <a:r>
              <a:rPr lang="en-US" sz="1200" dirty="0">
                <a:solidFill>
                  <a:srgbClr val="1B2430"/>
                </a:solidFill>
                <a:latin typeface="JetBrains Mono" pitchFamily="49" charset="0"/>
                <a:ea typeface="JetBrains Mono" pitchFamily="49" charset="-122"/>
                <a:cs typeface="JetBrains Mono" pitchFamily="49" charset="-120"/>
              </a:rPr>
              <a:t>−1</a:t>
            </a:r>
            <a:endParaRPr lang="en-US" sz="1200" dirty="0"/>
          </a:p>
        </p:txBody>
      </p:sp>
      <p:sp>
        <p:nvSpPr>
          <p:cNvPr id="65" name="Text 63"/>
          <p:cNvSpPr/>
          <p:nvPr/>
        </p:nvSpPr>
        <p:spPr>
          <a:xfrm>
            <a:off x="8403183" y="2804021"/>
            <a:ext cx="279400" cy="279400"/>
          </a:xfrm>
          <a:prstGeom prst="rect">
            <a:avLst/>
          </a:prstGeom>
          <a:solidFill>
            <a:srgbClr val="E3E1DA"/>
          </a:solidFill>
          <a:ln/>
        </p:spPr>
        <p:txBody>
          <a:bodyPr wrap="square" lIns="0" tIns="0" rIns="0" bIns="0" rtlCol="0" anchor="t">
            <a:normAutofit/>
          </a:bodyPr>
          <a:lstStyle/>
          <a:p>
            <a:pPr algn="ctr" indent="0" marL="0">
              <a:lnSpc>
                <a:spcPts val="2196"/>
              </a:lnSpc>
              <a:buNone/>
            </a:pPr>
            <a:r>
              <a:rPr lang="en-US" sz="1200" dirty="0">
                <a:solidFill>
                  <a:srgbClr val="1B2430"/>
                </a:solidFill>
                <a:latin typeface="JetBrains Mono" pitchFamily="49" charset="0"/>
                <a:ea typeface="JetBrains Mono" pitchFamily="49" charset="-122"/>
                <a:cs typeface="JetBrains Mono" pitchFamily="49" charset="-120"/>
              </a:rPr>
              <a:t>0</a:t>
            </a:r>
            <a:endParaRPr lang="en-US" sz="1200" dirty="0"/>
          </a:p>
        </p:txBody>
      </p:sp>
      <p:sp>
        <p:nvSpPr>
          <p:cNvPr id="66" name="Text 64"/>
          <p:cNvSpPr/>
          <p:nvPr/>
        </p:nvSpPr>
        <p:spPr>
          <a:xfrm>
            <a:off x="8707983" y="2804021"/>
            <a:ext cx="279400" cy="279400"/>
          </a:xfrm>
          <a:prstGeom prst="rect">
            <a:avLst/>
          </a:prstGeom>
          <a:solidFill>
            <a:srgbClr val="F8D9C4"/>
          </a:solidFill>
          <a:ln/>
        </p:spPr>
        <p:txBody>
          <a:bodyPr wrap="square" lIns="0" tIns="0" rIns="0" bIns="0" rtlCol="0" anchor="t">
            <a:normAutofit/>
          </a:bodyPr>
          <a:lstStyle/>
          <a:p>
            <a:pPr algn="ctr" indent="0" marL="0">
              <a:lnSpc>
                <a:spcPts val="2196"/>
              </a:lnSpc>
              <a:buNone/>
            </a:pPr>
            <a:r>
              <a:rPr lang="en-US" sz="1200" dirty="0">
                <a:solidFill>
                  <a:srgbClr val="1B2430"/>
                </a:solidFill>
                <a:latin typeface="JetBrains Mono" pitchFamily="49" charset="0"/>
                <a:ea typeface="JetBrains Mono" pitchFamily="49" charset="-122"/>
                <a:cs typeface="JetBrains Mono" pitchFamily="49" charset="-120"/>
              </a:rPr>
              <a:t>1</a:t>
            </a:r>
            <a:endParaRPr lang="en-US" sz="1200" dirty="0"/>
          </a:p>
        </p:txBody>
      </p:sp>
      <p:sp>
        <p:nvSpPr>
          <p:cNvPr id="67" name="Text 65"/>
          <p:cNvSpPr/>
          <p:nvPr/>
        </p:nvSpPr>
        <p:spPr>
          <a:xfrm>
            <a:off x="8098383" y="3108821"/>
            <a:ext cx="279400" cy="279400"/>
          </a:xfrm>
          <a:prstGeom prst="rect">
            <a:avLst/>
          </a:prstGeom>
          <a:solidFill>
            <a:srgbClr val="D6E3F5"/>
          </a:solidFill>
          <a:ln/>
        </p:spPr>
        <p:txBody>
          <a:bodyPr wrap="square" lIns="0" tIns="0" rIns="0" bIns="0" rtlCol="0" anchor="t">
            <a:normAutofit/>
          </a:bodyPr>
          <a:lstStyle/>
          <a:p>
            <a:pPr algn="ctr" indent="0" marL="0">
              <a:lnSpc>
                <a:spcPts val="2196"/>
              </a:lnSpc>
              <a:buNone/>
            </a:pPr>
            <a:r>
              <a:rPr lang="en-US" sz="1200" dirty="0">
                <a:solidFill>
                  <a:srgbClr val="1B2430"/>
                </a:solidFill>
                <a:latin typeface="JetBrains Mono" pitchFamily="49" charset="0"/>
                <a:ea typeface="JetBrains Mono" pitchFamily="49" charset="-122"/>
                <a:cs typeface="JetBrains Mono" pitchFamily="49" charset="-120"/>
              </a:rPr>
              <a:t>−1</a:t>
            </a:r>
            <a:endParaRPr lang="en-US" sz="1200" dirty="0"/>
          </a:p>
        </p:txBody>
      </p:sp>
      <p:sp>
        <p:nvSpPr>
          <p:cNvPr id="68" name="Text 66"/>
          <p:cNvSpPr/>
          <p:nvPr/>
        </p:nvSpPr>
        <p:spPr>
          <a:xfrm>
            <a:off x="8403183" y="3108821"/>
            <a:ext cx="279400" cy="279400"/>
          </a:xfrm>
          <a:prstGeom prst="rect">
            <a:avLst/>
          </a:prstGeom>
          <a:solidFill>
            <a:srgbClr val="D6E3F5"/>
          </a:solidFill>
          <a:ln/>
        </p:spPr>
        <p:txBody>
          <a:bodyPr wrap="square" lIns="0" tIns="0" rIns="0" bIns="0" rtlCol="0" anchor="t">
            <a:normAutofit/>
          </a:bodyPr>
          <a:lstStyle/>
          <a:p>
            <a:pPr algn="ctr" indent="0" marL="0">
              <a:lnSpc>
                <a:spcPts val="2196"/>
              </a:lnSpc>
              <a:buNone/>
            </a:pPr>
            <a:r>
              <a:rPr lang="en-US" sz="1200" dirty="0">
                <a:solidFill>
                  <a:srgbClr val="1B2430"/>
                </a:solidFill>
                <a:latin typeface="JetBrains Mono" pitchFamily="49" charset="0"/>
                <a:ea typeface="JetBrains Mono" pitchFamily="49" charset="-122"/>
                <a:cs typeface="JetBrains Mono" pitchFamily="49" charset="-120"/>
              </a:rPr>
              <a:t>−1</a:t>
            </a:r>
            <a:endParaRPr lang="en-US" sz="1200" dirty="0"/>
          </a:p>
        </p:txBody>
      </p:sp>
      <p:sp>
        <p:nvSpPr>
          <p:cNvPr id="69" name="Text 67"/>
          <p:cNvSpPr/>
          <p:nvPr/>
        </p:nvSpPr>
        <p:spPr>
          <a:xfrm>
            <a:off x="8707983" y="3108821"/>
            <a:ext cx="279400" cy="279400"/>
          </a:xfrm>
          <a:prstGeom prst="rect">
            <a:avLst/>
          </a:prstGeom>
          <a:solidFill>
            <a:srgbClr val="E3E1DA"/>
          </a:solidFill>
          <a:ln/>
        </p:spPr>
        <p:txBody>
          <a:bodyPr wrap="square" lIns="0" tIns="0" rIns="0" bIns="0" rtlCol="0" anchor="t">
            <a:normAutofit/>
          </a:bodyPr>
          <a:lstStyle/>
          <a:p>
            <a:pPr algn="ctr" indent="0" marL="0">
              <a:lnSpc>
                <a:spcPts val="2196"/>
              </a:lnSpc>
              <a:buNone/>
            </a:pPr>
            <a:r>
              <a:rPr lang="en-US" sz="1200" dirty="0">
                <a:solidFill>
                  <a:srgbClr val="1B2430"/>
                </a:solidFill>
                <a:latin typeface="JetBrains Mono" pitchFamily="49" charset="0"/>
                <a:ea typeface="JetBrains Mono" pitchFamily="49" charset="-122"/>
                <a:cs typeface="JetBrains Mono" pitchFamily="49" charset="-120"/>
              </a:rPr>
              <a:t>0</a:t>
            </a:r>
            <a:endParaRPr lang="en-US" sz="1200" dirty="0"/>
          </a:p>
        </p:txBody>
      </p:sp>
      <p:sp>
        <p:nvSpPr>
          <p:cNvPr id="70" name="Text 68"/>
          <p:cNvSpPr/>
          <p:nvPr/>
        </p:nvSpPr>
        <p:spPr>
          <a:xfrm>
            <a:off x="9139783" y="2717701"/>
            <a:ext cx="140518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430"/>
                </a:solidFill>
                <a:latin typeface="DM Sans" pitchFamily="34" charset="0"/>
                <a:ea typeface="DM Sans" pitchFamily="34" charset="-122"/>
                <a:cs typeface="DM Sans" pitchFamily="34" charset="-120"/>
              </a:rPr>
              <a:t>Diagonal edges</a:t>
            </a:r>
            <a:endParaRPr lang="en-US" sz="1400" dirty="0"/>
          </a:p>
        </p:txBody>
      </p:sp>
      <p:sp>
        <p:nvSpPr>
          <p:cNvPr id="71" name="Text 69"/>
          <p:cNvSpPr/>
          <p:nvPr/>
        </p:nvSpPr>
        <p:spPr>
          <a:xfrm>
            <a:off x="9139783" y="2956421"/>
            <a:ext cx="16252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DM Sans" pitchFamily="34" charset="0"/>
                <a:ea typeface="DM Sans" pitchFamily="34" charset="-122"/>
                <a:cs typeface="DM Sans" pitchFamily="34" charset="-120"/>
              </a:rPr>
              <a:t>like the slope of a 7</a:t>
            </a:r>
            <a:endParaRPr lang="en-US" sz="1200" dirty="0"/>
          </a:p>
        </p:txBody>
      </p:sp>
      <p:sp>
        <p:nvSpPr>
          <p:cNvPr id="72" name="Text 70"/>
          <p:cNvSpPr/>
          <p:nvPr/>
        </p:nvSpPr>
        <p:spPr>
          <a:xfrm>
            <a:off x="812800" y="3731121"/>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DM Sans" pitchFamily="34" charset="0"/>
                <a:ea typeface="DM Sans" pitchFamily="34" charset="-122"/>
                <a:cs typeface="DM Sans" pitchFamily="34" charset="-120"/>
              </a:rPr>
              <a:t>More blocks:</a:t>
            </a:r>
            <a:r>
              <a:rPr lang="en-US" sz="1300" dirty="0">
                <a:solidFill>
                  <a:srgbClr val="4A5568"/>
                </a:solidFill>
                <a:latin typeface="DM Sans" pitchFamily="34" charset="0"/>
                <a:ea typeface="DM Sans" pitchFamily="34" charset="-122"/>
                <a:cs typeface="DM Sans" pitchFamily="34" charset="-120"/>
              </a:rPr>
              <a:t> repeat Conv → ReLU → Pool. Each block looks at the maps from the block before.</a:t>
            </a:r>
            <a:endParaRPr lang="en-US" sz="1300" dirty="0"/>
          </a:p>
        </p:txBody>
      </p:sp>
      <p:sp>
        <p:nvSpPr>
          <p:cNvPr id="73" name="Shape 71"/>
          <p:cNvSpPr/>
          <p:nvPr/>
        </p:nvSpPr>
        <p:spPr>
          <a:xfrm>
            <a:off x="819150" y="4044801"/>
            <a:ext cx="2286000" cy="723900"/>
          </a:xfrm>
          <a:prstGeom prst="roundRect">
            <a:avLst>
              <a:gd name="adj" fmla="val 13158"/>
            </a:avLst>
          </a:prstGeom>
          <a:solidFill>
            <a:srgbClr val="FFFDF8"/>
          </a:solidFill>
          <a:ln w="12700">
            <a:solidFill>
              <a:srgbClr val="D8D4C8"/>
            </a:solidFill>
            <a:prstDash val="solid"/>
          </a:ln>
        </p:spPr>
      </p:sp>
      <p:pic>
        <p:nvPicPr>
          <p:cNvPr id="74" name="Image 0" descr="Short straight lines">    </p:cNvPr>
          <p:cNvPicPr>
            <a:picLocks noChangeAspect="1"/>
          </p:cNvPicPr>
          <p:nvPr/>
        </p:nvPicPr>
        <p:blipFill>
          <a:blip r:embed="rId1"/>
          <a:srcRect l="0" r="0" t="0" b="0"/>
          <a:stretch/>
        </p:blipFill>
        <p:spPr>
          <a:xfrm>
            <a:off x="952500" y="4152751"/>
            <a:ext cx="698500" cy="508000"/>
          </a:xfrm>
          <a:prstGeom prst="rect">
            <a:avLst/>
          </a:prstGeom>
        </p:spPr>
      </p:pic>
      <p:sp>
        <p:nvSpPr>
          <p:cNvPr id="75" name="Text 72"/>
          <p:cNvSpPr/>
          <p:nvPr/>
        </p:nvSpPr>
        <p:spPr>
          <a:xfrm>
            <a:off x="1752600" y="4187081"/>
            <a:ext cx="7147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F"/>
                </a:solidFill>
                <a:latin typeface="DM Sans" pitchFamily="34" charset="0"/>
                <a:ea typeface="DM Sans" pitchFamily="34" charset="-122"/>
                <a:cs typeface="DM Sans" pitchFamily="34" charset="-120"/>
              </a:rPr>
              <a:t>BLOCK 1</a:t>
            </a:r>
            <a:endParaRPr lang="en-US" sz="1200" dirty="0"/>
          </a:p>
        </p:txBody>
      </p:sp>
      <p:sp>
        <p:nvSpPr>
          <p:cNvPr id="76" name="Text 73"/>
          <p:cNvSpPr/>
          <p:nvPr/>
        </p:nvSpPr>
        <p:spPr>
          <a:xfrm>
            <a:off x="1752600" y="4413101"/>
            <a:ext cx="64646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430"/>
                </a:solidFill>
                <a:latin typeface="DM Sans" pitchFamily="34" charset="0"/>
                <a:ea typeface="DM Sans" pitchFamily="34" charset="-122"/>
                <a:cs typeface="DM Sans" pitchFamily="34" charset="-120"/>
              </a:rPr>
              <a:t>Edges</a:t>
            </a:r>
            <a:endParaRPr lang="en-US" sz="1400" dirty="0"/>
          </a:p>
        </p:txBody>
      </p:sp>
      <p:pic>
        <p:nvPicPr>
          <p:cNvPr id="77" name="Image 1" descr="arrow-right">    </p:cNvPr>
          <p:cNvPicPr>
            <a:picLocks noChangeAspect="1"/>
          </p:cNvPicPr>
          <p:nvPr/>
        </p:nvPicPr>
        <p:blipFill>
          <a:blip r:embed="rId2"/>
          <a:srcRect l="0" r="0" t="0" b="0"/>
          <a:stretch/>
        </p:blipFill>
        <p:spPr>
          <a:xfrm>
            <a:off x="3213100" y="4343251"/>
            <a:ext cx="254000" cy="127000"/>
          </a:xfrm>
          <a:prstGeom prst="rect">
            <a:avLst/>
          </a:prstGeom>
        </p:spPr>
      </p:pic>
      <p:sp>
        <p:nvSpPr>
          <p:cNvPr id="78" name="Shape 74"/>
          <p:cNvSpPr/>
          <p:nvPr/>
        </p:nvSpPr>
        <p:spPr>
          <a:xfrm>
            <a:off x="3575050" y="4044801"/>
            <a:ext cx="2286000" cy="723900"/>
          </a:xfrm>
          <a:prstGeom prst="roundRect">
            <a:avLst>
              <a:gd name="adj" fmla="val 13158"/>
            </a:avLst>
          </a:prstGeom>
          <a:solidFill>
            <a:srgbClr val="FFFDF8"/>
          </a:solidFill>
          <a:ln w="12700">
            <a:solidFill>
              <a:srgbClr val="D8D4C8"/>
            </a:solidFill>
            <a:prstDash val="solid"/>
          </a:ln>
        </p:spPr>
      </p:sp>
      <p:pic>
        <p:nvPicPr>
          <p:cNvPr id="79" name="Image 2" descr="A curve and a corner">    </p:cNvPr>
          <p:cNvPicPr>
            <a:picLocks noChangeAspect="1"/>
          </p:cNvPicPr>
          <p:nvPr/>
        </p:nvPicPr>
        <p:blipFill>
          <a:blip r:embed="rId3"/>
          <a:srcRect l="0" r="0" t="0" b="0"/>
          <a:stretch/>
        </p:blipFill>
        <p:spPr>
          <a:xfrm>
            <a:off x="3708400" y="4152751"/>
            <a:ext cx="698500" cy="508000"/>
          </a:xfrm>
          <a:prstGeom prst="rect">
            <a:avLst/>
          </a:prstGeom>
        </p:spPr>
      </p:pic>
      <p:sp>
        <p:nvSpPr>
          <p:cNvPr id="80" name="Text 75"/>
          <p:cNvSpPr/>
          <p:nvPr/>
        </p:nvSpPr>
        <p:spPr>
          <a:xfrm>
            <a:off x="4508500" y="4187081"/>
            <a:ext cx="75390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F"/>
                </a:solidFill>
                <a:latin typeface="DM Sans" pitchFamily="34" charset="0"/>
                <a:ea typeface="DM Sans" pitchFamily="34" charset="-122"/>
                <a:cs typeface="DM Sans" pitchFamily="34" charset="-120"/>
              </a:rPr>
              <a:t>BLOCK 2</a:t>
            </a:r>
            <a:endParaRPr lang="en-US" sz="1200" dirty="0"/>
          </a:p>
        </p:txBody>
      </p:sp>
      <p:sp>
        <p:nvSpPr>
          <p:cNvPr id="81" name="Text 76"/>
          <p:cNvSpPr/>
          <p:nvPr/>
        </p:nvSpPr>
        <p:spPr>
          <a:xfrm>
            <a:off x="4508500" y="4413101"/>
            <a:ext cx="67905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430"/>
                </a:solidFill>
                <a:latin typeface="DM Sans" pitchFamily="34" charset="0"/>
                <a:ea typeface="DM Sans" pitchFamily="34" charset="-122"/>
                <a:cs typeface="DM Sans" pitchFamily="34" charset="-120"/>
              </a:rPr>
              <a:t>Curves</a:t>
            </a:r>
            <a:endParaRPr lang="en-US" sz="1400" dirty="0"/>
          </a:p>
        </p:txBody>
      </p:sp>
      <p:pic>
        <p:nvPicPr>
          <p:cNvPr id="82" name="Image 3" descr="arrow-right">    </p:cNvPr>
          <p:cNvPicPr>
            <a:picLocks noChangeAspect="1"/>
          </p:cNvPicPr>
          <p:nvPr/>
        </p:nvPicPr>
        <p:blipFill>
          <a:blip r:embed="rId4"/>
          <a:srcRect l="0" r="0" t="0" b="0"/>
          <a:stretch/>
        </p:blipFill>
        <p:spPr>
          <a:xfrm>
            <a:off x="5969000" y="4343251"/>
            <a:ext cx="254000" cy="127000"/>
          </a:xfrm>
          <a:prstGeom prst="rect">
            <a:avLst/>
          </a:prstGeom>
        </p:spPr>
      </p:pic>
      <p:sp>
        <p:nvSpPr>
          <p:cNvPr id="83" name="Shape 77"/>
          <p:cNvSpPr/>
          <p:nvPr/>
        </p:nvSpPr>
        <p:spPr>
          <a:xfrm>
            <a:off x="6330950" y="4044801"/>
            <a:ext cx="2286000" cy="723900"/>
          </a:xfrm>
          <a:prstGeom prst="roundRect">
            <a:avLst>
              <a:gd name="adj" fmla="val 13158"/>
            </a:avLst>
          </a:prstGeom>
          <a:solidFill>
            <a:srgbClr val="FFFDF8"/>
          </a:solidFill>
          <a:ln w="12700">
            <a:solidFill>
              <a:srgbClr val="D8D4C8"/>
            </a:solidFill>
            <a:prstDash val="solid"/>
          </a:ln>
        </p:spPr>
      </p:sp>
      <p:pic>
        <p:nvPicPr>
          <p:cNvPr id="84" name="Image 4" descr="A closed loop">    </p:cNvPr>
          <p:cNvPicPr>
            <a:picLocks noChangeAspect="1"/>
          </p:cNvPicPr>
          <p:nvPr/>
        </p:nvPicPr>
        <p:blipFill>
          <a:blip r:embed="rId5"/>
          <a:srcRect l="0" r="0" t="0" b="0"/>
          <a:stretch/>
        </p:blipFill>
        <p:spPr>
          <a:xfrm>
            <a:off x="6464300" y="4152751"/>
            <a:ext cx="698500" cy="508000"/>
          </a:xfrm>
          <a:prstGeom prst="rect">
            <a:avLst/>
          </a:prstGeom>
        </p:spPr>
      </p:pic>
      <p:sp>
        <p:nvSpPr>
          <p:cNvPr id="85" name="Text 78"/>
          <p:cNvSpPr/>
          <p:nvPr/>
        </p:nvSpPr>
        <p:spPr>
          <a:xfrm>
            <a:off x="7264400" y="4187081"/>
            <a:ext cx="75866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F"/>
                </a:solidFill>
                <a:latin typeface="DM Sans" pitchFamily="34" charset="0"/>
                <a:ea typeface="DM Sans" pitchFamily="34" charset="-122"/>
                <a:cs typeface="DM Sans" pitchFamily="34" charset="-120"/>
              </a:rPr>
              <a:t>BLOCK 3</a:t>
            </a:r>
            <a:endParaRPr lang="en-US" sz="1200" dirty="0"/>
          </a:p>
        </p:txBody>
      </p:sp>
      <p:sp>
        <p:nvSpPr>
          <p:cNvPr id="86" name="Text 79"/>
          <p:cNvSpPr/>
          <p:nvPr/>
        </p:nvSpPr>
        <p:spPr>
          <a:xfrm>
            <a:off x="7264400" y="4413101"/>
            <a:ext cx="68302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430"/>
                </a:solidFill>
                <a:latin typeface="DM Sans" pitchFamily="34" charset="0"/>
                <a:ea typeface="DM Sans" pitchFamily="34" charset="-122"/>
                <a:cs typeface="DM Sans" pitchFamily="34" charset="-120"/>
              </a:rPr>
              <a:t>Parts</a:t>
            </a:r>
            <a:endParaRPr lang="en-US" sz="1400" dirty="0"/>
          </a:p>
        </p:txBody>
      </p:sp>
      <p:pic>
        <p:nvPicPr>
          <p:cNvPr id="87" name="Image 5" descr="arrow-right">    </p:cNvPr>
          <p:cNvPicPr>
            <a:picLocks noChangeAspect="1"/>
          </p:cNvPicPr>
          <p:nvPr/>
        </p:nvPicPr>
        <p:blipFill>
          <a:blip r:embed="rId6"/>
          <a:srcRect l="0" r="0" t="0" b="0"/>
          <a:stretch/>
        </p:blipFill>
        <p:spPr>
          <a:xfrm>
            <a:off x="8724900" y="4343251"/>
            <a:ext cx="254000" cy="127000"/>
          </a:xfrm>
          <a:prstGeom prst="rect">
            <a:avLst/>
          </a:prstGeom>
        </p:spPr>
      </p:pic>
      <p:sp>
        <p:nvSpPr>
          <p:cNvPr id="88" name="Shape 80"/>
          <p:cNvSpPr/>
          <p:nvPr/>
        </p:nvSpPr>
        <p:spPr>
          <a:xfrm>
            <a:off x="9086850" y="4044801"/>
            <a:ext cx="2286000" cy="723900"/>
          </a:xfrm>
          <a:prstGeom prst="roundRect">
            <a:avLst>
              <a:gd name="adj" fmla="val 13158"/>
            </a:avLst>
          </a:prstGeom>
          <a:solidFill>
            <a:srgbClr val="1B2430"/>
          </a:solidFill>
          <a:ln w="12700">
            <a:solidFill>
              <a:srgbClr val="1B2430"/>
            </a:solidFill>
            <a:prstDash val="solid"/>
          </a:ln>
        </p:spPr>
      </p:sp>
      <p:pic>
        <p:nvPicPr>
          <p:cNvPr id="89" name="Image 6" descr="The digit 9 made of a loop and a stroke">    </p:cNvPr>
          <p:cNvPicPr>
            <a:picLocks noChangeAspect="1"/>
          </p:cNvPicPr>
          <p:nvPr/>
        </p:nvPicPr>
        <p:blipFill>
          <a:blip r:embed="rId7"/>
          <a:srcRect l="0" r="0" t="0" b="0"/>
          <a:stretch/>
        </p:blipFill>
        <p:spPr>
          <a:xfrm>
            <a:off x="9220200" y="4152751"/>
            <a:ext cx="698500" cy="508000"/>
          </a:xfrm>
          <a:prstGeom prst="rect">
            <a:avLst/>
          </a:prstGeom>
        </p:spPr>
      </p:pic>
      <p:sp>
        <p:nvSpPr>
          <p:cNvPr id="90" name="Text 81"/>
          <p:cNvSpPr/>
          <p:nvPr/>
        </p:nvSpPr>
        <p:spPr>
          <a:xfrm>
            <a:off x="10020300" y="4187081"/>
            <a:ext cx="10434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A070"/>
                </a:solidFill>
                <a:latin typeface="DM Sans" pitchFamily="34" charset="0"/>
                <a:ea typeface="DM Sans" pitchFamily="34" charset="-122"/>
                <a:cs typeface="DM Sans" pitchFamily="34" charset="-120"/>
              </a:rPr>
              <a:t>THEN</a:t>
            </a:r>
            <a:endParaRPr lang="en-US" sz="1200" dirty="0"/>
          </a:p>
        </p:txBody>
      </p:sp>
      <p:sp>
        <p:nvSpPr>
          <p:cNvPr id="91" name="Text 82"/>
          <p:cNvSpPr/>
          <p:nvPr/>
        </p:nvSpPr>
        <p:spPr>
          <a:xfrm>
            <a:off x="10020300" y="4413101"/>
            <a:ext cx="119122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7F5F0"/>
                </a:solidFill>
                <a:latin typeface="DM Sans" pitchFamily="34" charset="0"/>
                <a:ea typeface="DM Sans" pitchFamily="34" charset="-122"/>
                <a:cs typeface="DM Sans" pitchFamily="34" charset="-120"/>
              </a:rPr>
              <a:t>Whole digit</a:t>
            </a:r>
            <a:endParaRPr lang="en-US" sz="1400" dirty="0"/>
          </a:p>
        </p:txBody>
      </p:sp>
      <p:sp>
        <p:nvSpPr>
          <p:cNvPr id="92" name="Text 8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DM Sans" pitchFamily="34" charset="0"/>
                <a:ea typeface="DM Sans" pitchFamily="34" charset="-122"/>
                <a:cs typeface="DM Sans" pitchFamily="34" charset="-120"/>
              </a:rPr>
              <a:t>CNN step by step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819150" y="412750"/>
            <a:ext cx="1108075" cy="515541"/>
          </a:xfrm>
          <a:prstGeom prst="roundRect">
            <a:avLst>
              <a:gd name="adj" fmla="val 11085"/>
            </a:avLst>
          </a:prstGeom>
          <a:solidFill>
            <a:srgbClr val="E8E3D6"/>
          </a:solidFill>
          <a:ln w="12700">
            <a:solidFill>
              <a:srgbClr val="E8E3D6"/>
            </a:solidFill>
            <a:prstDash val="solid"/>
          </a:ln>
        </p:spPr>
      </p:sp>
      <p:sp>
        <p:nvSpPr>
          <p:cNvPr id="3" name="Text 1"/>
          <p:cNvSpPr/>
          <p:nvPr/>
        </p:nvSpPr>
        <p:spPr>
          <a:xfrm>
            <a:off x="85090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2430"/>
                </a:solidFill>
                <a:latin typeface="DM Sans" pitchFamily="34" charset="0"/>
                <a:ea typeface="DM Sans" pitchFamily="34" charset="-122"/>
                <a:cs typeface="DM Sans" pitchFamily="34" charset="-120"/>
              </a:rPr>
              <a:t>Image</a:t>
            </a:r>
            <a:endParaRPr lang="en-US" sz="1200" dirty="0"/>
          </a:p>
        </p:txBody>
      </p:sp>
      <p:sp>
        <p:nvSpPr>
          <p:cNvPr id="4" name="Text 2"/>
          <p:cNvSpPr/>
          <p:nvPr/>
        </p:nvSpPr>
        <p:spPr>
          <a:xfrm>
            <a:off x="85090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JetBrains Mono" pitchFamily="49" charset="0"/>
                <a:ea typeface="JetBrains Mono" pitchFamily="49" charset="-122"/>
                <a:cs typeface="JetBrains Mono" pitchFamily="49" charset="-120"/>
              </a:rPr>
              <a:t>6×6</a:t>
            </a:r>
            <a:endParaRPr lang="en-US" sz="1200" dirty="0"/>
          </a:p>
        </p:txBody>
      </p:sp>
      <p:sp>
        <p:nvSpPr>
          <p:cNvPr id="5" name="Text 3"/>
          <p:cNvSpPr/>
          <p:nvPr/>
        </p:nvSpPr>
        <p:spPr>
          <a:xfrm>
            <a:off x="197167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6" name="Shape 4"/>
          <p:cNvSpPr/>
          <p:nvPr/>
        </p:nvSpPr>
        <p:spPr>
          <a:xfrm>
            <a:off x="2168525" y="412750"/>
            <a:ext cx="1108075" cy="515541"/>
          </a:xfrm>
          <a:prstGeom prst="roundRect">
            <a:avLst>
              <a:gd name="adj" fmla="val 11085"/>
            </a:avLst>
          </a:prstGeom>
          <a:solidFill>
            <a:srgbClr val="E8E3D6"/>
          </a:solidFill>
          <a:ln w="12700">
            <a:solidFill>
              <a:srgbClr val="E8E3D6"/>
            </a:solidFill>
            <a:prstDash val="solid"/>
          </a:ln>
        </p:spPr>
      </p:sp>
      <p:sp>
        <p:nvSpPr>
          <p:cNvPr id="7" name="Text 5"/>
          <p:cNvSpPr/>
          <p:nvPr/>
        </p:nvSpPr>
        <p:spPr>
          <a:xfrm>
            <a:off x="220027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2430"/>
                </a:solidFill>
                <a:latin typeface="DM Sans" pitchFamily="34" charset="0"/>
                <a:ea typeface="DM Sans" pitchFamily="34" charset="-122"/>
                <a:cs typeface="DM Sans" pitchFamily="34" charset="-120"/>
              </a:rPr>
              <a:t>Conv</a:t>
            </a:r>
            <a:endParaRPr lang="en-US" sz="1200" dirty="0"/>
          </a:p>
        </p:txBody>
      </p:sp>
      <p:sp>
        <p:nvSpPr>
          <p:cNvPr id="8" name="Text 6"/>
          <p:cNvSpPr/>
          <p:nvPr/>
        </p:nvSpPr>
        <p:spPr>
          <a:xfrm>
            <a:off x="220027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JetBrains Mono" pitchFamily="49" charset="0"/>
                <a:ea typeface="JetBrains Mono" pitchFamily="49" charset="-122"/>
                <a:cs typeface="JetBrains Mono" pitchFamily="49" charset="-120"/>
              </a:rPr>
              <a:t>4×4</a:t>
            </a:r>
            <a:endParaRPr lang="en-US" sz="1200" dirty="0"/>
          </a:p>
        </p:txBody>
      </p:sp>
      <p:sp>
        <p:nvSpPr>
          <p:cNvPr id="9" name="Text 7"/>
          <p:cNvSpPr/>
          <p:nvPr/>
        </p:nvSpPr>
        <p:spPr>
          <a:xfrm>
            <a:off x="3321050"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10" name="Shape 8"/>
          <p:cNvSpPr/>
          <p:nvPr/>
        </p:nvSpPr>
        <p:spPr>
          <a:xfrm>
            <a:off x="3517900" y="412750"/>
            <a:ext cx="1108075" cy="515541"/>
          </a:xfrm>
          <a:prstGeom prst="roundRect">
            <a:avLst>
              <a:gd name="adj" fmla="val 11085"/>
            </a:avLst>
          </a:prstGeom>
          <a:solidFill>
            <a:srgbClr val="E8E3D6"/>
          </a:solidFill>
          <a:ln w="12700">
            <a:solidFill>
              <a:srgbClr val="E8E3D6"/>
            </a:solidFill>
            <a:prstDash val="solid"/>
          </a:ln>
        </p:spPr>
      </p:sp>
      <p:sp>
        <p:nvSpPr>
          <p:cNvPr id="11" name="Text 9"/>
          <p:cNvSpPr/>
          <p:nvPr/>
        </p:nvSpPr>
        <p:spPr>
          <a:xfrm>
            <a:off x="354965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2430"/>
                </a:solidFill>
                <a:latin typeface="DM Sans" pitchFamily="34" charset="0"/>
                <a:ea typeface="DM Sans" pitchFamily="34" charset="-122"/>
                <a:cs typeface="DM Sans" pitchFamily="34" charset="-120"/>
              </a:rPr>
              <a:t>ReLU</a:t>
            </a:r>
            <a:endParaRPr lang="en-US" sz="1200" dirty="0"/>
          </a:p>
        </p:txBody>
      </p:sp>
      <p:sp>
        <p:nvSpPr>
          <p:cNvPr id="12" name="Text 10"/>
          <p:cNvSpPr/>
          <p:nvPr/>
        </p:nvSpPr>
        <p:spPr>
          <a:xfrm>
            <a:off x="354965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JetBrains Mono" pitchFamily="49" charset="0"/>
                <a:ea typeface="JetBrains Mono" pitchFamily="49" charset="-122"/>
                <a:cs typeface="JetBrains Mono" pitchFamily="49" charset="-120"/>
              </a:rPr>
              <a:t>4×4</a:t>
            </a:r>
            <a:endParaRPr lang="en-US" sz="1200" dirty="0"/>
          </a:p>
        </p:txBody>
      </p:sp>
      <p:sp>
        <p:nvSpPr>
          <p:cNvPr id="13" name="Text 11"/>
          <p:cNvSpPr/>
          <p:nvPr/>
        </p:nvSpPr>
        <p:spPr>
          <a:xfrm>
            <a:off x="467042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14" name="Shape 12"/>
          <p:cNvSpPr/>
          <p:nvPr/>
        </p:nvSpPr>
        <p:spPr>
          <a:xfrm>
            <a:off x="4867275" y="412750"/>
            <a:ext cx="1108075" cy="515541"/>
          </a:xfrm>
          <a:prstGeom prst="roundRect">
            <a:avLst>
              <a:gd name="adj" fmla="val 11085"/>
            </a:avLst>
          </a:prstGeom>
          <a:solidFill>
            <a:srgbClr val="E8E3D6"/>
          </a:solidFill>
          <a:ln w="12700">
            <a:solidFill>
              <a:srgbClr val="E8E3D6"/>
            </a:solidFill>
            <a:prstDash val="solid"/>
          </a:ln>
        </p:spPr>
      </p:sp>
      <p:sp>
        <p:nvSpPr>
          <p:cNvPr id="15" name="Text 13"/>
          <p:cNvSpPr/>
          <p:nvPr/>
        </p:nvSpPr>
        <p:spPr>
          <a:xfrm>
            <a:off x="489902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2430"/>
                </a:solidFill>
                <a:latin typeface="DM Sans" pitchFamily="34" charset="0"/>
                <a:ea typeface="DM Sans" pitchFamily="34" charset="-122"/>
                <a:cs typeface="DM Sans" pitchFamily="34" charset="-120"/>
              </a:rPr>
              <a:t>Pool</a:t>
            </a:r>
            <a:endParaRPr lang="en-US" sz="1200" dirty="0"/>
          </a:p>
        </p:txBody>
      </p:sp>
      <p:sp>
        <p:nvSpPr>
          <p:cNvPr id="16" name="Text 14"/>
          <p:cNvSpPr/>
          <p:nvPr/>
        </p:nvSpPr>
        <p:spPr>
          <a:xfrm>
            <a:off x="489902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JetBrains Mono" pitchFamily="49" charset="0"/>
                <a:ea typeface="JetBrains Mono" pitchFamily="49" charset="-122"/>
                <a:cs typeface="JetBrains Mono" pitchFamily="49" charset="-120"/>
              </a:rPr>
              <a:t>2×2</a:t>
            </a:r>
            <a:endParaRPr lang="en-US" sz="1200" dirty="0"/>
          </a:p>
        </p:txBody>
      </p:sp>
      <p:sp>
        <p:nvSpPr>
          <p:cNvPr id="17" name="Text 15"/>
          <p:cNvSpPr/>
          <p:nvPr/>
        </p:nvSpPr>
        <p:spPr>
          <a:xfrm>
            <a:off x="6019800"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18" name="Shape 16"/>
          <p:cNvSpPr/>
          <p:nvPr/>
        </p:nvSpPr>
        <p:spPr>
          <a:xfrm>
            <a:off x="6216650" y="412750"/>
            <a:ext cx="1108075" cy="515541"/>
          </a:xfrm>
          <a:prstGeom prst="roundRect">
            <a:avLst>
              <a:gd name="adj" fmla="val 11085"/>
            </a:avLst>
          </a:prstGeom>
          <a:solidFill>
            <a:srgbClr val="B8501F"/>
          </a:solidFill>
          <a:ln w="12700">
            <a:solidFill>
              <a:srgbClr val="B8501F"/>
            </a:solidFill>
            <a:prstDash val="solid"/>
          </a:ln>
        </p:spPr>
      </p:sp>
      <p:sp>
        <p:nvSpPr>
          <p:cNvPr id="19" name="Text 17"/>
          <p:cNvSpPr/>
          <p:nvPr/>
        </p:nvSpPr>
        <p:spPr>
          <a:xfrm>
            <a:off x="624840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FFDF8"/>
                </a:solidFill>
                <a:latin typeface="DM Sans" pitchFamily="34" charset="0"/>
                <a:ea typeface="DM Sans" pitchFamily="34" charset="-122"/>
                <a:cs typeface="DM Sans" pitchFamily="34" charset="-120"/>
              </a:rPr>
              <a:t>Flatten</a:t>
            </a:r>
            <a:endParaRPr lang="en-US" sz="1200" dirty="0"/>
          </a:p>
        </p:txBody>
      </p:sp>
      <p:sp>
        <p:nvSpPr>
          <p:cNvPr id="20" name="Text 18"/>
          <p:cNvSpPr/>
          <p:nvPr/>
        </p:nvSpPr>
        <p:spPr>
          <a:xfrm>
            <a:off x="624840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FFDF8"/>
                </a:solidFill>
                <a:latin typeface="JetBrains Mono" pitchFamily="49" charset="0"/>
                <a:ea typeface="JetBrains Mono" pitchFamily="49" charset="-122"/>
                <a:cs typeface="JetBrains Mono" pitchFamily="49" charset="-120"/>
              </a:rPr>
              <a:t>4 nums</a:t>
            </a:r>
            <a:endParaRPr lang="en-US" sz="1200" dirty="0"/>
          </a:p>
        </p:txBody>
      </p:sp>
      <p:sp>
        <p:nvSpPr>
          <p:cNvPr id="21" name="Text 19"/>
          <p:cNvSpPr/>
          <p:nvPr/>
        </p:nvSpPr>
        <p:spPr>
          <a:xfrm>
            <a:off x="736917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22" name="Shape 20"/>
          <p:cNvSpPr/>
          <p:nvPr/>
        </p:nvSpPr>
        <p:spPr>
          <a:xfrm>
            <a:off x="7566025" y="412750"/>
            <a:ext cx="1108075" cy="515541"/>
          </a:xfrm>
          <a:prstGeom prst="roundRect">
            <a:avLst>
              <a:gd name="adj" fmla="val 11085"/>
            </a:avLst>
          </a:prstGeom>
          <a:noFill/>
          <a:ln w="12700">
            <a:solidFill>
              <a:srgbClr val="D8D4C8"/>
            </a:solidFill>
            <a:prstDash val="solid"/>
          </a:ln>
        </p:spPr>
      </p:sp>
      <p:sp>
        <p:nvSpPr>
          <p:cNvPr id="23" name="Text 21"/>
          <p:cNvSpPr/>
          <p:nvPr/>
        </p:nvSpPr>
        <p:spPr>
          <a:xfrm>
            <a:off x="759777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Dense</a:t>
            </a:r>
            <a:endParaRPr lang="en-US" sz="1200" dirty="0"/>
          </a:p>
        </p:txBody>
      </p:sp>
      <p:sp>
        <p:nvSpPr>
          <p:cNvPr id="24" name="Text 22"/>
          <p:cNvSpPr/>
          <p:nvPr/>
        </p:nvSpPr>
        <p:spPr>
          <a:xfrm>
            <a:off x="759777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3 scores</a:t>
            </a:r>
            <a:endParaRPr lang="en-US" sz="1200" dirty="0"/>
          </a:p>
        </p:txBody>
      </p:sp>
      <p:sp>
        <p:nvSpPr>
          <p:cNvPr id="25" name="Text 23"/>
          <p:cNvSpPr/>
          <p:nvPr/>
        </p:nvSpPr>
        <p:spPr>
          <a:xfrm>
            <a:off x="8718550"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26" name="Shape 24"/>
          <p:cNvSpPr/>
          <p:nvPr/>
        </p:nvSpPr>
        <p:spPr>
          <a:xfrm>
            <a:off x="8915400" y="412750"/>
            <a:ext cx="1108075" cy="515541"/>
          </a:xfrm>
          <a:prstGeom prst="roundRect">
            <a:avLst>
              <a:gd name="adj" fmla="val 11085"/>
            </a:avLst>
          </a:prstGeom>
          <a:noFill/>
          <a:ln w="12700">
            <a:solidFill>
              <a:srgbClr val="D8D4C8"/>
            </a:solidFill>
            <a:prstDash val="solid"/>
          </a:ln>
        </p:spPr>
      </p:sp>
      <p:sp>
        <p:nvSpPr>
          <p:cNvPr id="27" name="Text 25"/>
          <p:cNvSpPr/>
          <p:nvPr/>
        </p:nvSpPr>
        <p:spPr>
          <a:xfrm>
            <a:off x="894715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Softmax</a:t>
            </a:r>
            <a:endParaRPr lang="en-US" sz="1200" dirty="0"/>
          </a:p>
        </p:txBody>
      </p:sp>
      <p:sp>
        <p:nvSpPr>
          <p:cNvPr id="28" name="Text 26"/>
          <p:cNvSpPr/>
          <p:nvPr/>
        </p:nvSpPr>
        <p:spPr>
          <a:xfrm>
            <a:off x="894715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3 chances</a:t>
            </a:r>
            <a:endParaRPr lang="en-US" sz="1200" dirty="0"/>
          </a:p>
        </p:txBody>
      </p:sp>
      <p:sp>
        <p:nvSpPr>
          <p:cNvPr id="29" name="Text 27"/>
          <p:cNvSpPr/>
          <p:nvPr/>
        </p:nvSpPr>
        <p:spPr>
          <a:xfrm>
            <a:off x="1006792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30" name="Shape 28"/>
          <p:cNvSpPr/>
          <p:nvPr/>
        </p:nvSpPr>
        <p:spPr>
          <a:xfrm>
            <a:off x="10264775" y="412750"/>
            <a:ext cx="1108075" cy="515541"/>
          </a:xfrm>
          <a:prstGeom prst="roundRect">
            <a:avLst>
              <a:gd name="adj" fmla="val 11085"/>
            </a:avLst>
          </a:prstGeom>
          <a:noFill/>
          <a:ln w="12700">
            <a:solidFill>
              <a:srgbClr val="D8D4C8"/>
            </a:solidFill>
            <a:prstDash val="solid"/>
          </a:ln>
        </p:spPr>
      </p:sp>
      <p:sp>
        <p:nvSpPr>
          <p:cNvPr id="31" name="Text 29"/>
          <p:cNvSpPr/>
          <p:nvPr/>
        </p:nvSpPr>
        <p:spPr>
          <a:xfrm>
            <a:off x="1029652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Answer</a:t>
            </a:r>
            <a:endParaRPr lang="en-US" sz="1200" dirty="0"/>
          </a:p>
        </p:txBody>
      </p:sp>
      <p:sp>
        <p:nvSpPr>
          <p:cNvPr id="32" name="Text 30"/>
          <p:cNvSpPr/>
          <p:nvPr/>
        </p:nvSpPr>
        <p:spPr>
          <a:xfrm>
            <a:off x="1029652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“1”</a:t>
            </a:r>
            <a:endParaRPr lang="en-US" sz="1200" dirty="0"/>
          </a:p>
        </p:txBody>
      </p:sp>
      <p:sp>
        <p:nvSpPr>
          <p:cNvPr id="33" name="Text 31"/>
          <p:cNvSpPr/>
          <p:nvPr/>
        </p:nvSpPr>
        <p:spPr>
          <a:xfrm>
            <a:off x="812800" y="113784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5FA6"/>
                </a:solidFill>
                <a:latin typeface="DM Sans" pitchFamily="34" charset="0"/>
                <a:ea typeface="DM Sans" pitchFamily="34" charset="-122"/>
                <a:cs typeface="DM Sans" pitchFamily="34" charset="-120"/>
              </a:rPr>
              <a:t>STEP 5 · FLATTEN (PART 2 STARTS)</a:t>
            </a:r>
            <a:endParaRPr lang="en-US" sz="1200" dirty="0"/>
          </a:p>
        </p:txBody>
      </p:sp>
      <p:sp>
        <p:nvSpPr>
          <p:cNvPr id="34" name="Text 32"/>
          <p:cNvSpPr/>
          <p:nvPr>
            <p:ph type="title"/>
          </p:nvPr>
        </p:nvSpPr>
        <p:spPr>
          <a:xfrm>
            <a:off x="812800" y="1401961"/>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430"/>
                </a:solidFill>
                <a:latin typeface="DM Sans" pitchFamily="34" charset="0"/>
                <a:ea typeface="DM Sans" pitchFamily="34" charset="-122"/>
                <a:cs typeface="DM Sans" pitchFamily="34" charset="-120"/>
              </a:rPr>
              <a:t>Flatten: the grid becomes one row</a:t>
            </a:r>
            <a:endParaRPr lang="en-US" sz="3200" dirty="0"/>
          </a:p>
        </p:txBody>
      </p:sp>
      <p:sp>
        <p:nvSpPr>
          <p:cNvPr id="35" name="Text 33"/>
          <p:cNvSpPr/>
          <p:nvPr/>
        </p:nvSpPr>
        <p:spPr>
          <a:xfrm>
            <a:off x="812800" y="2052191"/>
            <a:ext cx="16256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DM Sans" pitchFamily="34" charset="0"/>
                <a:ea typeface="DM Sans" pitchFamily="34" charset="-122"/>
                <a:cs typeface="DM Sans" pitchFamily="34" charset="-120"/>
              </a:rPr>
              <a:t>Pooled map 2×2</a:t>
            </a:r>
            <a:endParaRPr lang="en-US" sz="1200" dirty="0"/>
          </a:p>
        </p:txBody>
      </p:sp>
      <p:sp>
        <p:nvSpPr>
          <p:cNvPr id="36" name="Text 34"/>
          <p:cNvSpPr/>
          <p:nvPr/>
        </p:nvSpPr>
        <p:spPr>
          <a:xfrm>
            <a:off x="812800" y="2341711"/>
            <a:ext cx="762000" cy="762000"/>
          </a:xfrm>
          <a:prstGeom prst="rect">
            <a:avLst/>
          </a:prstGeom>
          <a:solidFill>
            <a:srgbClr val="B8501F"/>
          </a:solidFill>
          <a:ln/>
        </p:spPr>
        <p:txBody>
          <a:bodyPr wrap="square" lIns="0" tIns="0" rIns="0" bIns="0" rtlCol="0" anchor="t">
            <a:normAutofit/>
          </a:bodyPr>
          <a:lstStyle/>
          <a:p>
            <a:pPr algn="ctr" indent="0" marL="0">
              <a:lnSpc>
                <a:spcPts val="6000"/>
              </a:lnSpc>
              <a:buNone/>
            </a:pPr>
            <a:r>
              <a:rPr lang="en-US" sz="2000" b="1" dirty="0">
                <a:solidFill>
                  <a:srgbClr val="FFFDF8"/>
                </a:solidFill>
                <a:latin typeface="JetBrains Mono" pitchFamily="49" charset="0"/>
                <a:ea typeface="JetBrains Mono" pitchFamily="49" charset="-122"/>
                <a:cs typeface="JetBrains Mono" pitchFamily="49" charset="-120"/>
              </a:rPr>
              <a:t>27</a:t>
            </a:r>
            <a:endParaRPr lang="en-US" sz="2000" dirty="0"/>
          </a:p>
        </p:txBody>
      </p:sp>
      <p:sp>
        <p:nvSpPr>
          <p:cNvPr id="37" name="Text 35"/>
          <p:cNvSpPr/>
          <p:nvPr/>
        </p:nvSpPr>
        <p:spPr>
          <a:xfrm>
            <a:off x="1625600" y="2341711"/>
            <a:ext cx="762000" cy="762000"/>
          </a:xfrm>
          <a:prstGeom prst="rect">
            <a:avLst/>
          </a:prstGeom>
          <a:solidFill>
            <a:srgbClr val="E3E1DA"/>
          </a:solidFill>
          <a:ln/>
        </p:spPr>
        <p:txBody>
          <a:bodyPr wrap="square" lIns="0" tIns="0" rIns="0" bIns="0" rtlCol="0" anchor="t">
            <a:normAutofit/>
          </a:bodyPr>
          <a:lstStyle/>
          <a:p>
            <a:pPr algn="ctr" indent="0" marL="0">
              <a:lnSpc>
                <a:spcPts val="6000"/>
              </a:lnSpc>
              <a:buNone/>
            </a:pPr>
            <a:r>
              <a:rPr lang="en-US" sz="2000" dirty="0">
                <a:solidFill>
                  <a:srgbClr val="1B2430"/>
                </a:solidFill>
                <a:latin typeface="JetBrains Mono" pitchFamily="49" charset="0"/>
                <a:ea typeface="JetBrains Mono" pitchFamily="49" charset="-122"/>
                <a:cs typeface="JetBrains Mono" pitchFamily="49" charset="-120"/>
              </a:rPr>
              <a:t>0</a:t>
            </a:r>
            <a:endParaRPr lang="en-US" sz="2000" dirty="0"/>
          </a:p>
        </p:txBody>
      </p:sp>
      <p:sp>
        <p:nvSpPr>
          <p:cNvPr id="38" name="Text 36"/>
          <p:cNvSpPr/>
          <p:nvPr/>
        </p:nvSpPr>
        <p:spPr>
          <a:xfrm>
            <a:off x="812800" y="3154511"/>
            <a:ext cx="762000" cy="762000"/>
          </a:xfrm>
          <a:prstGeom prst="rect">
            <a:avLst/>
          </a:prstGeom>
          <a:solidFill>
            <a:srgbClr val="B8501F"/>
          </a:solidFill>
          <a:ln/>
        </p:spPr>
        <p:txBody>
          <a:bodyPr wrap="square" lIns="0" tIns="0" rIns="0" bIns="0" rtlCol="0" anchor="t">
            <a:normAutofit/>
          </a:bodyPr>
          <a:lstStyle/>
          <a:p>
            <a:pPr algn="ctr" indent="0" marL="0">
              <a:lnSpc>
                <a:spcPts val="6000"/>
              </a:lnSpc>
              <a:buNone/>
            </a:pPr>
            <a:r>
              <a:rPr lang="en-US" sz="2000" b="1" dirty="0">
                <a:solidFill>
                  <a:srgbClr val="FFFDF8"/>
                </a:solidFill>
                <a:latin typeface="JetBrains Mono" pitchFamily="49" charset="0"/>
                <a:ea typeface="JetBrains Mono" pitchFamily="49" charset="-122"/>
                <a:cs typeface="JetBrains Mono" pitchFamily="49" charset="-120"/>
              </a:rPr>
              <a:t>27</a:t>
            </a:r>
            <a:endParaRPr lang="en-US" sz="2000" dirty="0"/>
          </a:p>
        </p:txBody>
      </p:sp>
      <p:sp>
        <p:nvSpPr>
          <p:cNvPr id="39" name="Text 37"/>
          <p:cNvSpPr/>
          <p:nvPr/>
        </p:nvSpPr>
        <p:spPr>
          <a:xfrm>
            <a:off x="1625600" y="3154511"/>
            <a:ext cx="762000" cy="762000"/>
          </a:xfrm>
          <a:prstGeom prst="rect">
            <a:avLst/>
          </a:prstGeom>
          <a:solidFill>
            <a:srgbClr val="E3E1DA"/>
          </a:solidFill>
          <a:ln/>
        </p:spPr>
        <p:txBody>
          <a:bodyPr wrap="square" lIns="0" tIns="0" rIns="0" bIns="0" rtlCol="0" anchor="t">
            <a:normAutofit/>
          </a:bodyPr>
          <a:lstStyle/>
          <a:p>
            <a:pPr algn="ctr" indent="0" marL="0">
              <a:lnSpc>
                <a:spcPts val="6000"/>
              </a:lnSpc>
              <a:buNone/>
            </a:pPr>
            <a:r>
              <a:rPr lang="en-US" sz="2000" dirty="0">
                <a:solidFill>
                  <a:srgbClr val="1B2430"/>
                </a:solidFill>
                <a:latin typeface="JetBrains Mono" pitchFamily="49" charset="0"/>
                <a:ea typeface="JetBrains Mono" pitchFamily="49" charset="-122"/>
                <a:cs typeface="JetBrains Mono" pitchFamily="49" charset="-120"/>
              </a:rPr>
              <a:t>0</a:t>
            </a:r>
            <a:endParaRPr lang="en-US" sz="2000" dirty="0"/>
          </a:p>
        </p:txBody>
      </p:sp>
      <p:pic>
        <p:nvPicPr>
          <p:cNvPr id="40" name="Image 0" descr="arrow-right">    </p:cNvPr>
          <p:cNvPicPr>
            <a:picLocks noChangeAspect="1"/>
          </p:cNvPicPr>
          <p:nvPr/>
        </p:nvPicPr>
        <p:blipFill>
          <a:blip r:embed="rId1"/>
          <a:srcRect l="0" r="0" t="0" b="0"/>
          <a:stretch/>
        </p:blipFill>
        <p:spPr>
          <a:xfrm>
            <a:off x="2843213" y="2693541"/>
            <a:ext cx="609600" cy="304800"/>
          </a:xfrm>
          <a:prstGeom prst="rect">
            <a:avLst/>
          </a:prstGeom>
        </p:spPr>
      </p:pic>
      <p:sp>
        <p:nvSpPr>
          <p:cNvPr id="41" name="Text 38"/>
          <p:cNvSpPr/>
          <p:nvPr/>
        </p:nvSpPr>
        <p:spPr>
          <a:xfrm>
            <a:off x="2743200" y="3061841"/>
            <a:ext cx="9716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5FA6"/>
                </a:solidFill>
                <a:latin typeface="DM Sans" pitchFamily="34" charset="0"/>
                <a:ea typeface="DM Sans" pitchFamily="34" charset="-122"/>
                <a:cs typeface="DM Sans" pitchFamily="34" charset="-120"/>
              </a:rPr>
              <a:t>row by row</a:t>
            </a:r>
            <a:endParaRPr lang="en-US" sz="1200" dirty="0"/>
          </a:p>
        </p:txBody>
      </p:sp>
      <p:sp>
        <p:nvSpPr>
          <p:cNvPr id="42" name="Text 39"/>
          <p:cNvSpPr/>
          <p:nvPr/>
        </p:nvSpPr>
        <p:spPr>
          <a:xfrm>
            <a:off x="3908475" y="2326531"/>
            <a:ext cx="329641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DM Sans" pitchFamily="34" charset="0"/>
                <a:ea typeface="DM Sans" pitchFamily="34" charset="-122"/>
                <a:cs typeface="DM Sans" pitchFamily="34" charset="-120"/>
              </a:rPr>
              <a:t>One row of 4 numbers</a:t>
            </a:r>
            <a:endParaRPr lang="en-US" sz="1200" dirty="0"/>
          </a:p>
        </p:txBody>
      </p:sp>
      <p:sp>
        <p:nvSpPr>
          <p:cNvPr id="43" name="Text 40"/>
          <p:cNvSpPr/>
          <p:nvPr/>
        </p:nvSpPr>
        <p:spPr>
          <a:xfrm>
            <a:off x="3883075" y="2616051"/>
            <a:ext cx="812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1st</a:t>
            </a:r>
            <a:endParaRPr lang="en-US" sz="1200" dirty="0"/>
          </a:p>
        </p:txBody>
      </p:sp>
      <p:sp>
        <p:nvSpPr>
          <p:cNvPr id="44" name="Text 41"/>
          <p:cNvSpPr/>
          <p:nvPr/>
        </p:nvSpPr>
        <p:spPr>
          <a:xfrm>
            <a:off x="4695875" y="2616051"/>
            <a:ext cx="812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2nd</a:t>
            </a:r>
            <a:endParaRPr lang="en-US" sz="1200" dirty="0"/>
          </a:p>
        </p:txBody>
      </p:sp>
      <p:sp>
        <p:nvSpPr>
          <p:cNvPr id="45" name="Text 42"/>
          <p:cNvSpPr/>
          <p:nvPr/>
        </p:nvSpPr>
        <p:spPr>
          <a:xfrm>
            <a:off x="5508675" y="2616051"/>
            <a:ext cx="812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3rd</a:t>
            </a:r>
            <a:endParaRPr lang="en-US" sz="1200" dirty="0"/>
          </a:p>
        </p:txBody>
      </p:sp>
      <p:sp>
        <p:nvSpPr>
          <p:cNvPr id="46" name="Text 43"/>
          <p:cNvSpPr/>
          <p:nvPr/>
        </p:nvSpPr>
        <p:spPr>
          <a:xfrm>
            <a:off x="6321475" y="2616051"/>
            <a:ext cx="812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4th</a:t>
            </a:r>
            <a:endParaRPr lang="en-US" sz="1200" dirty="0"/>
          </a:p>
        </p:txBody>
      </p:sp>
      <p:sp>
        <p:nvSpPr>
          <p:cNvPr id="47" name="Text 44"/>
          <p:cNvSpPr/>
          <p:nvPr/>
        </p:nvSpPr>
        <p:spPr>
          <a:xfrm>
            <a:off x="3908475" y="2880171"/>
            <a:ext cx="762000" cy="762000"/>
          </a:xfrm>
          <a:prstGeom prst="rect">
            <a:avLst/>
          </a:prstGeom>
          <a:solidFill>
            <a:srgbClr val="B8501F"/>
          </a:solidFill>
          <a:ln/>
        </p:spPr>
        <p:txBody>
          <a:bodyPr wrap="square" lIns="0" tIns="0" rIns="0" bIns="0" rtlCol="0" anchor="t">
            <a:normAutofit/>
          </a:bodyPr>
          <a:lstStyle/>
          <a:p>
            <a:pPr algn="ctr" indent="0" marL="0">
              <a:lnSpc>
                <a:spcPts val="6000"/>
              </a:lnSpc>
              <a:buNone/>
            </a:pPr>
            <a:r>
              <a:rPr lang="en-US" sz="2000" b="1" dirty="0">
                <a:solidFill>
                  <a:srgbClr val="FFFDF8"/>
                </a:solidFill>
                <a:latin typeface="JetBrains Mono" pitchFamily="49" charset="0"/>
                <a:ea typeface="JetBrains Mono" pitchFamily="49" charset="-122"/>
                <a:cs typeface="JetBrains Mono" pitchFamily="49" charset="-120"/>
              </a:rPr>
              <a:t>27</a:t>
            </a:r>
            <a:endParaRPr lang="en-US" sz="2000" dirty="0"/>
          </a:p>
        </p:txBody>
      </p:sp>
      <p:sp>
        <p:nvSpPr>
          <p:cNvPr id="48" name="Text 45"/>
          <p:cNvSpPr/>
          <p:nvPr/>
        </p:nvSpPr>
        <p:spPr>
          <a:xfrm>
            <a:off x="4721275" y="2880171"/>
            <a:ext cx="762000" cy="762000"/>
          </a:xfrm>
          <a:prstGeom prst="rect">
            <a:avLst/>
          </a:prstGeom>
          <a:solidFill>
            <a:srgbClr val="E3E1DA"/>
          </a:solidFill>
          <a:ln/>
        </p:spPr>
        <p:txBody>
          <a:bodyPr wrap="square" lIns="0" tIns="0" rIns="0" bIns="0" rtlCol="0" anchor="t">
            <a:normAutofit/>
          </a:bodyPr>
          <a:lstStyle/>
          <a:p>
            <a:pPr algn="ctr" indent="0" marL="0">
              <a:lnSpc>
                <a:spcPts val="6000"/>
              </a:lnSpc>
              <a:buNone/>
            </a:pPr>
            <a:r>
              <a:rPr lang="en-US" sz="2000" dirty="0">
                <a:solidFill>
                  <a:srgbClr val="1B2430"/>
                </a:solidFill>
                <a:latin typeface="JetBrains Mono" pitchFamily="49" charset="0"/>
                <a:ea typeface="JetBrains Mono" pitchFamily="49" charset="-122"/>
                <a:cs typeface="JetBrains Mono" pitchFamily="49" charset="-120"/>
              </a:rPr>
              <a:t>0</a:t>
            </a:r>
            <a:endParaRPr lang="en-US" sz="2000" dirty="0"/>
          </a:p>
        </p:txBody>
      </p:sp>
      <p:sp>
        <p:nvSpPr>
          <p:cNvPr id="49" name="Text 46"/>
          <p:cNvSpPr/>
          <p:nvPr/>
        </p:nvSpPr>
        <p:spPr>
          <a:xfrm>
            <a:off x="5534075" y="2880171"/>
            <a:ext cx="762000" cy="762000"/>
          </a:xfrm>
          <a:prstGeom prst="rect">
            <a:avLst/>
          </a:prstGeom>
          <a:solidFill>
            <a:srgbClr val="B8501F"/>
          </a:solidFill>
          <a:ln/>
        </p:spPr>
        <p:txBody>
          <a:bodyPr wrap="square" lIns="0" tIns="0" rIns="0" bIns="0" rtlCol="0" anchor="t">
            <a:normAutofit/>
          </a:bodyPr>
          <a:lstStyle/>
          <a:p>
            <a:pPr algn="ctr" indent="0" marL="0">
              <a:lnSpc>
                <a:spcPts val="6000"/>
              </a:lnSpc>
              <a:buNone/>
            </a:pPr>
            <a:r>
              <a:rPr lang="en-US" sz="2000" b="1" dirty="0">
                <a:solidFill>
                  <a:srgbClr val="FFFDF8"/>
                </a:solidFill>
                <a:latin typeface="JetBrains Mono" pitchFamily="49" charset="0"/>
                <a:ea typeface="JetBrains Mono" pitchFamily="49" charset="-122"/>
                <a:cs typeface="JetBrains Mono" pitchFamily="49" charset="-120"/>
              </a:rPr>
              <a:t>27</a:t>
            </a:r>
            <a:endParaRPr lang="en-US" sz="2000" dirty="0"/>
          </a:p>
        </p:txBody>
      </p:sp>
      <p:sp>
        <p:nvSpPr>
          <p:cNvPr id="50" name="Text 47"/>
          <p:cNvSpPr/>
          <p:nvPr/>
        </p:nvSpPr>
        <p:spPr>
          <a:xfrm>
            <a:off x="6346875" y="2880171"/>
            <a:ext cx="762000" cy="762000"/>
          </a:xfrm>
          <a:prstGeom prst="rect">
            <a:avLst/>
          </a:prstGeom>
          <a:solidFill>
            <a:srgbClr val="E3E1DA"/>
          </a:solidFill>
          <a:ln/>
        </p:spPr>
        <p:txBody>
          <a:bodyPr wrap="square" lIns="0" tIns="0" rIns="0" bIns="0" rtlCol="0" anchor="t">
            <a:normAutofit/>
          </a:bodyPr>
          <a:lstStyle/>
          <a:p>
            <a:pPr algn="ctr" indent="0" marL="0">
              <a:lnSpc>
                <a:spcPts val="6000"/>
              </a:lnSpc>
              <a:buNone/>
            </a:pPr>
            <a:r>
              <a:rPr lang="en-US" sz="2000" dirty="0">
                <a:solidFill>
                  <a:srgbClr val="1B2430"/>
                </a:solidFill>
                <a:latin typeface="JetBrains Mono" pitchFamily="49" charset="0"/>
                <a:ea typeface="JetBrains Mono" pitchFamily="49" charset="-122"/>
                <a:cs typeface="JetBrains Mono" pitchFamily="49" charset="-120"/>
              </a:rPr>
              <a:t>0</a:t>
            </a:r>
            <a:endParaRPr lang="en-US" sz="2000" dirty="0"/>
          </a:p>
        </p:txBody>
      </p:sp>
      <p:sp>
        <p:nvSpPr>
          <p:cNvPr id="51" name="Shape 48"/>
          <p:cNvSpPr/>
          <p:nvPr/>
        </p:nvSpPr>
        <p:spPr>
          <a:xfrm>
            <a:off x="812800" y="4119711"/>
            <a:ext cx="3420517" cy="982960"/>
          </a:xfrm>
          <a:prstGeom prst="roundRect">
            <a:avLst>
              <a:gd name="adj" fmla="val 7752"/>
            </a:avLst>
          </a:prstGeom>
          <a:solidFill>
            <a:srgbClr val="FFFDF8"/>
          </a:solidFill>
          <a:ln/>
        </p:spPr>
      </p:sp>
      <p:sp>
        <p:nvSpPr>
          <p:cNvPr id="52" name="Shape 49"/>
          <p:cNvSpPr/>
          <p:nvPr/>
        </p:nvSpPr>
        <p:spPr>
          <a:xfrm>
            <a:off x="812800" y="4119711"/>
            <a:ext cx="3420517" cy="982960"/>
          </a:xfrm>
          <a:custGeom>
            <a:avLst/>
            <a:gdLst/>
            <a:ahLst/>
            <a:cxnLst/>
            <a:rect l="l" t="t" r="r" b="b"/>
            <a:pathLst>
              <a:path w="3420517" h="982960">
                <a:moveTo>
                  <a:pt x="76200" y="982960"/>
                </a:moveTo>
                <a:lnTo>
                  <a:pt x="76200" y="982960"/>
                </a:lnTo>
                <a:arcTo hR="76200" wR="76200" stAng="5400000" swAng="5400000"/>
                <a:lnTo>
                  <a:pt x="0" y="76200"/>
                </a:lnTo>
                <a:arcTo hR="76200" wR="76200" stAng="10800000" swAng="5400000"/>
                <a:lnTo>
                  <a:pt x="76200" y="0"/>
                </a:lnTo>
                <a:arcTo hR="76200" wR="25400" stAng="16200000" swAng="-5400000"/>
                <a:lnTo>
                  <a:pt x="50800" y="906760"/>
                </a:lnTo>
                <a:arcTo hR="76200" wR="25400" stAng="10800000" swAng="-5400000"/>
                <a:close/>
              </a:path>
            </a:pathLst>
          </a:custGeom>
          <a:solidFill>
            <a:srgbClr val="2B5FA6"/>
          </a:solidFill>
          <a:ln/>
        </p:spPr>
      </p:sp>
      <p:sp>
        <p:nvSpPr>
          <p:cNvPr id="53" name="Text 50"/>
          <p:cNvSpPr/>
          <p:nvPr/>
        </p:nvSpPr>
        <p:spPr>
          <a:xfrm>
            <a:off x="1016000" y="4246711"/>
            <a:ext cx="315686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0"/>
                </a:solidFill>
                <a:latin typeface="DM Sans" pitchFamily="34" charset="0"/>
                <a:ea typeface="DM Sans" pitchFamily="34" charset="-122"/>
                <a:cs typeface="DM Sans" pitchFamily="34" charset="-120"/>
              </a:rPr>
              <a:t>Why?</a:t>
            </a:r>
            <a:endParaRPr lang="en-US" sz="1500" dirty="0"/>
          </a:p>
        </p:txBody>
      </p:sp>
      <p:sp>
        <p:nvSpPr>
          <p:cNvPr id="54" name="Text 51"/>
          <p:cNvSpPr/>
          <p:nvPr/>
        </p:nvSpPr>
        <p:spPr>
          <a:xfrm>
            <a:off x="1016000" y="4513411"/>
            <a:ext cx="315686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The next layer (Dense) can only read a list, not a grid.</a:t>
            </a:r>
            <a:endParaRPr lang="en-US" sz="1300" dirty="0"/>
          </a:p>
        </p:txBody>
      </p:sp>
      <p:sp>
        <p:nvSpPr>
          <p:cNvPr id="55" name="Shape 52"/>
          <p:cNvSpPr/>
          <p:nvPr/>
        </p:nvSpPr>
        <p:spPr>
          <a:xfrm>
            <a:off x="4385717" y="4119711"/>
            <a:ext cx="3420566" cy="982960"/>
          </a:xfrm>
          <a:prstGeom prst="roundRect">
            <a:avLst>
              <a:gd name="adj" fmla="val 7752"/>
            </a:avLst>
          </a:prstGeom>
          <a:solidFill>
            <a:srgbClr val="FFFDF8"/>
          </a:solidFill>
          <a:ln/>
        </p:spPr>
      </p:sp>
      <p:sp>
        <p:nvSpPr>
          <p:cNvPr id="56" name="Shape 53"/>
          <p:cNvSpPr/>
          <p:nvPr/>
        </p:nvSpPr>
        <p:spPr>
          <a:xfrm>
            <a:off x="4385717" y="4119711"/>
            <a:ext cx="3420566" cy="982960"/>
          </a:xfrm>
          <a:custGeom>
            <a:avLst/>
            <a:gdLst/>
            <a:ahLst/>
            <a:cxnLst/>
            <a:rect l="l" t="t" r="r" b="b"/>
            <a:pathLst>
              <a:path w="3420566" h="982960">
                <a:moveTo>
                  <a:pt x="76200" y="982960"/>
                </a:moveTo>
                <a:lnTo>
                  <a:pt x="76200" y="982960"/>
                </a:lnTo>
                <a:arcTo hR="76200" wR="76200" stAng="5400000" swAng="5400000"/>
                <a:lnTo>
                  <a:pt x="0" y="76200"/>
                </a:lnTo>
                <a:arcTo hR="76200" wR="76200" stAng="10800000" swAng="5400000"/>
                <a:lnTo>
                  <a:pt x="76200" y="0"/>
                </a:lnTo>
                <a:arcTo hR="76200" wR="25400" stAng="16200000" swAng="-5400000"/>
                <a:lnTo>
                  <a:pt x="50800" y="906760"/>
                </a:lnTo>
                <a:arcTo hR="76200" wR="25400" stAng="10800000" swAng="-5400000"/>
                <a:close/>
              </a:path>
            </a:pathLst>
          </a:custGeom>
          <a:solidFill>
            <a:srgbClr val="8B93A0"/>
          </a:solidFill>
          <a:ln/>
        </p:spPr>
      </p:sp>
      <p:sp>
        <p:nvSpPr>
          <p:cNvPr id="57" name="Text 54"/>
          <p:cNvSpPr/>
          <p:nvPr/>
        </p:nvSpPr>
        <p:spPr>
          <a:xfrm>
            <a:off x="4588917" y="4246711"/>
            <a:ext cx="315691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0"/>
                </a:solidFill>
                <a:latin typeface="DM Sans" pitchFamily="34" charset="0"/>
                <a:ea typeface="DM Sans" pitchFamily="34" charset="-122"/>
                <a:cs typeface="DM Sans" pitchFamily="34" charset="-120"/>
              </a:rPr>
              <a:t>4 in, 4 out</a:t>
            </a:r>
            <a:endParaRPr lang="en-US" sz="1500" dirty="0"/>
          </a:p>
        </p:txBody>
      </p:sp>
      <p:sp>
        <p:nvSpPr>
          <p:cNvPr id="58" name="Text 55"/>
          <p:cNvSpPr/>
          <p:nvPr/>
        </p:nvSpPr>
        <p:spPr>
          <a:xfrm>
            <a:off x="4588917" y="4513411"/>
            <a:ext cx="315691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Nothing is lost and nothing is learned. Only the order changes.</a:t>
            </a:r>
            <a:endParaRPr lang="en-US" sz="1300" dirty="0"/>
          </a:p>
        </p:txBody>
      </p:sp>
      <p:sp>
        <p:nvSpPr>
          <p:cNvPr id="59" name="Shape 56"/>
          <p:cNvSpPr/>
          <p:nvPr/>
        </p:nvSpPr>
        <p:spPr>
          <a:xfrm>
            <a:off x="7958683" y="4119711"/>
            <a:ext cx="3420517" cy="982960"/>
          </a:xfrm>
          <a:prstGeom prst="roundRect">
            <a:avLst>
              <a:gd name="adj" fmla="val 7752"/>
            </a:avLst>
          </a:prstGeom>
          <a:solidFill>
            <a:srgbClr val="FFFDF8"/>
          </a:solidFill>
          <a:ln/>
        </p:spPr>
      </p:sp>
      <p:sp>
        <p:nvSpPr>
          <p:cNvPr id="60" name="Shape 57"/>
          <p:cNvSpPr/>
          <p:nvPr/>
        </p:nvSpPr>
        <p:spPr>
          <a:xfrm>
            <a:off x="7958683" y="4119711"/>
            <a:ext cx="3420517" cy="982960"/>
          </a:xfrm>
          <a:custGeom>
            <a:avLst/>
            <a:gdLst/>
            <a:ahLst/>
            <a:cxnLst/>
            <a:rect l="l" t="t" r="r" b="b"/>
            <a:pathLst>
              <a:path w="3420517" h="982960">
                <a:moveTo>
                  <a:pt x="76200" y="982960"/>
                </a:moveTo>
                <a:lnTo>
                  <a:pt x="76200" y="982960"/>
                </a:lnTo>
                <a:arcTo hR="76200" wR="76200" stAng="5400000" swAng="5400000"/>
                <a:lnTo>
                  <a:pt x="0" y="76200"/>
                </a:lnTo>
                <a:arcTo hR="76200" wR="76200" stAng="10800000" swAng="5400000"/>
                <a:lnTo>
                  <a:pt x="76200" y="0"/>
                </a:lnTo>
                <a:arcTo hR="76200" wR="25400" stAng="16200000" swAng="-5400000"/>
                <a:lnTo>
                  <a:pt x="50800" y="906760"/>
                </a:lnTo>
                <a:arcTo hR="76200" wR="25400" stAng="10800000" swAng="-5400000"/>
                <a:close/>
              </a:path>
            </a:pathLst>
          </a:custGeom>
          <a:solidFill>
            <a:srgbClr val="D9622B"/>
          </a:solidFill>
          <a:ln/>
        </p:spPr>
      </p:sp>
      <p:sp>
        <p:nvSpPr>
          <p:cNvPr id="61" name="Text 58"/>
          <p:cNvSpPr/>
          <p:nvPr/>
        </p:nvSpPr>
        <p:spPr>
          <a:xfrm>
            <a:off x="8161883" y="4246711"/>
            <a:ext cx="315686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0"/>
                </a:solidFill>
                <a:latin typeface="DM Sans" pitchFamily="34" charset="0"/>
                <a:ea typeface="DM Sans" pitchFamily="34" charset="-122"/>
                <a:cs typeface="DM Sans" pitchFamily="34" charset="-120"/>
              </a:rPr>
              <a:t>Real digits</a:t>
            </a:r>
            <a:endParaRPr lang="en-US" sz="1500" dirty="0"/>
          </a:p>
        </p:txBody>
      </p:sp>
      <p:sp>
        <p:nvSpPr>
          <p:cNvPr id="62" name="Text 59"/>
          <p:cNvSpPr/>
          <p:nvPr/>
        </p:nvSpPr>
        <p:spPr>
          <a:xfrm>
            <a:off x="8161883" y="4513411"/>
            <a:ext cx="315686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16 maps × 3 × 3 = 144 numbers. We type this number in the notebook.</a:t>
            </a:r>
            <a:endParaRPr lang="en-US" sz="1300" dirty="0"/>
          </a:p>
        </p:txBody>
      </p:sp>
      <p:sp>
        <p:nvSpPr>
          <p:cNvPr id="63" name="Text 6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DM Sans" pitchFamily="34" charset="0"/>
                <a:ea typeface="DM Sans" pitchFamily="34" charset="-122"/>
                <a:cs typeface="DM Sans" pitchFamily="34" charset="-120"/>
              </a:rPr>
              <a:t>CNN step by step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819150" y="412750"/>
            <a:ext cx="1108075" cy="515541"/>
          </a:xfrm>
          <a:prstGeom prst="roundRect">
            <a:avLst>
              <a:gd name="adj" fmla="val 11085"/>
            </a:avLst>
          </a:prstGeom>
          <a:solidFill>
            <a:srgbClr val="E8E3D6"/>
          </a:solidFill>
          <a:ln w="12700">
            <a:solidFill>
              <a:srgbClr val="E8E3D6"/>
            </a:solidFill>
            <a:prstDash val="solid"/>
          </a:ln>
        </p:spPr>
      </p:sp>
      <p:sp>
        <p:nvSpPr>
          <p:cNvPr id="3" name="Text 1"/>
          <p:cNvSpPr/>
          <p:nvPr/>
        </p:nvSpPr>
        <p:spPr>
          <a:xfrm>
            <a:off x="85090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2430"/>
                </a:solidFill>
                <a:latin typeface="DM Sans" pitchFamily="34" charset="0"/>
                <a:ea typeface="DM Sans" pitchFamily="34" charset="-122"/>
                <a:cs typeface="DM Sans" pitchFamily="34" charset="-120"/>
              </a:rPr>
              <a:t>Image</a:t>
            </a:r>
            <a:endParaRPr lang="en-US" sz="1200" dirty="0"/>
          </a:p>
        </p:txBody>
      </p:sp>
      <p:sp>
        <p:nvSpPr>
          <p:cNvPr id="4" name="Text 2"/>
          <p:cNvSpPr/>
          <p:nvPr/>
        </p:nvSpPr>
        <p:spPr>
          <a:xfrm>
            <a:off x="85090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JetBrains Mono" pitchFamily="49" charset="0"/>
                <a:ea typeface="JetBrains Mono" pitchFamily="49" charset="-122"/>
                <a:cs typeface="JetBrains Mono" pitchFamily="49" charset="-120"/>
              </a:rPr>
              <a:t>6×6</a:t>
            </a:r>
            <a:endParaRPr lang="en-US" sz="1200" dirty="0"/>
          </a:p>
        </p:txBody>
      </p:sp>
      <p:sp>
        <p:nvSpPr>
          <p:cNvPr id="5" name="Text 3"/>
          <p:cNvSpPr/>
          <p:nvPr/>
        </p:nvSpPr>
        <p:spPr>
          <a:xfrm>
            <a:off x="197167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6" name="Shape 4"/>
          <p:cNvSpPr/>
          <p:nvPr/>
        </p:nvSpPr>
        <p:spPr>
          <a:xfrm>
            <a:off x="2168525" y="412750"/>
            <a:ext cx="1108075" cy="515541"/>
          </a:xfrm>
          <a:prstGeom prst="roundRect">
            <a:avLst>
              <a:gd name="adj" fmla="val 11085"/>
            </a:avLst>
          </a:prstGeom>
          <a:solidFill>
            <a:srgbClr val="E8E3D6"/>
          </a:solidFill>
          <a:ln w="12700">
            <a:solidFill>
              <a:srgbClr val="E8E3D6"/>
            </a:solidFill>
            <a:prstDash val="solid"/>
          </a:ln>
        </p:spPr>
      </p:sp>
      <p:sp>
        <p:nvSpPr>
          <p:cNvPr id="7" name="Text 5"/>
          <p:cNvSpPr/>
          <p:nvPr/>
        </p:nvSpPr>
        <p:spPr>
          <a:xfrm>
            <a:off x="220027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2430"/>
                </a:solidFill>
                <a:latin typeface="DM Sans" pitchFamily="34" charset="0"/>
                <a:ea typeface="DM Sans" pitchFamily="34" charset="-122"/>
                <a:cs typeface="DM Sans" pitchFamily="34" charset="-120"/>
              </a:rPr>
              <a:t>Conv</a:t>
            </a:r>
            <a:endParaRPr lang="en-US" sz="1200" dirty="0"/>
          </a:p>
        </p:txBody>
      </p:sp>
      <p:sp>
        <p:nvSpPr>
          <p:cNvPr id="8" name="Text 6"/>
          <p:cNvSpPr/>
          <p:nvPr/>
        </p:nvSpPr>
        <p:spPr>
          <a:xfrm>
            <a:off x="220027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JetBrains Mono" pitchFamily="49" charset="0"/>
                <a:ea typeface="JetBrains Mono" pitchFamily="49" charset="-122"/>
                <a:cs typeface="JetBrains Mono" pitchFamily="49" charset="-120"/>
              </a:rPr>
              <a:t>4×4</a:t>
            </a:r>
            <a:endParaRPr lang="en-US" sz="1200" dirty="0"/>
          </a:p>
        </p:txBody>
      </p:sp>
      <p:sp>
        <p:nvSpPr>
          <p:cNvPr id="9" name="Text 7"/>
          <p:cNvSpPr/>
          <p:nvPr/>
        </p:nvSpPr>
        <p:spPr>
          <a:xfrm>
            <a:off x="3321050"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10" name="Shape 8"/>
          <p:cNvSpPr/>
          <p:nvPr/>
        </p:nvSpPr>
        <p:spPr>
          <a:xfrm>
            <a:off x="3517900" y="412750"/>
            <a:ext cx="1108075" cy="515541"/>
          </a:xfrm>
          <a:prstGeom prst="roundRect">
            <a:avLst>
              <a:gd name="adj" fmla="val 11085"/>
            </a:avLst>
          </a:prstGeom>
          <a:solidFill>
            <a:srgbClr val="E8E3D6"/>
          </a:solidFill>
          <a:ln w="12700">
            <a:solidFill>
              <a:srgbClr val="E8E3D6"/>
            </a:solidFill>
            <a:prstDash val="solid"/>
          </a:ln>
        </p:spPr>
      </p:sp>
      <p:sp>
        <p:nvSpPr>
          <p:cNvPr id="11" name="Text 9"/>
          <p:cNvSpPr/>
          <p:nvPr/>
        </p:nvSpPr>
        <p:spPr>
          <a:xfrm>
            <a:off x="354965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2430"/>
                </a:solidFill>
                <a:latin typeface="DM Sans" pitchFamily="34" charset="0"/>
                <a:ea typeface="DM Sans" pitchFamily="34" charset="-122"/>
                <a:cs typeface="DM Sans" pitchFamily="34" charset="-120"/>
              </a:rPr>
              <a:t>ReLU</a:t>
            </a:r>
            <a:endParaRPr lang="en-US" sz="1200" dirty="0"/>
          </a:p>
        </p:txBody>
      </p:sp>
      <p:sp>
        <p:nvSpPr>
          <p:cNvPr id="12" name="Text 10"/>
          <p:cNvSpPr/>
          <p:nvPr/>
        </p:nvSpPr>
        <p:spPr>
          <a:xfrm>
            <a:off x="354965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JetBrains Mono" pitchFamily="49" charset="0"/>
                <a:ea typeface="JetBrains Mono" pitchFamily="49" charset="-122"/>
                <a:cs typeface="JetBrains Mono" pitchFamily="49" charset="-120"/>
              </a:rPr>
              <a:t>4×4</a:t>
            </a:r>
            <a:endParaRPr lang="en-US" sz="1200" dirty="0"/>
          </a:p>
        </p:txBody>
      </p:sp>
      <p:sp>
        <p:nvSpPr>
          <p:cNvPr id="13" name="Text 11"/>
          <p:cNvSpPr/>
          <p:nvPr/>
        </p:nvSpPr>
        <p:spPr>
          <a:xfrm>
            <a:off x="467042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14" name="Shape 12"/>
          <p:cNvSpPr/>
          <p:nvPr/>
        </p:nvSpPr>
        <p:spPr>
          <a:xfrm>
            <a:off x="4867275" y="412750"/>
            <a:ext cx="1108075" cy="515541"/>
          </a:xfrm>
          <a:prstGeom prst="roundRect">
            <a:avLst>
              <a:gd name="adj" fmla="val 11085"/>
            </a:avLst>
          </a:prstGeom>
          <a:solidFill>
            <a:srgbClr val="E8E3D6"/>
          </a:solidFill>
          <a:ln w="12700">
            <a:solidFill>
              <a:srgbClr val="E8E3D6"/>
            </a:solidFill>
            <a:prstDash val="solid"/>
          </a:ln>
        </p:spPr>
      </p:sp>
      <p:sp>
        <p:nvSpPr>
          <p:cNvPr id="15" name="Text 13"/>
          <p:cNvSpPr/>
          <p:nvPr/>
        </p:nvSpPr>
        <p:spPr>
          <a:xfrm>
            <a:off x="489902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2430"/>
                </a:solidFill>
                <a:latin typeface="DM Sans" pitchFamily="34" charset="0"/>
                <a:ea typeface="DM Sans" pitchFamily="34" charset="-122"/>
                <a:cs typeface="DM Sans" pitchFamily="34" charset="-120"/>
              </a:rPr>
              <a:t>Pool</a:t>
            </a:r>
            <a:endParaRPr lang="en-US" sz="1200" dirty="0"/>
          </a:p>
        </p:txBody>
      </p:sp>
      <p:sp>
        <p:nvSpPr>
          <p:cNvPr id="16" name="Text 14"/>
          <p:cNvSpPr/>
          <p:nvPr/>
        </p:nvSpPr>
        <p:spPr>
          <a:xfrm>
            <a:off x="489902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JetBrains Mono" pitchFamily="49" charset="0"/>
                <a:ea typeface="JetBrains Mono" pitchFamily="49" charset="-122"/>
                <a:cs typeface="JetBrains Mono" pitchFamily="49" charset="-120"/>
              </a:rPr>
              <a:t>2×2</a:t>
            </a:r>
            <a:endParaRPr lang="en-US" sz="1200" dirty="0"/>
          </a:p>
        </p:txBody>
      </p:sp>
      <p:sp>
        <p:nvSpPr>
          <p:cNvPr id="17" name="Text 15"/>
          <p:cNvSpPr/>
          <p:nvPr/>
        </p:nvSpPr>
        <p:spPr>
          <a:xfrm>
            <a:off x="6019800"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18" name="Shape 16"/>
          <p:cNvSpPr/>
          <p:nvPr/>
        </p:nvSpPr>
        <p:spPr>
          <a:xfrm>
            <a:off x="6216650" y="412750"/>
            <a:ext cx="1108075" cy="515541"/>
          </a:xfrm>
          <a:prstGeom prst="roundRect">
            <a:avLst>
              <a:gd name="adj" fmla="val 11085"/>
            </a:avLst>
          </a:prstGeom>
          <a:solidFill>
            <a:srgbClr val="E8E3D6"/>
          </a:solidFill>
          <a:ln w="12700">
            <a:solidFill>
              <a:srgbClr val="E8E3D6"/>
            </a:solidFill>
            <a:prstDash val="solid"/>
          </a:ln>
        </p:spPr>
      </p:sp>
      <p:sp>
        <p:nvSpPr>
          <p:cNvPr id="19" name="Text 17"/>
          <p:cNvSpPr/>
          <p:nvPr/>
        </p:nvSpPr>
        <p:spPr>
          <a:xfrm>
            <a:off x="624840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2430"/>
                </a:solidFill>
                <a:latin typeface="DM Sans" pitchFamily="34" charset="0"/>
                <a:ea typeface="DM Sans" pitchFamily="34" charset="-122"/>
                <a:cs typeface="DM Sans" pitchFamily="34" charset="-120"/>
              </a:rPr>
              <a:t>Flatten</a:t>
            </a:r>
            <a:endParaRPr lang="en-US" sz="1200" dirty="0"/>
          </a:p>
        </p:txBody>
      </p:sp>
      <p:sp>
        <p:nvSpPr>
          <p:cNvPr id="20" name="Text 18"/>
          <p:cNvSpPr/>
          <p:nvPr/>
        </p:nvSpPr>
        <p:spPr>
          <a:xfrm>
            <a:off x="624840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JetBrains Mono" pitchFamily="49" charset="0"/>
                <a:ea typeface="JetBrains Mono" pitchFamily="49" charset="-122"/>
                <a:cs typeface="JetBrains Mono" pitchFamily="49" charset="-120"/>
              </a:rPr>
              <a:t>4 nums</a:t>
            </a:r>
            <a:endParaRPr lang="en-US" sz="1200" dirty="0"/>
          </a:p>
        </p:txBody>
      </p:sp>
      <p:sp>
        <p:nvSpPr>
          <p:cNvPr id="21" name="Text 19"/>
          <p:cNvSpPr/>
          <p:nvPr/>
        </p:nvSpPr>
        <p:spPr>
          <a:xfrm>
            <a:off x="736917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22" name="Shape 20"/>
          <p:cNvSpPr/>
          <p:nvPr/>
        </p:nvSpPr>
        <p:spPr>
          <a:xfrm>
            <a:off x="7566025" y="412750"/>
            <a:ext cx="1108075" cy="515541"/>
          </a:xfrm>
          <a:prstGeom prst="roundRect">
            <a:avLst>
              <a:gd name="adj" fmla="val 11085"/>
            </a:avLst>
          </a:prstGeom>
          <a:solidFill>
            <a:srgbClr val="B8501F"/>
          </a:solidFill>
          <a:ln w="12700">
            <a:solidFill>
              <a:srgbClr val="B8501F"/>
            </a:solidFill>
            <a:prstDash val="solid"/>
          </a:ln>
        </p:spPr>
      </p:sp>
      <p:sp>
        <p:nvSpPr>
          <p:cNvPr id="23" name="Text 21"/>
          <p:cNvSpPr/>
          <p:nvPr/>
        </p:nvSpPr>
        <p:spPr>
          <a:xfrm>
            <a:off x="759777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FFDF8"/>
                </a:solidFill>
                <a:latin typeface="DM Sans" pitchFamily="34" charset="0"/>
                <a:ea typeface="DM Sans" pitchFamily="34" charset="-122"/>
                <a:cs typeface="DM Sans" pitchFamily="34" charset="-120"/>
              </a:rPr>
              <a:t>Dense</a:t>
            </a:r>
            <a:endParaRPr lang="en-US" sz="1200" dirty="0"/>
          </a:p>
        </p:txBody>
      </p:sp>
      <p:sp>
        <p:nvSpPr>
          <p:cNvPr id="24" name="Text 22"/>
          <p:cNvSpPr/>
          <p:nvPr/>
        </p:nvSpPr>
        <p:spPr>
          <a:xfrm>
            <a:off x="759777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FFDF8"/>
                </a:solidFill>
                <a:latin typeface="JetBrains Mono" pitchFamily="49" charset="0"/>
                <a:ea typeface="JetBrains Mono" pitchFamily="49" charset="-122"/>
                <a:cs typeface="JetBrains Mono" pitchFamily="49" charset="-120"/>
              </a:rPr>
              <a:t>3 scores</a:t>
            </a:r>
            <a:endParaRPr lang="en-US" sz="1200" dirty="0"/>
          </a:p>
        </p:txBody>
      </p:sp>
      <p:sp>
        <p:nvSpPr>
          <p:cNvPr id="25" name="Text 23"/>
          <p:cNvSpPr/>
          <p:nvPr/>
        </p:nvSpPr>
        <p:spPr>
          <a:xfrm>
            <a:off x="8718550"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26" name="Shape 24"/>
          <p:cNvSpPr/>
          <p:nvPr/>
        </p:nvSpPr>
        <p:spPr>
          <a:xfrm>
            <a:off x="8915400" y="412750"/>
            <a:ext cx="1108075" cy="515541"/>
          </a:xfrm>
          <a:prstGeom prst="roundRect">
            <a:avLst>
              <a:gd name="adj" fmla="val 11085"/>
            </a:avLst>
          </a:prstGeom>
          <a:noFill/>
          <a:ln w="12700">
            <a:solidFill>
              <a:srgbClr val="D8D4C8"/>
            </a:solidFill>
            <a:prstDash val="solid"/>
          </a:ln>
        </p:spPr>
      </p:sp>
      <p:sp>
        <p:nvSpPr>
          <p:cNvPr id="27" name="Text 25"/>
          <p:cNvSpPr/>
          <p:nvPr/>
        </p:nvSpPr>
        <p:spPr>
          <a:xfrm>
            <a:off x="894715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Softmax</a:t>
            </a:r>
            <a:endParaRPr lang="en-US" sz="1200" dirty="0"/>
          </a:p>
        </p:txBody>
      </p:sp>
      <p:sp>
        <p:nvSpPr>
          <p:cNvPr id="28" name="Text 26"/>
          <p:cNvSpPr/>
          <p:nvPr/>
        </p:nvSpPr>
        <p:spPr>
          <a:xfrm>
            <a:off x="894715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3 chances</a:t>
            </a:r>
            <a:endParaRPr lang="en-US" sz="1200" dirty="0"/>
          </a:p>
        </p:txBody>
      </p:sp>
      <p:sp>
        <p:nvSpPr>
          <p:cNvPr id="29" name="Text 27"/>
          <p:cNvSpPr/>
          <p:nvPr/>
        </p:nvSpPr>
        <p:spPr>
          <a:xfrm>
            <a:off x="1006792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30" name="Shape 28"/>
          <p:cNvSpPr/>
          <p:nvPr/>
        </p:nvSpPr>
        <p:spPr>
          <a:xfrm>
            <a:off x="10264775" y="412750"/>
            <a:ext cx="1108075" cy="515541"/>
          </a:xfrm>
          <a:prstGeom prst="roundRect">
            <a:avLst>
              <a:gd name="adj" fmla="val 11085"/>
            </a:avLst>
          </a:prstGeom>
          <a:noFill/>
          <a:ln w="12700">
            <a:solidFill>
              <a:srgbClr val="D8D4C8"/>
            </a:solidFill>
            <a:prstDash val="solid"/>
          </a:ln>
        </p:spPr>
      </p:sp>
      <p:sp>
        <p:nvSpPr>
          <p:cNvPr id="31" name="Text 29"/>
          <p:cNvSpPr/>
          <p:nvPr/>
        </p:nvSpPr>
        <p:spPr>
          <a:xfrm>
            <a:off x="1029652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B7280"/>
                </a:solidFill>
                <a:latin typeface="DM Sans" pitchFamily="34" charset="0"/>
                <a:ea typeface="DM Sans" pitchFamily="34" charset="-122"/>
                <a:cs typeface="DM Sans" pitchFamily="34" charset="-120"/>
              </a:rPr>
              <a:t>Answer</a:t>
            </a:r>
            <a:endParaRPr lang="en-US" sz="1200" dirty="0"/>
          </a:p>
        </p:txBody>
      </p:sp>
      <p:sp>
        <p:nvSpPr>
          <p:cNvPr id="32" name="Text 30"/>
          <p:cNvSpPr/>
          <p:nvPr/>
        </p:nvSpPr>
        <p:spPr>
          <a:xfrm>
            <a:off x="1029652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“1”</a:t>
            </a:r>
            <a:endParaRPr lang="en-US" sz="1200" dirty="0"/>
          </a:p>
        </p:txBody>
      </p:sp>
      <p:sp>
        <p:nvSpPr>
          <p:cNvPr id="33" name="Text 31"/>
          <p:cNvSpPr/>
          <p:nvPr/>
        </p:nvSpPr>
        <p:spPr>
          <a:xfrm>
            <a:off x="812800" y="113784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5FA6"/>
                </a:solidFill>
                <a:latin typeface="DM Sans" pitchFamily="34" charset="0"/>
                <a:ea typeface="DM Sans" pitchFamily="34" charset="-122"/>
                <a:cs typeface="DM Sans" pitchFamily="34" charset="-120"/>
              </a:rPr>
              <a:t>STEP 6 · DENSE</a:t>
            </a:r>
            <a:endParaRPr lang="en-US" sz="1200" dirty="0"/>
          </a:p>
        </p:txBody>
      </p:sp>
      <p:sp>
        <p:nvSpPr>
          <p:cNvPr id="34" name="Text 32"/>
          <p:cNvSpPr/>
          <p:nvPr>
            <p:ph type="title"/>
          </p:nvPr>
        </p:nvSpPr>
        <p:spPr>
          <a:xfrm>
            <a:off x="812800" y="1401961"/>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430"/>
                </a:solidFill>
                <a:latin typeface="DM Sans" pitchFamily="34" charset="0"/>
                <a:ea typeface="DM Sans" pitchFamily="34" charset="-122"/>
                <a:cs typeface="DM Sans" pitchFamily="34" charset="-120"/>
              </a:rPr>
              <a:t>Dense: each neuron looks at all 4 numbers</a:t>
            </a:r>
            <a:endParaRPr lang="en-US" sz="3200" dirty="0"/>
          </a:p>
        </p:txBody>
      </p:sp>
      <p:sp>
        <p:nvSpPr>
          <p:cNvPr id="35" name="Text 33"/>
          <p:cNvSpPr/>
          <p:nvPr/>
        </p:nvSpPr>
        <p:spPr>
          <a:xfrm>
            <a:off x="812800" y="2052191"/>
            <a:ext cx="176932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DM Sans" pitchFamily="34" charset="0"/>
                <a:ea typeface="DM Sans" pitchFamily="34" charset="-122"/>
                <a:cs typeface="DM Sans" pitchFamily="34" charset="-120"/>
              </a:rPr>
              <a:t>Input (from Flatten)</a:t>
            </a:r>
            <a:endParaRPr lang="en-US" sz="1200" dirty="0"/>
          </a:p>
        </p:txBody>
      </p:sp>
      <p:sp>
        <p:nvSpPr>
          <p:cNvPr id="36" name="Text 34"/>
          <p:cNvSpPr/>
          <p:nvPr/>
        </p:nvSpPr>
        <p:spPr>
          <a:xfrm>
            <a:off x="812800" y="2341711"/>
            <a:ext cx="762000" cy="406400"/>
          </a:xfrm>
          <a:prstGeom prst="rect">
            <a:avLst/>
          </a:prstGeom>
          <a:solidFill>
            <a:srgbClr val="B8501F"/>
          </a:solidFill>
          <a:ln/>
        </p:spPr>
        <p:txBody>
          <a:bodyPr wrap="square" lIns="0" tIns="0" rIns="0" bIns="0" rtlCol="0" anchor="t">
            <a:normAutofit/>
          </a:bodyPr>
          <a:lstStyle/>
          <a:p>
            <a:pPr algn="ctr" indent="0" marL="0">
              <a:lnSpc>
                <a:spcPts val="3200"/>
              </a:lnSpc>
              <a:buNone/>
            </a:pPr>
            <a:r>
              <a:rPr lang="en-US" sz="1600" b="1" dirty="0">
                <a:solidFill>
                  <a:srgbClr val="FFFDF8"/>
                </a:solidFill>
                <a:latin typeface="JetBrains Mono" pitchFamily="49" charset="0"/>
                <a:ea typeface="JetBrains Mono" pitchFamily="49" charset="-122"/>
                <a:cs typeface="JetBrains Mono" pitchFamily="49" charset="-120"/>
              </a:rPr>
              <a:t>27</a:t>
            </a:r>
            <a:endParaRPr lang="en-US" sz="1600" dirty="0"/>
          </a:p>
        </p:txBody>
      </p:sp>
      <p:sp>
        <p:nvSpPr>
          <p:cNvPr id="37" name="Text 35"/>
          <p:cNvSpPr/>
          <p:nvPr/>
        </p:nvSpPr>
        <p:spPr>
          <a:xfrm>
            <a:off x="812800" y="2786211"/>
            <a:ext cx="762000" cy="406400"/>
          </a:xfrm>
          <a:prstGeom prst="rect">
            <a:avLst/>
          </a:prstGeom>
          <a:solidFill>
            <a:srgbClr val="E3E1DA"/>
          </a:solidFill>
          <a:ln/>
        </p:spPr>
        <p:txBody>
          <a:bodyPr wrap="square" lIns="0" tIns="0" rIns="0" bIns="0" rtlCol="0" anchor="t">
            <a:normAutofit/>
          </a:bodyPr>
          <a:lstStyle/>
          <a:p>
            <a:pPr algn="ctr" indent="0" marL="0">
              <a:lnSpc>
                <a:spcPts val="3200"/>
              </a:lnSpc>
              <a:buNone/>
            </a:pPr>
            <a:r>
              <a:rPr lang="en-US" sz="1600" dirty="0">
                <a:solidFill>
                  <a:srgbClr val="1B2430"/>
                </a:solidFill>
                <a:latin typeface="JetBrains Mono" pitchFamily="49" charset="0"/>
                <a:ea typeface="JetBrains Mono" pitchFamily="49" charset="-122"/>
                <a:cs typeface="JetBrains Mono" pitchFamily="49" charset="-120"/>
              </a:rPr>
              <a:t>0</a:t>
            </a:r>
            <a:endParaRPr lang="en-US" sz="1600" dirty="0"/>
          </a:p>
        </p:txBody>
      </p:sp>
      <p:sp>
        <p:nvSpPr>
          <p:cNvPr id="38" name="Text 36"/>
          <p:cNvSpPr/>
          <p:nvPr/>
        </p:nvSpPr>
        <p:spPr>
          <a:xfrm>
            <a:off x="812800" y="3230711"/>
            <a:ext cx="762000" cy="406400"/>
          </a:xfrm>
          <a:prstGeom prst="rect">
            <a:avLst/>
          </a:prstGeom>
          <a:solidFill>
            <a:srgbClr val="B8501F"/>
          </a:solidFill>
          <a:ln/>
        </p:spPr>
        <p:txBody>
          <a:bodyPr wrap="square" lIns="0" tIns="0" rIns="0" bIns="0" rtlCol="0" anchor="t">
            <a:normAutofit/>
          </a:bodyPr>
          <a:lstStyle/>
          <a:p>
            <a:pPr algn="ctr" indent="0" marL="0">
              <a:lnSpc>
                <a:spcPts val="3200"/>
              </a:lnSpc>
              <a:buNone/>
            </a:pPr>
            <a:r>
              <a:rPr lang="en-US" sz="1600" b="1" dirty="0">
                <a:solidFill>
                  <a:srgbClr val="FFFDF8"/>
                </a:solidFill>
                <a:latin typeface="JetBrains Mono" pitchFamily="49" charset="0"/>
                <a:ea typeface="JetBrains Mono" pitchFamily="49" charset="-122"/>
                <a:cs typeface="JetBrains Mono" pitchFamily="49" charset="-120"/>
              </a:rPr>
              <a:t>27</a:t>
            </a:r>
            <a:endParaRPr lang="en-US" sz="1600" dirty="0"/>
          </a:p>
        </p:txBody>
      </p:sp>
      <p:sp>
        <p:nvSpPr>
          <p:cNvPr id="39" name="Text 37"/>
          <p:cNvSpPr/>
          <p:nvPr/>
        </p:nvSpPr>
        <p:spPr>
          <a:xfrm>
            <a:off x="812800" y="3675211"/>
            <a:ext cx="762000" cy="406400"/>
          </a:xfrm>
          <a:prstGeom prst="rect">
            <a:avLst/>
          </a:prstGeom>
          <a:solidFill>
            <a:srgbClr val="E3E1DA"/>
          </a:solidFill>
          <a:ln/>
        </p:spPr>
        <p:txBody>
          <a:bodyPr wrap="square" lIns="0" tIns="0" rIns="0" bIns="0" rtlCol="0" anchor="t">
            <a:normAutofit/>
          </a:bodyPr>
          <a:lstStyle/>
          <a:p>
            <a:pPr algn="ctr" indent="0" marL="0">
              <a:lnSpc>
                <a:spcPts val="3200"/>
              </a:lnSpc>
              <a:buNone/>
            </a:pPr>
            <a:r>
              <a:rPr lang="en-US" sz="1600" dirty="0">
                <a:solidFill>
                  <a:srgbClr val="1B2430"/>
                </a:solidFill>
                <a:latin typeface="JetBrains Mono" pitchFamily="49" charset="0"/>
                <a:ea typeface="JetBrains Mono" pitchFamily="49" charset="-122"/>
                <a:cs typeface="JetBrains Mono" pitchFamily="49" charset="-120"/>
              </a:rPr>
              <a:t>0</a:t>
            </a:r>
            <a:endParaRPr lang="en-US" sz="1600" dirty="0"/>
          </a:p>
        </p:txBody>
      </p:sp>
      <p:sp>
        <p:nvSpPr>
          <p:cNvPr id="40" name="Text 38"/>
          <p:cNvSpPr/>
          <p:nvPr/>
        </p:nvSpPr>
        <p:spPr>
          <a:xfrm>
            <a:off x="2642840" y="2052191"/>
            <a:ext cx="8736360" cy="375890"/>
          </a:xfrm>
          <a:prstGeom prst="roundRect">
            <a:avLst>
              <a:gd name="adj" fmla="val 20272"/>
            </a:avLst>
          </a:prstGeom>
          <a:solidFill>
            <a:srgbClr val="D6E3F5"/>
          </a:solidFill>
          <a:ln/>
        </p:spPr>
        <p:txBody>
          <a:bodyPr wrap="square" lIns="104682" tIns="41182" rIns="0" bIns="15782" rtlCol="0" anchor="t">
            <a:normAutofit/>
          </a:bodyPr>
          <a:lstStyle/>
          <a:p>
            <a:pPr algn="l"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score = (each input × its weight), all added + bias</a:t>
            </a:r>
            <a:endParaRPr lang="en-US" sz="1400" dirty="0"/>
          </a:p>
        </p:txBody>
      </p:sp>
      <p:sp>
        <p:nvSpPr>
          <p:cNvPr id="41" name="Shape 39"/>
          <p:cNvSpPr/>
          <p:nvPr/>
        </p:nvSpPr>
        <p:spPr>
          <a:xfrm>
            <a:off x="2649190" y="2536031"/>
            <a:ext cx="8723660" cy="685750"/>
          </a:xfrm>
          <a:prstGeom prst="roundRect">
            <a:avLst>
              <a:gd name="adj" fmla="val 10186"/>
            </a:avLst>
          </a:prstGeom>
          <a:solidFill>
            <a:srgbClr val="FFFDF8"/>
          </a:solidFill>
          <a:ln w="12700">
            <a:solidFill>
              <a:srgbClr val="D8D4C8"/>
            </a:solidFill>
            <a:prstDash val="solid"/>
          </a:ln>
        </p:spPr>
      </p:sp>
      <p:sp>
        <p:nvSpPr>
          <p:cNvPr id="42" name="Text 40"/>
          <p:cNvSpPr/>
          <p:nvPr/>
        </p:nvSpPr>
        <p:spPr>
          <a:xfrm>
            <a:off x="2807940" y="2643981"/>
            <a:ext cx="793623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430"/>
                </a:solidFill>
                <a:latin typeface="DM Sans" pitchFamily="34" charset="0"/>
                <a:ea typeface="DM Sans" pitchFamily="34" charset="-122"/>
                <a:cs typeface="DM Sans" pitchFamily="34" charset="-120"/>
              </a:rPr>
              <a:t>Neuron “1” · weights 0.05, 0, 0.05, 0 · bias −0.7</a:t>
            </a:r>
            <a:endParaRPr lang="en-US" sz="1400" dirty="0"/>
          </a:p>
        </p:txBody>
      </p:sp>
      <p:sp>
        <p:nvSpPr>
          <p:cNvPr id="43" name="Text 41"/>
          <p:cNvSpPr/>
          <p:nvPr/>
        </p:nvSpPr>
        <p:spPr>
          <a:xfrm>
            <a:off x="2807940" y="2882702"/>
            <a:ext cx="793623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JetBrains Mono" pitchFamily="49" charset="0"/>
                <a:ea typeface="JetBrains Mono" pitchFamily="49" charset="-122"/>
                <a:cs typeface="JetBrains Mono" pitchFamily="49" charset="-120"/>
              </a:rPr>
              <a:t>27×0.05 + 0×0 + 27×0.05 + 0×0 − 0.7</a:t>
            </a:r>
            <a:endParaRPr lang="en-US" sz="1300" dirty="0"/>
          </a:p>
        </p:txBody>
      </p:sp>
      <p:sp>
        <p:nvSpPr>
          <p:cNvPr id="44" name="Text 42"/>
          <p:cNvSpPr/>
          <p:nvPr/>
        </p:nvSpPr>
        <p:spPr>
          <a:xfrm>
            <a:off x="10665420" y="2665561"/>
            <a:ext cx="658416"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B8501F"/>
                </a:solidFill>
                <a:latin typeface="JetBrains Mono" pitchFamily="49" charset="0"/>
                <a:ea typeface="JetBrains Mono" pitchFamily="49" charset="-122"/>
                <a:cs typeface="JetBrains Mono" pitchFamily="49" charset="-120"/>
              </a:rPr>
              <a:t>2.0</a:t>
            </a:r>
            <a:endParaRPr lang="en-US" sz="2400" dirty="0"/>
          </a:p>
        </p:txBody>
      </p:sp>
      <p:sp>
        <p:nvSpPr>
          <p:cNvPr id="45" name="Shape 43"/>
          <p:cNvSpPr/>
          <p:nvPr/>
        </p:nvSpPr>
        <p:spPr>
          <a:xfrm>
            <a:off x="2649190" y="3336082"/>
            <a:ext cx="8723660" cy="685750"/>
          </a:xfrm>
          <a:prstGeom prst="roundRect">
            <a:avLst>
              <a:gd name="adj" fmla="val 10186"/>
            </a:avLst>
          </a:prstGeom>
          <a:solidFill>
            <a:srgbClr val="FFFDF8"/>
          </a:solidFill>
          <a:ln w="12700">
            <a:solidFill>
              <a:srgbClr val="D8D4C8"/>
            </a:solidFill>
            <a:prstDash val="solid"/>
          </a:ln>
        </p:spPr>
      </p:sp>
      <p:sp>
        <p:nvSpPr>
          <p:cNvPr id="46" name="Text 44"/>
          <p:cNvSpPr/>
          <p:nvPr/>
        </p:nvSpPr>
        <p:spPr>
          <a:xfrm>
            <a:off x="2807940" y="3444032"/>
            <a:ext cx="793623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430"/>
                </a:solidFill>
                <a:latin typeface="DM Sans" pitchFamily="34" charset="0"/>
                <a:ea typeface="DM Sans" pitchFamily="34" charset="-122"/>
                <a:cs typeface="DM Sans" pitchFamily="34" charset="-120"/>
              </a:rPr>
              <a:t>Neuron “7” · weights 0.02, 0, 0.02, 0 · bias −0.08</a:t>
            </a:r>
            <a:endParaRPr lang="en-US" sz="1400" dirty="0"/>
          </a:p>
        </p:txBody>
      </p:sp>
      <p:sp>
        <p:nvSpPr>
          <p:cNvPr id="47" name="Text 45"/>
          <p:cNvSpPr/>
          <p:nvPr/>
        </p:nvSpPr>
        <p:spPr>
          <a:xfrm>
            <a:off x="2807940" y="3682752"/>
            <a:ext cx="793623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JetBrains Mono" pitchFamily="49" charset="0"/>
                <a:ea typeface="JetBrains Mono" pitchFamily="49" charset="-122"/>
                <a:cs typeface="JetBrains Mono" pitchFamily="49" charset="-120"/>
              </a:rPr>
              <a:t>27×0.02 + 0×0 + 27×0.02 + 0×0 − 0.08</a:t>
            </a:r>
            <a:endParaRPr lang="en-US" sz="1300" dirty="0"/>
          </a:p>
        </p:txBody>
      </p:sp>
      <p:sp>
        <p:nvSpPr>
          <p:cNvPr id="48" name="Text 46"/>
          <p:cNvSpPr/>
          <p:nvPr/>
        </p:nvSpPr>
        <p:spPr>
          <a:xfrm>
            <a:off x="10665420" y="3465612"/>
            <a:ext cx="658416"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2B5FA6"/>
                </a:solidFill>
                <a:latin typeface="JetBrains Mono" pitchFamily="49" charset="0"/>
                <a:ea typeface="JetBrains Mono" pitchFamily="49" charset="-122"/>
                <a:cs typeface="JetBrains Mono" pitchFamily="49" charset="-120"/>
              </a:rPr>
              <a:t>1.0</a:t>
            </a:r>
            <a:endParaRPr lang="en-US" sz="2400" dirty="0"/>
          </a:p>
        </p:txBody>
      </p:sp>
      <p:sp>
        <p:nvSpPr>
          <p:cNvPr id="49" name="Shape 47"/>
          <p:cNvSpPr/>
          <p:nvPr/>
        </p:nvSpPr>
        <p:spPr>
          <a:xfrm>
            <a:off x="2649190" y="4136132"/>
            <a:ext cx="8723660" cy="685750"/>
          </a:xfrm>
          <a:prstGeom prst="roundRect">
            <a:avLst>
              <a:gd name="adj" fmla="val 10186"/>
            </a:avLst>
          </a:prstGeom>
          <a:solidFill>
            <a:srgbClr val="FFFDF8"/>
          </a:solidFill>
          <a:ln w="12700">
            <a:solidFill>
              <a:srgbClr val="D8D4C8"/>
            </a:solidFill>
            <a:prstDash val="solid"/>
          </a:ln>
        </p:spPr>
      </p:sp>
      <p:sp>
        <p:nvSpPr>
          <p:cNvPr id="50" name="Text 48"/>
          <p:cNvSpPr/>
          <p:nvPr/>
        </p:nvSpPr>
        <p:spPr>
          <a:xfrm>
            <a:off x="2807940" y="4244082"/>
            <a:ext cx="831297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430"/>
                </a:solidFill>
                <a:latin typeface="DM Sans" pitchFamily="34" charset="0"/>
                <a:ea typeface="DM Sans" pitchFamily="34" charset="-122"/>
                <a:cs typeface="DM Sans" pitchFamily="34" charset="-120"/>
              </a:rPr>
              <a:t>Neuron “0” · weights 0, 0.5, 0, 0.5 · bias 0</a:t>
            </a:r>
            <a:endParaRPr lang="en-US" sz="1400" dirty="0"/>
          </a:p>
        </p:txBody>
      </p:sp>
      <p:sp>
        <p:nvSpPr>
          <p:cNvPr id="51" name="Text 49"/>
          <p:cNvSpPr/>
          <p:nvPr/>
        </p:nvSpPr>
        <p:spPr>
          <a:xfrm>
            <a:off x="2807940" y="4482802"/>
            <a:ext cx="831297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JetBrains Mono" pitchFamily="49" charset="0"/>
                <a:ea typeface="JetBrains Mono" pitchFamily="49" charset="-122"/>
                <a:cs typeface="JetBrains Mono" pitchFamily="49" charset="-120"/>
              </a:rPr>
              <a:t>27×0 + 0×0.5 + 27×0 + 0×0.5 + 0</a:t>
            </a:r>
            <a:endParaRPr lang="en-US" sz="1300" dirty="0"/>
          </a:p>
        </p:txBody>
      </p:sp>
      <p:sp>
        <p:nvSpPr>
          <p:cNvPr id="52" name="Text 50"/>
          <p:cNvSpPr/>
          <p:nvPr/>
        </p:nvSpPr>
        <p:spPr>
          <a:xfrm>
            <a:off x="11031190" y="4265662"/>
            <a:ext cx="233710"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6B7280"/>
                </a:solidFill>
                <a:latin typeface="JetBrains Mono" pitchFamily="49" charset="0"/>
                <a:ea typeface="JetBrains Mono" pitchFamily="49" charset="-122"/>
                <a:cs typeface="JetBrains Mono" pitchFamily="49" charset="-120"/>
              </a:rPr>
              <a:t>0</a:t>
            </a:r>
            <a:endParaRPr lang="en-US" sz="2400" dirty="0"/>
          </a:p>
        </p:txBody>
      </p:sp>
      <p:sp>
        <p:nvSpPr>
          <p:cNvPr id="53" name="Text 51"/>
          <p:cNvSpPr/>
          <p:nvPr/>
        </p:nvSpPr>
        <p:spPr>
          <a:xfrm>
            <a:off x="2642840" y="4929832"/>
            <a:ext cx="8998451"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Weights and bias are </a:t>
            </a:r>
            <a:r>
              <a:rPr lang="en-US" sz="1300" b="1" dirty="0">
                <a:solidFill>
                  <a:srgbClr val="4A5568"/>
                </a:solidFill>
                <a:latin typeface="DM Sans" pitchFamily="34" charset="0"/>
                <a:ea typeface="DM Sans" pitchFamily="34" charset="-122"/>
                <a:cs typeface="DM Sans" pitchFamily="34" charset="-120"/>
              </a:rPr>
              <a:t>learned</a:t>
            </a:r>
            <a:r>
              <a:rPr lang="en-US" sz="1300" dirty="0">
                <a:solidFill>
                  <a:srgbClr val="4A5568"/>
                </a:solidFill>
                <a:latin typeface="DM Sans" pitchFamily="34" charset="0"/>
                <a:ea typeface="DM Sans" pitchFamily="34" charset="-122"/>
                <a:cs typeface="DM Sans" pitchFamily="34" charset="-120"/>
              </a:rPr>
              <a:t> in training. We made these up so the maths is easy.</a:t>
            </a:r>
            <a:endParaRPr lang="en-US" sz="1300" dirty="0"/>
          </a:p>
        </p:txBody>
      </p:sp>
      <p:sp>
        <p:nvSpPr>
          <p:cNvPr id="54" name="Text 5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DM Sans" pitchFamily="34" charset="0"/>
                <a:ea typeface="DM Sans" pitchFamily="34" charset="-122"/>
                <a:cs typeface="DM Sans" pitchFamily="34" charset="-120"/>
              </a:rPr>
              <a:t>CNN step by step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819150" y="412750"/>
            <a:ext cx="1108075" cy="515541"/>
          </a:xfrm>
          <a:prstGeom prst="roundRect">
            <a:avLst>
              <a:gd name="adj" fmla="val 11085"/>
            </a:avLst>
          </a:prstGeom>
          <a:solidFill>
            <a:srgbClr val="E8E3D6"/>
          </a:solidFill>
          <a:ln w="12700">
            <a:solidFill>
              <a:srgbClr val="E8E3D6"/>
            </a:solidFill>
            <a:prstDash val="solid"/>
          </a:ln>
        </p:spPr>
      </p:sp>
      <p:sp>
        <p:nvSpPr>
          <p:cNvPr id="3" name="Text 1"/>
          <p:cNvSpPr/>
          <p:nvPr/>
        </p:nvSpPr>
        <p:spPr>
          <a:xfrm>
            <a:off x="85090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2430"/>
                </a:solidFill>
                <a:latin typeface="DM Sans" pitchFamily="34" charset="0"/>
                <a:ea typeface="DM Sans" pitchFamily="34" charset="-122"/>
                <a:cs typeface="DM Sans" pitchFamily="34" charset="-120"/>
              </a:rPr>
              <a:t>Image</a:t>
            </a:r>
            <a:endParaRPr lang="en-US" sz="1200" dirty="0"/>
          </a:p>
        </p:txBody>
      </p:sp>
      <p:sp>
        <p:nvSpPr>
          <p:cNvPr id="4" name="Text 2"/>
          <p:cNvSpPr/>
          <p:nvPr/>
        </p:nvSpPr>
        <p:spPr>
          <a:xfrm>
            <a:off x="85090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JetBrains Mono" pitchFamily="49" charset="0"/>
                <a:ea typeface="JetBrains Mono" pitchFamily="49" charset="-122"/>
                <a:cs typeface="JetBrains Mono" pitchFamily="49" charset="-120"/>
              </a:rPr>
              <a:t>6×6</a:t>
            </a:r>
            <a:endParaRPr lang="en-US" sz="1200" dirty="0"/>
          </a:p>
        </p:txBody>
      </p:sp>
      <p:sp>
        <p:nvSpPr>
          <p:cNvPr id="5" name="Text 3"/>
          <p:cNvSpPr/>
          <p:nvPr/>
        </p:nvSpPr>
        <p:spPr>
          <a:xfrm>
            <a:off x="197167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6" name="Shape 4"/>
          <p:cNvSpPr/>
          <p:nvPr/>
        </p:nvSpPr>
        <p:spPr>
          <a:xfrm>
            <a:off x="2168525" y="412750"/>
            <a:ext cx="1108075" cy="515541"/>
          </a:xfrm>
          <a:prstGeom prst="roundRect">
            <a:avLst>
              <a:gd name="adj" fmla="val 11085"/>
            </a:avLst>
          </a:prstGeom>
          <a:solidFill>
            <a:srgbClr val="E8E3D6"/>
          </a:solidFill>
          <a:ln w="12700">
            <a:solidFill>
              <a:srgbClr val="E8E3D6"/>
            </a:solidFill>
            <a:prstDash val="solid"/>
          </a:ln>
        </p:spPr>
      </p:sp>
      <p:sp>
        <p:nvSpPr>
          <p:cNvPr id="7" name="Text 5"/>
          <p:cNvSpPr/>
          <p:nvPr/>
        </p:nvSpPr>
        <p:spPr>
          <a:xfrm>
            <a:off x="220027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2430"/>
                </a:solidFill>
                <a:latin typeface="DM Sans" pitchFamily="34" charset="0"/>
                <a:ea typeface="DM Sans" pitchFamily="34" charset="-122"/>
                <a:cs typeface="DM Sans" pitchFamily="34" charset="-120"/>
              </a:rPr>
              <a:t>Conv</a:t>
            </a:r>
            <a:endParaRPr lang="en-US" sz="1200" dirty="0"/>
          </a:p>
        </p:txBody>
      </p:sp>
      <p:sp>
        <p:nvSpPr>
          <p:cNvPr id="8" name="Text 6"/>
          <p:cNvSpPr/>
          <p:nvPr/>
        </p:nvSpPr>
        <p:spPr>
          <a:xfrm>
            <a:off x="220027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JetBrains Mono" pitchFamily="49" charset="0"/>
                <a:ea typeface="JetBrains Mono" pitchFamily="49" charset="-122"/>
                <a:cs typeface="JetBrains Mono" pitchFamily="49" charset="-120"/>
              </a:rPr>
              <a:t>4×4</a:t>
            </a:r>
            <a:endParaRPr lang="en-US" sz="1200" dirty="0"/>
          </a:p>
        </p:txBody>
      </p:sp>
      <p:sp>
        <p:nvSpPr>
          <p:cNvPr id="9" name="Text 7"/>
          <p:cNvSpPr/>
          <p:nvPr/>
        </p:nvSpPr>
        <p:spPr>
          <a:xfrm>
            <a:off x="3321050"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10" name="Shape 8"/>
          <p:cNvSpPr/>
          <p:nvPr/>
        </p:nvSpPr>
        <p:spPr>
          <a:xfrm>
            <a:off x="3517900" y="412750"/>
            <a:ext cx="1108075" cy="515541"/>
          </a:xfrm>
          <a:prstGeom prst="roundRect">
            <a:avLst>
              <a:gd name="adj" fmla="val 11085"/>
            </a:avLst>
          </a:prstGeom>
          <a:solidFill>
            <a:srgbClr val="E8E3D6"/>
          </a:solidFill>
          <a:ln w="12700">
            <a:solidFill>
              <a:srgbClr val="E8E3D6"/>
            </a:solidFill>
            <a:prstDash val="solid"/>
          </a:ln>
        </p:spPr>
      </p:sp>
      <p:sp>
        <p:nvSpPr>
          <p:cNvPr id="11" name="Text 9"/>
          <p:cNvSpPr/>
          <p:nvPr/>
        </p:nvSpPr>
        <p:spPr>
          <a:xfrm>
            <a:off x="354965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2430"/>
                </a:solidFill>
                <a:latin typeface="DM Sans" pitchFamily="34" charset="0"/>
                <a:ea typeface="DM Sans" pitchFamily="34" charset="-122"/>
                <a:cs typeface="DM Sans" pitchFamily="34" charset="-120"/>
              </a:rPr>
              <a:t>ReLU</a:t>
            </a:r>
            <a:endParaRPr lang="en-US" sz="1200" dirty="0"/>
          </a:p>
        </p:txBody>
      </p:sp>
      <p:sp>
        <p:nvSpPr>
          <p:cNvPr id="12" name="Text 10"/>
          <p:cNvSpPr/>
          <p:nvPr/>
        </p:nvSpPr>
        <p:spPr>
          <a:xfrm>
            <a:off x="354965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JetBrains Mono" pitchFamily="49" charset="0"/>
                <a:ea typeface="JetBrains Mono" pitchFamily="49" charset="-122"/>
                <a:cs typeface="JetBrains Mono" pitchFamily="49" charset="-120"/>
              </a:rPr>
              <a:t>4×4</a:t>
            </a:r>
            <a:endParaRPr lang="en-US" sz="1200" dirty="0"/>
          </a:p>
        </p:txBody>
      </p:sp>
      <p:sp>
        <p:nvSpPr>
          <p:cNvPr id="13" name="Text 11"/>
          <p:cNvSpPr/>
          <p:nvPr/>
        </p:nvSpPr>
        <p:spPr>
          <a:xfrm>
            <a:off x="467042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14" name="Shape 12"/>
          <p:cNvSpPr/>
          <p:nvPr/>
        </p:nvSpPr>
        <p:spPr>
          <a:xfrm>
            <a:off x="4867275" y="412750"/>
            <a:ext cx="1108075" cy="515541"/>
          </a:xfrm>
          <a:prstGeom prst="roundRect">
            <a:avLst>
              <a:gd name="adj" fmla="val 11085"/>
            </a:avLst>
          </a:prstGeom>
          <a:solidFill>
            <a:srgbClr val="E8E3D6"/>
          </a:solidFill>
          <a:ln w="12700">
            <a:solidFill>
              <a:srgbClr val="E8E3D6"/>
            </a:solidFill>
            <a:prstDash val="solid"/>
          </a:ln>
        </p:spPr>
      </p:sp>
      <p:sp>
        <p:nvSpPr>
          <p:cNvPr id="15" name="Text 13"/>
          <p:cNvSpPr/>
          <p:nvPr/>
        </p:nvSpPr>
        <p:spPr>
          <a:xfrm>
            <a:off x="489902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2430"/>
                </a:solidFill>
                <a:latin typeface="DM Sans" pitchFamily="34" charset="0"/>
                <a:ea typeface="DM Sans" pitchFamily="34" charset="-122"/>
                <a:cs typeface="DM Sans" pitchFamily="34" charset="-120"/>
              </a:rPr>
              <a:t>Pool</a:t>
            </a:r>
            <a:endParaRPr lang="en-US" sz="1200" dirty="0"/>
          </a:p>
        </p:txBody>
      </p:sp>
      <p:sp>
        <p:nvSpPr>
          <p:cNvPr id="16" name="Text 14"/>
          <p:cNvSpPr/>
          <p:nvPr/>
        </p:nvSpPr>
        <p:spPr>
          <a:xfrm>
            <a:off x="489902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JetBrains Mono" pitchFamily="49" charset="0"/>
                <a:ea typeface="JetBrains Mono" pitchFamily="49" charset="-122"/>
                <a:cs typeface="JetBrains Mono" pitchFamily="49" charset="-120"/>
              </a:rPr>
              <a:t>2×2</a:t>
            </a:r>
            <a:endParaRPr lang="en-US" sz="1200" dirty="0"/>
          </a:p>
        </p:txBody>
      </p:sp>
      <p:sp>
        <p:nvSpPr>
          <p:cNvPr id="17" name="Text 15"/>
          <p:cNvSpPr/>
          <p:nvPr/>
        </p:nvSpPr>
        <p:spPr>
          <a:xfrm>
            <a:off x="6019800"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18" name="Shape 16"/>
          <p:cNvSpPr/>
          <p:nvPr/>
        </p:nvSpPr>
        <p:spPr>
          <a:xfrm>
            <a:off x="6216650" y="412750"/>
            <a:ext cx="1108075" cy="515541"/>
          </a:xfrm>
          <a:prstGeom prst="roundRect">
            <a:avLst>
              <a:gd name="adj" fmla="val 11085"/>
            </a:avLst>
          </a:prstGeom>
          <a:solidFill>
            <a:srgbClr val="E8E3D6"/>
          </a:solidFill>
          <a:ln w="12700">
            <a:solidFill>
              <a:srgbClr val="E8E3D6"/>
            </a:solidFill>
            <a:prstDash val="solid"/>
          </a:ln>
        </p:spPr>
      </p:sp>
      <p:sp>
        <p:nvSpPr>
          <p:cNvPr id="19" name="Text 17"/>
          <p:cNvSpPr/>
          <p:nvPr/>
        </p:nvSpPr>
        <p:spPr>
          <a:xfrm>
            <a:off x="624840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2430"/>
                </a:solidFill>
                <a:latin typeface="DM Sans" pitchFamily="34" charset="0"/>
                <a:ea typeface="DM Sans" pitchFamily="34" charset="-122"/>
                <a:cs typeface="DM Sans" pitchFamily="34" charset="-120"/>
              </a:rPr>
              <a:t>Flatten</a:t>
            </a:r>
            <a:endParaRPr lang="en-US" sz="1200" dirty="0"/>
          </a:p>
        </p:txBody>
      </p:sp>
      <p:sp>
        <p:nvSpPr>
          <p:cNvPr id="20" name="Text 18"/>
          <p:cNvSpPr/>
          <p:nvPr/>
        </p:nvSpPr>
        <p:spPr>
          <a:xfrm>
            <a:off x="624840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JetBrains Mono" pitchFamily="49" charset="0"/>
                <a:ea typeface="JetBrains Mono" pitchFamily="49" charset="-122"/>
                <a:cs typeface="JetBrains Mono" pitchFamily="49" charset="-120"/>
              </a:rPr>
              <a:t>4 nums</a:t>
            </a:r>
            <a:endParaRPr lang="en-US" sz="1200" dirty="0"/>
          </a:p>
        </p:txBody>
      </p:sp>
      <p:sp>
        <p:nvSpPr>
          <p:cNvPr id="21" name="Text 19"/>
          <p:cNvSpPr/>
          <p:nvPr/>
        </p:nvSpPr>
        <p:spPr>
          <a:xfrm>
            <a:off x="736917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22" name="Shape 20"/>
          <p:cNvSpPr/>
          <p:nvPr/>
        </p:nvSpPr>
        <p:spPr>
          <a:xfrm>
            <a:off x="7566025" y="412750"/>
            <a:ext cx="1108075" cy="515541"/>
          </a:xfrm>
          <a:prstGeom prst="roundRect">
            <a:avLst>
              <a:gd name="adj" fmla="val 11085"/>
            </a:avLst>
          </a:prstGeom>
          <a:solidFill>
            <a:srgbClr val="E8E3D6"/>
          </a:solidFill>
          <a:ln w="12700">
            <a:solidFill>
              <a:srgbClr val="E8E3D6"/>
            </a:solidFill>
            <a:prstDash val="solid"/>
          </a:ln>
        </p:spPr>
      </p:sp>
      <p:sp>
        <p:nvSpPr>
          <p:cNvPr id="23" name="Text 21"/>
          <p:cNvSpPr/>
          <p:nvPr/>
        </p:nvSpPr>
        <p:spPr>
          <a:xfrm>
            <a:off x="759777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2430"/>
                </a:solidFill>
                <a:latin typeface="DM Sans" pitchFamily="34" charset="0"/>
                <a:ea typeface="DM Sans" pitchFamily="34" charset="-122"/>
                <a:cs typeface="DM Sans" pitchFamily="34" charset="-120"/>
              </a:rPr>
              <a:t>Dense</a:t>
            </a:r>
            <a:endParaRPr lang="en-US" sz="1200" dirty="0"/>
          </a:p>
        </p:txBody>
      </p:sp>
      <p:sp>
        <p:nvSpPr>
          <p:cNvPr id="24" name="Text 22"/>
          <p:cNvSpPr/>
          <p:nvPr/>
        </p:nvSpPr>
        <p:spPr>
          <a:xfrm>
            <a:off x="759777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JetBrains Mono" pitchFamily="49" charset="0"/>
                <a:ea typeface="JetBrains Mono" pitchFamily="49" charset="-122"/>
                <a:cs typeface="JetBrains Mono" pitchFamily="49" charset="-120"/>
              </a:rPr>
              <a:t>3 scores</a:t>
            </a:r>
            <a:endParaRPr lang="en-US" sz="1200" dirty="0"/>
          </a:p>
        </p:txBody>
      </p:sp>
      <p:sp>
        <p:nvSpPr>
          <p:cNvPr id="25" name="Text 23"/>
          <p:cNvSpPr/>
          <p:nvPr/>
        </p:nvSpPr>
        <p:spPr>
          <a:xfrm>
            <a:off x="8718550"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26" name="Shape 24"/>
          <p:cNvSpPr/>
          <p:nvPr/>
        </p:nvSpPr>
        <p:spPr>
          <a:xfrm>
            <a:off x="8915400" y="412750"/>
            <a:ext cx="1108075" cy="515541"/>
          </a:xfrm>
          <a:prstGeom prst="roundRect">
            <a:avLst>
              <a:gd name="adj" fmla="val 11085"/>
            </a:avLst>
          </a:prstGeom>
          <a:solidFill>
            <a:srgbClr val="B8501F"/>
          </a:solidFill>
          <a:ln w="12700">
            <a:solidFill>
              <a:srgbClr val="B8501F"/>
            </a:solidFill>
            <a:prstDash val="solid"/>
          </a:ln>
        </p:spPr>
      </p:sp>
      <p:sp>
        <p:nvSpPr>
          <p:cNvPr id="27" name="Text 25"/>
          <p:cNvSpPr/>
          <p:nvPr/>
        </p:nvSpPr>
        <p:spPr>
          <a:xfrm>
            <a:off x="8947150"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FFDF8"/>
                </a:solidFill>
                <a:latin typeface="DM Sans" pitchFamily="34" charset="0"/>
                <a:ea typeface="DM Sans" pitchFamily="34" charset="-122"/>
                <a:cs typeface="DM Sans" pitchFamily="34" charset="-120"/>
              </a:rPr>
              <a:t>Softmax</a:t>
            </a:r>
            <a:endParaRPr lang="en-US" sz="1200" dirty="0"/>
          </a:p>
        </p:txBody>
      </p:sp>
      <p:sp>
        <p:nvSpPr>
          <p:cNvPr id="28" name="Text 26"/>
          <p:cNvSpPr/>
          <p:nvPr/>
        </p:nvSpPr>
        <p:spPr>
          <a:xfrm>
            <a:off x="8947150"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FFDF8"/>
                </a:solidFill>
                <a:latin typeface="JetBrains Mono" pitchFamily="49" charset="0"/>
                <a:ea typeface="JetBrains Mono" pitchFamily="49" charset="-122"/>
                <a:cs typeface="JetBrains Mono" pitchFamily="49" charset="-120"/>
              </a:rPr>
              <a:t>3 chances</a:t>
            </a:r>
            <a:endParaRPr lang="en-US" sz="1200" dirty="0"/>
          </a:p>
        </p:txBody>
      </p:sp>
      <p:sp>
        <p:nvSpPr>
          <p:cNvPr id="29" name="Text 27"/>
          <p:cNvSpPr/>
          <p:nvPr/>
        </p:nvSpPr>
        <p:spPr>
          <a:xfrm>
            <a:off x="10067925" y="56386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30" name="Shape 28"/>
          <p:cNvSpPr/>
          <p:nvPr/>
        </p:nvSpPr>
        <p:spPr>
          <a:xfrm>
            <a:off x="10264775" y="412750"/>
            <a:ext cx="1108075" cy="515541"/>
          </a:xfrm>
          <a:prstGeom prst="roundRect">
            <a:avLst>
              <a:gd name="adj" fmla="val 11085"/>
            </a:avLst>
          </a:prstGeom>
          <a:solidFill>
            <a:srgbClr val="B8501F"/>
          </a:solidFill>
          <a:ln w="12700">
            <a:solidFill>
              <a:srgbClr val="B8501F"/>
            </a:solidFill>
            <a:prstDash val="solid"/>
          </a:ln>
        </p:spPr>
      </p:sp>
      <p:sp>
        <p:nvSpPr>
          <p:cNvPr id="31" name="Text 29"/>
          <p:cNvSpPr/>
          <p:nvPr/>
        </p:nvSpPr>
        <p:spPr>
          <a:xfrm>
            <a:off x="10296525" y="45720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FFDF8"/>
                </a:solidFill>
                <a:latin typeface="DM Sans" pitchFamily="34" charset="0"/>
                <a:ea typeface="DM Sans" pitchFamily="34" charset="-122"/>
                <a:cs typeface="DM Sans" pitchFamily="34" charset="-120"/>
              </a:rPr>
              <a:t>Answer</a:t>
            </a:r>
            <a:endParaRPr lang="en-US" sz="1200" dirty="0"/>
          </a:p>
        </p:txBody>
      </p:sp>
      <p:sp>
        <p:nvSpPr>
          <p:cNvPr id="32" name="Text 30"/>
          <p:cNvSpPr/>
          <p:nvPr/>
        </p:nvSpPr>
        <p:spPr>
          <a:xfrm>
            <a:off x="10296525" y="670520"/>
            <a:ext cx="10445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FFDF8"/>
                </a:solidFill>
                <a:latin typeface="JetBrains Mono" pitchFamily="49" charset="0"/>
                <a:ea typeface="JetBrains Mono" pitchFamily="49" charset="-122"/>
                <a:cs typeface="JetBrains Mono" pitchFamily="49" charset="-120"/>
              </a:rPr>
              <a:t>“1”</a:t>
            </a:r>
            <a:endParaRPr lang="en-US" sz="1200" dirty="0"/>
          </a:p>
        </p:txBody>
      </p:sp>
      <p:sp>
        <p:nvSpPr>
          <p:cNvPr id="33" name="Text 31"/>
          <p:cNvSpPr/>
          <p:nvPr/>
        </p:nvSpPr>
        <p:spPr>
          <a:xfrm>
            <a:off x="812800" y="113784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5FA6"/>
                </a:solidFill>
                <a:latin typeface="DM Sans" pitchFamily="34" charset="0"/>
                <a:ea typeface="DM Sans" pitchFamily="34" charset="-122"/>
                <a:cs typeface="DM Sans" pitchFamily="34" charset="-120"/>
              </a:rPr>
              <a:t>STEP 7 · SOFTMAX → ANSWER</a:t>
            </a:r>
            <a:endParaRPr lang="en-US" sz="1200" dirty="0"/>
          </a:p>
        </p:txBody>
      </p:sp>
      <p:sp>
        <p:nvSpPr>
          <p:cNvPr id="34" name="Text 32"/>
          <p:cNvSpPr/>
          <p:nvPr>
            <p:ph type="title"/>
          </p:nvPr>
        </p:nvSpPr>
        <p:spPr>
          <a:xfrm>
            <a:off x="812800" y="1401961"/>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430"/>
                </a:solidFill>
                <a:latin typeface="DM Sans" pitchFamily="34" charset="0"/>
                <a:ea typeface="DM Sans" pitchFamily="34" charset="-122"/>
                <a:cs typeface="DM Sans" pitchFamily="34" charset="-120"/>
              </a:rPr>
              <a:t>Softmax: scores become chances</a:t>
            </a:r>
            <a:endParaRPr lang="en-US" sz="32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825500" y="2064891"/>
          <a:ext cx="10553700" cy="2063750"/>
        </p:xfrm>
        <a:graphic>
          <a:graphicData uri="http://schemas.openxmlformats.org/drawingml/2006/table">
            <a:tbl>
              <a:tblPr/>
              <a:tblGrid>
                <a:gridCol w="1477518"/>
                <a:gridCol w="1688592"/>
                <a:gridCol w="2532888"/>
                <a:gridCol w="2743962"/>
                <a:gridCol w="2110740"/>
              </a:tblGrid>
              <a:tr h="412750">
                <a:tc>
                  <a:txBody>
                    <a:bodyPr/>
                    <a:lstStyle/>
                    <a:p>
                      <a:pPr indent="0" marL="0">
                        <a:lnSpc>
                          <a:spcPts val="2100"/>
                        </a:lnSpc>
                        <a:buNone/>
                      </a:pPr>
                      <a:r>
                        <a:rPr lang="en-US" sz="1500" b="1" dirty="0">
                          <a:solidFill>
                            <a:srgbClr val="F7F5F0"/>
                          </a:solidFill>
                          <a:latin typeface="DM Sans" pitchFamily="34" charset="0"/>
                          <a:ea typeface="DM Sans" pitchFamily="34" charset="-122"/>
                          <a:cs typeface="DM Sans" pitchFamily="34" charset="-120"/>
                        </a:rPr>
                        <a:t>Class</a:t>
                      </a:r>
                      <a:endParaRPr lang="en-US" sz="1500" dirty="0">
                        <a:latin typeface="DM Sans" charset="0"/>
                        <a:ea typeface="DM Sans" charset="0"/>
                        <a:cs typeface="DM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c>
                  <a:txBody>
                    <a:bodyPr/>
                    <a:lstStyle/>
                    <a:p>
                      <a:pPr algn="r" indent="0" marL="0">
                        <a:lnSpc>
                          <a:spcPts val="2100"/>
                        </a:lnSpc>
                        <a:buNone/>
                      </a:pPr>
                      <a:r>
                        <a:rPr lang="en-US" sz="1500" b="1" dirty="0">
                          <a:solidFill>
                            <a:srgbClr val="F7F5F0"/>
                          </a:solidFill>
                          <a:latin typeface="DM Sans" pitchFamily="34" charset="0"/>
                          <a:ea typeface="DM Sans" pitchFamily="34" charset="-122"/>
                          <a:cs typeface="DM Sans" pitchFamily="34" charset="-120"/>
                        </a:rPr>
                        <a:t>Score</a:t>
                      </a:r>
                      <a:endParaRPr lang="en-US" sz="1500" dirty="0">
                        <a:latin typeface="DM Sans" charset="0"/>
                        <a:ea typeface="DM Sans" charset="0"/>
                        <a:cs typeface="DM Sans" charset="0"/>
                      </a:endParaRPr>
                    </a:p>
                  </a:txBody>
                  <a:tcPr marL="66675" marR="66675" marT="66675" marB="66675" anchor="t">
                    <a:lnL w="12700" cap="flat" cmpd="sng" algn="ctr">
                      <a:solidFill>
                        <a:srgbClr val="19202A"/>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c>
                  <a:txBody>
                    <a:bodyPr/>
                    <a:lstStyle/>
                    <a:p>
                      <a:pPr algn="r" indent="0" marL="0">
                        <a:lnSpc>
                          <a:spcPts val="2100"/>
                        </a:lnSpc>
                        <a:buNone/>
                      </a:pPr>
                      <a:r>
                        <a:rPr lang="en-US" sz="1500" b="1" dirty="0">
                          <a:solidFill>
                            <a:srgbClr val="F7F5F0"/>
                          </a:solidFill>
                          <a:latin typeface="DM Sans" pitchFamily="34" charset="0"/>
                          <a:ea typeface="DM Sans" pitchFamily="34" charset="-122"/>
                          <a:cs typeface="DM Sans" pitchFamily="34" charset="-120"/>
                        </a:rPr>
                        <a:t>Step 1: e^score</a:t>
                      </a:r>
                      <a:endParaRPr lang="en-US" sz="1500" dirty="0">
                        <a:latin typeface="DM Sans" charset="0"/>
                        <a:ea typeface="DM Sans" charset="0"/>
                        <a:cs typeface="DM Sans" charset="0"/>
                      </a:endParaRPr>
                    </a:p>
                  </a:txBody>
                  <a:tcPr marL="66675" marR="66675" marT="66675" marB="66675" anchor="t">
                    <a:lnL w="12700" cap="flat" cmpd="sng" algn="ctr">
                      <a:solidFill>
                        <a:srgbClr val="19202A"/>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c>
                  <a:txBody>
                    <a:bodyPr/>
                    <a:lstStyle/>
                    <a:p>
                      <a:pPr algn="r" indent="0" marL="0">
                        <a:lnSpc>
                          <a:spcPts val="2100"/>
                        </a:lnSpc>
                        <a:buNone/>
                      </a:pPr>
                      <a:r>
                        <a:rPr lang="en-US" sz="1500" b="1" dirty="0">
                          <a:solidFill>
                            <a:srgbClr val="F7F5F0"/>
                          </a:solidFill>
                          <a:latin typeface="DM Sans" pitchFamily="34" charset="0"/>
                          <a:ea typeface="DM Sans" pitchFamily="34" charset="-122"/>
                          <a:cs typeface="DM Sans" pitchFamily="34" charset="-120"/>
                        </a:rPr>
                        <a:t>Step 3: ÷ 11.11</a:t>
                      </a:r>
                      <a:endParaRPr lang="en-US" sz="1500" dirty="0">
                        <a:latin typeface="DM Sans" charset="0"/>
                        <a:ea typeface="DM Sans" charset="0"/>
                        <a:cs typeface="DM Sans" charset="0"/>
                      </a:endParaRPr>
                    </a:p>
                  </a:txBody>
                  <a:tcPr marL="66675" marR="66675" marT="66675" marB="66675" anchor="t">
                    <a:lnL w="12700" cap="flat" cmpd="sng" algn="ctr">
                      <a:solidFill>
                        <a:srgbClr val="19202A"/>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c>
                  <a:txBody>
                    <a:bodyPr/>
                    <a:lstStyle/>
                    <a:p>
                      <a:pPr algn="r" indent="0" marL="0">
                        <a:lnSpc>
                          <a:spcPts val="2100"/>
                        </a:lnSpc>
                        <a:buNone/>
                      </a:pPr>
                      <a:r>
                        <a:rPr lang="en-US" sz="1500" b="1" dirty="0">
                          <a:solidFill>
                            <a:srgbClr val="F7F5F0"/>
                          </a:solidFill>
                          <a:latin typeface="DM Sans" pitchFamily="34" charset="0"/>
                          <a:ea typeface="DM Sans" pitchFamily="34" charset="-122"/>
                          <a:cs typeface="DM Sans" pitchFamily="34" charset="-120"/>
                        </a:rPr>
                        <a:t>Chance</a:t>
                      </a:r>
                      <a:endParaRPr lang="en-US" sz="1500" dirty="0">
                        <a:latin typeface="DM Sans" charset="0"/>
                        <a:ea typeface="DM Sans" charset="0"/>
                        <a:cs typeface="DM Sans" charset="0"/>
                      </a:endParaRPr>
                    </a:p>
                  </a:txBody>
                  <a:tcPr marL="66675" marR="66675" marT="66675" marB="66675" anchor="t">
                    <a:lnL w="12700" cap="flat" cmpd="sng" algn="ctr">
                      <a:solidFill>
                        <a:srgbClr val="19202A"/>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r>
              <a:tr h="412750">
                <a:tc>
                  <a:txBody>
                    <a:bodyPr/>
                    <a:lstStyle/>
                    <a:p>
                      <a:pPr indent="0" marL="0">
                        <a:lnSpc>
                          <a:spcPts val="2100"/>
                        </a:lnSpc>
                        <a:buNone/>
                      </a:pPr>
                      <a:r>
                        <a:rPr lang="en-US" sz="1500" dirty="0">
                          <a:solidFill>
                            <a:srgbClr val="1B2430"/>
                          </a:solidFill>
                          <a:latin typeface="DM Sans" pitchFamily="34" charset="0"/>
                          <a:ea typeface="DM Sans" pitchFamily="34" charset="-122"/>
                          <a:cs typeface="DM Sans" pitchFamily="34" charset="-120"/>
                        </a:rPr>
                        <a:t>“1”</a:t>
                      </a:r>
                      <a:endParaRPr lang="en-US" sz="1500" dirty="0">
                        <a:latin typeface="DM Sans" charset="0"/>
                        <a:ea typeface="DM Sans" charset="0"/>
                        <a:cs typeface="DM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8C0B9"/>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C8C0B9"/>
                      </a:solidFill>
                      <a:prstDash val="solid"/>
                      <a:round/>
                      <a:headEnd type="none" w="med" len="med"/>
                      <a:tailEnd type="none" w="med" len="med"/>
                    </a:lnB>
                    <a:solidFill>
                      <a:srgbClr val="FBF0E8"/>
                    </a:solidFill>
                  </a:tcPr>
                </a:tc>
                <a:tc>
                  <a:txBody>
                    <a:bodyPr/>
                    <a:lstStyle/>
                    <a:p>
                      <a:pPr algn="r" indent="0" marL="0">
                        <a:lnSpc>
                          <a:spcPts val="2100"/>
                        </a:lnSpc>
                        <a:buNone/>
                      </a:pPr>
                      <a:r>
                        <a:rPr lang="en-US" sz="1500" dirty="0">
                          <a:solidFill>
                            <a:srgbClr val="1B2430"/>
                          </a:solidFill>
                          <a:latin typeface="DM Sans" pitchFamily="34" charset="0"/>
                          <a:ea typeface="DM Sans" pitchFamily="34" charset="-122"/>
                          <a:cs typeface="DM Sans" pitchFamily="34" charset="-120"/>
                        </a:rPr>
                        <a:t>2.0</a:t>
                      </a:r>
                      <a:endParaRPr lang="en-US" sz="1500" dirty="0">
                        <a:latin typeface="DM Sans" charset="0"/>
                        <a:ea typeface="DM Sans" charset="0"/>
                        <a:cs typeface="DM Sans" charset="0"/>
                      </a:endParaRPr>
                    </a:p>
                  </a:txBody>
                  <a:tcPr marL="66675" marR="66675" marT="66675" marB="66675" anchor="t">
                    <a:lnL w="12700" cap="flat" cmpd="sng" algn="ctr">
                      <a:solidFill>
                        <a:srgbClr val="C8C0B9"/>
                      </a:solidFill>
                      <a:prstDash val="solid"/>
                      <a:round/>
                      <a:headEnd type="none" w="med" len="med"/>
                      <a:tailEnd type="none" w="med" len="med"/>
                    </a:lnL>
                    <a:lnR w="12700" cap="flat" cmpd="sng" algn="ctr">
                      <a:solidFill>
                        <a:srgbClr val="C8C0B9"/>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C8C0B9"/>
                      </a:solidFill>
                      <a:prstDash val="solid"/>
                      <a:round/>
                      <a:headEnd type="none" w="med" len="med"/>
                      <a:tailEnd type="none" w="med" len="med"/>
                    </a:lnB>
                    <a:solidFill>
                      <a:srgbClr val="FBF0E8"/>
                    </a:solidFill>
                  </a:tcPr>
                </a:tc>
                <a:tc>
                  <a:txBody>
                    <a:bodyPr/>
                    <a:lstStyle/>
                    <a:p>
                      <a:pPr algn="r" indent="0" marL="0">
                        <a:lnSpc>
                          <a:spcPts val="2100"/>
                        </a:lnSpc>
                        <a:buNone/>
                      </a:pPr>
                      <a:r>
                        <a:rPr lang="en-US" sz="1500" dirty="0">
                          <a:solidFill>
                            <a:srgbClr val="1B2430"/>
                          </a:solidFill>
                          <a:latin typeface="DM Sans" pitchFamily="34" charset="0"/>
                          <a:ea typeface="DM Sans" pitchFamily="34" charset="-122"/>
                          <a:cs typeface="DM Sans" pitchFamily="34" charset="-120"/>
                        </a:rPr>
                        <a:t>7.39</a:t>
                      </a:r>
                      <a:endParaRPr lang="en-US" sz="1500" dirty="0">
                        <a:latin typeface="DM Sans" charset="0"/>
                        <a:ea typeface="DM Sans" charset="0"/>
                        <a:cs typeface="DM Sans" charset="0"/>
                      </a:endParaRPr>
                    </a:p>
                  </a:txBody>
                  <a:tcPr marL="66675" marR="66675" marT="66675" marB="66675" anchor="t">
                    <a:lnL w="12700" cap="flat" cmpd="sng" algn="ctr">
                      <a:solidFill>
                        <a:srgbClr val="C8C0B9"/>
                      </a:solidFill>
                      <a:prstDash val="solid"/>
                      <a:round/>
                      <a:headEnd type="none" w="med" len="med"/>
                      <a:tailEnd type="none" w="med" len="med"/>
                    </a:lnL>
                    <a:lnR w="12700" cap="flat" cmpd="sng" algn="ctr">
                      <a:solidFill>
                        <a:srgbClr val="C8C0B9"/>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C8C0B9"/>
                      </a:solidFill>
                      <a:prstDash val="solid"/>
                      <a:round/>
                      <a:headEnd type="none" w="med" len="med"/>
                      <a:tailEnd type="none" w="med" len="med"/>
                    </a:lnB>
                    <a:solidFill>
                      <a:srgbClr val="FBF0E8"/>
                    </a:solidFill>
                  </a:tcPr>
                </a:tc>
                <a:tc>
                  <a:txBody>
                    <a:bodyPr/>
                    <a:lstStyle/>
                    <a:p>
                      <a:pPr algn="r" indent="0" marL="0">
                        <a:lnSpc>
                          <a:spcPts val="2100"/>
                        </a:lnSpc>
                        <a:buNone/>
                      </a:pPr>
                      <a:r>
                        <a:rPr lang="en-US" sz="1500" dirty="0">
                          <a:solidFill>
                            <a:srgbClr val="1B2430"/>
                          </a:solidFill>
                          <a:latin typeface="DM Sans" pitchFamily="34" charset="0"/>
                          <a:ea typeface="DM Sans" pitchFamily="34" charset="-122"/>
                          <a:cs typeface="DM Sans" pitchFamily="34" charset="-120"/>
                        </a:rPr>
                        <a:t>0.67</a:t>
                      </a:r>
                      <a:endParaRPr lang="en-US" sz="1500" dirty="0">
                        <a:latin typeface="DM Sans" charset="0"/>
                        <a:ea typeface="DM Sans" charset="0"/>
                        <a:cs typeface="DM Sans" charset="0"/>
                      </a:endParaRPr>
                    </a:p>
                  </a:txBody>
                  <a:tcPr marL="66675" marR="66675" marT="66675" marB="66675" anchor="t">
                    <a:lnL w="12700" cap="flat" cmpd="sng" algn="ctr">
                      <a:solidFill>
                        <a:srgbClr val="C8C0B9"/>
                      </a:solidFill>
                      <a:prstDash val="solid"/>
                      <a:round/>
                      <a:headEnd type="none" w="med" len="med"/>
                      <a:tailEnd type="none" w="med" len="med"/>
                    </a:lnL>
                    <a:lnR w="12700" cap="flat" cmpd="sng" algn="ctr">
                      <a:solidFill>
                        <a:srgbClr val="C8C0B9"/>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C8C0B9"/>
                      </a:solidFill>
                      <a:prstDash val="solid"/>
                      <a:round/>
                      <a:headEnd type="none" w="med" len="med"/>
                      <a:tailEnd type="none" w="med" len="med"/>
                    </a:lnB>
                    <a:solidFill>
                      <a:srgbClr val="FBF0E8"/>
                    </a:solidFill>
                  </a:tcPr>
                </a:tc>
                <a:tc>
                  <a:txBody>
                    <a:bodyPr/>
                    <a:lstStyle/>
                    <a:p>
                      <a:pPr algn="r" indent="0" marL="0">
                        <a:lnSpc>
                          <a:spcPts val="2100"/>
                        </a:lnSpc>
                        <a:buNone/>
                      </a:pPr>
                      <a:r>
                        <a:rPr lang="en-US" sz="1500" dirty="0">
                          <a:solidFill>
                            <a:srgbClr val="B8501F"/>
                          </a:solidFill>
                          <a:latin typeface="DM Sans" pitchFamily="34" charset="0"/>
                          <a:ea typeface="DM Sans" pitchFamily="34" charset="-122"/>
                          <a:cs typeface="DM Sans" pitchFamily="34" charset="-120"/>
                        </a:rPr>
                        <a:t>67%</a:t>
                      </a:r>
                      <a:endParaRPr lang="en-US" sz="1500" dirty="0">
                        <a:latin typeface="DM Sans" charset="0"/>
                        <a:ea typeface="DM Sans" charset="0"/>
                        <a:cs typeface="DM Sans" charset="0"/>
                      </a:endParaRPr>
                    </a:p>
                  </a:txBody>
                  <a:tcPr marL="66675" marR="66675" marT="66675" marB="66675" anchor="t">
                    <a:lnL w="12700" cap="flat" cmpd="sng" algn="ctr">
                      <a:solidFill>
                        <a:srgbClr val="C8C0B9"/>
                      </a:solidFill>
                      <a:prstDash val="solid"/>
                      <a:round/>
                      <a:headEnd type="none" w="med" len="med"/>
                      <a:tailEnd type="none" w="med" len="med"/>
                    </a:lnL>
                    <a:lnR w="12700" cap="flat" cmpd="sng" algn="ctr">
                      <a:solidFill>
                        <a:srgbClr val="C8C0B9"/>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C8C0B9"/>
                      </a:solidFill>
                      <a:prstDash val="solid"/>
                      <a:round/>
                      <a:headEnd type="none" w="med" len="med"/>
                      <a:tailEnd type="none" w="med" len="med"/>
                    </a:lnB>
                    <a:solidFill>
                      <a:srgbClr val="FBF0E8"/>
                    </a:solidFill>
                  </a:tcPr>
                </a:tc>
              </a:tr>
              <a:tr h="412750">
                <a:tc>
                  <a:txBody>
                    <a:bodyPr/>
                    <a:lstStyle/>
                    <a:p>
                      <a:pPr indent="0" marL="0">
                        <a:lnSpc>
                          <a:spcPts val="2100"/>
                        </a:lnSpc>
                        <a:buNone/>
                      </a:pPr>
                      <a:r>
                        <a:rPr lang="en-US" sz="1500" dirty="0">
                          <a:solidFill>
                            <a:srgbClr val="1B2430"/>
                          </a:solidFill>
                          <a:latin typeface="DM Sans" pitchFamily="34" charset="0"/>
                          <a:ea typeface="DM Sans" pitchFamily="34" charset="-122"/>
                          <a:cs typeface="DM Sans" pitchFamily="34" charset="-120"/>
                        </a:rPr>
                        <a:t>“7”</a:t>
                      </a:r>
                      <a:endParaRPr lang="en-US" sz="1500" dirty="0">
                        <a:latin typeface="DM Sans" charset="0"/>
                        <a:ea typeface="DM Sans" charset="0"/>
                        <a:cs typeface="DM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8C0B9"/>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2100"/>
                        </a:lnSpc>
                        <a:buNone/>
                      </a:pPr>
                      <a:r>
                        <a:rPr lang="en-US" sz="1500" dirty="0">
                          <a:solidFill>
                            <a:srgbClr val="1B2430"/>
                          </a:solidFill>
                          <a:latin typeface="DM Sans" pitchFamily="34" charset="0"/>
                          <a:ea typeface="DM Sans" pitchFamily="34" charset="-122"/>
                          <a:cs typeface="DM Sans" pitchFamily="34" charset="-120"/>
                        </a:rPr>
                        <a:t>1.0</a:t>
                      </a:r>
                      <a:endParaRPr lang="en-US" sz="1500" dirty="0">
                        <a:latin typeface="DM Sans" charset="0"/>
                        <a:ea typeface="DM Sans" charset="0"/>
                        <a:cs typeface="DM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8C0B9"/>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2100"/>
                        </a:lnSpc>
                        <a:buNone/>
                      </a:pPr>
                      <a:r>
                        <a:rPr lang="en-US" sz="1500" dirty="0">
                          <a:solidFill>
                            <a:srgbClr val="1B2430"/>
                          </a:solidFill>
                          <a:latin typeface="DM Sans" pitchFamily="34" charset="0"/>
                          <a:ea typeface="DM Sans" pitchFamily="34" charset="-122"/>
                          <a:cs typeface="DM Sans" pitchFamily="34" charset="-120"/>
                        </a:rPr>
                        <a:t>2.72</a:t>
                      </a:r>
                      <a:endParaRPr lang="en-US" sz="1500" dirty="0">
                        <a:latin typeface="DM Sans" charset="0"/>
                        <a:ea typeface="DM Sans" charset="0"/>
                        <a:cs typeface="DM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8C0B9"/>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2100"/>
                        </a:lnSpc>
                        <a:buNone/>
                      </a:pPr>
                      <a:r>
                        <a:rPr lang="en-US" sz="1500" dirty="0">
                          <a:solidFill>
                            <a:srgbClr val="1B2430"/>
                          </a:solidFill>
                          <a:latin typeface="DM Sans" pitchFamily="34" charset="0"/>
                          <a:ea typeface="DM Sans" pitchFamily="34" charset="-122"/>
                          <a:cs typeface="DM Sans" pitchFamily="34" charset="-120"/>
                        </a:rPr>
                        <a:t>0.24</a:t>
                      </a:r>
                      <a:endParaRPr lang="en-US" sz="1500" dirty="0">
                        <a:latin typeface="DM Sans" charset="0"/>
                        <a:ea typeface="DM Sans" charset="0"/>
                        <a:cs typeface="DM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8C0B9"/>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2100"/>
                        </a:lnSpc>
                        <a:buNone/>
                      </a:pPr>
                      <a:r>
                        <a:rPr lang="en-US" sz="1500" dirty="0">
                          <a:solidFill>
                            <a:srgbClr val="1B2430"/>
                          </a:solidFill>
                          <a:latin typeface="DM Sans" pitchFamily="34" charset="0"/>
                          <a:ea typeface="DM Sans" pitchFamily="34" charset="-122"/>
                          <a:cs typeface="DM Sans" pitchFamily="34" charset="-120"/>
                        </a:rPr>
                        <a:t>24%</a:t>
                      </a:r>
                      <a:endParaRPr lang="en-US" sz="1500" dirty="0">
                        <a:latin typeface="DM Sans" charset="0"/>
                        <a:ea typeface="DM Sans" charset="0"/>
                        <a:cs typeface="DM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8C0B9"/>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B2430"/>
                          </a:solidFill>
                          <a:latin typeface="DM Sans" pitchFamily="34" charset="0"/>
                          <a:ea typeface="DM Sans" pitchFamily="34" charset="-122"/>
                          <a:cs typeface="DM Sans" pitchFamily="34" charset="-120"/>
                        </a:rPr>
                        <a:t>“0”</a:t>
                      </a:r>
                      <a:endParaRPr lang="en-US" sz="1500" dirty="0">
                        <a:latin typeface="DM Sans" charset="0"/>
                        <a:ea typeface="DM Sans" charset="0"/>
                        <a:cs typeface="DM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2100"/>
                        </a:lnSpc>
                        <a:buNone/>
                      </a:pPr>
                      <a:r>
                        <a:rPr lang="en-US" sz="1500" dirty="0">
                          <a:solidFill>
                            <a:srgbClr val="1B2430"/>
                          </a:solidFill>
                          <a:latin typeface="DM Sans" pitchFamily="34" charset="0"/>
                          <a:ea typeface="DM Sans" pitchFamily="34" charset="-122"/>
                          <a:cs typeface="DM Sans" pitchFamily="34" charset="-120"/>
                        </a:rPr>
                        <a:t>0</a:t>
                      </a:r>
                      <a:endParaRPr lang="en-US" sz="1500" dirty="0">
                        <a:latin typeface="DM Sans" charset="0"/>
                        <a:ea typeface="DM Sans" charset="0"/>
                        <a:cs typeface="DM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2100"/>
                        </a:lnSpc>
                        <a:buNone/>
                      </a:pPr>
                      <a:r>
                        <a:rPr lang="en-US" sz="1500" dirty="0">
                          <a:solidFill>
                            <a:srgbClr val="1B2430"/>
                          </a:solidFill>
                          <a:latin typeface="DM Sans" pitchFamily="34" charset="0"/>
                          <a:ea typeface="DM Sans" pitchFamily="34" charset="-122"/>
                          <a:cs typeface="DM Sans" pitchFamily="34" charset="-120"/>
                        </a:rPr>
                        <a:t>1.00</a:t>
                      </a:r>
                      <a:endParaRPr lang="en-US" sz="1500" dirty="0">
                        <a:latin typeface="DM Sans" charset="0"/>
                        <a:ea typeface="DM Sans" charset="0"/>
                        <a:cs typeface="DM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2100"/>
                        </a:lnSpc>
                        <a:buNone/>
                      </a:pPr>
                      <a:r>
                        <a:rPr lang="en-US" sz="1500" dirty="0">
                          <a:solidFill>
                            <a:srgbClr val="1B2430"/>
                          </a:solidFill>
                          <a:latin typeface="DM Sans" pitchFamily="34" charset="0"/>
                          <a:ea typeface="DM Sans" pitchFamily="34" charset="-122"/>
                          <a:cs typeface="DM Sans" pitchFamily="34" charset="-120"/>
                        </a:rPr>
                        <a:t>0.09</a:t>
                      </a:r>
                      <a:endParaRPr lang="en-US" sz="1500" dirty="0">
                        <a:latin typeface="DM Sans" charset="0"/>
                        <a:ea typeface="DM Sans" charset="0"/>
                        <a:cs typeface="DM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2100"/>
                        </a:lnSpc>
                        <a:buNone/>
                      </a:pPr>
                      <a:r>
                        <a:rPr lang="en-US" sz="1500" dirty="0">
                          <a:solidFill>
                            <a:srgbClr val="1B2430"/>
                          </a:solidFill>
                          <a:latin typeface="DM Sans" pitchFamily="34" charset="0"/>
                          <a:ea typeface="DM Sans" pitchFamily="34" charset="-122"/>
                          <a:cs typeface="DM Sans" pitchFamily="34" charset="-120"/>
                        </a:rPr>
                        <a:t>9%</a:t>
                      </a:r>
                      <a:endParaRPr lang="en-US" sz="1500" dirty="0">
                        <a:latin typeface="DM Sans" charset="0"/>
                        <a:ea typeface="DM Sans" charset="0"/>
                        <a:cs typeface="DM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B2430"/>
                          </a:solidFill>
                          <a:latin typeface="DM Sans" pitchFamily="34" charset="0"/>
                          <a:ea typeface="DM Sans" pitchFamily="34" charset="-122"/>
                          <a:cs typeface="DM Sans" pitchFamily="34" charset="-120"/>
                        </a:rPr>
                        <a:t>Total</a:t>
                      </a:r>
                      <a:endParaRPr lang="en-US" sz="1500" dirty="0">
                        <a:latin typeface="DM Sans" charset="0"/>
                        <a:ea typeface="DM Sans" charset="0"/>
                        <a:cs typeface="DM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B5B4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5B4AE"/>
                      </a:solidFill>
                      <a:prstDash val="solid"/>
                      <a:round/>
                      <a:headEnd type="none" w="med" len="med"/>
                      <a:tailEnd type="none" w="med" len="med"/>
                    </a:lnB>
                    <a:solidFill>
                      <a:srgbClr val="E3E1DA"/>
                    </a:solidFill>
                  </a:tcPr>
                </a:tc>
                <a:tc>
                  <a:txBody>
                    <a:bodyPr/>
                    <a:lstStyle/>
                    <a:p>
                      <a:pPr algn="r" indent="0" marL="0">
                        <a:lnSpc>
                          <a:spcPts val="2100"/>
                        </a:lnSpc>
                        <a:buNone/>
                      </a:pPr>
                      <a:endParaRPr lang="en-US" sz="1500" dirty="0">
                        <a:latin typeface="DM Sans" charset="0"/>
                        <a:ea typeface="DM Sans" charset="0"/>
                        <a:cs typeface="DM Sans" charset="0"/>
                      </a:endParaRPr>
                    </a:p>
                  </a:txBody>
                  <a:tcPr marL="66675" marR="66675" marT="66675" marB="66675" anchor="t">
                    <a:lnL w="12700" cap="flat" cmpd="sng" algn="ctr">
                      <a:solidFill>
                        <a:srgbClr val="B5B4AE"/>
                      </a:solidFill>
                      <a:prstDash val="solid"/>
                      <a:round/>
                      <a:headEnd type="none" w="med" len="med"/>
                      <a:tailEnd type="none" w="med" len="med"/>
                    </a:lnL>
                    <a:lnR w="12700" cap="flat" cmpd="sng" algn="ctr">
                      <a:solidFill>
                        <a:srgbClr val="B5B4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5B4AE"/>
                      </a:solidFill>
                      <a:prstDash val="solid"/>
                      <a:round/>
                      <a:headEnd type="none" w="med" len="med"/>
                      <a:tailEnd type="none" w="med" len="med"/>
                    </a:lnB>
                    <a:solidFill>
                      <a:srgbClr val="E3E1DA"/>
                    </a:solidFill>
                  </a:tcPr>
                </a:tc>
                <a:tc>
                  <a:txBody>
                    <a:bodyPr/>
                    <a:lstStyle/>
                    <a:p>
                      <a:pPr algn="r" indent="0" marL="0">
                        <a:lnSpc>
                          <a:spcPts val="2100"/>
                        </a:lnSpc>
                        <a:buNone/>
                      </a:pPr>
                      <a:r>
                        <a:rPr lang="en-US" sz="1500" dirty="0">
                          <a:solidFill>
                            <a:srgbClr val="1B2430"/>
                          </a:solidFill>
                          <a:latin typeface="DM Sans" pitchFamily="34" charset="0"/>
                          <a:ea typeface="DM Sans" pitchFamily="34" charset="-122"/>
                          <a:cs typeface="DM Sans" pitchFamily="34" charset="-120"/>
                        </a:rPr>
                        <a:t>11.11 (step 2: add)</a:t>
                      </a:r>
                      <a:endParaRPr lang="en-US" sz="1500" dirty="0">
                        <a:latin typeface="DM Sans" charset="0"/>
                        <a:ea typeface="DM Sans" charset="0"/>
                        <a:cs typeface="DM Sans" charset="0"/>
                      </a:endParaRPr>
                    </a:p>
                  </a:txBody>
                  <a:tcPr marL="66675" marR="66675" marT="66675" marB="66675" anchor="t">
                    <a:lnL w="12700" cap="flat" cmpd="sng" algn="ctr">
                      <a:solidFill>
                        <a:srgbClr val="B5B4AE"/>
                      </a:solidFill>
                      <a:prstDash val="solid"/>
                      <a:round/>
                      <a:headEnd type="none" w="med" len="med"/>
                      <a:tailEnd type="none" w="med" len="med"/>
                    </a:lnL>
                    <a:lnR w="12700" cap="flat" cmpd="sng" algn="ctr">
                      <a:solidFill>
                        <a:srgbClr val="B5B4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5B4AE"/>
                      </a:solidFill>
                      <a:prstDash val="solid"/>
                      <a:round/>
                      <a:headEnd type="none" w="med" len="med"/>
                      <a:tailEnd type="none" w="med" len="med"/>
                    </a:lnB>
                    <a:solidFill>
                      <a:srgbClr val="E3E1DA"/>
                    </a:solidFill>
                  </a:tcPr>
                </a:tc>
                <a:tc>
                  <a:txBody>
                    <a:bodyPr/>
                    <a:lstStyle/>
                    <a:p>
                      <a:pPr algn="r" indent="0" marL="0">
                        <a:lnSpc>
                          <a:spcPts val="2100"/>
                        </a:lnSpc>
                        <a:buNone/>
                      </a:pPr>
                      <a:r>
                        <a:rPr lang="en-US" sz="1500" dirty="0">
                          <a:solidFill>
                            <a:srgbClr val="1B2430"/>
                          </a:solidFill>
                          <a:latin typeface="DM Sans" pitchFamily="34" charset="0"/>
                          <a:ea typeface="DM Sans" pitchFamily="34" charset="-122"/>
                          <a:cs typeface="DM Sans" pitchFamily="34" charset="-120"/>
                        </a:rPr>
                        <a:t>1.00</a:t>
                      </a:r>
                      <a:endParaRPr lang="en-US" sz="1500" dirty="0">
                        <a:latin typeface="DM Sans" charset="0"/>
                        <a:ea typeface="DM Sans" charset="0"/>
                        <a:cs typeface="DM Sans" charset="0"/>
                      </a:endParaRPr>
                    </a:p>
                  </a:txBody>
                  <a:tcPr marL="66675" marR="66675" marT="66675" marB="66675" anchor="t">
                    <a:lnL w="12700" cap="flat" cmpd="sng" algn="ctr">
                      <a:solidFill>
                        <a:srgbClr val="B5B4AE"/>
                      </a:solidFill>
                      <a:prstDash val="solid"/>
                      <a:round/>
                      <a:headEnd type="none" w="med" len="med"/>
                      <a:tailEnd type="none" w="med" len="med"/>
                    </a:lnL>
                    <a:lnR w="12700" cap="flat" cmpd="sng" algn="ctr">
                      <a:solidFill>
                        <a:srgbClr val="B5B4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5B4AE"/>
                      </a:solidFill>
                      <a:prstDash val="solid"/>
                      <a:round/>
                      <a:headEnd type="none" w="med" len="med"/>
                      <a:tailEnd type="none" w="med" len="med"/>
                    </a:lnB>
                    <a:solidFill>
                      <a:srgbClr val="E3E1DA"/>
                    </a:solidFill>
                  </a:tcPr>
                </a:tc>
                <a:tc>
                  <a:txBody>
                    <a:bodyPr/>
                    <a:lstStyle/>
                    <a:p>
                      <a:pPr algn="r" indent="0" marL="0">
                        <a:lnSpc>
                          <a:spcPts val="2100"/>
                        </a:lnSpc>
                        <a:buNone/>
                      </a:pPr>
                      <a:r>
                        <a:rPr lang="en-US" sz="1500" dirty="0">
                          <a:solidFill>
                            <a:srgbClr val="1B2430"/>
                          </a:solidFill>
                          <a:latin typeface="DM Sans" pitchFamily="34" charset="0"/>
                          <a:ea typeface="DM Sans" pitchFamily="34" charset="-122"/>
                          <a:cs typeface="DM Sans" pitchFamily="34" charset="-120"/>
                        </a:rPr>
                        <a:t>100%</a:t>
                      </a:r>
                      <a:endParaRPr lang="en-US" sz="1500" dirty="0">
                        <a:latin typeface="DM Sans" charset="0"/>
                        <a:ea typeface="DM Sans" charset="0"/>
                        <a:cs typeface="DM Sans" charset="0"/>
                      </a:endParaRPr>
                    </a:p>
                  </a:txBody>
                  <a:tcPr marL="66675" marR="66675" marT="66675" marB="66675" anchor="t">
                    <a:lnL w="12700" cap="flat" cmpd="sng" algn="ctr">
                      <a:solidFill>
                        <a:srgbClr val="B5B4AE"/>
                      </a:solidFill>
                      <a:prstDash val="solid"/>
                      <a:round/>
                      <a:headEnd type="none" w="med" len="med"/>
                      <a:tailEnd type="none" w="med" len="med"/>
                    </a:lnL>
                    <a:lnR w="12700" cap="flat" cmpd="sng" algn="ctr">
                      <a:solidFill>
                        <a:srgbClr val="B5B4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5B4AE"/>
                      </a:solidFill>
                      <a:prstDash val="solid"/>
                      <a:round/>
                      <a:headEnd type="none" w="med" len="med"/>
                      <a:tailEnd type="none" w="med" len="med"/>
                    </a:lnB>
                    <a:solidFill>
                      <a:srgbClr val="E3E1DA"/>
                    </a:solidFill>
                  </a:tcPr>
                </a:tc>
              </a:tr>
            </a:tbl>
          </a:graphicData>
        </a:graphic>
      </p:graphicFrame>
      <p:sp>
        <p:nvSpPr>
          <p:cNvPr id="36" name="Shape 33"/>
          <p:cNvSpPr/>
          <p:nvPr/>
        </p:nvSpPr>
        <p:spPr>
          <a:xfrm>
            <a:off x="812800" y="4331841"/>
            <a:ext cx="5207000" cy="1016000"/>
          </a:xfrm>
          <a:prstGeom prst="roundRect">
            <a:avLst>
              <a:gd name="adj" fmla="val 10000"/>
            </a:avLst>
          </a:prstGeom>
          <a:solidFill>
            <a:srgbClr val="1B2430"/>
          </a:solidFill>
          <a:ln/>
        </p:spPr>
      </p:sp>
      <p:sp>
        <p:nvSpPr>
          <p:cNvPr id="37" name="Text 34"/>
          <p:cNvSpPr/>
          <p:nvPr/>
        </p:nvSpPr>
        <p:spPr>
          <a:xfrm>
            <a:off x="990600" y="4484241"/>
            <a:ext cx="282922" cy="736600"/>
          </a:xfrm>
          <a:prstGeom prst="rect">
            <a:avLst/>
          </a:prstGeom>
          <a:noFill/>
          <a:ln/>
        </p:spPr>
        <p:txBody>
          <a:bodyPr wrap="square" lIns="0" tIns="0" rIns="0" bIns="0" rtlCol="0" anchor="t">
            <a:normAutofit/>
          </a:bodyPr>
          <a:lstStyle/>
          <a:p>
            <a:pPr algn="l" indent="0" marL="0">
              <a:lnSpc>
                <a:spcPts val="5600"/>
              </a:lnSpc>
              <a:buNone/>
            </a:pPr>
            <a:r>
              <a:rPr lang="en-US" sz="4000" b="1" dirty="0">
                <a:solidFill>
                  <a:srgbClr val="F0A070"/>
                </a:solidFill>
                <a:latin typeface="JetBrains Mono" pitchFamily="49" charset="0"/>
                <a:ea typeface="JetBrains Mono" pitchFamily="49" charset="-122"/>
                <a:cs typeface="JetBrains Mono" pitchFamily="49" charset="-120"/>
              </a:rPr>
              <a:t>1</a:t>
            </a:r>
            <a:endParaRPr lang="en-US" sz="4000" dirty="0"/>
          </a:p>
        </p:txBody>
      </p:sp>
      <p:sp>
        <p:nvSpPr>
          <p:cNvPr id="38" name="Text 35"/>
          <p:cNvSpPr/>
          <p:nvPr/>
        </p:nvSpPr>
        <p:spPr>
          <a:xfrm>
            <a:off x="1375122" y="4590951"/>
            <a:ext cx="460088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5F0"/>
                </a:solidFill>
                <a:latin typeface="DM Sans" pitchFamily="34" charset="0"/>
                <a:ea typeface="DM Sans" pitchFamily="34" charset="-122"/>
                <a:cs typeface="DM Sans" pitchFamily="34" charset="-120"/>
              </a:rPr>
              <a:t>Biggest chance is “1” (67%), so the answer is </a:t>
            </a:r>
            <a:r>
              <a:rPr lang="en-US" sz="1400" b="1" dirty="0">
                <a:solidFill>
                  <a:srgbClr val="F7F5F0"/>
                </a:solidFill>
                <a:latin typeface="DM Sans" pitchFamily="34" charset="0"/>
                <a:ea typeface="DM Sans" pitchFamily="34" charset="-122"/>
                <a:cs typeface="DM Sans" pitchFamily="34" charset="-120"/>
              </a:rPr>
              <a:t>1</a:t>
            </a:r>
            <a:r>
              <a:rPr lang="en-US" sz="1400" dirty="0">
                <a:solidFill>
                  <a:srgbClr val="F7F5F0"/>
                </a:solidFill>
                <a:latin typeface="DM Sans" pitchFamily="34" charset="0"/>
                <a:ea typeface="DM Sans" pitchFamily="34" charset="-122"/>
                <a:cs typeface="DM Sans" pitchFamily="34" charset="-120"/>
              </a:rPr>
              <a:t>. Correct: our picture is a 1.</a:t>
            </a:r>
            <a:endParaRPr lang="en-US" sz="1400" dirty="0"/>
          </a:p>
        </p:txBody>
      </p:sp>
      <p:sp>
        <p:nvSpPr>
          <p:cNvPr id="39" name="Shape 36"/>
          <p:cNvSpPr/>
          <p:nvPr/>
        </p:nvSpPr>
        <p:spPr>
          <a:xfrm>
            <a:off x="6172200" y="4331841"/>
            <a:ext cx="5207000" cy="1016000"/>
          </a:xfrm>
          <a:prstGeom prst="roundRect">
            <a:avLst>
              <a:gd name="adj" fmla="val 7500"/>
            </a:avLst>
          </a:prstGeom>
          <a:solidFill>
            <a:srgbClr val="FFFDF8"/>
          </a:solidFill>
          <a:ln/>
        </p:spPr>
      </p:sp>
      <p:sp>
        <p:nvSpPr>
          <p:cNvPr id="40" name="Shape 37"/>
          <p:cNvSpPr/>
          <p:nvPr/>
        </p:nvSpPr>
        <p:spPr>
          <a:xfrm>
            <a:off x="6172200" y="4331841"/>
            <a:ext cx="5207000" cy="1016000"/>
          </a:xfrm>
          <a:custGeom>
            <a:avLst/>
            <a:gdLst/>
            <a:ahLst/>
            <a:cxnLst/>
            <a:rect l="l" t="t" r="r" b="b"/>
            <a:pathLst>
              <a:path w="5207000" h="1016000">
                <a:moveTo>
                  <a:pt x="76200" y="1016000"/>
                </a:moveTo>
                <a:lnTo>
                  <a:pt x="76200" y="1016000"/>
                </a:lnTo>
                <a:arcTo hR="76200" wR="76200" stAng="5400000" swAng="5400000"/>
                <a:lnTo>
                  <a:pt x="0" y="76200"/>
                </a:lnTo>
                <a:arcTo hR="76200" wR="76200" stAng="10800000" swAng="5400000"/>
                <a:lnTo>
                  <a:pt x="76200" y="0"/>
                </a:lnTo>
                <a:arcTo hR="76200" wR="25400" stAng="16200000" swAng="-5400000"/>
                <a:lnTo>
                  <a:pt x="50800" y="939800"/>
                </a:lnTo>
                <a:arcTo hR="76200" wR="25400" stAng="10800000" swAng="-5400000"/>
                <a:close/>
              </a:path>
            </a:pathLst>
          </a:custGeom>
          <a:solidFill>
            <a:srgbClr val="2B5FA6"/>
          </a:solidFill>
          <a:ln/>
        </p:spPr>
      </p:sp>
      <p:sp>
        <p:nvSpPr>
          <p:cNvPr id="41" name="Text 38"/>
          <p:cNvSpPr/>
          <p:nvPr/>
        </p:nvSpPr>
        <p:spPr>
          <a:xfrm>
            <a:off x="6375400" y="4458841"/>
            <a:ext cx="499694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0"/>
                </a:solidFill>
                <a:latin typeface="DM Sans" pitchFamily="34" charset="0"/>
                <a:ea typeface="DM Sans" pitchFamily="34" charset="-122"/>
                <a:cs typeface="DM Sans" pitchFamily="34" charset="-120"/>
              </a:rPr>
              <a:t>Like sharing a pizza</a:t>
            </a:r>
            <a:endParaRPr lang="en-US" sz="1500" dirty="0"/>
          </a:p>
        </p:txBody>
      </p:sp>
      <p:sp>
        <p:nvSpPr>
          <p:cNvPr id="42" name="Text 39"/>
          <p:cNvSpPr/>
          <p:nvPr/>
        </p:nvSpPr>
        <p:spPr>
          <a:xfrm>
            <a:off x="6375400" y="4725541"/>
            <a:ext cx="499694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The hungriest gets the biggest slice, but all slices add up to one whole pizza.</a:t>
            </a:r>
            <a:endParaRPr lang="en-US" sz="1300" dirty="0"/>
          </a:p>
        </p:txBody>
      </p:sp>
      <p:sp>
        <p:nvSpPr>
          <p:cNvPr id="43" name="Text 4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DM Sans" pitchFamily="34" charset="0"/>
                <a:ea typeface="DM Sans" pitchFamily="34" charset="-122"/>
                <a:cs typeface="DM Sans" pitchFamily="34" charset="-120"/>
              </a:rPr>
              <a:t>CNN step by step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5FA6"/>
                </a:solidFill>
                <a:latin typeface="DM Sans" pitchFamily="34" charset="0"/>
                <a:ea typeface="DM Sans" pitchFamily="34" charset="-122"/>
                <a:cs typeface="DM Sans" pitchFamily="34" charset="-120"/>
              </a:rPr>
              <a:t>CHOICES · LAST LAYER AND LOSS</a:t>
            </a:r>
            <a:endParaRPr lang="en-US" sz="1200" dirty="0"/>
          </a:p>
        </p:txBody>
      </p:sp>
      <p:sp>
        <p:nvSpPr>
          <p:cNvPr id="3" name="Text 1"/>
          <p:cNvSpPr/>
          <p:nvPr>
            <p:ph type="title"/>
          </p:nvPr>
        </p:nvSpPr>
        <p:spPr>
          <a:xfrm>
            <a:off x="812800" y="10769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430"/>
                </a:solidFill>
                <a:latin typeface="DM Sans" pitchFamily="34" charset="0"/>
                <a:ea typeface="DM Sans" pitchFamily="34" charset="-122"/>
                <a:cs typeface="DM Sans" pitchFamily="34" charset="-120"/>
              </a:rPr>
              <a:t>Why softmax and not sigmoid?</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39850"/>
          <a:ext cx="10553700" cy="2063750"/>
        </p:xfrm>
        <a:graphic>
          <a:graphicData uri="http://schemas.openxmlformats.org/drawingml/2006/table">
            <a:tbl>
              <a:tblPr/>
              <a:tblGrid>
                <a:gridCol w="1688592"/>
                <a:gridCol w="1899666"/>
                <a:gridCol w="3799332"/>
                <a:gridCol w="3166110"/>
              </a:tblGrid>
              <a:tr h="412750">
                <a:tc>
                  <a:txBody>
                    <a:bodyPr/>
                    <a:lstStyle/>
                    <a:p>
                      <a:pPr indent="0" marL="0">
                        <a:lnSpc>
                          <a:spcPts val="2100"/>
                        </a:lnSpc>
                        <a:buNone/>
                      </a:pPr>
                      <a:r>
                        <a:rPr lang="en-US" sz="1500" b="1" dirty="0">
                          <a:solidFill>
                            <a:srgbClr val="F7F5F0"/>
                          </a:solidFill>
                          <a:latin typeface="DM Sans" pitchFamily="34" charset="0"/>
                          <a:ea typeface="DM Sans" pitchFamily="34" charset="-122"/>
                          <a:cs typeface="DM Sans" pitchFamily="34" charset="-120"/>
                        </a:rPr>
                        <a:t>Class</a:t>
                      </a:r>
                      <a:endParaRPr lang="en-US" sz="1500" dirty="0">
                        <a:latin typeface="DM Sans" charset="0"/>
                        <a:ea typeface="DM Sans" charset="0"/>
                        <a:cs typeface="DM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c>
                  <a:txBody>
                    <a:bodyPr/>
                    <a:lstStyle/>
                    <a:p>
                      <a:pPr algn="r" indent="0" marL="0">
                        <a:lnSpc>
                          <a:spcPts val="2100"/>
                        </a:lnSpc>
                        <a:buNone/>
                      </a:pPr>
                      <a:r>
                        <a:rPr lang="en-US" sz="1500" b="1" dirty="0">
                          <a:solidFill>
                            <a:srgbClr val="F7F5F0"/>
                          </a:solidFill>
                          <a:latin typeface="DM Sans" pitchFamily="34" charset="0"/>
                          <a:ea typeface="DM Sans" pitchFamily="34" charset="-122"/>
                          <a:cs typeface="DM Sans" pitchFamily="34" charset="-120"/>
                        </a:rPr>
                        <a:t>Score</a:t>
                      </a:r>
                      <a:endParaRPr lang="en-US" sz="1500" dirty="0">
                        <a:latin typeface="DM Sans" charset="0"/>
                        <a:ea typeface="DM Sans" charset="0"/>
                        <a:cs typeface="DM Sans" charset="0"/>
                      </a:endParaRPr>
                    </a:p>
                  </a:txBody>
                  <a:tcPr marL="66675" marR="66675" marT="66675" marB="66675" anchor="t">
                    <a:lnL w="12700" cap="flat" cmpd="sng" algn="ctr">
                      <a:solidFill>
                        <a:srgbClr val="19202A"/>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c>
                  <a:txBody>
                    <a:bodyPr/>
                    <a:lstStyle/>
                    <a:p>
                      <a:pPr algn="r" indent="0" marL="0">
                        <a:lnSpc>
                          <a:spcPts val="2100"/>
                        </a:lnSpc>
                        <a:buNone/>
                      </a:pPr>
                      <a:r>
                        <a:rPr lang="en-US" sz="1500" b="1" dirty="0">
                          <a:solidFill>
                            <a:srgbClr val="F7F5F0"/>
                          </a:solidFill>
                          <a:latin typeface="DM Sans" pitchFamily="34" charset="0"/>
                          <a:ea typeface="DM Sans" pitchFamily="34" charset="-122"/>
                          <a:cs typeface="DM Sans" pitchFamily="34" charset="-120"/>
                        </a:rPr>
                        <a:t>Sigmoid (each one alone)</a:t>
                      </a:r>
                      <a:endParaRPr lang="en-US" sz="1500" dirty="0">
                        <a:latin typeface="DM Sans" charset="0"/>
                        <a:ea typeface="DM Sans" charset="0"/>
                        <a:cs typeface="DM Sans" charset="0"/>
                      </a:endParaRPr>
                    </a:p>
                  </a:txBody>
                  <a:tcPr marL="66675" marR="66675" marT="66675" marB="66675" anchor="t">
                    <a:lnL w="12700" cap="flat" cmpd="sng" algn="ctr">
                      <a:solidFill>
                        <a:srgbClr val="19202A"/>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c>
                  <a:txBody>
                    <a:bodyPr/>
                    <a:lstStyle/>
                    <a:p>
                      <a:pPr algn="r" indent="0" marL="0">
                        <a:lnSpc>
                          <a:spcPts val="2100"/>
                        </a:lnSpc>
                        <a:buNone/>
                      </a:pPr>
                      <a:r>
                        <a:rPr lang="en-US" sz="1500" b="1" dirty="0">
                          <a:solidFill>
                            <a:srgbClr val="F7F5F0"/>
                          </a:solidFill>
                          <a:latin typeface="DM Sans" pitchFamily="34" charset="0"/>
                          <a:ea typeface="DM Sans" pitchFamily="34" charset="-122"/>
                          <a:cs typeface="DM Sans" pitchFamily="34" charset="-120"/>
                        </a:rPr>
                        <a:t>Softmax (all together)</a:t>
                      </a:r>
                      <a:endParaRPr lang="en-US" sz="1500" dirty="0">
                        <a:latin typeface="DM Sans" charset="0"/>
                        <a:ea typeface="DM Sans" charset="0"/>
                        <a:cs typeface="DM Sans" charset="0"/>
                      </a:endParaRPr>
                    </a:p>
                  </a:txBody>
                  <a:tcPr marL="66675" marR="66675" marT="66675" marB="66675" anchor="t">
                    <a:lnL w="12700" cap="flat" cmpd="sng" algn="ctr">
                      <a:solidFill>
                        <a:srgbClr val="19202A"/>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r>
              <a:tr h="412750">
                <a:tc>
                  <a:txBody>
                    <a:bodyPr/>
                    <a:lstStyle/>
                    <a:p>
                      <a:pPr indent="0" marL="0">
                        <a:lnSpc>
                          <a:spcPts val="2100"/>
                        </a:lnSpc>
                        <a:buNone/>
                      </a:pPr>
                      <a:r>
                        <a:rPr lang="en-US" sz="1500" dirty="0">
                          <a:solidFill>
                            <a:srgbClr val="1B2430"/>
                          </a:solidFill>
                          <a:latin typeface="DM Sans" pitchFamily="34" charset="0"/>
                          <a:ea typeface="DM Sans" pitchFamily="34" charset="-122"/>
                          <a:cs typeface="DM Sans" pitchFamily="34" charset="-120"/>
                        </a:rPr>
                        <a:t>“1”</a:t>
                      </a:r>
                      <a:endParaRPr lang="en-US" sz="1500" dirty="0">
                        <a:latin typeface="DM Sans" charset="0"/>
                        <a:ea typeface="DM Sans" charset="0"/>
                        <a:cs typeface="DM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2100"/>
                        </a:lnSpc>
                        <a:buNone/>
                      </a:pPr>
                      <a:r>
                        <a:rPr lang="en-US" sz="1500" dirty="0">
                          <a:solidFill>
                            <a:srgbClr val="1B2430"/>
                          </a:solidFill>
                          <a:latin typeface="DM Sans" pitchFamily="34" charset="0"/>
                          <a:ea typeface="DM Sans" pitchFamily="34" charset="-122"/>
                          <a:cs typeface="DM Sans" pitchFamily="34" charset="-120"/>
                        </a:rPr>
                        <a:t>2.0</a:t>
                      </a:r>
                      <a:endParaRPr lang="en-US" sz="1500" dirty="0">
                        <a:latin typeface="DM Sans" charset="0"/>
                        <a:ea typeface="DM Sans" charset="0"/>
                        <a:cs typeface="DM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2100"/>
                        </a:lnSpc>
                        <a:buNone/>
                      </a:pPr>
                      <a:r>
                        <a:rPr lang="en-US" sz="1500" dirty="0">
                          <a:solidFill>
                            <a:srgbClr val="1B2430"/>
                          </a:solidFill>
                          <a:latin typeface="DM Sans" pitchFamily="34" charset="0"/>
                          <a:ea typeface="DM Sans" pitchFamily="34" charset="-122"/>
                          <a:cs typeface="DM Sans" pitchFamily="34" charset="-120"/>
                        </a:rPr>
                        <a:t>0.88</a:t>
                      </a:r>
                      <a:endParaRPr lang="en-US" sz="1500" dirty="0">
                        <a:latin typeface="DM Sans" charset="0"/>
                        <a:ea typeface="DM Sans" charset="0"/>
                        <a:cs typeface="DM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2100"/>
                        </a:lnSpc>
                        <a:buNone/>
                      </a:pPr>
                      <a:r>
                        <a:rPr lang="en-US" sz="1500" dirty="0">
                          <a:solidFill>
                            <a:srgbClr val="1B2430"/>
                          </a:solidFill>
                          <a:latin typeface="DM Sans" pitchFamily="34" charset="0"/>
                          <a:ea typeface="DM Sans" pitchFamily="34" charset="-122"/>
                          <a:cs typeface="DM Sans" pitchFamily="34" charset="-120"/>
                        </a:rPr>
                        <a:t>0.67</a:t>
                      </a:r>
                      <a:endParaRPr lang="en-US" sz="1500" dirty="0">
                        <a:latin typeface="DM Sans" charset="0"/>
                        <a:ea typeface="DM Sans" charset="0"/>
                        <a:cs typeface="DM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B2430"/>
                          </a:solidFill>
                          <a:latin typeface="DM Sans" pitchFamily="34" charset="0"/>
                          <a:ea typeface="DM Sans" pitchFamily="34" charset="-122"/>
                          <a:cs typeface="DM Sans" pitchFamily="34" charset="-120"/>
                        </a:rPr>
                        <a:t>“7”</a:t>
                      </a:r>
                      <a:endParaRPr lang="en-US" sz="1500" dirty="0">
                        <a:latin typeface="DM Sans" charset="0"/>
                        <a:ea typeface="DM Sans" charset="0"/>
                        <a:cs typeface="DM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2100"/>
                        </a:lnSpc>
                        <a:buNone/>
                      </a:pPr>
                      <a:r>
                        <a:rPr lang="en-US" sz="1500" dirty="0">
                          <a:solidFill>
                            <a:srgbClr val="1B2430"/>
                          </a:solidFill>
                          <a:latin typeface="DM Sans" pitchFamily="34" charset="0"/>
                          <a:ea typeface="DM Sans" pitchFamily="34" charset="-122"/>
                          <a:cs typeface="DM Sans" pitchFamily="34" charset="-120"/>
                        </a:rPr>
                        <a:t>1.0</a:t>
                      </a:r>
                      <a:endParaRPr lang="en-US" sz="1500" dirty="0">
                        <a:latin typeface="DM Sans" charset="0"/>
                        <a:ea typeface="DM Sans" charset="0"/>
                        <a:cs typeface="DM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2100"/>
                        </a:lnSpc>
                        <a:buNone/>
                      </a:pPr>
                      <a:r>
                        <a:rPr lang="en-US" sz="1500" dirty="0">
                          <a:solidFill>
                            <a:srgbClr val="1B2430"/>
                          </a:solidFill>
                          <a:latin typeface="DM Sans" pitchFamily="34" charset="0"/>
                          <a:ea typeface="DM Sans" pitchFamily="34" charset="-122"/>
                          <a:cs typeface="DM Sans" pitchFamily="34" charset="-120"/>
                        </a:rPr>
                        <a:t>0.73</a:t>
                      </a:r>
                      <a:endParaRPr lang="en-US" sz="1500" dirty="0">
                        <a:latin typeface="DM Sans" charset="0"/>
                        <a:ea typeface="DM Sans" charset="0"/>
                        <a:cs typeface="DM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2100"/>
                        </a:lnSpc>
                        <a:buNone/>
                      </a:pPr>
                      <a:r>
                        <a:rPr lang="en-US" sz="1500" dirty="0">
                          <a:solidFill>
                            <a:srgbClr val="1B2430"/>
                          </a:solidFill>
                          <a:latin typeface="DM Sans" pitchFamily="34" charset="0"/>
                          <a:ea typeface="DM Sans" pitchFamily="34" charset="-122"/>
                          <a:cs typeface="DM Sans" pitchFamily="34" charset="-120"/>
                        </a:rPr>
                        <a:t>0.24</a:t>
                      </a:r>
                      <a:endParaRPr lang="en-US" sz="1500" dirty="0">
                        <a:latin typeface="DM Sans" charset="0"/>
                        <a:ea typeface="DM Sans" charset="0"/>
                        <a:cs typeface="DM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B2430"/>
                          </a:solidFill>
                          <a:latin typeface="DM Sans" pitchFamily="34" charset="0"/>
                          <a:ea typeface="DM Sans" pitchFamily="34" charset="-122"/>
                          <a:cs typeface="DM Sans" pitchFamily="34" charset="-120"/>
                        </a:rPr>
                        <a:t>“0”</a:t>
                      </a:r>
                      <a:endParaRPr lang="en-US" sz="1500" dirty="0">
                        <a:latin typeface="DM Sans" charset="0"/>
                        <a:ea typeface="DM Sans" charset="0"/>
                        <a:cs typeface="DM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2100"/>
                        </a:lnSpc>
                        <a:buNone/>
                      </a:pPr>
                      <a:r>
                        <a:rPr lang="en-US" sz="1500" dirty="0">
                          <a:solidFill>
                            <a:srgbClr val="1B2430"/>
                          </a:solidFill>
                          <a:latin typeface="DM Sans" pitchFamily="34" charset="0"/>
                          <a:ea typeface="DM Sans" pitchFamily="34" charset="-122"/>
                          <a:cs typeface="DM Sans" pitchFamily="34" charset="-120"/>
                        </a:rPr>
                        <a:t>0</a:t>
                      </a:r>
                      <a:endParaRPr lang="en-US" sz="1500" dirty="0">
                        <a:latin typeface="DM Sans" charset="0"/>
                        <a:ea typeface="DM Sans" charset="0"/>
                        <a:cs typeface="DM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2100"/>
                        </a:lnSpc>
                        <a:buNone/>
                      </a:pPr>
                      <a:r>
                        <a:rPr lang="en-US" sz="1500" dirty="0">
                          <a:solidFill>
                            <a:srgbClr val="1B2430"/>
                          </a:solidFill>
                          <a:latin typeface="DM Sans" pitchFamily="34" charset="0"/>
                          <a:ea typeface="DM Sans" pitchFamily="34" charset="-122"/>
                          <a:cs typeface="DM Sans" pitchFamily="34" charset="-120"/>
                        </a:rPr>
                        <a:t>0.50</a:t>
                      </a:r>
                      <a:endParaRPr lang="en-US" sz="1500" dirty="0">
                        <a:latin typeface="DM Sans" charset="0"/>
                        <a:ea typeface="DM Sans" charset="0"/>
                        <a:cs typeface="DM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2100"/>
                        </a:lnSpc>
                        <a:buNone/>
                      </a:pPr>
                      <a:r>
                        <a:rPr lang="en-US" sz="1500" dirty="0">
                          <a:solidFill>
                            <a:srgbClr val="1B2430"/>
                          </a:solidFill>
                          <a:latin typeface="DM Sans" pitchFamily="34" charset="0"/>
                          <a:ea typeface="DM Sans" pitchFamily="34" charset="-122"/>
                          <a:cs typeface="DM Sans" pitchFamily="34" charset="-120"/>
                        </a:rPr>
                        <a:t>0.09</a:t>
                      </a:r>
                      <a:endParaRPr lang="en-US" sz="1500" dirty="0">
                        <a:latin typeface="DM Sans" charset="0"/>
                        <a:ea typeface="DM Sans" charset="0"/>
                        <a:cs typeface="DM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B2430"/>
                          </a:solidFill>
                          <a:latin typeface="DM Sans" pitchFamily="34" charset="0"/>
                          <a:ea typeface="DM Sans" pitchFamily="34" charset="-122"/>
                          <a:cs typeface="DM Sans" pitchFamily="34" charset="-120"/>
                        </a:rPr>
                        <a:t>Total</a:t>
                      </a:r>
                      <a:endParaRPr lang="en-US" sz="1500" dirty="0">
                        <a:latin typeface="DM Sans" charset="0"/>
                        <a:ea typeface="DM Sans" charset="0"/>
                        <a:cs typeface="DM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B5B4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5B4AE"/>
                      </a:solidFill>
                      <a:prstDash val="solid"/>
                      <a:round/>
                      <a:headEnd type="none" w="med" len="med"/>
                      <a:tailEnd type="none" w="med" len="med"/>
                    </a:lnB>
                    <a:solidFill>
                      <a:srgbClr val="E3E1DA"/>
                    </a:solidFill>
                  </a:tcPr>
                </a:tc>
                <a:tc>
                  <a:txBody>
                    <a:bodyPr/>
                    <a:lstStyle/>
                    <a:p>
                      <a:pPr algn="r" indent="0" marL="0">
                        <a:lnSpc>
                          <a:spcPts val="2100"/>
                        </a:lnSpc>
                        <a:buNone/>
                      </a:pPr>
                      <a:endParaRPr lang="en-US" sz="1500" dirty="0">
                        <a:latin typeface="DM Sans" charset="0"/>
                        <a:ea typeface="DM Sans" charset="0"/>
                        <a:cs typeface="DM Sans" charset="0"/>
                      </a:endParaRPr>
                    </a:p>
                  </a:txBody>
                  <a:tcPr marL="66675" marR="66675" marT="66675" marB="66675" anchor="t">
                    <a:lnL w="12700" cap="flat" cmpd="sng" algn="ctr">
                      <a:solidFill>
                        <a:srgbClr val="B5B4AE"/>
                      </a:solidFill>
                      <a:prstDash val="solid"/>
                      <a:round/>
                      <a:headEnd type="none" w="med" len="med"/>
                      <a:tailEnd type="none" w="med" len="med"/>
                    </a:lnL>
                    <a:lnR w="12700" cap="flat" cmpd="sng" algn="ctr">
                      <a:solidFill>
                        <a:srgbClr val="B5B4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5B4AE"/>
                      </a:solidFill>
                      <a:prstDash val="solid"/>
                      <a:round/>
                      <a:headEnd type="none" w="med" len="med"/>
                      <a:tailEnd type="none" w="med" len="med"/>
                    </a:lnB>
                    <a:solidFill>
                      <a:srgbClr val="E3E1DA"/>
                    </a:solidFill>
                  </a:tcPr>
                </a:tc>
                <a:tc>
                  <a:txBody>
                    <a:bodyPr/>
                    <a:lstStyle/>
                    <a:p>
                      <a:pPr algn="r" indent="0" marL="0">
                        <a:lnSpc>
                          <a:spcPts val="2100"/>
                        </a:lnSpc>
                        <a:buNone/>
                      </a:pPr>
                      <a:r>
                        <a:rPr lang="en-US" sz="1500" dirty="0">
                          <a:solidFill>
                            <a:srgbClr val="2B5FA6"/>
                          </a:solidFill>
                          <a:latin typeface="DM Sans" pitchFamily="34" charset="0"/>
                          <a:ea typeface="DM Sans" pitchFamily="34" charset="-122"/>
                          <a:cs typeface="DM Sans" pitchFamily="34" charset="-120"/>
                        </a:rPr>
                        <a:t>2.11 = 211%, makes no sense</a:t>
                      </a:r>
                      <a:endParaRPr lang="en-US" sz="1500" dirty="0">
                        <a:latin typeface="DM Sans" charset="0"/>
                        <a:ea typeface="DM Sans" charset="0"/>
                        <a:cs typeface="DM Sans" charset="0"/>
                      </a:endParaRPr>
                    </a:p>
                  </a:txBody>
                  <a:tcPr marL="66675" marR="66675" marT="66675" marB="66675" anchor="t">
                    <a:lnL w="12700" cap="flat" cmpd="sng" algn="ctr">
                      <a:solidFill>
                        <a:srgbClr val="B5B4AE"/>
                      </a:solidFill>
                      <a:prstDash val="solid"/>
                      <a:round/>
                      <a:headEnd type="none" w="med" len="med"/>
                      <a:tailEnd type="none" w="med" len="med"/>
                    </a:lnL>
                    <a:lnR w="12700" cap="flat" cmpd="sng" algn="ctr">
                      <a:solidFill>
                        <a:srgbClr val="B5B4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5B4AE"/>
                      </a:solidFill>
                      <a:prstDash val="solid"/>
                      <a:round/>
                      <a:headEnd type="none" w="med" len="med"/>
                      <a:tailEnd type="none" w="med" len="med"/>
                    </a:lnB>
                    <a:solidFill>
                      <a:srgbClr val="E3E1DA"/>
                    </a:solidFill>
                  </a:tcPr>
                </a:tc>
                <a:tc>
                  <a:txBody>
                    <a:bodyPr/>
                    <a:lstStyle/>
                    <a:p>
                      <a:pPr algn="r" indent="0" marL="0">
                        <a:lnSpc>
                          <a:spcPts val="2100"/>
                        </a:lnSpc>
                        <a:buNone/>
                      </a:pPr>
                      <a:r>
                        <a:rPr lang="en-US" sz="1500" dirty="0">
                          <a:solidFill>
                            <a:srgbClr val="B8501F"/>
                          </a:solidFill>
                          <a:latin typeface="DM Sans" pitchFamily="34" charset="0"/>
                          <a:ea typeface="DM Sans" pitchFamily="34" charset="-122"/>
                          <a:cs typeface="DM Sans" pitchFamily="34" charset="-120"/>
                        </a:rPr>
                        <a:t>1.00 = 100% ✓</a:t>
                      </a:r>
                      <a:endParaRPr lang="en-US" sz="1500" dirty="0">
                        <a:latin typeface="DM Sans" charset="0"/>
                        <a:ea typeface="DM Sans" charset="0"/>
                        <a:cs typeface="DM Sans" charset="0"/>
                      </a:endParaRPr>
                    </a:p>
                  </a:txBody>
                  <a:tcPr marL="66675" marR="66675" marT="66675" marB="66675" anchor="t">
                    <a:lnL w="12700" cap="flat" cmpd="sng" algn="ctr">
                      <a:solidFill>
                        <a:srgbClr val="B5B4AE"/>
                      </a:solidFill>
                      <a:prstDash val="solid"/>
                      <a:round/>
                      <a:headEnd type="none" w="med" len="med"/>
                      <a:tailEnd type="none" w="med" len="med"/>
                    </a:lnL>
                    <a:lnR w="12700" cap="flat" cmpd="sng" algn="ctr">
                      <a:solidFill>
                        <a:srgbClr val="B5B4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5B4AE"/>
                      </a:solidFill>
                      <a:prstDash val="solid"/>
                      <a:round/>
                      <a:headEnd type="none" w="med" len="med"/>
                      <a:tailEnd type="none" w="med" len="med"/>
                    </a:lnB>
                    <a:solidFill>
                      <a:srgbClr val="E3E1DA"/>
                    </a:solidFill>
                  </a:tcPr>
                </a:tc>
              </a:tr>
            </a:tbl>
          </a:graphicData>
        </a:graphic>
      </p:graphicFrame>
      <p:sp>
        <p:nvSpPr>
          <p:cNvPr id="5" name="Shape 2"/>
          <p:cNvSpPr/>
          <p:nvPr/>
        </p:nvSpPr>
        <p:spPr>
          <a:xfrm>
            <a:off x="812800" y="4006800"/>
            <a:ext cx="5207000" cy="1242020"/>
          </a:xfrm>
          <a:prstGeom prst="roundRect">
            <a:avLst>
              <a:gd name="adj" fmla="val 6135"/>
            </a:avLst>
          </a:prstGeom>
          <a:solidFill>
            <a:srgbClr val="FFFDF8"/>
          </a:solidFill>
          <a:ln/>
        </p:spPr>
      </p:sp>
      <p:sp>
        <p:nvSpPr>
          <p:cNvPr id="6" name="Shape 3"/>
          <p:cNvSpPr/>
          <p:nvPr/>
        </p:nvSpPr>
        <p:spPr>
          <a:xfrm>
            <a:off x="812800" y="4006800"/>
            <a:ext cx="5207000" cy="1242020"/>
          </a:xfrm>
          <a:custGeom>
            <a:avLst/>
            <a:gdLst/>
            <a:ahLst/>
            <a:cxnLst/>
            <a:rect l="l" t="t" r="r" b="b"/>
            <a:pathLst>
              <a:path w="5207000" h="1242020">
                <a:moveTo>
                  <a:pt x="76200" y="1242020"/>
                </a:moveTo>
                <a:lnTo>
                  <a:pt x="76200" y="1242020"/>
                </a:lnTo>
                <a:arcTo hR="76200" wR="76200" stAng="5400000" swAng="5400000"/>
                <a:lnTo>
                  <a:pt x="0" y="76200"/>
                </a:lnTo>
                <a:arcTo hR="76200" wR="76200" stAng="10800000" swAng="5400000"/>
                <a:lnTo>
                  <a:pt x="76200" y="0"/>
                </a:lnTo>
                <a:arcTo hR="76200" wR="25400" stAng="16200000" swAng="-5400000"/>
                <a:lnTo>
                  <a:pt x="50800" y="1165820"/>
                </a:lnTo>
                <a:arcTo hR="76200" wR="25400" stAng="10800000" swAng="-5400000"/>
                <a:close/>
              </a:path>
            </a:pathLst>
          </a:custGeom>
          <a:solidFill>
            <a:srgbClr val="2B5FA6"/>
          </a:solidFill>
          <a:ln/>
        </p:spPr>
      </p:sp>
      <p:sp>
        <p:nvSpPr>
          <p:cNvPr id="7" name="Text 4"/>
          <p:cNvSpPr/>
          <p:nvPr/>
        </p:nvSpPr>
        <p:spPr>
          <a:xfrm>
            <a:off x="1041400" y="4133800"/>
            <a:ext cx="494461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0"/>
                </a:solidFill>
                <a:latin typeface="DM Sans" pitchFamily="34" charset="0"/>
                <a:ea typeface="DM Sans" pitchFamily="34" charset="-122"/>
                <a:cs typeface="DM Sans" pitchFamily="34" charset="-120"/>
              </a:rPr>
              <a:t>Sigmoid = one yes/no question</a:t>
            </a:r>
            <a:endParaRPr lang="en-US" sz="1600" dirty="0"/>
          </a:p>
        </p:txBody>
      </p:sp>
      <p:sp>
        <p:nvSpPr>
          <p:cNvPr id="8" name="Text 5"/>
          <p:cNvSpPr/>
          <p:nvPr/>
        </p:nvSpPr>
        <p:spPr>
          <a:xfrm>
            <a:off x="1041400" y="4428430"/>
            <a:ext cx="4944618"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1 output neuron. Example: “Loan approved?”</a:t>
            </a:r>
            <a:endParaRPr lang="en-US" sz="1300" dirty="0"/>
          </a:p>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Loss: </a:t>
            </a:r>
            <a:r>
              <a:rPr lang="en-US" sz="1300" b="1" dirty="0">
                <a:solidFill>
                  <a:srgbClr val="4A5568"/>
                </a:solidFill>
                <a:latin typeface="DM Sans" pitchFamily="34" charset="0"/>
                <a:ea typeface="DM Sans" pitchFamily="34" charset="-122"/>
                <a:cs typeface="DM Sans" pitchFamily="34" charset="-120"/>
              </a:rPr>
              <a:t>BCELoss</a:t>
            </a:r>
            <a:r>
              <a:rPr lang="en-US" sz="1300" dirty="0">
                <a:solidFill>
                  <a:srgbClr val="4A5568"/>
                </a:solidFill>
                <a:latin typeface="DM Sans" pitchFamily="34" charset="0"/>
                <a:ea typeface="DM Sans" pitchFamily="34" charset="-122"/>
                <a:cs typeface="DM Sans" pitchFamily="34" charset="-120"/>
              </a:rPr>
              <a:t> (binary cross entropy). We add a Sigmoid layer.</a:t>
            </a:r>
            <a:endParaRPr lang="en-US" sz="1300" dirty="0"/>
          </a:p>
        </p:txBody>
      </p:sp>
      <p:sp>
        <p:nvSpPr>
          <p:cNvPr id="9" name="Shape 6"/>
          <p:cNvSpPr/>
          <p:nvPr/>
        </p:nvSpPr>
        <p:spPr>
          <a:xfrm>
            <a:off x="6172200" y="4006800"/>
            <a:ext cx="5207000" cy="1242020"/>
          </a:xfrm>
          <a:prstGeom prst="roundRect">
            <a:avLst>
              <a:gd name="adj" fmla="val 6135"/>
            </a:avLst>
          </a:prstGeom>
          <a:solidFill>
            <a:srgbClr val="FFFDF8"/>
          </a:solidFill>
          <a:ln/>
        </p:spPr>
      </p:sp>
      <p:sp>
        <p:nvSpPr>
          <p:cNvPr id="10" name="Shape 7"/>
          <p:cNvSpPr/>
          <p:nvPr/>
        </p:nvSpPr>
        <p:spPr>
          <a:xfrm>
            <a:off x="6172200" y="4006800"/>
            <a:ext cx="5207000" cy="1242020"/>
          </a:xfrm>
          <a:custGeom>
            <a:avLst/>
            <a:gdLst/>
            <a:ahLst/>
            <a:cxnLst/>
            <a:rect l="l" t="t" r="r" b="b"/>
            <a:pathLst>
              <a:path w="5207000" h="1242020">
                <a:moveTo>
                  <a:pt x="76200" y="1242020"/>
                </a:moveTo>
                <a:lnTo>
                  <a:pt x="76200" y="1242020"/>
                </a:lnTo>
                <a:arcTo hR="76200" wR="76200" stAng="5400000" swAng="5400000"/>
                <a:lnTo>
                  <a:pt x="0" y="76200"/>
                </a:lnTo>
                <a:arcTo hR="76200" wR="76200" stAng="10800000" swAng="5400000"/>
                <a:lnTo>
                  <a:pt x="76200" y="0"/>
                </a:lnTo>
                <a:arcTo hR="76200" wR="25400" stAng="16200000" swAng="-5400000"/>
                <a:lnTo>
                  <a:pt x="50800" y="1165820"/>
                </a:lnTo>
                <a:arcTo hR="76200" wR="25400" stAng="10800000" swAng="-5400000"/>
                <a:close/>
              </a:path>
            </a:pathLst>
          </a:custGeom>
          <a:solidFill>
            <a:srgbClr val="D9622B"/>
          </a:solidFill>
          <a:ln/>
        </p:spPr>
      </p:sp>
      <p:sp>
        <p:nvSpPr>
          <p:cNvPr id="11" name="Text 8"/>
          <p:cNvSpPr/>
          <p:nvPr/>
        </p:nvSpPr>
        <p:spPr>
          <a:xfrm>
            <a:off x="6400800" y="4133800"/>
            <a:ext cx="494461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0"/>
                </a:solidFill>
                <a:latin typeface="DM Sans" pitchFamily="34" charset="0"/>
                <a:ea typeface="DM Sans" pitchFamily="34" charset="-122"/>
                <a:cs typeface="DM Sans" pitchFamily="34" charset="-120"/>
              </a:rPr>
              <a:t>Softmax = pick 1 of many</a:t>
            </a:r>
            <a:endParaRPr lang="en-US" sz="1600" dirty="0"/>
          </a:p>
        </p:txBody>
      </p:sp>
      <p:sp>
        <p:nvSpPr>
          <p:cNvPr id="12" name="Text 9"/>
          <p:cNvSpPr/>
          <p:nvPr/>
        </p:nvSpPr>
        <p:spPr>
          <a:xfrm>
            <a:off x="6400800" y="4428430"/>
            <a:ext cx="4944618"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One neuron per class. Example: “Which digit?”</a:t>
            </a:r>
            <a:endParaRPr lang="en-US" sz="1300" dirty="0"/>
          </a:p>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Loss: </a:t>
            </a:r>
            <a:r>
              <a:rPr lang="en-US" sz="1300" b="1" dirty="0">
                <a:solidFill>
                  <a:srgbClr val="4A5568"/>
                </a:solidFill>
                <a:latin typeface="DM Sans" pitchFamily="34" charset="0"/>
                <a:ea typeface="DM Sans" pitchFamily="34" charset="-122"/>
                <a:cs typeface="DM Sans" pitchFamily="34" charset="-120"/>
              </a:rPr>
              <a:t>CrossEntropyLoss</a:t>
            </a:r>
            <a:r>
              <a:rPr lang="en-US" sz="1300" dirty="0">
                <a:solidFill>
                  <a:srgbClr val="4A5568"/>
                </a:solidFill>
                <a:latin typeface="DM Sans" pitchFamily="34" charset="0"/>
                <a:ea typeface="DM Sans" pitchFamily="34" charset="-122"/>
                <a:cs typeface="DM Sans" pitchFamily="34" charset="-120"/>
              </a:rPr>
              <a:t>. It does softmax inside, so </a:t>
            </a:r>
            <a:r>
              <a:rPr lang="en-US" sz="1300" b="1" dirty="0">
                <a:solidFill>
                  <a:srgbClr val="4A5568"/>
                </a:solidFill>
                <a:latin typeface="DM Sans" pitchFamily="34" charset="0"/>
                <a:ea typeface="DM Sans" pitchFamily="34" charset="-122"/>
                <a:cs typeface="DM Sans" pitchFamily="34" charset="-120"/>
              </a:rPr>
              <a:t>no softmax layer</a:t>
            </a:r>
            <a:r>
              <a:rPr lang="en-US" sz="1300" dirty="0">
                <a:solidFill>
                  <a:srgbClr val="4A5568"/>
                </a:solidFill>
                <a:latin typeface="DM Sans" pitchFamily="34" charset="0"/>
                <a:ea typeface="DM Sans" pitchFamily="34" charset="-122"/>
                <a:cs typeface="DM Sans" pitchFamily="34" charset="-120"/>
              </a:rPr>
              <a:t>.</a:t>
            </a:r>
            <a:endParaRPr lang="en-US" sz="13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DM Sans" pitchFamily="34" charset="0"/>
                <a:ea typeface="DM Sans" pitchFamily="34" charset="-122"/>
                <a:cs typeface="DM Sans" pitchFamily="34" charset="-120"/>
              </a:rPr>
              <a:t>CNN step by step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5FA6"/>
                </a:solidFill>
                <a:latin typeface="DM Sans" pitchFamily="34" charset="0"/>
                <a:ea typeface="DM Sans" pitchFamily="34" charset="-122"/>
                <a:cs typeface="DM Sans" pitchFamily="34" charset="-120"/>
              </a:rPr>
              <a:t>CHOICES · WHO DECIDES</a:t>
            </a:r>
            <a:endParaRPr lang="en-US" sz="1200" dirty="0"/>
          </a:p>
        </p:txBody>
      </p:sp>
      <p:sp>
        <p:nvSpPr>
          <p:cNvPr id="3" name="Text 1"/>
          <p:cNvSpPr/>
          <p:nvPr>
            <p:ph type="title"/>
          </p:nvPr>
        </p:nvSpPr>
        <p:spPr>
          <a:xfrm>
            <a:off x="812800" y="10769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430"/>
                </a:solidFill>
                <a:latin typeface="DM Sans" pitchFamily="34" charset="0"/>
                <a:ea typeface="DM Sans" pitchFamily="34" charset="-122"/>
                <a:cs typeface="DM Sans" pitchFamily="34" charset="-120"/>
              </a:rPr>
              <a:t>Who decides what?</a:t>
            </a:r>
            <a:endParaRPr lang="en-US" sz="3200" dirty="0"/>
          </a:p>
        </p:txBody>
      </p:sp>
      <p:sp>
        <p:nvSpPr>
          <p:cNvPr id="4" name="Shape 2"/>
          <p:cNvSpPr/>
          <p:nvPr/>
        </p:nvSpPr>
        <p:spPr>
          <a:xfrm>
            <a:off x="812800" y="1727150"/>
            <a:ext cx="3420517" cy="3223121"/>
          </a:xfrm>
          <a:prstGeom prst="roundRect">
            <a:avLst>
              <a:gd name="adj" fmla="val 2364"/>
            </a:avLst>
          </a:prstGeom>
          <a:solidFill>
            <a:srgbClr val="FFFDF8"/>
          </a:solidFill>
          <a:ln/>
        </p:spPr>
      </p:sp>
      <p:sp>
        <p:nvSpPr>
          <p:cNvPr id="5" name="Shape 3"/>
          <p:cNvSpPr/>
          <p:nvPr/>
        </p:nvSpPr>
        <p:spPr>
          <a:xfrm>
            <a:off x="812800" y="1727150"/>
            <a:ext cx="3420517" cy="3223121"/>
          </a:xfrm>
          <a:custGeom>
            <a:avLst/>
            <a:gdLst/>
            <a:ahLst/>
            <a:cxnLst/>
            <a:rect l="l" t="t" r="r" b="b"/>
            <a:pathLst>
              <a:path w="3420517" h="3223121">
                <a:moveTo>
                  <a:pt x="0" y="76200"/>
                </a:moveTo>
                <a:lnTo>
                  <a:pt x="0" y="76200"/>
                </a:lnTo>
                <a:arcTo hR="76200" wR="76200" stAng="10800000" swAng="5400000"/>
                <a:lnTo>
                  <a:pt x="3344317" y="0"/>
                </a:lnTo>
                <a:arcTo hR="76200" wR="76200" stAng="16200000" swAng="5400000"/>
                <a:lnTo>
                  <a:pt x="3420517" y="76200"/>
                </a:lnTo>
                <a:arcTo hR="12700" wR="76200" stAng="0" swAng="-5400000"/>
                <a:lnTo>
                  <a:pt x="76200" y="63500"/>
                </a:lnTo>
                <a:arcTo hR="12700" wR="76200" stAng="16200000" swAng="-5400000"/>
                <a:close/>
              </a:path>
            </a:pathLst>
          </a:custGeom>
          <a:solidFill>
            <a:srgbClr val="D9622B"/>
          </a:solidFill>
          <a:ln/>
        </p:spPr>
      </p:sp>
      <p:sp>
        <p:nvSpPr>
          <p:cNvPr id="6" name="Text 4"/>
          <p:cNvSpPr/>
          <p:nvPr/>
        </p:nvSpPr>
        <p:spPr>
          <a:xfrm>
            <a:off x="990600" y="1968450"/>
            <a:ext cx="3156864"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0"/>
                </a:solidFill>
                <a:latin typeface="DM Sans" pitchFamily="34" charset="0"/>
                <a:ea typeface="DM Sans" pitchFamily="34" charset="-122"/>
                <a:cs typeface="DM Sans" pitchFamily="34" charset="-120"/>
              </a:rPr>
              <a:t>We choose</a:t>
            </a:r>
            <a:endParaRPr lang="en-US" sz="1800" dirty="0"/>
          </a:p>
        </p:txBody>
      </p:sp>
      <p:sp>
        <p:nvSpPr>
          <p:cNvPr id="7" name="Text 5"/>
          <p:cNvSpPr/>
          <p:nvPr/>
        </p:nvSpPr>
        <p:spPr>
          <a:xfrm>
            <a:off x="990600" y="2331641"/>
            <a:ext cx="315686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0"/>
                </a:solidFill>
                <a:latin typeface="DM Sans" pitchFamily="34" charset="0"/>
                <a:ea typeface="DM Sans" pitchFamily="34" charset="-122"/>
                <a:cs typeface="DM Sans" pitchFamily="34" charset="-120"/>
              </a:rPr>
              <a:t>Filter size → </a:t>
            </a:r>
            <a:r>
              <a:rPr lang="en-US" sz="1300" b="1" dirty="0">
                <a:solidFill>
                  <a:srgbClr val="1B2430"/>
                </a:solidFill>
                <a:latin typeface="DM Sans" pitchFamily="34" charset="0"/>
                <a:ea typeface="DM Sans" pitchFamily="34" charset="-122"/>
                <a:cs typeface="DM Sans" pitchFamily="34" charset="-120"/>
              </a:rPr>
              <a:t>3×3</a:t>
            </a:r>
            <a:endParaRPr lang="en-US" sz="1300" dirty="0"/>
          </a:p>
        </p:txBody>
      </p:sp>
      <p:sp>
        <p:nvSpPr>
          <p:cNvPr id="8" name="Text 6"/>
          <p:cNvSpPr/>
          <p:nvPr/>
        </p:nvSpPr>
        <p:spPr>
          <a:xfrm>
            <a:off x="990600" y="2651671"/>
            <a:ext cx="315686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0"/>
                </a:solidFill>
                <a:latin typeface="DM Sans" pitchFamily="34" charset="0"/>
                <a:ea typeface="DM Sans" pitchFamily="34" charset="-122"/>
                <a:cs typeface="DM Sans" pitchFamily="34" charset="-120"/>
              </a:rPr>
              <a:t>Number of filters → </a:t>
            </a:r>
            <a:r>
              <a:rPr lang="en-US" sz="1300" b="1" dirty="0">
                <a:solidFill>
                  <a:srgbClr val="1B2430"/>
                </a:solidFill>
                <a:latin typeface="DM Sans" pitchFamily="34" charset="0"/>
                <a:ea typeface="DM Sans" pitchFamily="34" charset="-122"/>
                <a:cs typeface="DM Sans" pitchFamily="34" charset="-120"/>
              </a:rPr>
              <a:t>1</a:t>
            </a:r>
            <a:r>
              <a:rPr lang="en-US" sz="1300" dirty="0">
                <a:solidFill>
                  <a:srgbClr val="1B2430"/>
                </a:solidFill>
                <a:latin typeface="DM Sans" pitchFamily="34" charset="0"/>
                <a:ea typeface="DM Sans" pitchFamily="34" charset="-122"/>
                <a:cs typeface="DM Sans" pitchFamily="34" charset="-120"/>
              </a:rPr>
              <a:t> here, 16 in the notebook</a:t>
            </a:r>
            <a:endParaRPr lang="en-US" sz="1300" dirty="0"/>
          </a:p>
        </p:txBody>
      </p:sp>
      <p:sp>
        <p:nvSpPr>
          <p:cNvPr id="9" name="Text 7"/>
          <p:cNvSpPr/>
          <p:nvPr/>
        </p:nvSpPr>
        <p:spPr>
          <a:xfrm>
            <a:off x="990600" y="3202831"/>
            <a:ext cx="315686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0"/>
                </a:solidFill>
                <a:latin typeface="DM Sans" pitchFamily="34" charset="0"/>
                <a:ea typeface="DM Sans" pitchFamily="34" charset="-122"/>
                <a:cs typeface="DM Sans" pitchFamily="34" charset="-120"/>
              </a:rPr>
              <a:t>Pool size → </a:t>
            </a:r>
            <a:r>
              <a:rPr lang="en-US" sz="1300" b="1" dirty="0">
                <a:solidFill>
                  <a:srgbClr val="1B2430"/>
                </a:solidFill>
                <a:latin typeface="DM Sans" pitchFamily="34" charset="0"/>
                <a:ea typeface="DM Sans" pitchFamily="34" charset="-122"/>
                <a:cs typeface="DM Sans" pitchFamily="34" charset="-120"/>
              </a:rPr>
              <a:t>2×2</a:t>
            </a:r>
            <a:endParaRPr lang="en-US" sz="1300" dirty="0"/>
          </a:p>
        </p:txBody>
      </p:sp>
      <p:sp>
        <p:nvSpPr>
          <p:cNvPr id="10" name="Text 8"/>
          <p:cNvSpPr/>
          <p:nvPr/>
        </p:nvSpPr>
        <p:spPr>
          <a:xfrm>
            <a:off x="990600" y="3522861"/>
            <a:ext cx="315686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0"/>
                </a:solidFill>
                <a:latin typeface="DM Sans" pitchFamily="34" charset="0"/>
                <a:ea typeface="DM Sans" pitchFamily="34" charset="-122"/>
                <a:cs typeface="DM Sans" pitchFamily="34" charset="-120"/>
              </a:rPr>
              <a:t>Number of blocks → </a:t>
            </a:r>
            <a:r>
              <a:rPr lang="en-US" sz="1300" b="1" dirty="0">
                <a:solidFill>
                  <a:srgbClr val="1B2430"/>
                </a:solidFill>
                <a:latin typeface="DM Sans" pitchFamily="34" charset="0"/>
                <a:ea typeface="DM Sans" pitchFamily="34" charset="-122"/>
                <a:cs typeface="DM Sans" pitchFamily="34" charset="-120"/>
              </a:rPr>
              <a:t>1</a:t>
            </a:r>
            <a:r>
              <a:rPr lang="en-US" sz="1300" dirty="0">
                <a:solidFill>
                  <a:srgbClr val="1B2430"/>
                </a:solidFill>
                <a:latin typeface="DM Sans" pitchFamily="34" charset="0"/>
                <a:ea typeface="DM Sans" pitchFamily="34" charset="-122"/>
                <a:cs typeface="DM Sans" pitchFamily="34" charset="-120"/>
              </a:rPr>
              <a:t> here</a:t>
            </a:r>
            <a:endParaRPr lang="en-US" sz="1300" dirty="0"/>
          </a:p>
        </p:txBody>
      </p:sp>
      <p:sp>
        <p:nvSpPr>
          <p:cNvPr id="11" name="Text 9"/>
          <p:cNvSpPr/>
          <p:nvPr/>
        </p:nvSpPr>
        <p:spPr>
          <a:xfrm>
            <a:off x="990600" y="3842891"/>
            <a:ext cx="315686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0"/>
                </a:solidFill>
                <a:latin typeface="DM Sans" pitchFamily="34" charset="0"/>
                <a:ea typeface="DM Sans" pitchFamily="34" charset="-122"/>
                <a:cs typeface="DM Sans" pitchFamily="34" charset="-120"/>
              </a:rPr>
              <a:t>Middle Dense neurons → 32 in the notebook</a:t>
            </a:r>
            <a:endParaRPr lang="en-US" sz="1300" dirty="0"/>
          </a:p>
        </p:txBody>
      </p:sp>
      <p:sp>
        <p:nvSpPr>
          <p:cNvPr id="12" name="Text 10"/>
          <p:cNvSpPr/>
          <p:nvPr/>
        </p:nvSpPr>
        <p:spPr>
          <a:xfrm>
            <a:off x="990600" y="4482951"/>
            <a:ext cx="3064917" cy="289520"/>
          </a:xfrm>
          <a:prstGeom prst="roundRect">
            <a:avLst>
              <a:gd name="adj" fmla="val 17546"/>
            </a:avLst>
          </a:prstGeom>
          <a:solidFill>
            <a:srgbClr val="F8D9C4"/>
          </a:solidFill>
          <a:ln/>
        </p:spPr>
        <p:txBody>
          <a:bodyPr wrap="square" lIns="74021" tIns="23221" rIns="0" bIns="0" rtlCol="0" anchor="t">
            <a:normAutofit/>
          </a:bodyPr>
          <a:lstStyle/>
          <a:p>
            <a:pPr algn="l" indent="0" marL="0">
              <a:lnSpc>
                <a:spcPts val="1680"/>
              </a:lnSpc>
              <a:buNone/>
            </a:pPr>
            <a:r>
              <a:rPr lang="en-US" sz="1200" dirty="0">
                <a:solidFill>
                  <a:srgbClr val="1B2430"/>
                </a:solidFill>
                <a:latin typeface="DM Sans" pitchFamily="34" charset="0"/>
                <a:ea typeface="DM Sans" pitchFamily="34" charset="-122"/>
                <a:cs typeface="DM Sans" pitchFamily="34" charset="-120"/>
              </a:rPr>
              <a:t>= </a:t>
            </a:r>
            <a:r>
              <a:rPr lang="en-US" sz="1200" b="1" dirty="0">
                <a:solidFill>
                  <a:srgbClr val="1B2430"/>
                </a:solidFill>
                <a:latin typeface="DM Sans" pitchFamily="34" charset="0"/>
                <a:ea typeface="DM Sans" pitchFamily="34" charset="-122"/>
                <a:cs typeface="DM Sans" pitchFamily="34" charset="-120"/>
              </a:rPr>
              <a:t>hyperparameters</a:t>
            </a:r>
            <a:endParaRPr lang="en-US" sz="1200" dirty="0"/>
          </a:p>
        </p:txBody>
      </p:sp>
      <p:sp>
        <p:nvSpPr>
          <p:cNvPr id="13" name="Shape 11"/>
          <p:cNvSpPr/>
          <p:nvPr/>
        </p:nvSpPr>
        <p:spPr>
          <a:xfrm>
            <a:off x="4385717" y="1727150"/>
            <a:ext cx="3420566" cy="3223121"/>
          </a:xfrm>
          <a:prstGeom prst="roundRect">
            <a:avLst>
              <a:gd name="adj" fmla="val 2364"/>
            </a:avLst>
          </a:prstGeom>
          <a:solidFill>
            <a:srgbClr val="FFFDF8"/>
          </a:solidFill>
          <a:ln/>
        </p:spPr>
      </p:sp>
      <p:sp>
        <p:nvSpPr>
          <p:cNvPr id="14" name="Shape 12"/>
          <p:cNvSpPr/>
          <p:nvPr/>
        </p:nvSpPr>
        <p:spPr>
          <a:xfrm>
            <a:off x="4385717" y="1727150"/>
            <a:ext cx="3420566" cy="3223121"/>
          </a:xfrm>
          <a:custGeom>
            <a:avLst/>
            <a:gdLst/>
            <a:ahLst/>
            <a:cxnLst/>
            <a:rect l="l" t="t" r="r" b="b"/>
            <a:pathLst>
              <a:path w="3420566" h="3223121">
                <a:moveTo>
                  <a:pt x="0" y="76200"/>
                </a:moveTo>
                <a:lnTo>
                  <a:pt x="0" y="76200"/>
                </a:lnTo>
                <a:arcTo hR="76200" wR="76200" stAng="10800000" swAng="5400000"/>
                <a:lnTo>
                  <a:pt x="3344366" y="0"/>
                </a:lnTo>
                <a:arcTo hR="76200" wR="76200" stAng="16200000" swAng="5400000"/>
                <a:lnTo>
                  <a:pt x="3420566" y="76200"/>
                </a:lnTo>
                <a:arcTo hR="12700" wR="76200" stAng="0" swAng="-5400000"/>
                <a:lnTo>
                  <a:pt x="76200" y="63500"/>
                </a:lnTo>
                <a:arcTo hR="12700" wR="76200" stAng="16200000" swAng="-5400000"/>
                <a:close/>
              </a:path>
            </a:pathLst>
          </a:custGeom>
          <a:solidFill>
            <a:srgbClr val="2B5FA6"/>
          </a:solidFill>
          <a:ln/>
        </p:spPr>
      </p:sp>
      <p:sp>
        <p:nvSpPr>
          <p:cNvPr id="15" name="Text 13"/>
          <p:cNvSpPr/>
          <p:nvPr/>
        </p:nvSpPr>
        <p:spPr>
          <a:xfrm>
            <a:off x="4563517" y="1968450"/>
            <a:ext cx="3156915"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0"/>
                </a:solidFill>
                <a:latin typeface="DM Sans" pitchFamily="34" charset="0"/>
                <a:ea typeface="DM Sans" pitchFamily="34" charset="-122"/>
                <a:cs typeface="DM Sans" pitchFamily="34" charset="-120"/>
              </a:rPr>
              <a:t>The model learns</a:t>
            </a:r>
            <a:endParaRPr lang="en-US" sz="1800" dirty="0"/>
          </a:p>
        </p:txBody>
      </p:sp>
      <p:sp>
        <p:nvSpPr>
          <p:cNvPr id="16" name="Text 14"/>
          <p:cNvSpPr/>
          <p:nvPr/>
        </p:nvSpPr>
        <p:spPr>
          <a:xfrm>
            <a:off x="4563517" y="2331641"/>
            <a:ext cx="3156915"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0"/>
                </a:solidFill>
                <a:latin typeface="DM Sans" pitchFamily="34" charset="0"/>
                <a:ea typeface="DM Sans" pitchFamily="34" charset="-122"/>
                <a:cs typeface="DM Sans" pitchFamily="34" charset="-120"/>
              </a:rPr>
              <a:t>The 9 numbers inside each filter</a:t>
            </a:r>
            <a:endParaRPr lang="en-US" sz="1300" dirty="0"/>
          </a:p>
        </p:txBody>
      </p:sp>
      <p:sp>
        <p:nvSpPr>
          <p:cNvPr id="17" name="Text 15"/>
          <p:cNvSpPr/>
          <p:nvPr/>
        </p:nvSpPr>
        <p:spPr>
          <a:xfrm>
            <a:off x="4563517" y="2651671"/>
            <a:ext cx="3156915"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0"/>
                </a:solidFill>
                <a:latin typeface="DM Sans" pitchFamily="34" charset="0"/>
                <a:ea typeface="DM Sans" pitchFamily="34" charset="-122"/>
                <a:cs typeface="DM Sans" pitchFamily="34" charset="-120"/>
              </a:rPr>
              <a:t>Dense weights and biases</a:t>
            </a:r>
            <a:endParaRPr lang="en-US" sz="1300" dirty="0"/>
          </a:p>
        </p:txBody>
      </p:sp>
      <p:sp>
        <p:nvSpPr>
          <p:cNvPr id="18" name="Text 16"/>
          <p:cNvSpPr/>
          <p:nvPr/>
        </p:nvSpPr>
        <p:spPr>
          <a:xfrm>
            <a:off x="4563517" y="2971701"/>
            <a:ext cx="3156915"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They start random. Training fixes them.</a:t>
            </a:r>
            <a:endParaRPr lang="en-US" sz="1300" dirty="0"/>
          </a:p>
        </p:txBody>
      </p:sp>
      <p:sp>
        <p:nvSpPr>
          <p:cNvPr id="19" name="Text 17"/>
          <p:cNvSpPr/>
          <p:nvPr/>
        </p:nvSpPr>
        <p:spPr>
          <a:xfrm>
            <a:off x="4563517" y="4482951"/>
            <a:ext cx="3064966" cy="289520"/>
          </a:xfrm>
          <a:prstGeom prst="roundRect">
            <a:avLst>
              <a:gd name="adj" fmla="val 17546"/>
            </a:avLst>
          </a:prstGeom>
          <a:solidFill>
            <a:srgbClr val="D6E3F5"/>
          </a:solidFill>
          <a:ln/>
        </p:spPr>
        <p:txBody>
          <a:bodyPr wrap="square" lIns="74021" tIns="23221" rIns="0" bIns="0" rtlCol="0" anchor="t">
            <a:normAutofit/>
          </a:bodyPr>
          <a:lstStyle/>
          <a:p>
            <a:pPr algn="l" indent="0" marL="0">
              <a:lnSpc>
                <a:spcPts val="1680"/>
              </a:lnSpc>
              <a:buNone/>
            </a:pPr>
            <a:r>
              <a:rPr lang="en-US" sz="1200" dirty="0">
                <a:solidFill>
                  <a:srgbClr val="1B2430"/>
                </a:solidFill>
                <a:latin typeface="DM Sans" pitchFamily="34" charset="0"/>
                <a:ea typeface="DM Sans" pitchFamily="34" charset="-122"/>
                <a:cs typeface="DM Sans" pitchFamily="34" charset="-120"/>
              </a:rPr>
              <a:t>= </a:t>
            </a:r>
            <a:r>
              <a:rPr lang="en-US" sz="1200" b="1" dirty="0">
                <a:solidFill>
                  <a:srgbClr val="1B2430"/>
                </a:solidFill>
                <a:latin typeface="DM Sans" pitchFamily="34" charset="0"/>
                <a:ea typeface="DM Sans" pitchFamily="34" charset="-122"/>
                <a:cs typeface="DM Sans" pitchFamily="34" charset="-120"/>
              </a:rPr>
              <a:t>parameters</a:t>
            </a:r>
            <a:endParaRPr lang="en-US" sz="1200" dirty="0"/>
          </a:p>
        </p:txBody>
      </p:sp>
      <p:sp>
        <p:nvSpPr>
          <p:cNvPr id="20" name="Shape 18"/>
          <p:cNvSpPr/>
          <p:nvPr/>
        </p:nvSpPr>
        <p:spPr>
          <a:xfrm>
            <a:off x="7958683" y="1727150"/>
            <a:ext cx="3420517" cy="3223121"/>
          </a:xfrm>
          <a:prstGeom prst="roundRect">
            <a:avLst>
              <a:gd name="adj" fmla="val 2364"/>
            </a:avLst>
          </a:prstGeom>
          <a:solidFill>
            <a:srgbClr val="FFFDF8"/>
          </a:solidFill>
          <a:ln/>
        </p:spPr>
      </p:sp>
      <p:sp>
        <p:nvSpPr>
          <p:cNvPr id="21" name="Shape 19"/>
          <p:cNvSpPr/>
          <p:nvPr/>
        </p:nvSpPr>
        <p:spPr>
          <a:xfrm>
            <a:off x="7958683" y="1727150"/>
            <a:ext cx="3420517" cy="3223121"/>
          </a:xfrm>
          <a:custGeom>
            <a:avLst/>
            <a:gdLst/>
            <a:ahLst/>
            <a:cxnLst/>
            <a:rect l="l" t="t" r="r" b="b"/>
            <a:pathLst>
              <a:path w="3420517" h="3223121">
                <a:moveTo>
                  <a:pt x="0" y="76200"/>
                </a:moveTo>
                <a:lnTo>
                  <a:pt x="0" y="76200"/>
                </a:lnTo>
                <a:arcTo hR="76200" wR="76200" stAng="10800000" swAng="5400000"/>
                <a:lnTo>
                  <a:pt x="3344317" y="0"/>
                </a:lnTo>
                <a:arcTo hR="76200" wR="76200" stAng="16200000" swAng="5400000"/>
                <a:lnTo>
                  <a:pt x="3420517" y="76200"/>
                </a:lnTo>
                <a:arcTo hR="12700" wR="76200" stAng="0" swAng="-5400000"/>
                <a:lnTo>
                  <a:pt x="76200" y="63500"/>
                </a:lnTo>
                <a:arcTo hR="12700" wR="76200" stAng="16200000" swAng="-5400000"/>
                <a:close/>
              </a:path>
            </a:pathLst>
          </a:custGeom>
          <a:solidFill>
            <a:srgbClr val="8B93A0"/>
          </a:solidFill>
          <a:ln/>
        </p:spPr>
      </p:sp>
      <p:sp>
        <p:nvSpPr>
          <p:cNvPr id="22" name="Text 20"/>
          <p:cNvSpPr/>
          <p:nvPr/>
        </p:nvSpPr>
        <p:spPr>
          <a:xfrm>
            <a:off x="8136483" y="1968450"/>
            <a:ext cx="3156864"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0"/>
                </a:solidFill>
                <a:latin typeface="DM Sans" pitchFamily="34" charset="0"/>
                <a:ea typeface="DM Sans" pitchFamily="34" charset="-122"/>
                <a:cs typeface="DM Sans" pitchFamily="34" charset="-120"/>
              </a:rPr>
              <a:t>Automatic</a:t>
            </a:r>
            <a:endParaRPr lang="en-US" sz="1800" dirty="0"/>
          </a:p>
        </p:txBody>
      </p:sp>
      <p:sp>
        <p:nvSpPr>
          <p:cNvPr id="23" name="Text 21"/>
          <p:cNvSpPr/>
          <p:nvPr/>
        </p:nvSpPr>
        <p:spPr>
          <a:xfrm>
            <a:off x="8136483" y="2331641"/>
            <a:ext cx="315686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0"/>
                </a:solidFill>
                <a:latin typeface="DM Sans" pitchFamily="34" charset="0"/>
                <a:ea typeface="DM Sans" pitchFamily="34" charset="-122"/>
                <a:cs typeface="DM Sans" pitchFamily="34" charset="-120"/>
              </a:rPr>
              <a:t>Feature map: 6 − 3 + 1 = </a:t>
            </a:r>
            <a:r>
              <a:rPr lang="en-US" sz="1300" b="1" dirty="0">
                <a:solidFill>
                  <a:srgbClr val="1B2430"/>
                </a:solidFill>
                <a:latin typeface="DM Sans" pitchFamily="34" charset="0"/>
                <a:ea typeface="DM Sans" pitchFamily="34" charset="-122"/>
                <a:cs typeface="DM Sans" pitchFamily="34" charset="-120"/>
              </a:rPr>
              <a:t>4</a:t>
            </a:r>
            <a:endParaRPr lang="en-US" sz="1300" dirty="0"/>
          </a:p>
        </p:txBody>
      </p:sp>
      <p:sp>
        <p:nvSpPr>
          <p:cNvPr id="24" name="Text 22"/>
          <p:cNvSpPr/>
          <p:nvPr/>
        </p:nvSpPr>
        <p:spPr>
          <a:xfrm>
            <a:off x="8136483" y="2651671"/>
            <a:ext cx="315686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0"/>
                </a:solidFill>
                <a:latin typeface="DM Sans" pitchFamily="34" charset="0"/>
                <a:ea typeface="DM Sans" pitchFamily="34" charset="-122"/>
                <a:cs typeface="DM Sans" pitchFamily="34" charset="-120"/>
              </a:rPr>
              <a:t>After pooling: 4 ÷ 2 = </a:t>
            </a:r>
            <a:r>
              <a:rPr lang="en-US" sz="1300" b="1" dirty="0">
                <a:solidFill>
                  <a:srgbClr val="1B2430"/>
                </a:solidFill>
                <a:latin typeface="DM Sans" pitchFamily="34" charset="0"/>
                <a:ea typeface="DM Sans" pitchFamily="34" charset="-122"/>
                <a:cs typeface="DM Sans" pitchFamily="34" charset="-120"/>
              </a:rPr>
              <a:t>2</a:t>
            </a:r>
            <a:endParaRPr lang="en-US" sz="1300" dirty="0"/>
          </a:p>
        </p:txBody>
      </p:sp>
      <p:sp>
        <p:nvSpPr>
          <p:cNvPr id="25" name="Text 23"/>
          <p:cNvSpPr/>
          <p:nvPr/>
        </p:nvSpPr>
        <p:spPr>
          <a:xfrm>
            <a:off x="8136483" y="2971701"/>
            <a:ext cx="315686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0"/>
                </a:solidFill>
                <a:latin typeface="DM Sans" pitchFamily="34" charset="0"/>
                <a:ea typeface="DM Sans" pitchFamily="34" charset="-122"/>
                <a:cs typeface="DM Sans" pitchFamily="34" charset="-120"/>
              </a:rPr>
              <a:t>After flatten: 2 × 2 = </a:t>
            </a:r>
            <a:r>
              <a:rPr lang="en-US" sz="1300" b="1" dirty="0">
                <a:solidFill>
                  <a:srgbClr val="1B2430"/>
                </a:solidFill>
                <a:latin typeface="DM Sans" pitchFamily="34" charset="0"/>
                <a:ea typeface="DM Sans" pitchFamily="34" charset="-122"/>
                <a:cs typeface="DM Sans" pitchFamily="34" charset="-120"/>
              </a:rPr>
              <a:t>4</a:t>
            </a:r>
            <a:endParaRPr lang="en-US" sz="1300" dirty="0"/>
          </a:p>
        </p:txBody>
      </p:sp>
      <p:sp>
        <p:nvSpPr>
          <p:cNvPr id="26" name="Text 24"/>
          <p:cNvSpPr/>
          <p:nvPr/>
        </p:nvSpPr>
        <p:spPr>
          <a:xfrm>
            <a:off x="8136483" y="3291731"/>
            <a:ext cx="315686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We never type these. They come out of our choices.</a:t>
            </a:r>
            <a:endParaRPr lang="en-US" sz="1300" dirty="0"/>
          </a:p>
        </p:txBody>
      </p:sp>
      <p:sp>
        <p:nvSpPr>
          <p:cNvPr id="27" name="Text 25"/>
          <p:cNvSpPr/>
          <p:nvPr/>
        </p:nvSpPr>
        <p:spPr>
          <a:xfrm>
            <a:off x="8136483" y="4482951"/>
            <a:ext cx="3064917" cy="289520"/>
          </a:xfrm>
          <a:prstGeom prst="roundRect">
            <a:avLst>
              <a:gd name="adj" fmla="val 17546"/>
            </a:avLst>
          </a:prstGeom>
          <a:solidFill>
            <a:srgbClr val="E3E1DA"/>
          </a:solidFill>
          <a:ln/>
        </p:spPr>
        <p:txBody>
          <a:bodyPr wrap="square" lIns="74021" tIns="23221" rIns="0" bIns="0" rtlCol="0" anchor="t">
            <a:normAutofit/>
          </a:bodyPr>
          <a:lstStyle/>
          <a:p>
            <a:pPr algn="l" indent="0" marL="0">
              <a:lnSpc>
                <a:spcPts val="1680"/>
              </a:lnSpc>
              <a:buNone/>
            </a:pPr>
            <a:r>
              <a:rPr lang="en-US" sz="1200" dirty="0">
                <a:solidFill>
                  <a:srgbClr val="1B2430"/>
                </a:solidFill>
                <a:latin typeface="DM Sans" pitchFamily="34" charset="0"/>
                <a:ea typeface="DM Sans" pitchFamily="34" charset="-122"/>
                <a:cs typeface="DM Sans" pitchFamily="34" charset="-120"/>
              </a:rPr>
              <a:t>= </a:t>
            </a:r>
            <a:r>
              <a:rPr lang="en-US" sz="1200" b="1" dirty="0">
                <a:solidFill>
                  <a:srgbClr val="1B2430"/>
                </a:solidFill>
                <a:latin typeface="DM Sans" pitchFamily="34" charset="0"/>
                <a:ea typeface="DM Sans" pitchFamily="34" charset="-122"/>
                <a:cs typeface="DM Sans" pitchFamily="34" charset="-120"/>
              </a:rPr>
              <a:t>calculated</a:t>
            </a:r>
            <a:endParaRPr lang="en-US" sz="1200" dirty="0"/>
          </a:p>
        </p:txBody>
      </p:sp>
      <p:sp>
        <p:nvSpPr>
          <p:cNvPr id="28" name="Text 26"/>
          <p:cNvSpPr/>
          <p:nvPr/>
        </p:nvSpPr>
        <p:spPr>
          <a:xfrm>
            <a:off x="812800" y="5153471"/>
            <a:ext cx="10566400" cy="528290"/>
          </a:xfrm>
          <a:prstGeom prst="roundRect">
            <a:avLst>
              <a:gd name="adj" fmla="val 19232"/>
            </a:avLst>
          </a:prstGeom>
          <a:solidFill>
            <a:srgbClr val="1B2430"/>
          </a:solidFill>
          <a:ln/>
        </p:spPr>
        <p:txBody>
          <a:bodyPr wrap="square" lIns="173442" tIns="109942" rIns="0" bIns="84542" rtlCol="0" anchor="t">
            <a:normAutofit/>
          </a:bodyPr>
          <a:lstStyle/>
          <a:p>
            <a:pPr algn="l" indent="0" marL="0">
              <a:lnSpc>
                <a:spcPts val="1960"/>
              </a:lnSpc>
              <a:buNone/>
            </a:pPr>
            <a:r>
              <a:rPr lang="en-US" sz="1400" dirty="0">
                <a:solidFill>
                  <a:srgbClr val="F0A070"/>
                </a:solidFill>
                <a:latin typeface="DM Sans" pitchFamily="34" charset="0"/>
                <a:ea typeface="DM Sans" pitchFamily="34" charset="-122"/>
                <a:cs typeface="DM Sans" pitchFamily="34" charset="-120"/>
              </a:rPr>
              <a:t>Fixed by the problem:</a:t>
            </a:r>
            <a:r>
              <a:rPr lang="en-US" sz="1400" dirty="0">
                <a:solidFill>
                  <a:srgbClr val="F7F5F0"/>
                </a:solidFill>
                <a:latin typeface="DM Sans" pitchFamily="34" charset="0"/>
                <a:ea typeface="DM Sans" pitchFamily="34" charset="-122"/>
                <a:cs typeface="DM Sans" pitchFamily="34" charset="-120"/>
              </a:rPr>
              <a:t> output neurons = number of classes. 3 here (“1”, “7”, “0”), 10 for digits.</a:t>
            </a:r>
            <a:endParaRPr lang="en-US" sz="1400" dirty="0"/>
          </a:p>
        </p:txBody>
      </p:sp>
      <p:sp>
        <p:nvSpPr>
          <p:cNvPr id="29" name="Text 2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DM Sans" pitchFamily="34" charset="0"/>
                <a:ea typeface="DM Sans" pitchFamily="34" charset="-122"/>
                <a:cs typeface="DM Sans" pitchFamily="34" charset="-120"/>
              </a:rPr>
              <a:t>CNN step by step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5FA6"/>
                </a:solidFill>
                <a:latin typeface="DM Sans" pitchFamily="34" charset="0"/>
                <a:ea typeface="DM Sans" pitchFamily="34" charset="-122"/>
                <a:cs typeface="DM Sans" pitchFamily="34" charset="-120"/>
              </a:rPr>
              <a:t>CHOICES · HOW MANY LAYERS</a:t>
            </a:r>
            <a:endParaRPr lang="en-US" sz="1200" dirty="0"/>
          </a:p>
        </p:txBody>
      </p:sp>
      <p:sp>
        <p:nvSpPr>
          <p:cNvPr id="3" name="Text 1"/>
          <p:cNvSpPr/>
          <p:nvPr>
            <p:ph type="title"/>
          </p:nvPr>
        </p:nvSpPr>
        <p:spPr>
          <a:xfrm>
            <a:off x="812800" y="10769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430"/>
                </a:solidFill>
                <a:latin typeface="DM Sans" pitchFamily="34" charset="0"/>
                <a:ea typeface="DM Sans" pitchFamily="34" charset="-122"/>
                <a:cs typeface="DM Sans" pitchFamily="34" charset="-120"/>
              </a:rPr>
              <a:t>How many blocks? We decide</a:t>
            </a:r>
            <a:endParaRPr lang="en-US" sz="3200" dirty="0"/>
          </a:p>
        </p:txBody>
      </p:sp>
      <p:sp>
        <p:nvSpPr>
          <p:cNvPr id="4" name="Text 2"/>
          <p:cNvSpPr/>
          <p:nvPr/>
        </p:nvSpPr>
        <p:spPr>
          <a:xfrm>
            <a:off x="812800" y="1727150"/>
            <a:ext cx="591261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One block = Conv → ReLU → Pool</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047180"/>
          <a:ext cx="5727700" cy="2155924"/>
        </p:xfrm>
        <a:graphic>
          <a:graphicData uri="http://schemas.openxmlformats.org/drawingml/2006/table">
            <a:tbl>
              <a:tblPr/>
              <a:tblGrid>
                <a:gridCol w="2520188"/>
                <a:gridCol w="1030986"/>
                <a:gridCol w="2176526"/>
              </a:tblGrid>
              <a:tr h="359321">
                <a:tc>
                  <a:txBody>
                    <a:bodyPr/>
                    <a:lstStyle/>
                    <a:p>
                      <a:pPr indent="0" marL="0">
                        <a:lnSpc>
                          <a:spcPts val="1820"/>
                        </a:lnSpc>
                        <a:buNone/>
                      </a:pPr>
                      <a:r>
                        <a:rPr lang="en-US" sz="1300" b="1" dirty="0">
                          <a:solidFill>
                            <a:srgbClr val="F7F5F0"/>
                          </a:solidFill>
                          <a:latin typeface="DM Sans" pitchFamily="34" charset="0"/>
                          <a:ea typeface="DM Sans" pitchFamily="34" charset="-122"/>
                          <a:cs typeface="DM Sans" pitchFamily="34" charset="-120"/>
                        </a:rPr>
                        <a:t>Pictures</a:t>
                      </a:r>
                      <a:endParaRPr lang="en-US" sz="1300" dirty="0">
                        <a:latin typeface="DM Sans" charset="0"/>
                        <a:ea typeface="DM Sans" charset="0"/>
                        <a:cs typeface="DM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c>
                  <a:txBody>
                    <a:bodyPr/>
                    <a:lstStyle/>
                    <a:p>
                      <a:pPr algn="r" indent="0" marL="0">
                        <a:lnSpc>
                          <a:spcPts val="1820"/>
                        </a:lnSpc>
                        <a:buNone/>
                      </a:pPr>
                      <a:r>
                        <a:rPr lang="en-US" sz="1300" b="1" dirty="0">
                          <a:solidFill>
                            <a:srgbClr val="F7F5F0"/>
                          </a:solidFill>
                          <a:latin typeface="DM Sans" pitchFamily="34" charset="0"/>
                          <a:ea typeface="DM Sans" pitchFamily="34" charset="-122"/>
                          <a:cs typeface="DM Sans" pitchFamily="34" charset="-120"/>
                        </a:rPr>
                        <a:t>Blocks</a:t>
                      </a:r>
                      <a:endParaRPr lang="en-US" sz="1300" dirty="0">
                        <a:latin typeface="DM Sans" charset="0"/>
                        <a:ea typeface="DM Sans" charset="0"/>
                        <a:cs typeface="DM Sans" charset="0"/>
                      </a:endParaRPr>
                    </a:p>
                  </a:txBody>
                  <a:tcPr marL="57785" marR="57785" marT="57785" marB="57785" anchor="t">
                    <a:lnL w="12700" cap="flat" cmpd="sng" algn="ctr">
                      <a:solidFill>
                        <a:srgbClr val="19202A"/>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c>
                  <a:txBody>
                    <a:bodyPr/>
                    <a:lstStyle/>
                    <a:p>
                      <a:pPr indent="0" marL="0">
                        <a:lnSpc>
                          <a:spcPts val="1820"/>
                        </a:lnSpc>
                        <a:buNone/>
                      </a:pPr>
                      <a:r>
                        <a:rPr lang="en-US" sz="1300" b="1" dirty="0">
                          <a:solidFill>
                            <a:srgbClr val="F7F5F0"/>
                          </a:solidFill>
                          <a:latin typeface="DM Sans" pitchFamily="34" charset="0"/>
                          <a:ea typeface="DM Sans" pitchFamily="34" charset="-122"/>
                          <a:cs typeface="DM Sans" pitchFamily="34" charset="-120"/>
                        </a:rPr>
                        <a:t>Filters</a:t>
                      </a:r>
                      <a:endParaRPr lang="en-US" sz="1300" dirty="0">
                        <a:latin typeface="DM Sans" charset="0"/>
                        <a:ea typeface="DM Sans" charset="0"/>
                        <a:cs typeface="DM Sans" charset="0"/>
                      </a:endParaRPr>
                    </a:p>
                  </a:txBody>
                  <a:tcPr marL="57785" marR="57785" marT="57785" marB="57785" anchor="t">
                    <a:lnL w="12700" cap="flat" cmpd="sng" algn="ctr">
                      <a:solidFill>
                        <a:srgbClr val="19202A"/>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r>
              <a:tr h="359321">
                <a:tc>
                  <a:txBody>
                    <a:bodyPr/>
                    <a:lstStyle/>
                    <a:p>
                      <a:pPr indent="0" marL="0">
                        <a:lnSpc>
                          <a:spcPts val="1820"/>
                        </a:lnSpc>
                        <a:buNone/>
                      </a:pPr>
                      <a:r>
                        <a:rPr lang="en-US" sz="1300" dirty="0">
                          <a:solidFill>
                            <a:srgbClr val="1B2430"/>
                          </a:solidFill>
                          <a:latin typeface="DM Sans" pitchFamily="34" charset="0"/>
                          <a:ea typeface="DM Sans" pitchFamily="34" charset="-122"/>
                          <a:cs typeface="DM Sans" pitchFamily="34" charset="-120"/>
                        </a:rPr>
                        <a:t>Our 6×6 example</a:t>
                      </a:r>
                      <a:endParaRPr lang="en-US" sz="1300" dirty="0">
                        <a:latin typeface="DM Sans" charset="0"/>
                        <a:ea typeface="DM Sans" charset="0"/>
                        <a:cs typeface="DM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8C0B9"/>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C8C0B9"/>
                      </a:solidFill>
                      <a:prstDash val="solid"/>
                      <a:round/>
                      <a:headEnd type="none" w="med" len="med"/>
                      <a:tailEnd type="none" w="med" len="med"/>
                    </a:lnB>
                    <a:solidFill>
                      <a:srgbClr val="FBF0E8"/>
                    </a:solidFill>
                  </a:tcPr>
                </a:tc>
                <a:tc>
                  <a:txBody>
                    <a:bodyPr/>
                    <a:lstStyle/>
                    <a:p>
                      <a:pPr algn="r" indent="0" marL="0">
                        <a:lnSpc>
                          <a:spcPts val="1820"/>
                        </a:lnSpc>
                        <a:buNone/>
                      </a:pPr>
                      <a:r>
                        <a:rPr lang="en-US" sz="1300" dirty="0">
                          <a:solidFill>
                            <a:srgbClr val="1B2430"/>
                          </a:solidFill>
                          <a:latin typeface="DM Sans" pitchFamily="34" charset="0"/>
                          <a:ea typeface="DM Sans" pitchFamily="34" charset="-122"/>
                          <a:cs typeface="DM Sans" pitchFamily="34" charset="-120"/>
                        </a:rPr>
                        <a:t>1</a:t>
                      </a:r>
                      <a:endParaRPr lang="en-US" sz="1300" dirty="0">
                        <a:latin typeface="DM Sans" charset="0"/>
                        <a:ea typeface="DM Sans" charset="0"/>
                        <a:cs typeface="DM Sans" charset="0"/>
                      </a:endParaRPr>
                    </a:p>
                  </a:txBody>
                  <a:tcPr marL="57785" marR="57785" marT="57785" marB="57785" anchor="t">
                    <a:lnL w="12700" cap="flat" cmpd="sng" algn="ctr">
                      <a:solidFill>
                        <a:srgbClr val="C8C0B9"/>
                      </a:solidFill>
                      <a:prstDash val="solid"/>
                      <a:round/>
                      <a:headEnd type="none" w="med" len="med"/>
                      <a:tailEnd type="none" w="med" len="med"/>
                    </a:lnL>
                    <a:lnR w="12700" cap="flat" cmpd="sng" algn="ctr">
                      <a:solidFill>
                        <a:srgbClr val="C8C0B9"/>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C8C0B9"/>
                      </a:solidFill>
                      <a:prstDash val="solid"/>
                      <a:round/>
                      <a:headEnd type="none" w="med" len="med"/>
                      <a:tailEnd type="none" w="med" len="med"/>
                    </a:lnB>
                    <a:solidFill>
                      <a:srgbClr val="FBF0E8"/>
                    </a:solidFill>
                  </a:tcPr>
                </a:tc>
                <a:tc>
                  <a:txBody>
                    <a:bodyPr/>
                    <a:lstStyle/>
                    <a:p>
                      <a:pPr indent="0" marL="0">
                        <a:lnSpc>
                          <a:spcPts val="1820"/>
                        </a:lnSpc>
                        <a:buNone/>
                      </a:pPr>
                      <a:r>
                        <a:rPr lang="en-US" sz="1300" dirty="0">
                          <a:solidFill>
                            <a:srgbClr val="1B2430"/>
                          </a:solidFill>
                          <a:latin typeface="DM Sans" pitchFamily="34" charset="0"/>
                          <a:ea typeface="DM Sans" pitchFamily="34" charset="-122"/>
                          <a:cs typeface="DM Sans" pitchFamily="34" charset="-120"/>
                        </a:rPr>
                        <a:t>1</a:t>
                      </a:r>
                      <a:endParaRPr lang="en-US" sz="1300" dirty="0">
                        <a:latin typeface="DM Sans" charset="0"/>
                        <a:ea typeface="DM Sans" charset="0"/>
                        <a:cs typeface="DM Sans" charset="0"/>
                      </a:endParaRPr>
                    </a:p>
                  </a:txBody>
                  <a:tcPr marL="57785" marR="57785" marT="57785" marB="57785" anchor="t">
                    <a:lnL w="12700" cap="flat" cmpd="sng" algn="ctr">
                      <a:solidFill>
                        <a:srgbClr val="C8C0B9"/>
                      </a:solidFill>
                      <a:prstDash val="solid"/>
                      <a:round/>
                      <a:headEnd type="none" w="med" len="med"/>
                      <a:tailEnd type="none" w="med" len="med"/>
                    </a:lnL>
                    <a:lnR w="12700" cap="flat" cmpd="sng" algn="ctr">
                      <a:solidFill>
                        <a:srgbClr val="C8C0B9"/>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C8C0B9"/>
                      </a:solidFill>
                      <a:prstDash val="solid"/>
                      <a:round/>
                      <a:headEnd type="none" w="med" len="med"/>
                      <a:tailEnd type="none" w="med" len="med"/>
                    </a:lnB>
                    <a:solidFill>
                      <a:srgbClr val="FBF0E8"/>
                    </a:solidFill>
                  </a:tcPr>
                </a:tc>
              </a:tr>
              <a:tr h="359321">
                <a:tc>
                  <a:txBody>
                    <a:bodyPr/>
                    <a:lstStyle/>
                    <a:p>
                      <a:pPr indent="0" marL="0">
                        <a:lnSpc>
                          <a:spcPts val="1820"/>
                        </a:lnSpc>
                        <a:buNone/>
                      </a:pPr>
                      <a:r>
                        <a:rPr lang="en-US" sz="1300" dirty="0">
                          <a:solidFill>
                            <a:srgbClr val="1B2430"/>
                          </a:solidFill>
                          <a:latin typeface="DM Sans" pitchFamily="34" charset="0"/>
                          <a:ea typeface="DM Sans" pitchFamily="34" charset="-122"/>
                          <a:cs typeface="DM Sans" pitchFamily="34" charset="-120"/>
                        </a:rPr>
                        <a:t>Digits 8×8 (notebook)</a:t>
                      </a:r>
                      <a:endParaRPr lang="en-US" sz="1300" dirty="0">
                        <a:latin typeface="DM Sans" charset="0"/>
                        <a:ea typeface="DM Sans" charset="0"/>
                        <a:cs typeface="DM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8C0B9"/>
                      </a:solidFill>
                      <a:prstDash val="solid"/>
                      <a:round/>
                      <a:headEnd type="none" w="med" len="med"/>
                      <a:tailEnd type="none" w="med" len="med"/>
                    </a:lnR>
                    <a:lnT w="12700" cap="flat" cmpd="sng" algn="ctr">
                      <a:solidFill>
                        <a:srgbClr val="C8C0B9"/>
                      </a:solidFill>
                      <a:prstDash val="solid"/>
                      <a:round/>
                      <a:headEnd type="none" w="med" len="med"/>
                      <a:tailEnd type="none" w="med" len="med"/>
                    </a:lnT>
                    <a:lnB w="12700" cap="flat" cmpd="sng" algn="ctr">
                      <a:solidFill>
                        <a:srgbClr val="C8C0B9"/>
                      </a:solidFill>
                      <a:prstDash val="solid"/>
                      <a:round/>
                      <a:headEnd type="none" w="med" len="med"/>
                      <a:tailEnd type="none" w="med" len="med"/>
                    </a:lnB>
                    <a:solidFill>
                      <a:srgbClr val="FBF0E8"/>
                    </a:solidFill>
                  </a:tcPr>
                </a:tc>
                <a:tc>
                  <a:txBody>
                    <a:bodyPr/>
                    <a:lstStyle/>
                    <a:p>
                      <a:pPr algn="r" indent="0" marL="0">
                        <a:lnSpc>
                          <a:spcPts val="1820"/>
                        </a:lnSpc>
                        <a:buNone/>
                      </a:pPr>
                      <a:r>
                        <a:rPr lang="en-US" sz="1300" dirty="0">
                          <a:solidFill>
                            <a:srgbClr val="1B2430"/>
                          </a:solidFill>
                          <a:latin typeface="DM Sans" pitchFamily="34" charset="0"/>
                          <a:ea typeface="DM Sans" pitchFamily="34" charset="-122"/>
                          <a:cs typeface="DM Sans" pitchFamily="34" charset="-120"/>
                        </a:rPr>
                        <a:t>1</a:t>
                      </a:r>
                      <a:endParaRPr lang="en-US" sz="1300" dirty="0">
                        <a:latin typeface="DM Sans" charset="0"/>
                        <a:ea typeface="DM Sans" charset="0"/>
                        <a:cs typeface="DM Sans" charset="0"/>
                      </a:endParaRPr>
                    </a:p>
                  </a:txBody>
                  <a:tcPr marL="57785" marR="57785" marT="57785" marB="57785" anchor="t">
                    <a:lnL w="12700" cap="flat" cmpd="sng" algn="ctr">
                      <a:solidFill>
                        <a:srgbClr val="C8C0B9"/>
                      </a:solidFill>
                      <a:prstDash val="solid"/>
                      <a:round/>
                      <a:headEnd type="none" w="med" len="med"/>
                      <a:tailEnd type="none" w="med" len="med"/>
                    </a:lnL>
                    <a:lnR w="12700" cap="flat" cmpd="sng" algn="ctr">
                      <a:solidFill>
                        <a:srgbClr val="C8C0B9"/>
                      </a:solidFill>
                      <a:prstDash val="solid"/>
                      <a:round/>
                      <a:headEnd type="none" w="med" len="med"/>
                      <a:tailEnd type="none" w="med" len="med"/>
                    </a:lnR>
                    <a:lnT w="12700" cap="flat" cmpd="sng" algn="ctr">
                      <a:solidFill>
                        <a:srgbClr val="C8C0B9"/>
                      </a:solidFill>
                      <a:prstDash val="solid"/>
                      <a:round/>
                      <a:headEnd type="none" w="med" len="med"/>
                      <a:tailEnd type="none" w="med" len="med"/>
                    </a:lnT>
                    <a:lnB w="12700" cap="flat" cmpd="sng" algn="ctr">
                      <a:solidFill>
                        <a:srgbClr val="C8C0B9"/>
                      </a:solidFill>
                      <a:prstDash val="solid"/>
                      <a:round/>
                      <a:headEnd type="none" w="med" len="med"/>
                      <a:tailEnd type="none" w="med" len="med"/>
                    </a:lnB>
                    <a:solidFill>
                      <a:srgbClr val="FBF0E8"/>
                    </a:solidFill>
                  </a:tcPr>
                </a:tc>
                <a:tc>
                  <a:txBody>
                    <a:bodyPr/>
                    <a:lstStyle/>
                    <a:p>
                      <a:pPr indent="0" marL="0">
                        <a:lnSpc>
                          <a:spcPts val="1820"/>
                        </a:lnSpc>
                        <a:buNone/>
                      </a:pPr>
                      <a:r>
                        <a:rPr lang="en-US" sz="1300" dirty="0">
                          <a:solidFill>
                            <a:srgbClr val="1B2430"/>
                          </a:solidFill>
                          <a:latin typeface="DM Sans" pitchFamily="34" charset="0"/>
                          <a:ea typeface="DM Sans" pitchFamily="34" charset="-122"/>
                          <a:cs typeface="DM Sans" pitchFamily="34" charset="-120"/>
                        </a:rPr>
                        <a:t>16</a:t>
                      </a:r>
                      <a:endParaRPr lang="en-US" sz="1300" dirty="0">
                        <a:latin typeface="DM Sans" charset="0"/>
                        <a:ea typeface="DM Sans" charset="0"/>
                        <a:cs typeface="DM Sans" charset="0"/>
                      </a:endParaRPr>
                    </a:p>
                  </a:txBody>
                  <a:tcPr marL="57785" marR="57785" marT="57785" marB="57785" anchor="t">
                    <a:lnL w="12700" cap="flat" cmpd="sng" algn="ctr">
                      <a:solidFill>
                        <a:srgbClr val="C8C0B9"/>
                      </a:solidFill>
                      <a:prstDash val="solid"/>
                      <a:round/>
                      <a:headEnd type="none" w="med" len="med"/>
                      <a:tailEnd type="none" w="med" len="med"/>
                    </a:lnL>
                    <a:lnR w="12700" cap="flat" cmpd="sng" algn="ctr">
                      <a:solidFill>
                        <a:srgbClr val="C8C0B9"/>
                      </a:solidFill>
                      <a:prstDash val="solid"/>
                      <a:round/>
                      <a:headEnd type="none" w="med" len="med"/>
                      <a:tailEnd type="none" w="med" len="med"/>
                    </a:lnR>
                    <a:lnT w="12700" cap="flat" cmpd="sng" algn="ctr">
                      <a:solidFill>
                        <a:srgbClr val="C8C0B9"/>
                      </a:solidFill>
                      <a:prstDash val="solid"/>
                      <a:round/>
                      <a:headEnd type="none" w="med" len="med"/>
                      <a:tailEnd type="none" w="med" len="med"/>
                    </a:lnT>
                    <a:lnB w="12700" cap="flat" cmpd="sng" algn="ctr">
                      <a:solidFill>
                        <a:srgbClr val="C8C0B9"/>
                      </a:solidFill>
                      <a:prstDash val="solid"/>
                      <a:round/>
                      <a:headEnd type="none" w="med" len="med"/>
                      <a:tailEnd type="none" w="med" len="med"/>
                    </a:lnB>
                    <a:solidFill>
                      <a:srgbClr val="FBF0E8"/>
                    </a:solidFill>
                  </a:tcPr>
                </a:tc>
              </a:tr>
              <a:tr h="359321">
                <a:tc>
                  <a:txBody>
                    <a:bodyPr/>
                    <a:lstStyle/>
                    <a:p>
                      <a:pPr indent="0" marL="0">
                        <a:lnSpc>
                          <a:spcPts val="1820"/>
                        </a:lnSpc>
                        <a:buNone/>
                      </a:pPr>
                      <a:r>
                        <a:rPr lang="en-US" sz="1300" dirty="0">
                          <a:solidFill>
                            <a:srgbClr val="1B2430"/>
                          </a:solidFill>
                          <a:latin typeface="DM Sans" pitchFamily="34" charset="0"/>
                          <a:ea typeface="DM Sans" pitchFamily="34" charset="-122"/>
                          <a:cs typeface="DM Sans" pitchFamily="34" charset="-120"/>
                        </a:rPr>
                        <a:t>Digits 28×28</a:t>
                      </a:r>
                      <a:endParaRPr lang="en-US" sz="1300" dirty="0">
                        <a:latin typeface="DM Sans" charset="0"/>
                        <a:ea typeface="DM Sans" charset="0"/>
                        <a:cs typeface="DM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8C0B9"/>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820"/>
                        </a:lnSpc>
                        <a:buNone/>
                      </a:pPr>
                      <a:r>
                        <a:rPr lang="en-US" sz="1300" dirty="0">
                          <a:solidFill>
                            <a:srgbClr val="1B2430"/>
                          </a:solidFill>
                          <a:latin typeface="DM Sans" pitchFamily="34" charset="0"/>
                          <a:ea typeface="DM Sans" pitchFamily="34" charset="-122"/>
                          <a:cs typeface="DM Sans" pitchFamily="34" charset="-120"/>
                        </a:rPr>
                        <a:t>2</a:t>
                      </a:r>
                      <a:endParaRPr lang="en-US" sz="1300" dirty="0">
                        <a:latin typeface="DM Sans" charset="0"/>
                        <a:ea typeface="DM Sans" charset="0"/>
                        <a:cs typeface="DM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8C0B9"/>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B2430"/>
                          </a:solidFill>
                          <a:latin typeface="DM Sans" pitchFamily="34" charset="0"/>
                          <a:ea typeface="DM Sans" pitchFamily="34" charset="-122"/>
                          <a:cs typeface="DM Sans" pitchFamily="34" charset="-120"/>
                        </a:rPr>
                        <a:t>32 → 64</a:t>
                      </a:r>
                      <a:endParaRPr lang="en-US" sz="1300" dirty="0">
                        <a:latin typeface="DM Sans" charset="0"/>
                        <a:ea typeface="DM Sans" charset="0"/>
                        <a:cs typeface="DM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8C0B9"/>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430"/>
                          </a:solidFill>
                          <a:latin typeface="DM Sans" pitchFamily="34" charset="0"/>
                          <a:ea typeface="DM Sans" pitchFamily="34" charset="-122"/>
                          <a:cs typeface="DM Sans" pitchFamily="34" charset="-120"/>
                        </a:rPr>
                        <a:t>Colour 32×32</a:t>
                      </a:r>
                      <a:endParaRPr lang="en-US" sz="1300" dirty="0">
                        <a:latin typeface="DM Sans" charset="0"/>
                        <a:ea typeface="DM Sans" charset="0"/>
                        <a:cs typeface="DM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820"/>
                        </a:lnSpc>
                        <a:buNone/>
                      </a:pPr>
                      <a:r>
                        <a:rPr lang="en-US" sz="1300" dirty="0">
                          <a:solidFill>
                            <a:srgbClr val="1B2430"/>
                          </a:solidFill>
                          <a:latin typeface="DM Sans" pitchFamily="34" charset="0"/>
                          <a:ea typeface="DM Sans" pitchFamily="34" charset="-122"/>
                          <a:cs typeface="DM Sans" pitchFamily="34" charset="-120"/>
                        </a:rPr>
                        <a:t>3</a:t>
                      </a:r>
                      <a:endParaRPr lang="en-US" sz="1300" dirty="0">
                        <a:latin typeface="DM Sans" charset="0"/>
                        <a:ea typeface="DM Sans" charset="0"/>
                        <a:cs typeface="DM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B2430"/>
                          </a:solidFill>
                          <a:latin typeface="DM Sans" pitchFamily="34" charset="0"/>
                          <a:ea typeface="DM Sans" pitchFamily="34" charset="-122"/>
                          <a:cs typeface="DM Sans" pitchFamily="34" charset="-120"/>
                        </a:rPr>
                        <a:t>32 → 64 → 128</a:t>
                      </a:r>
                      <a:endParaRPr lang="en-US" sz="1300" dirty="0">
                        <a:latin typeface="DM Sans" charset="0"/>
                        <a:ea typeface="DM Sans" charset="0"/>
                        <a:cs typeface="DM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430"/>
                          </a:solidFill>
                          <a:latin typeface="DM Sans" pitchFamily="34" charset="0"/>
                          <a:ea typeface="DM Sans" pitchFamily="34" charset="-122"/>
                          <a:cs typeface="DM Sans" pitchFamily="34" charset="-120"/>
                        </a:rPr>
                        <a:t>Big photos</a:t>
                      </a:r>
                      <a:endParaRPr lang="en-US" sz="1300" dirty="0">
                        <a:latin typeface="DM Sans" charset="0"/>
                        <a:ea typeface="DM Sans" charset="0"/>
                        <a:cs typeface="DM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820"/>
                        </a:lnSpc>
                        <a:buNone/>
                      </a:pPr>
                      <a:r>
                        <a:rPr lang="en-US" sz="1300" dirty="0">
                          <a:solidFill>
                            <a:srgbClr val="1B2430"/>
                          </a:solidFill>
                          <a:latin typeface="DM Sans" pitchFamily="34" charset="0"/>
                          <a:ea typeface="DM Sans" pitchFamily="34" charset="-122"/>
                          <a:cs typeface="DM Sans" pitchFamily="34" charset="-120"/>
                        </a:rPr>
                        <a:t>many</a:t>
                      </a:r>
                      <a:endParaRPr lang="en-US" sz="1300" dirty="0">
                        <a:latin typeface="DM Sans" charset="0"/>
                        <a:ea typeface="DM Sans" charset="0"/>
                        <a:cs typeface="DM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B2430"/>
                          </a:solidFill>
                          <a:latin typeface="DM Sans" pitchFamily="34" charset="0"/>
                          <a:ea typeface="DM Sans" pitchFamily="34" charset="-122"/>
                          <a:cs typeface="DM Sans" pitchFamily="34" charset="-120"/>
                        </a:rPr>
                        <a:t>use a ready-made model</a:t>
                      </a:r>
                      <a:endParaRPr lang="en-US" sz="1300" dirty="0">
                        <a:latin typeface="DM Sans" charset="0"/>
                        <a:ea typeface="DM Sans" charset="0"/>
                        <a:cs typeface="DM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6" name="Shape 3"/>
          <p:cNvSpPr/>
          <p:nvPr/>
        </p:nvSpPr>
        <p:spPr>
          <a:xfrm>
            <a:off x="6807200" y="1727150"/>
            <a:ext cx="4572000" cy="944860"/>
          </a:xfrm>
          <a:prstGeom prst="roundRect">
            <a:avLst>
              <a:gd name="adj" fmla="val 8065"/>
            </a:avLst>
          </a:prstGeom>
          <a:solidFill>
            <a:srgbClr val="FFFDF8"/>
          </a:solidFill>
          <a:ln/>
        </p:spPr>
      </p:sp>
      <p:sp>
        <p:nvSpPr>
          <p:cNvPr id="7" name="Shape 4"/>
          <p:cNvSpPr/>
          <p:nvPr/>
        </p:nvSpPr>
        <p:spPr>
          <a:xfrm>
            <a:off x="6807200" y="1727150"/>
            <a:ext cx="4572000" cy="944860"/>
          </a:xfrm>
          <a:custGeom>
            <a:avLst/>
            <a:gdLst/>
            <a:ahLst/>
            <a:cxnLst/>
            <a:rect l="l" t="t" r="r" b="b"/>
            <a:pathLst>
              <a:path w="4572000" h="944860">
                <a:moveTo>
                  <a:pt x="76200" y="944860"/>
                </a:moveTo>
                <a:lnTo>
                  <a:pt x="76200" y="944860"/>
                </a:lnTo>
                <a:arcTo hR="76200" wR="76200" stAng="5400000" swAng="5400000"/>
                <a:lnTo>
                  <a:pt x="0" y="76200"/>
                </a:lnTo>
                <a:arcTo hR="76200" wR="76200" stAng="10800000" swAng="5400000"/>
                <a:lnTo>
                  <a:pt x="76200" y="0"/>
                </a:lnTo>
                <a:arcTo hR="76200" wR="25400" stAng="16200000" swAng="-5400000"/>
                <a:lnTo>
                  <a:pt x="50800" y="868660"/>
                </a:lnTo>
                <a:arcTo hR="76200" wR="25400" stAng="10800000" swAng="-5400000"/>
                <a:close/>
              </a:path>
            </a:pathLst>
          </a:custGeom>
          <a:solidFill>
            <a:srgbClr val="D9622B"/>
          </a:solidFill>
          <a:ln/>
        </p:spPr>
      </p:sp>
      <p:sp>
        <p:nvSpPr>
          <p:cNvPr id="8" name="Text 5"/>
          <p:cNvSpPr/>
          <p:nvPr/>
        </p:nvSpPr>
        <p:spPr>
          <a:xfrm>
            <a:off x="7010400" y="1841450"/>
            <a:ext cx="434289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0"/>
                </a:solidFill>
                <a:latin typeface="DM Sans" pitchFamily="34" charset="0"/>
                <a:ea typeface="DM Sans" pitchFamily="34" charset="-122"/>
                <a:cs typeface="DM Sans" pitchFamily="34" charset="-120"/>
              </a:rPr>
              <a:t>1. Stop when maps get tiny</a:t>
            </a:r>
            <a:endParaRPr lang="en-US" sz="1500" dirty="0"/>
          </a:p>
        </p:txBody>
      </p:sp>
      <p:sp>
        <p:nvSpPr>
          <p:cNvPr id="9" name="Text 6"/>
          <p:cNvSpPr/>
          <p:nvPr/>
        </p:nvSpPr>
        <p:spPr>
          <a:xfrm>
            <a:off x="7010400" y="2095450"/>
            <a:ext cx="434289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8×8 → 6×6 → 3×3. One more block would leave 1×1. Too small.</a:t>
            </a:r>
            <a:endParaRPr lang="en-US" sz="1300" dirty="0"/>
          </a:p>
        </p:txBody>
      </p:sp>
      <p:sp>
        <p:nvSpPr>
          <p:cNvPr id="10" name="Shape 7"/>
          <p:cNvSpPr/>
          <p:nvPr/>
        </p:nvSpPr>
        <p:spPr>
          <a:xfrm>
            <a:off x="6807200" y="2773611"/>
            <a:ext cx="4572000" cy="713730"/>
          </a:xfrm>
          <a:prstGeom prst="roundRect">
            <a:avLst>
              <a:gd name="adj" fmla="val 10676"/>
            </a:avLst>
          </a:prstGeom>
          <a:solidFill>
            <a:srgbClr val="FFFDF8"/>
          </a:solidFill>
          <a:ln/>
        </p:spPr>
      </p:sp>
      <p:sp>
        <p:nvSpPr>
          <p:cNvPr id="11" name="Shape 8"/>
          <p:cNvSpPr/>
          <p:nvPr/>
        </p:nvSpPr>
        <p:spPr>
          <a:xfrm>
            <a:off x="6807200" y="2773611"/>
            <a:ext cx="4572000" cy="713730"/>
          </a:xfrm>
          <a:custGeom>
            <a:avLst/>
            <a:gdLst/>
            <a:ahLst/>
            <a:cxnLst/>
            <a:rect l="l" t="t" r="r" b="b"/>
            <a:pathLst>
              <a:path w="4572000" h="713730">
                <a:moveTo>
                  <a:pt x="76200" y="713730"/>
                </a:moveTo>
                <a:lnTo>
                  <a:pt x="76200" y="713730"/>
                </a:lnTo>
                <a:arcTo hR="76200" wR="76200" stAng="5400000" swAng="5400000"/>
                <a:lnTo>
                  <a:pt x="0" y="76200"/>
                </a:lnTo>
                <a:arcTo hR="76200" wR="76200" stAng="10800000" swAng="5400000"/>
                <a:lnTo>
                  <a:pt x="76200" y="0"/>
                </a:lnTo>
                <a:arcTo hR="76200" wR="25400" stAng="16200000" swAng="-5400000"/>
                <a:lnTo>
                  <a:pt x="50800" y="637530"/>
                </a:lnTo>
                <a:arcTo hR="76200" wR="25400" stAng="10800000" swAng="-5400000"/>
                <a:close/>
              </a:path>
            </a:pathLst>
          </a:custGeom>
          <a:solidFill>
            <a:srgbClr val="D9622B"/>
          </a:solidFill>
          <a:ln/>
        </p:spPr>
      </p:sp>
      <p:sp>
        <p:nvSpPr>
          <p:cNvPr id="12" name="Text 9"/>
          <p:cNvSpPr/>
          <p:nvPr/>
        </p:nvSpPr>
        <p:spPr>
          <a:xfrm>
            <a:off x="7010400" y="2887911"/>
            <a:ext cx="434289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0"/>
                </a:solidFill>
                <a:latin typeface="DM Sans" pitchFamily="34" charset="0"/>
                <a:ea typeface="DM Sans" pitchFamily="34" charset="-122"/>
                <a:cs typeface="DM Sans" pitchFamily="34" charset="-120"/>
              </a:rPr>
              <a:t>2. Double the filters each block</a:t>
            </a:r>
            <a:endParaRPr lang="en-US" sz="1500" dirty="0"/>
          </a:p>
        </p:txBody>
      </p:sp>
      <p:sp>
        <p:nvSpPr>
          <p:cNvPr id="13" name="Text 10"/>
          <p:cNvSpPr/>
          <p:nvPr/>
        </p:nvSpPr>
        <p:spPr>
          <a:xfrm>
            <a:off x="7010400" y="3141911"/>
            <a:ext cx="43428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Deeper blocks find more combinations.</a:t>
            </a:r>
            <a:endParaRPr lang="en-US" sz="1300" dirty="0"/>
          </a:p>
        </p:txBody>
      </p:sp>
      <p:sp>
        <p:nvSpPr>
          <p:cNvPr id="14" name="Shape 11"/>
          <p:cNvSpPr/>
          <p:nvPr/>
        </p:nvSpPr>
        <p:spPr>
          <a:xfrm>
            <a:off x="6807200" y="3588941"/>
            <a:ext cx="4572000" cy="944860"/>
          </a:xfrm>
          <a:prstGeom prst="roundRect">
            <a:avLst>
              <a:gd name="adj" fmla="val 8065"/>
            </a:avLst>
          </a:prstGeom>
          <a:solidFill>
            <a:srgbClr val="FFFDF8"/>
          </a:solidFill>
          <a:ln/>
        </p:spPr>
      </p:sp>
      <p:sp>
        <p:nvSpPr>
          <p:cNvPr id="15" name="Shape 12"/>
          <p:cNvSpPr/>
          <p:nvPr/>
        </p:nvSpPr>
        <p:spPr>
          <a:xfrm>
            <a:off x="6807200" y="3588941"/>
            <a:ext cx="4572000" cy="944860"/>
          </a:xfrm>
          <a:custGeom>
            <a:avLst/>
            <a:gdLst/>
            <a:ahLst/>
            <a:cxnLst/>
            <a:rect l="l" t="t" r="r" b="b"/>
            <a:pathLst>
              <a:path w="4572000" h="944860">
                <a:moveTo>
                  <a:pt x="76200" y="944860"/>
                </a:moveTo>
                <a:lnTo>
                  <a:pt x="76200" y="944860"/>
                </a:lnTo>
                <a:arcTo hR="76200" wR="76200" stAng="5400000" swAng="5400000"/>
                <a:lnTo>
                  <a:pt x="0" y="76200"/>
                </a:lnTo>
                <a:arcTo hR="76200" wR="76200" stAng="10800000" swAng="5400000"/>
                <a:lnTo>
                  <a:pt x="76200" y="0"/>
                </a:lnTo>
                <a:arcTo hR="76200" wR="25400" stAng="16200000" swAng="-5400000"/>
                <a:lnTo>
                  <a:pt x="50800" y="868660"/>
                </a:lnTo>
                <a:arcTo hR="76200" wR="25400" stAng="10800000" swAng="-5400000"/>
                <a:close/>
              </a:path>
            </a:pathLst>
          </a:custGeom>
          <a:solidFill>
            <a:srgbClr val="2B5FA6"/>
          </a:solidFill>
          <a:ln/>
        </p:spPr>
      </p:sp>
      <p:sp>
        <p:nvSpPr>
          <p:cNvPr id="16" name="Text 13"/>
          <p:cNvSpPr/>
          <p:nvPr/>
        </p:nvSpPr>
        <p:spPr>
          <a:xfrm>
            <a:off x="7010400" y="3703241"/>
            <a:ext cx="434289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0"/>
                </a:solidFill>
                <a:latin typeface="DM Sans" pitchFamily="34" charset="0"/>
                <a:ea typeface="DM Sans" pitchFamily="34" charset="-122"/>
                <a:cs typeface="DM Sans" pitchFamily="34" charset="-120"/>
              </a:rPr>
              <a:t>3. Not too few, not too many</a:t>
            </a:r>
            <a:endParaRPr lang="en-US" sz="1500" dirty="0"/>
          </a:p>
        </p:txBody>
      </p:sp>
      <p:sp>
        <p:nvSpPr>
          <p:cNvPr id="17" name="Text 14"/>
          <p:cNvSpPr/>
          <p:nvPr/>
        </p:nvSpPr>
        <p:spPr>
          <a:xfrm>
            <a:off x="7010400" y="3957241"/>
            <a:ext cx="434289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Too few: cannot learn shapes. Too many: slow, and it memorises.</a:t>
            </a:r>
            <a:endParaRPr lang="en-US" sz="1300" dirty="0"/>
          </a:p>
        </p:txBody>
      </p:sp>
      <p:sp>
        <p:nvSpPr>
          <p:cNvPr id="18" name="Shape 15"/>
          <p:cNvSpPr/>
          <p:nvPr/>
        </p:nvSpPr>
        <p:spPr>
          <a:xfrm>
            <a:off x="6807200" y="4635401"/>
            <a:ext cx="4572000" cy="713730"/>
          </a:xfrm>
          <a:prstGeom prst="roundRect">
            <a:avLst>
              <a:gd name="adj" fmla="val 10676"/>
            </a:avLst>
          </a:prstGeom>
          <a:solidFill>
            <a:srgbClr val="FFFDF8"/>
          </a:solidFill>
          <a:ln/>
        </p:spPr>
      </p:sp>
      <p:sp>
        <p:nvSpPr>
          <p:cNvPr id="19" name="Shape 16"/>
          <p:cNvSpPr/>
          <p:nvPr/>
        </p:nvSpPr>
        <p:spPr>
          <a:xfrm>
            <a:off x="6807200" y="4635401"/>
            <a:ext cx="4572000" cy="713730"/>
          </a:xfrm>
          <a:custGeom>
            <a:avLst/>
            <a:gdLst/>
            <a:ahLst/>
            <a:cxnLst/>
            <a:rect l="l" t="t" r="r" b="b"/>
            <a:pathLst>
              <a:path w="4572000" h="713730">
                <a:moveTo>
                  <a:pt x="76200" y="713730"/>
                </a:moveTo>
                <a:lnTo>
                  <a:pt x="76200" y="713730"/>
                </a:lnTo>
                <a:arcTo hR="76200" wR="76200" stAng="5400000" swAng="5400000"/>
                <a:lnTo>
                  <a:pt x="0" y="76200"/>
                </a:lnTo>
                <a:arcTo hR="76200" wR="76200" stAng="10800000" swAng="5400000"/>
                <a:lnTo>
                  <a:pt x="76200" y="0"/>
                </a:lnTo>
                <a:arcTo hR="76200" wR="25400" stAng="16200000" swAng="-5400000"/>
                <a:lnTo>
                  <a:pt x="50800" y="637530"/>
                </a:lnTo>
                <a:arcTo hR="76200" wR="25400" stAng="10800000" swAng="-5400000"/>
                <a:close/>
              </a:path>
            </a:pathLst>
          </a:custGeom>
          <a:solidFill>
            <a:srgbClr val="2B5FA6"/>
          </a:solidFill>
          <a:ln/>
        </p:spPr>
      </p:sp>
      <p:sp>
        <p:nvSpPr>
          <p:cNvPr id="20" name="Text 17"/>
          <p:cNvSpPr/>
          <p:nvPr/>
        </p:nvSpPr>
        <p:spPr>
          <a:xfrm>
            <a:off x="7010400" y="4749701"/>
            <a:ext cx="434289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0"/>
                </a:solidFill>
                <a:latin typeface="DM Sans" pitchFamily="34" charset="0"/>
                <a:ea typeface="DM Sans" pitchFamily="34" charset="-122"/>
                <a:cs typeface="DM Sans" pitchFamily="34" charset="-120"/>
              </a:rPr>
              <a:t>4. Try and compare</a:t>
            </a:r>
            <a:endParaRPr lang="en-US" sz="1500" dirty="0"/>
          </a:p>
        </p:txBody>
      </p:sp>
      <p:sp>
        <p:nvSpPr>
          <p:cNvPr id="21" name="Text 18"/>
          <p:cNvSpPr/>
          <p:nvPr/>
        </p:nvSpPr>
        <p:spPr>
          <a:xfrm>
            <a:off x="7010400" y="5003701"/>
            <a:ext cx="43428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Keep the one with the better test accuracy.</a:t>
            </a:r>
            <a:endParaRPr lang="en-US" sz="1300" dirty="0"/>
          </a:p>
        </p:txBody>
      </p:sp>
      <p:sp>
        <p:nvSpPr>
          <p:cNvPr id="22"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DM Sans" pitchFamily="34" charset="0"/>
                <a:ea typeface="DM Sans" pitchFamily="34" charset="-122"/>
                <a:cs typeface="DM Sans" pitchFamily="34" charset="-120"/>
              </a:rPr>
              <a:t>CNN step by step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501F"/>
                </a:solidFill>
                <a:latin typeface="DM Sans" pitchFamily="34" charset="0"/>
                <a:ea typeface="DM Sans" pitchFamily="34" charset="-122"/>
                <a:cs typeface="DM Sans" pitchFamily="34" charset="-120"/>
              </a:rPr>
              <a:t>BRIDGE TO THE NOTEBOOK</a:t>
            </a:r>
            <a:endParaRPr lang="en-US" sz="1200" dirty="0"/>
          </a:p>
        </p:txBody>
      </p:sp>
      <p:sp>
        <p:nvSpPr>
          <p:cNvPr id="3" name="Text 1"/>
          <p:cNvSpPr/>
          <p:nvPr>
            <p:ph type="title"/>
          </p:nvPr>
        </p:nvSpPr>
        <p:spPr>
          <a:xfrm>
            <a:off x="812800" y="10769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430"/>
                </a:solidFill>
                <a:latin typeface="DM Sans" pitchFamily="34" charset="0"/>
                <a:ea typeface="DM Sans" pitchFamily="34" charset="-122"/>
                <a:cs typeface="DM Sans" pitchFamily="34" charset="-120"/>
              </a:rPr>
              <a:t>Same steps, real digits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14450"/>
          <a:ext cx="10553700" cy="3233886"/>
        </p:xfrm>
        <a:graphic>
          <a:graphicData uri="http://schemas.openxmlformats.org/drawingml/2006/table">
            <a:tbl>
              <a:tblPr/>
              <a:tblGrid>
                <a:gridCol w="2321814"/>
                <a:gridCol w="3799332"/>
                <a:gridCol w="4432554"/>
              </a:tblGrid>
              <a:tr h="359321">
                <a:tc>
                  <a:txBody>
                    <a:bodyPr/>
                    <a:lstStyle/>
                    <a:p>
                      <a:pPr indent="0" marL="0">
                        <a:lnSpc>
                          <a:spcPts val="1820"/>
                        </a:lnSpc>
                        <a:buNone/>
                      </a:pPr>
                      <a:r>
                        <a:rPr lang="en-US" sz="1300" b="1" dirty="0">
                          <a:solidFill>
                            <a:srgbClr val="F7F5F0"/>
                          </a:solidFill>
                          <a:latin typeface="DM Sans" pitchFamily="34" charset="0"/>
                          <a:ea typeface="DM Sans" pitchFamily="34" charset="-122"/>
                          <a:cs typeface="DM Sans" pitchFamily="34" charset="-120"/>
                        </a:rPr>
                        <a:t>Step</a:t>
                      </a:r>
                      <a:endParaRPr lang="en-US" sz="1300" dirty="0">
                        <a:latin typeface="DM Sans" charset="0"/>
                        <a:ea typeface="DM Sans" charset="0"/>
                        <a:cs typeface="DM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c>
                  <a:txBody>
                    <a:bodyPr/>
                    <a:lstStyle/>
                    <a:p>
                      <a:pPr indent="0" marL="0">
                        <a:lnSpc>
                          <a:spcPts val="1820"/>
                        </a:lnSpc>
                        <a:buNone/>
                      </a:pPr>
                      <a:r>
                        <a:rPr lang="en-US" sz="1300" b="1" dirty="0">
                          <a:solidFill>
                            <a:srgbClr val="F7F5F0"/>
                          </a:solidFill>
                          <a:latin typeface="DM Sans" pitchFamily="34" charset="0"/>
                          <a:ea typeface="DM Sans" pitchFamily="34" charset="-122"/>
                          <a:cs typeface="DM Sans" pitchFamily="34" charset="-120"/>
                        </a:rPr>
                        <a:t>Our example</a:t>
                      </a:r>
                      <a:endParaRPr lang="en-US" sz="1300" dirty="0">
                        <a:latin typeface="DM Sans" charset="0"/>
                        <a:ea typeface="DM Sans" charset="0"/>
                        <a:cs typeface="DM Sans" charset="0"/>
                      </a:endParaRPr>
                    </a:p>
                  </a:txBody>
                  <a:tcPr marL="57785" marR="57785" marT="57785" marB="57785" anchor="t">
                    <a:lnL w="12700" cap="flat" cmpd="sng" algn="ctr">
                      <a:solidFill>
                        <a:srgbClr val="19202A"/>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c>
                  <a:txBody>
                    <a:bodyPr/>
                    <a:lstStyle/>
                    <a:p>
                      <a:pPr indent="0" marL="0">
                        <a:lnSpc>
                          <a:spcPts val="1820"/>
                        </a:lnSpc>
                        <a:buNone/>
                      </a:pPr>
                      <a:r>
                        <a:rPr lang="en-US" sz="1300" b="1" dirty="0">
                          <a:solidFill>
                            <a:srgbClr val="F7F5F0"/>
                          </a:solidFill>
                          <a:latin typeface="DM Sans" pitchFamily="34" charset="0"/>
                          <a:ea typeface="DM Sans" pitchFamily="34" charset="-122"/>
                          <a:cs typeface="DM Sans" pitchFamily="34" charset="-120"/>
                        </a:rPr>
                        <a:t>Real digits (notebook)</a:t>
                      </a:r>
                      <a:endParaRPr lang="en-US" sz="1300" dirty="0">
                        <a:latin typeface="DM Sans" charset="0"/>
                        <a:ea typeface="DM Sans" charset="0"/>
                        <a:cs typeface="DM Sans" charset="0"/>
                      </a:endParaRPr>
                    </a:p>
                  </a:txBody>
                  <a:tcPr marL="57785" marR="57785" marT="57785" marB="57785" anchor="t">
                    <a:lnL w="12700" cap="flat" cmpd="sng" algn="ctr">
                      <a:solidFill>
                        <a:srgbClr val="19202A"/>
                      </a:solidFill>
                      <a:prstDash val="solid"/>
                      <a:round/>
                      <a:headEnd type="none" w="med" len="med"/>
                      <a:tailEnd type="none" w="med" len="med"/>
                    </a:lnL>
                    <a:lnR w="12700" cap="flat" cmpd="sng" algn="ctr">
                      <a:solidFill>
                        <a:srgbClr val="19202A"/>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9202A"/>
                      </a:solidFill>
                      <a:prstDash val="solid"/>
                      <a:round/>
                      <a:headEnd type="none" w="med" len="med"/>
                      <a:tailEnd type="none" w="med" len="med"/>
                    </a:lnB>
                    <a:solidFill>
                      <a:srgbClr val="1B2430"/>
                    </a:solidFill>
                  </a:tcPr>
                </a:tc>
              </a:tr>
              <a:tr h="359321">
                <a:tc>
                  <a:txBody>
                    <a:bodyPr/>
                    <a:lstStyle/>
                    <a:p>
                      <a:pPr indent="0" marL="0">
                        <a:lnSpc>
                          <a:spcPts val="1820"/>
                        </a:lnSpc>
                        <a:buNone/>
                      </a:pPr>
                      <a:r>
                        <a:rPr lang="en-US" sz="1300" dirty="0">
                          <a:solidFill>
                            <a:srgbClr val="1B2430"/>
                          </a:solidFill>
                          <a:latin typeface="DM Sans" pitchFamily="34" charset="0"/>
                          <a:ea typeface="DM Sans" pitchFamily="34" charset="-122"/>
                          <a:cs typeface="DM Sans" pitchFamily="34" charset="-120"/>
                        </a:rPr>
                        <a:t>Image</a:t>
                      </a:r>
                      <a:endParaRPr lang="en-US" sz="1300" dirty="0">
                        <a:latin typeface="DM Sans" charset="0"/>
                        <a:ea typeface="DM Sans" charset="0"/>
                        <a:cs typeface="DM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B2430"/>
                          </a:solidFill>
                          <a:latin typeface="DM Sans" pitchFamily="34" charset="0"/>
                          <a:ea typeface="DM Sans" pitchFamily="34" charset="-122"/>
                          <a:cs typeface="DM Sans" pitchFamily="34" charset="-120"/>
                        </a:rPr>
                        <a:t>6×6, one “1”</a:t>
                      </a:r>
                      <a:endParaRPr lang="en-US" sz="1300" dirty="0">
                        <a:latin typeface="DM Sans" charset="0"/>
                        <a:ea typeface="DM Sans" charset="0"/>
                        <a:cs typeface="DM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B2430"/>
                          </a:solidFill>
                          <a:latin typeface="DM Sans" pitchFamily="34" charset="0"/>
                          <a:ea typeface="DM Sans" pitchFamily="34" charset="-122"/>
                          <a:cs typeface="DM Sans" pitchFamily="34" charset="-120"/>
                        </a:rPr>
                        <a:t>8×8, 1,797 pictures</a:t>
                      </a:r>
                      <a:endParaRPr lang="en-US" sz="1300" dirty="0">
                        <a:latin typeface="DM Sans" charset="0"/>
                        <a:ea typeface="DM Sans" charset="0"/>
                        <a:cs typeface="DM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430"/>
                          </a:solidFill>
                          <a:latin typeface="DM Sans" pitchFamily="34" charset="0"/>
                          <a:ea typeface="DM Sans" pitchFamily="34" charset="-122"/>
                          <a:cs typeface="DM Sans" pitchFamily="34" charset="-120"/>
                        </a:rPr>
                        <a:t>Conv</a:t>
                      </a:r>
                      <a:endParaRPr lang="en-US" sz="1300" dirty="0">
                        <a:latin typeface="DM Sans" charset="0"/>
                        <a:ea typeface="DM Sans" charset="0"/>
                        <a:cs typeface="DM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8C0B9"/>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8C0B9"/>
                      </a:solidFill>
                      <a:prstDash val="solid"/>
                      <a:round/>
                      <a:headEnd type="none" w="med" len="med"/>
                      <a:tailEnd type="none" w="med" len="med"/>
                    </a:lnB>
                    <a:solidFill>
                      <a:srgbClr val="FBF0E8"/>
                    </a:solidFill>
                  </a:tcPr>
                </a:tc>
                <a:tc>
                  <a:txBody>
                    <a:bodyPr/>
                    <a:lstStyle/>
                    <a:p>
                      <a:pPr indent="0" marL="0">
                        <a:lnSpc>
                          <a:spcPts val="1820"/>
                        </a:lnSpc>
                        <a:buNone/>
                      </a:pPr>
                      <a:r>
                        <a:rPr lang="en-US" sz="1300" dirty="0">
                          <a:solidFill>
                            <a:srgbClr val="1B2430"/>
                          </a:solidFill>
                          <a:latin typeface="DM Sans" pitchFamily="34" charset="0"/>
                          <a:ea typeface="DM Sans" pitchFamily="34" charset="-122"/>
                          <a:cs typeface="DM Sans" pitchFamily="34" charset="-120"/>
                        </a:rPr>
                        <a:t>1 filter, written by us</a:t>
                      </a:r>
                      <a:endParaRPr lang="en-US" sz="1300" dirty="0">
                        <a:latin typeface="DM Sans" charset="0"/>
                        <a:ea typeface="DM Sans" charset="0"/>
                        <a:cs typeface="DM Sans" charset="0"/>
                      </a:endParaRPr>
                    </a:p>
                  </a:txBody>
                  <a:tcPr marL="57785" marR="57785" marT="57785" marB="57785" anchor="t">
                    <a:lnL w="12700" cap="flat" cmpd="sng" algn="ctr">
                      <a:solidFill>
                        <a:srgbClr val="C8C0B9"/>
                      </a:solidFill>
                      <a:prstDash val="solid"/>
                      <a:round/>
                      <a:headEnd type="none" w="med" len="med"/>
                      <a:tailEnd type="none" w="med" len="med"/>
                    </a:lnL>
                    <a:lnR w="12700" cap="flat" cmpd="sng" algn="ctr">
                      <a:solidFill>
                        <a:srgbClr val="C8C0B9"/>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8C0B9"/>
                      </a:solidFill>
                      <a:prstDash val="solid"/>
                      <a:round/>
                      <a:headEnd type="none" w="med" len="med"/>
                      <a:tailEnd type="none" w="med" len="med"/>
                    </a:lnB>
                    <a:solidFill>
                      <a:srgbClr val="FBF0E8"/>
                    </a:solidFill>
                  </a:tcPr>
                </a:tc>
                <a:tc>
                  <a:txBody>
                    <a:bodyPr/>
                    <a:lstStyle/>
                    <a:p>
                      <a:pPr indent="0" marL="0">
                        <a:lnSpc>
                          <a:spcPts val="1820"/>
                        </a:lnSpc>
                        <a:buNone/>
                      </a:pPr>
                      <a:r>
                        <a:rPr lang="en-US" sz="1300" dirty="0">
                          <a:solidFill>
                            <a:srgbClr val="1B2430"/>
                          </a:solidFill>
                          <a:latin typeface="DM Sans" pitchFamily="34" charset="0"/>
                          <a:ea typeface="DM Sans" pitchFamily="34" charset="-122"/>
                          <a:cs typeface="DM Sans" pitchFamily="34" charset="-120"/>
                        </a:rPr>
                        <a:t>16 filters, learned</a:t>
                      </a:r>
                      <a:endParaRPr lang="en-US" sz="1300" dirty="0">
                        <a:latin typeface="DM Sans" charset="0"/>
                        <a:ea typeface="DM Sans" charset="0"/>
                        <a:cs typeface="DM Sans" charset="0"/>
                      </a:endParaRPr>
                    </a:p>
                  </a:txBody>
                  <a:tcPr marL="57785" marR="57785" marT="57785" marB="57785" anchor="t">
                    <a:lnL w="12700" cap="flat" cmpd="sng" algn="ctr">
                      <a:solidFill>
                        <a:srgbClr val="C8C0B9"/>
                      </a:solidFill>
                      <a:prstDash val="solid"/>
                      <a:round/>
                      <a:headEnd type="none" w="med" len="med"/>
                      <a:tailEnd type="none" w="med" len="med"/>
                    </a:lnL>
                    <a:lnR w="12700" cap="flat" cmpd="sng" algn="ctr">
                      <a:solidFill>
                        <a:srgbClr val="C8C0B9"/>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8C0B9"/>
                      </a:solidFill>
                      <a:prstDash val="solid"/>
                      <a:round/>
                      <a:headEnd type="none" w="med" len="med"/>
                      <a:tailEnd type="none" w="med" len="med"/>
                    </a:lnB>
                    <a:solidFill>
                      <a:srgbClr val="FBF0E8"/>
                    </a:solidFill>
                  </a:tcPr>
                </a:tc>
              </a:tr>
              <a:tr h="359321">
                <a:tc>
                  <a:txBody>
                    <a:bodyPr/>
                    <a:lstStyle/>
                    <a:p>
                      <a:pPr indent="0" marL="0">
                        <a:lnSpc>
                          <a:spcPts val="1820"/>
                        </a:lnSpc>
                        <a:buNone/>
                      </a:pPr>
                      <a:r>
                        <a:rPr lang="en-US" sz="1300" dirty="0">
                          <a:solidFill>
                            <a:srgbClr val="1B2430"/>
                          </a:solidFill>
                          <a:latin typeface="DM Sans" pitchFamily="34" charset="0"/>
                          <a:ea typeface="DM Sans" pitchFamily="34" charset="-122"/>
                          <a:cs typeface="DM Sans" pitchFamily="34" charset="-120"/>
                        </a:rPr>
                        <a:t>Feature maps</a:t>
                      </a:r>
                      <a:endParaRPr lang="en-US" sz="1300" dirty="0">
                        <a:latin typeface="DM Sans" charset="0"/>
                        <a:ea typeface="DM Sans" charset="0"/>
                        <a:cs typeface="DM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8C0B9"/>
                      </a:solidFill>
                      <a:prstDash val="solid"/>
                      <a:round/>
                      <a:headEnd type="none" w="med" len="med"/>
                      <a:tailEnd type="none" w="med" len="med"/>
                    </a:lnR>
                    <a:lnT w="12700" cap="flat" cmpd="sng" algn="ctr">
                      <a:solidFill>
                        <a:srgbClr val="C8C0B9"/>
                      </a:solidFill>
                      <a:prstDash val="solid"/>
                      <a:round/>
                      <a:headEnd type="none" w="med" len="med"/>
                      <a:tailEnd type="none" w="med" len="med"/>
                    </a:lnT>
                    <a:lnB w="12700" cap="flat" cmpd="sng" algn="ctr">
                      <a:solidFill>
                        <a:srgbClr val="C8C0B9"/>
                      </a:solidFill>
                      <a:prstDash val="solid"/>
                      <a:round/>
                      <a:headEnd type="none" w="med" len="med"/>
                      <a:tailEnd type="none" w="med" len="med"/>
                    </a:lnB>
                    <a:solidFill>
                      <a:srgbClr val="FBF0E8"/>
                    </a:solidFill>
                  </a:tcPr>
                </a:tc>
                <a:tc>
                  <a:txBody>
                    <a:bodyPr/>
                    <a:lstStyle/>
                    <a:p>
                      <a:pPr indent="0" marL="0">
                        <a:lnSpc>
                          <a:spcPts val="1820"/>
                        </a:lnSpc>
                        <a:buNone/>
                      </a:pPr>
                      <a:r>
                        <a:rPr lang="en-US" sz="1300" dirty="0">
                          <a:solidFill>
                            <a:srgbClr val="1B2430"/>
                          </a:solidFill>
                          <a:latin typeface="DM Sans" pitchFamily="34" charset="0"/>
                          <a:ea typeface="DM Sans" pitchFamily="34" charset="-122"/>
                          <a:cs typeface="DM Sans" pitchFamily="34" charset="-120"/>
                        </a:rPr>
                        <a:t>4×4 (6 − 3 + 1)</a:t>
                      </a:r>
                      <a:endParaRPr lang="en-US" sz="1300" dirty="0">
                        <a:latin typeface="DM Sans" charset="0"/>
                        <a:ea typeface="DM Sans" charset="0"/>
                        <a:cs typeface="DM Sans" charset="0"/>
                      </a:endParaRPr>
                    </a:p>
                  </a:txBody>
                  <a:tcPr marL="57785" marR="57785" marT="57785" marB="57785" anchor="t">
                    <a:lnL w="12700" cap="flat" cmpd="sng" algn="ctr">
                      <a:solidFill>
                        <a:srgbClr val="C8C0B9"/>
                      </a:solidFill>
                      <a:prstDash val="solid"/>
                      <a:round/>
                      <a:headEnd type="none" w="med" len="med"/>
                      <a:tailEnd type="none" w="med" len="med"/>
                    </a:lnL>
                    <a:lnR w="12700" cap="flat" cmpd="sng" algn="ctr">
                      <a:solidFill>
                        <a:srgbClr val="C8C0B9"/>
                      </a:solidFill>
                      <a:prstDash val="solid"/>
                      <a:round/>
                      <a:headEnd type="none" w="med" len="med"/>
                      <a:tailEnd type="none" w="med" len="med"/>
                    </a:lnR>
                    <a:lnT w="12700" cap="flat" cmpd="sng" algn="ctr">
                      <a:solidFill>
                        <a:srgbClr val="C8C0B9"/>
                      </a:solidFill>
                      <a:prstDash val="solid"/>
                      <a:round/>
                      <a:headEnd type="none" w="med" len="med"/>
                      <a:tailEnd type="none" w="med" len="med"/>
                    </a:lnT>
                    <a:lnB w="12700" cap="flat" cmpd="sng" algn="ctr">
                      <a:solidFill>
                        <a:srgbClr val="C8C0B9"/>
                      </a:solidFill>
                      <a:prstDash val="solid"/>
                      <a:round/>
                      <a:headEnd type="none" w="med" len="med"/>
                      <a:tailEnd type="none" w="med" len="med"/>
                    </a:lnB>
                    <a:solidFill>
                      <a:srgbClr val="FBF0E8"/>
                    </a:solidFill>
                  </a:tcPr>
                </a:tc>
                <a:tc>
                  <a:txBody>
                    <a:bodyPr/>
                    <a:lstStyle/>
                    <a:p>
                      <a:pPr indent="0" marL="0">
                        <a:lnSpc>
                          <a:spcPts val="1820"/>
                        </a:lnSpc>
                        <a:buNone/>
                      </a:pPr>
                      <a:r>
                        <a:rPr lang="en-US" sz="1300" dirty="0">
                          <a:solidFill>
                            <a:srgbClr val="1B2430"/>
                          </a:solidFill>
                          <a:latin typeface="DM Sans" pitchFamily="34" charset="0"/>
                          <a:ea typeface="DM Sans" pitchFamily="34" charset="-122"/>
                          <a:cs typeface="DM Sans" pitchFamily="34" charset="-120"/>
                        </a:rPr>
                        <a:t>16 maps of 6×6 (8 − 3 + 1)</a:t>
                      </a:r>
                      <a:endParaRPr lang="en-US" sz="1300" dirty="0">
                        <a:latin typeface="DM Sans" charset="0"/>
                        <a:ea typeface="DM Sans" charset="0"/>
                        <a:cs typeface="DM Sans" charset="0"/>
                      </a:endParaRPr>
                    </a:p>
                  </a:txBody>
                  <a:tcPr marL="57785" marR="57785" marT="57785" marB="57785" anchor="t">
                    <a:lnL w="12700" cap="flat" cmpd="sng" algn="ctr">
                      <a:solidFill>
                        <a:srgbClr val="C8C0B9"/>
                      </a:solidFill>
                      <a:prstDash val="solid"/>
                      <a:round/>
                      <a:headEnd type="none" w="med" len="med"/>
                      <a:tailEnd type="none" w="med" len="med"/>
                    </a:lnL>
                    <a:lnR w="12700" cap="flat" cmpd="sng" algn="ctr">
                      <a:solidFill>
                        <a:srgbClr val="C8C0B9"/>
                      </a:solidFill>
                      <a:prstDash val="solid"/>
                      <a:round/>
                      <a:headEnd type="none" w="med" len="med"/>
                      <a:tailEnd type="none" w="med" len="med"/>
                    </a:lnR>
                    <a:lnT w="12700" cap="flat" cmpd="sng" algn="ctr">
                      <a:solidFill>
                        <a:srgbClr val="C8C0B9"/>
                      </a:solidFill>
                      <a:prstDash val="solid"/>
                      <a:round/>
                      <a:headEnd type="none" w="med" len="med"/>
                      <a:tailEnd type="none" w="med" len="med"/>
                    </a:lnT>
                    <a:lnB w="12700" cap="flat" cmpd="sng" algn="ctr">
                      <a:solidFill>
                        <a:srgbClr val="C8C0B9"/>
                      </a:solidFill>
                      <a:prstDash val="solid"/>
                      <a:round/>
                      <a:headEnd type="none" w="med" len="med"/>
                      <a:tailEnd type="none" w="med" len="med"/>
                    </a:lnB>
                    <a:solidFill>
                      <a:srgbClr val="FBF0E8"/>
                    </a:solidFill>
                  </a:tcPr>
                </a:tc>
              </a:tr>
              <a:tr h="359321">
                <a:tc>
                  <a:txBody>
                    <a:bodyPr/>
                    <a:lstStyle/>
                    <a:p>
                      <a:pPr indent="0" marL="0">
                        <a:lnSpc>
                          <a:spcPts val="1820"/>
                        </a:lnSpc>
                        <a:buNone/>
                      </a:pPr>
                      <a:r>
                        <a:rPr lang="en-US" sz="1300" dirty="0">
                          <a:solidFill>
                            <a:srgbClr val="1B2430"/>
                          </a:solidFill>
                          <a:latin typeface="DM Sans" pitchFamily="34" charset="0"/>
                          <a:ea typeface="DM Sans" pitchFamily="34" charset="-122"/>
                          <a:cs typeface="DM Sans" pitchFamily="34" charset="-120"/>
                        </a:rPr>
                        <a:t>ReLU</a:t>
                      </a:r>
                      <a:endParaRPr lang="en-US" sz="1300" dirty="0">
                        <a:latin typeface="DM Sans" charset="0"/>
                        <a:ea typeface="DM Sans" charset="0"/>
                        <a:cs typeface="DM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8C0B9"/>
                      </a:solidFill>
                      <a:prstDash val="solid"/>
                      <a:round/>
                      <a:headEnd type="none" w="med" len="med"/>
                      <a:tailEnd type="none" w="med" len="med"/>
                    </a:lnR>
                    <a:lnT w="12700" cap="flat" cmpd="sng" algn="ctr">
                      <a:solidFill>
                        <a:srgbClr val="C8C0B9"/>
                      </a:solidFill>
                      <a:prstDash val="solid"/>
                      <a:round/>
                      <a:headEnd type="none" w="med" len="med"/>
                      <a:tailEnd type="none" w="med" len="med"/>
                    </a:lnT>
                    <a:lnB w="12700" cap="flat" cmpd="sng" algn="ctr">
                      <a:solidFill>
                        <a:srgbClr val="C8C0B9"/>
                      </a:solidFill>
                      <a:prstDash val="solid"/>
                      <a:round/>
                      <a:headEnd type="none" w="med" len="med"/>
                      <a:tailEnd type="none" w="med" len="med"/>
                    </a:lnB>
                    <a:solidFill>
                      <a:srgbClr val="FBF0E8"/>
                    </a:solidFill>
                  </a:tcPr>
                </a:tc>
                <a:tc>
                  <a:txBody>
                    <a:bodyPr/>
                    <a:lstStyle/>
                    <a:p>
                      <a:pPr indent="0" marL="0">
                        <a:lnSpc>
                          <a:spcPts val="1820"/>
                        </a:lnSpc>
                        <a:buNone/>
                      </a:pPr>
                      <a:r>
                        <a:rPr lang="en-US" sz="1300" dirty="0">
                          <a:solidFill>
                            <a:srgbClr val="1B2430"/>
                          </a:solidFill>
                          <a:latin typeface="DM Sans" pitchFamily="34" charset="0"/>
                          <a:ea typeface="DM Sans" pitchFamily="34" charset="-122"/>
                          <a:cs typeface="DM Sans" pitchFamily="34" charset="-120"/>
                        </a:rPr>
                        <a:t>4×4</a:t>
                      </a:r>
                      <a:endParaRPr lang="en-US" sz="1300" dirty="0">
                        <a:latin typeface="DM Sans" charset="0"/>
                        <a:ea typeface="DM Sans" charset="0"/>
                        <a:cs typeface="DM Sans" charset="0"/>
                      </a:endParaRPr>
                    </a:p>
                  </a:txBody>
                  <a:tcPr marL="57785" marR="57785" marT="57785" marB="57785" anchor="t">
                    <a:lnL w="12700" cap="flat" cmpd="sng" algn="ctr">
                      <a:solidFill>
                        <a:srgbClr val="C8C0B9"/>
                      </a:solidFill>
                      <a:prstDash val="solid"/>
                      <a:round/>
                      <a:headEnd type="none" w="med" len="med"/>
                      <a:tailEnd type="none" w="med" len="med"/>
                    </a:lnL>
                    <a:lnR w="12700" cap="flat" cmpd="sng" algn="ctr">
                      <a:solidFill>
                        <a:srgbClr val="C8C0B9"/>
                      </a:solidFill>
                      <a:prstDash val="solid"/>
                      <a:round/>
                      <a:headEnd type="none" w="med" len="med"/>
                      <a:tailEnd type="none" w="med" len="med"/>
                    </a:lnR>
                    <a:lnT w="12700" cap="flat" cmpd="sng" algn="ctr">
                      <a:solidFill>
                        <a:srgbClr val="C8C0B9"/>
                      </a:solidFill>
                      <a:prstDash val="solid"/>
                      <a:round/>
                      <a:headEnd type="none" w="med" len="med"/>
                      <a:tailEnd type="none" w="med" len="med"/>
                    </a:lnT>
                    <a:lnB w="12700" cap="flat" cmpd="sng" algn="ctr">
                      <a:solidFill>
                        <a:srgbClr val="C8C0B9"/>
                      </a:solidFill>
                      <a:prstDash val="solid"/>
                      <a:round/>
                      <a:headEnd type="none" w="med" len="med"/>
                      <a:tailEnd type="none" w="med" len="med"/>
                    </a:lnB>
                    <a:solidFill>
                      <a:srgbClr val="FBF0E8"/>
                    </a:solidFill>
                  </a:tcPr>
                </a:tc>
                <a:tc>
                  <a:txBody>
                    <a:bodyPr/>
                    <a:lstStyle/>
                    <a:p>
                      <a:pPr indent="0" marL="0">
                        <a:lnSpc>
                          <a:spcPts val="1820"/>
                        </a:lnSpc>
                        <a:buNone/>
                      </a:pPr>
                      <a:r>
                        <a:rPr lang="en-US" sz="1300" dirty="0">
                          <a:solidFill>
                            <a:srgbClr val="1B2430"/>
                          </a:solidFill>
                          <a:latin typeface="DM Sans" pitchFamily="34" charset="0"/>
                          <a:ea typeface="DM Sans" pitchFamily="34" charset="-122"/>
                          <a:cs typeface="DM Sans" pitchFamily="34" charset="-120"/>
                        </a:rPr>
                        <a:t>16 maps of 6×6</a:t>
                      </a:r>
                      <a:endParaRPr lang="en-US" sz="1300" dirty="0">
                        <a:latin typeface="DM Sans" charset="0"/>
                        <a:ea typeface="DM Sans" charset="0"/>
                        <a:cs typeface="DM Sans" charset="0"/>
                      </a:endParaRPr>
                    </a:p>
                  </a:txBody>
                  <a:tcPr marL="57785" marR="57785" marT="57785" marB="57785" anchor="t">
                    <a:lnL w="12700" cap="flat" cmpd="sng" algn="ctr">
                      <a:solidFill>
                        <a:srgbClr val="C8C0B9"/>
                      </a:solidFill>
                      <a:prstDash val="solid"/>
                      <a:round/>
                      <a:headEnd type="none" w="med" len="med"/>
                      <a:tailEnd type="none" w="med" len="med"/>
                    </a:lnL>
                    <a:lnR w="12700" cap="flat" cmpd="sng" algn="ctr">
                      <a:solidFill>
                        <a:srgbClr val="C8C0B9"/>
                      </a:solidFill>
                      <a:prstDash val="solid"/>
                      <a:round/>
                      <a:headEnd type="none" w="med" len="med"/>
                      <a:tailEnd type="none" w="med" len="med"/>
                    </a:lnR>
                    <a:lnT w="12700" cap="flat" cmpd="sng" algn="ctr">
                      <a:solidFill>
                        <a:srgbClr val="C8C0B9"/>
                      </a:solidFill>
                      <a:prstDash val="solid"/>
                      <a:round/>
                      <a:headEnd type="none" w="med" len="med"/>
                      <a:tailEnd type="none" w="med" len="med"/>
                    </a:lnT>
                    <a:lnB w="12700" cap="flat" cmpd="sng" algn="ctr">
                      <a:solidFill>
                        <a:srgbClr val="C8C0B9"/>
                      </a:solidFill>
                      <a:prstDash val="solid"/>
                      <a:round/>
                      <a:headEnd type="none" w="med" len="med"/>
                      <a:tailEnd type="none" w="med" len="med"/>
                    </a:lnB>
                    <a:solidFill>
                      <a:srgbClr val="FBF0E8"/>
                    </a:solidFill>
                  </a:tcPr>
                </a:tc>
              </a:tr>
              <a:tr h="359321">
                <a:tc>
                  <a:txBody>
                    <a:bodyPr/>
                    <a:lstStyle/>
                    <a:p>
                      <a:pPr indent="0" marL="0">
                        <a:lnSpc>
                          <a:spcPts val="1820"/>
                        </a:lnSpc>
                        <a:buNone/>
                      </a:pPr>
                      <a:r>
                        <a:rPr lang="en-US" sz="1300" dirty="0">
                          <a:solidFill>
                            <a:srgbClr val="1B2430"/>
                          </a:solidFill>
                          <a:latin typeface="DM Sans" pitchFamily="34" charset="0"/>
                          <a:ea typeface="DM Sans" pitchFamily="34" charset="-122"/>
                          <a:cs typeface="DM Sans" pitchFamily="34" charset="-120"/>
                        </a:rPr>
                        <a:t>Pool 2×2</a:t>
                      </a:r>
                      <a:endParaRPr lang="en-US" sz="1300" dirty="0">
                        <a:latin typeface="DM Sans" charset="0"/>
                        <a:ea typeface="DM Sans" charset="0"/>
                        <a:cs typeface="DM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8C0B9"/>
                      </a:solidFill>
                      <a:prstDash val="solid"/>
                      <a:round/>
                      <a:headEnd type="none" w="med" len="med"/>
                      <a:tailEnd type="none" w="med" len="med"/>
                    </a:lnR>
                    <a:lnT w="12700" cap="flat" cmpd="sng" algn="ctr">
                      <a:solidFill>
                        <a:srgbClr val="C8C0B9"/>
                      </a:solidFill>
                      <a:prstDash val="solid"/>
                      <a:round/>
                      <a:headEnd type="none" w="med" len="med"/>
                      <a:tailEnd type="none" w="med" len="med"/>
                    </a:lnT>
                    <a:lnB w="12700" cap="flat" cmpd="sng" algn="ctr">
                      <a:solidFill>
                        <a:srgbClr val="C8C0B9"/>
                      </a:solidFill>
                      <a:prstDash val="solid"/>
                      <a:round/>
                      <a:headEnd type="none" w="med" len="med"/>
                      <a:tailEnd type="none" w="med" len="med"/>
                    </a:lnB>
                    <a:solidFill>
                      <a:srgbClr val="FBF0E8"/>
                    </a:solidFill>
                  </a:tcPr>
                </a:tc>
                <a:tc>
                  <a:txBody>
                    <a:bodyPr/>
                    <a:lstStyle/>
                    <a:p>
                      <a:pPr indent="0" marL="0">
                        <a:lnSpc>
                          <a:spcPts val="1820"/>
                        </a:lnSpc>
                        <a:buNone/>
                      </a:pPr>
                      <a:r>
                        <a:rPr lang="en-US" sz="1300" dirty="0">
                          <a:solidFill>
                            <a:srgbClr val="1B2430"/>
                          </a:solidFill>
                          <a:latin typeface="DM Sans" pitchFamily="34" charset="0"/>
                          <a:ea typeface="DM Sans" pitchFamily="34" charset="-122"/>
                          <a:cs typeface="DM Sans" pitchFamily="34" charset="-120"/>
                        </a:rPr>
                        <a:t>2×2 (4 ÷ 2)</a:t>
                      </a:r>
                      <a:endParaRPr lang="en-US" sz="1300" dirty="0">
                        <a:latin typeface="DM Sans" charset="0"/>
                        <a:ea typeface="DM Sans" charset="0"/>
                        <a:cs typeface="DM Sans" charset="0"/>
                      </a:endParaRPr>
                    </a:p>
                  </a:txBody>
                  <a:tcPr marL="57785" marR="57785" marT="57785" marB="57785" anchor="t">
                    <a:lnL w="12700" cap="flat" cmpd="sng" algn="ctr">
                      <a:solidFill>
                        <a:srgbClr val="C8C0B9"/>
                      </a:solidFill>
                      <a:prstDash val="solid"/>
                      <a:round/>
                      <a:headEnd type="none" w="med" len="med"/>
                      <a:tailEnd type="none" w="med" len="med"/>
                    </a:lnL>
                    <a:lnR w="12700" cap="flat" cmpd="sng" algn="ctr">
                      <a:solidFill>
                        <a:srgbClr val="C8C0B9"/>
                      </a:solidFill>
                      <a:prstDash val="solid"/>
                      <a:round/>
                      <a:headEnd type="none" w="med" len="med"/>
                      <a:tailEnd type="none" w="med" len="med"/>
                    </a:lnR>
                    <a:lnT w="12700" cap="flat" cmpd="sng" algn="ctr">
                      <a:solidFill>
                        <a:srgbClr val="C8C0B9"/>
                      </a:solidFill>
                      <a:prstDash val="solid"/>
                      <a:round/>
                      <a:headEnd type="none" w="med" len="med"/>
                      <a:tailEnd type="none" w="med" len="med"/>
                    </a:lnT>
                    <a:lnB w="12700" cap="flat" cmpd="sng" algn="ctr">
                      <a:solidFill>
                        <a:srgbClr val="C8C0B9"/>
                      </a:solidFill>
                      <a:prstDash val="solid"/>
                      <a:round/>
                      <a:headEnd type="none" w="med" len="med"/>
                      <a:tailEnd type="none" w="med" len="med"/>
                    </a:lnB>
                    <a:solidFill>
                      <a:srgbClr val="FBF0E8"/>
                    </a:solidFill>
                  </a:tcPr>
                </a:tc>
                <a:tc>
                  <a:txBody>
                    <a:bodyPr/>
                    <a:lstStyle/>
                    <a:p>
                      <a:pPr indent="0" marL="0">
                        <a:lnSpc>
                          <a:spcPts val="1820"/>
                        </a:lnSpc>
                        <a:buNone/>
                      </a:pPr>
                      <a:r>
                        <a:rPr lang="en-US" sz="1300" dirty="0">
                          <a:solidFill>
                            <a:srgbClr val="1B2430"/>
                          </a:solidFill>
                          <a:latin typeface="DM Sans" pitchFamily="34" charset="0"/>
                          <a:ea typeface="DM Sans" pitchFamily="34" charset="-122"/>
                          <a:cs typeface="DM Sans" pitchFamily="34" charset="-120"/>
                        </a:rPr>
                        <a:t>16 maps of 3×3 (6 ÷ 2)</a:t>
                      </a:r>
                      <a:endParaRPr lang="en-US" sz="1300" dirty="0">
                        <a:latin typeface="DM Sans" charset="0"/>
                        <a:ea typeface="DM Sans" charset="0"/>
                        <a:cs typeface="DM Sans" charset="0"/>
                      </a:endParaRPr>
                    </a:p>
                  </a:txBody>
                  <a:tcPr marL="57785" marR="57785" marT="57785" marB="57785" anchor="t">
                    <a:lnL w="12700" cap="flat" cmpd="sng" algn="ctr">
                      <a:solidFill>
                        <a:srgbClr val="C8C0B9"/>
                      </a:solidFill>
                      <a:prstDash val="solid"/>
                      <a:round/>
                      <a:headEnd type="none" w="med" len="med"/>
                      <a:tailEnd type="none" w="med" len="med"/>
                    </a:lnL>
                    <a:lnR w="12700" cap="flat" cmpd="sng" algn="ctr">
                      <a:solidFill>
                        <a:srgbClr val="C8C0B9"/>
                      </a:solidFill>
                      <a:prstDash val="solid"/>
                      <a:round/>
                      <a:headEnd type="none" w="med" len="med"/>
                      <a:tailEnd type="none" w="med" len="med"/>
                    </a:lnR>
                    <a:lnT w="12700" cap="flat" cmpd="sng" algn="ctr">
                      <a:solidFill>
                        <a:srgbClr val="C8C0B9"/>
                      </a:solidFill>
                      <a:prstDash val="solid"/>
                      <a:round/>
                      <a:headEnd type="none" w="med" len="med"/>
                      <a:tailEnd type="none" w="med" len="med"/>
                    </a:lnT>
                    <a:lnB w="12700" cap="flat" cmpd="sng" algn="ctr">
                      <a:solidFill>
                        <a:srgbClr val="C8C0B9"/>
                      </a:solidFill>
                      <a:prstDash val="solid"/>
                      <a:round/>
                      <a:headEnd type="none" w="med" len="med"/>
                      <a:tailEnd type="none" w="med" len="med"/>
                    </a:lnB>
                    <a:solidFill>
                      <a:srgbClr val="FBF0E8"/>
                    </a:solidFill>
                  </a:tcPr>
                </a:tc>
              </a:tr>
              <a:tr h="359321">
                <a:tc>
                  <a:txBody>
                    <a:bodyPr/>
                    <a:lstStyle/>
                    <a:p>
                      <a:pPr indent="0" marL="0">
                        <a:lnSpc>
                          <a:spcPts val="1820"/>
                        </a:lnSpc>
                        <a:buNone/>
                      </a:pPr>
                      <a:r>
                        <a:rPr lang="en-US" sz="1300" dirty="0">
                          <a:solidFill>
                            <a:srgbClr val="1B2430"/>
                          </a:solidFill>
                          <a:latin typeface="DM Sans" pitchFamily="34" charset="0"/>
                          <a:ea typeface="DM Sans" pitchFamily="34" charset="-122"/>
                          <a:cs typeface="DM Sans" pitchFamily="34" charset="-120"/>
                        </a:rPr>
                        <a:t>Flatten</a:t>
                      </a:r>
                      <a:endParaRPr lang="en-US" sz="1300" dirty="0">
                        <a:latin typeface="DM Sans" charset="0"/>
                        <a:ea typeface="DM Sans" charset="0"/>
                        <a:cs typeface="DM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8C0B9"/>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8"/>
                    </a:solidFill>
                  </a:tcPr>
                </a:tc>
                <a:tc>
                  <a:txBody>
                    <a:bodyPr/>
                    <a:lstStyle/>
                    <a:p>
                      <a:pPr indent="0" marL="0">
                        <a:lnSpc>
                          <a:spcPts val="1820"/>
                        </a:lnSpc>
                        <a:buNone/>
                      </a:pPr>
                      <a:r>
                        <a:rPr lang="en-US" sz="1300" dirty="0">
                          <a:solidFill>
                            <a:srgbClr val="1B2430"/>
                          </a:solidFill>
                          <a:latin typeface="DM Sans" pitchFamily="34" charset="0"/>
                          <a:ea typeface="DM Sans" pitchFamily="34" charset="-122"/>
                          <a:cs typeface="DM Sans" pitchFamily="34" charset="-120"/>
                        </a:rPr>
                        <a:t>4 numbers</a:t>
                      </a:r>
                      <a:endParaRPr lang="en-US" sz="1300" dirty="0">
                        <a:latin typeface="DM Sans" charset="0"/>
                        <a:ea typeface="DM Sans" charset="0"/>
                        <a:cs typeface="DM Sans" charset="0"/>
                      </a:endParaRPr>
                    </a:p>
                  </a:txBody>
                  <a:tcPr marL="57785" marR="57785" marT="57785" marB="57785" anchor="t">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8C0B9"/>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8"/>
                    </a:solidFill>
                  </a:tcPr>
                </a:tc>
                <a:tc>
                  <a:txBody>
                    <a:bodyPr/>
                    <a:lstStyle/>
                    <a:p>
                      <a:pPr indent="0" marL="0">
                        <a:lnSpc>
                          <a:spcPts val="1820"/>
                        </a:lnSpc>
                        <a:buNone/>
                      </a:pPr>
                      <a:r>
                        <a:rPr lang="en-US" sz="1300" dirty="0">
                          <a:solidFill>
                            <a:srgbClr val="1B2430"/>
                          </a:solidFill>
                          <a:latin typeface="DM Sans" pitchFamily="34" charset="0"/>
                          <a:ea typeface="DM Sans" pitchFamily="34" charset="-122"/>
                          <a:cs typeface="DM Sans" pitchFamily="34" charset="-120"/>
                        </a:rPr>
                        <a:t>144 numbers (16 × 3 × 3)</a:t>
                      </a:r>
                      <a:endParaRPr lang="en-US" sz="1300" dirty="0">
                        <a:latin typeface="DM Sans" charset="0"/>
                        <a:ea typeface="DM Sans" charset="0"/>
                        <a:cs typeface="DM Sans" charset="0"/>
                      </a:endParaRPr>
                    </a:p>
                  </a:txBody>
                  <a:tcPr marL="57785" marR="57785" marT="57785" marB="57785" anchor="t">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8C0B9"/>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8"/>
                    </a:solidFill>
                  </a:tcPr>
                </a:tc>
              </a:tr>
              <a:tr h="359321">
                <a:tc>
                  <a:txBody>
                    <a:bodyPr/>
                    <a:lstStyle/>
                    <a:p>
                      <a:pPr indent="0" marL="0">
                        <a:lnSpc>
                          <a:spcPts val="1820"/>
                        </a:lnSpc>
                        <a:buNone/>
                      </a:pPr>
                      <a:r>
                        <a:rPr lang="en-US" sz="1300" dirty="0">
                          <a:solidFill>
                            <a:srgbClr val="1B2430"/>
                          </a:solidFill>
                          <a:latin typeface="DM Sans" pitchFamily="34" charset="0"/>
                          <a:ea typeface="DM Sans" pitchFamily="34" charset="-122"/>
                          <a:cs typeface="DM Sans" pitchFamily="34" charset="-120"/>
                        </a:rPr>
                        <a:t>Dense</a:t>
                      </a:r>
                      <a:endParaRPr lang="en-US" sz="1300" dirty="0">
                        <a:latin typeface="DM Sans" charset="0"/>
                        <a:ea typeface="DM Sans" charset="0"/>
                        <a:cs typeface="DM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BBC0C6"/>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8"/>
                    </a:solidFill>
                  </a:tcPr>
                </a:tc>
                <a:tc>
                  <a:txBody>
                    <a:bodyPr/>
                    <a:lstStyle/>
                    <a:p>
                      <a:pPr indent="0" marL="0">
                        <a:lnSpc>
                          <a:spcPts val="1820"/>
                        </a:lnSpc>
                        <a:buNone/>
                      </a:pPr>
                      <a:r>
                        <a:rPr lang="en-US" sz="1300" dirty="0">
                          <a:solidFill>
                            <a:srgbClr val="1B2430"/>
                          </a:solidFill>
                          <a:latin typeface="DM Sans" pitchFamily="34" charset="0"/>
                          <a:ea typeface="DM Sans" pitchFamily="34" charset="-122"/>
                          <a:cs typeface="DM Sans" pitchFamily="34" charset="-120"/>
                        </a:rPr>
                        <a:t>3 scores (“1”, “7”, “0”)</a:t>
                      </a:r>
                      <a:endParaRPr lang="en-US" sz="1300" dirty="0">
                        <a:latin typeface="DM Sans" charset="0"/>
                        <a:ea typeface="DM Sans" charset="0"/>
                        <a:cs typeface="DM Sans" charset="0"/>
                      </a:endParaRPr>
                    </a:p>
                  </a:txBody>
                  <a:tcPr marL="57785" marR="57785" marT="57785" marB="57785" anchor="t">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BBC0C6"/>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8"/>
                    </a:solidFill>
                  </a:tcPr>
                </a:tc>
                <a:tc>
                  <a:txBody>
                    <a:bodyPr/>
                    <a:lstStyle/>
                    <a:p>
                      <a:pPr indent="0" marL="0">
                        <a:lnSpc>
                          <a:spcPts val="1820"/>
                        </a:lnSpc>
                        <a:buNone/>
                      </a:pPr>
                      <a:r>
                        <a:rPr lang="en-US" sz="1300" dirty="0">
                          <a:solidFill>
                            <a:srgbClr val="1B2430"/>
                          </a:solidFill>
                          <a:latin typeface="DM Sans" pitchFamily="34" charset="0"/>
                          <a:ea typeface="DM Sans" pitchFamily="34" charset="-122"/>
                          <a:cs typeface="DM Sans" pitchFamily="34" charset="-120"/>
                        </a:rPr>
                        <a:t>32 neurons, then 10 scores (0–9)</a:t>
                      </a:r>
                      <a:endParaRPr lang="en-US" sz="1300" dirty="0">
                        <a:latin typeface="DM Sans" charset="0"/>
                        <a:ea typeface="DM Sans" charset="0"/>
                        <a:cs typeface="DM Sans" charset="0"/>
                      </a:endParaRPr>
                    </a:p>
                  </a:txBody>
                  <a:tcPr marL="57785" marR="57785" marT="57785" marB="57785" anchor="t">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BBC0C6"/>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8"/>
                    </a:solidFill>
                  </a:tcPr>
                </a:tc>
              </a:tr>
              <a:tr h="359321">
                <a:tc>
                  <a:txBody>
                    <a:bodyPr/>
                    <a:lstStyle/>
                    <a:p>
                      <a:pPr indent="0" marL="0">
                        <a:lnSpc>
                          <a:spcPts val="1820"/>
                        </a:lnSpc>
                        <a:buNone/>
                      </a:pPr>
                      <a:r>
                        <a:rPr lang="en-US" sz="1300" dirty="0">
                          <a:solidFill>
                            <a:srgbClr val="1B2430"/>
                          </a:solidFill>
                          <a:latin typeface="DM Sans" pitchFamily="34" charset="0"/>
                          <a:ea typeface="DM Sans" pitchFamily="34" charset="-122"/>
                          <a:cs typeface="DM Sans" pitchFamily="34" charset="-120"/>
                        </a:rPr>
                        <a:t>Answer</a:t>
                      </a:r>
                      <a:endParaRPr lang="en-US" sz="1300" dirty="0">
                        <a:latin typeface="DM Sans" charset="0"/>
                        <a:ea typeface="DM Sans" charset="0"/>
                        <a:cs typeface="DM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BBC0C6"/>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8"/>
                    </a:solidFill>
                  </a:tcPr>
                </a:tc>
                <a:tc>
                  <a:txBody>
                    <a:bodyPr/>
                    <a:lstStyle/>
                    <a:p>
                      <a:pPr indent="0" marL="0">
                        <a:lnSpc>
                          <a:spcPts val="1820"/>
                        </a:lnSpc>
                        <a:buNone/>
                      </a:pPr>
                      <a:r>
                        <a:rPr lang="en-US" sz="1300" dirty="0">
                          <a:solidFill>
                            <a:srgbClr val="1B2430"/>
                          </a:solidFill>
                          <a:latin typeface="DM Sans" pitchFamily="34" charset="0"/>
                          <a:ea typeface="DM Sans" pitchFamily="34" charset="-122"/>
                          <a:cs typeface="DM Sans" pitchFamily="34" charset="-120"/>
                        </a:rPr>
                        <a:t>“1” with 67%</a:t>
                      </a:r>
                      <a:endParaRPr lang="en-US" sz="1300" dirty="0">
                        <a:latin typeface="DM Sans" charset="0"/>
                        <a:ea typeface="DM Sans" charset="0"/>
                        <a:cs typeface="DM Sans" charset="0"/>
                      </a:endParaRPr>
                    </a:p>
                  </a:txBody>
                  <a:tcPr marL="57785" marR="57785" marT="57785" marB="57785" anchor="t">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BBC0C6"/>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8"/>
                    </a:solidFill>
                  </a:tcPr>
                </a:tc>
                <a:tc>
                  <a:txBody>
                    <a:bodyPr/>
                    <a:lstStyle/>
                    <a:p>
                      <a:pPr indent="0" marL="0">
                        <a:lnSpc>
                          <a:spcPts val="1820"/>
                        </a:lnSpc>
                        <a:buNone/>
                      </a:pPr>
                      <a:r>
                        <a:rPr lang="en-US" sz="1300" dirty="0">
                          <a:solidFill>
                            <a:srgbClr val="1B2430"/>
                          </a:solidFill>
                          <a:latin typeface="DM Sans" pitchFamily="34" charset="0"/>
                          <a:ea typeface="DM Sans" pitchFamily="34" charset="-122"/>
                          <a:cs typeface="DM Sans" pitchFamily="34" charset="-120"/>
                        </a:rPr>
                        <a:t>The digit with the biggest chance</a:t>
                      </a:r>
                      <a:endParaRPr lang="en-US" sz="1300" dirty="0">
                        <a:latin typeface="DM Sans" charset="0"/>
                        <a:ea typeface="DM Sans" charset="0"/>
                        <a:cs typeface="DM Sans" charset="0"/>
                      </a:endParaRPr>
                    </a:p>
                  </a:txBody>
                  <a:tcPr marL="57785" marR="57785" marT="57785" marB="57785" anchor="t">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BBC0C6"/>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8"/>
                    </a:solidFill>
                  </a:tcPr>
                </a:tc>
              </a:tr>
            </a:tbl>
          </a:graphicData>
        </a:graphic>
      </p:graphicFrame>
      <p:sp>
        <p:nvSpPr>
          <p:cNvPr id="5" name="Text 2"/>
          <p:cNvSpPr/>
          <p:nvPr/>
        </p:nvSpPr>
        <p:spPr>
          <a:xfrm>
            <a:off x="812800" y="5126137"/>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Orange rows = Part 1 (find patterns). Blue rows = Part 2 (decide).</a:t>
            </a:r>
            <a:endParaRPr lang="en-US" sz="13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DM Sans" pitchFamily="34" charset="0"/>
                <a:ea typeface="DM Sans" pitchFamily="34" charset="-122"/>
                <a:cs typeface="DM Sans" pitchFamily="34" charset="-120"/>
              </a:rPr>
              <a:t>CNN step by step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501F"/>
                </a:solidFill>
                <a:latin typeface="DM Sans" pitchFamily="34" charset="0"/>
                <a:ea typeface="DM Sans" pitchFamily="34" charset="-122"/>
                <a:cs typeface="DM Sans" pitchFamily="34" charset="-120"/>
              </a:rPr>
              <a:t>TRAINING AND ACCURACY</a:t>
            </a:r>
            <a:endParaRPr lang="en-US" sz="1200" dirty="0"/>
          </a:p>
        </p:txBody>
      </p:sp>
      <p:sp>
        <p:nvSpPr>
          <p:cNvPr id="3" name="Text 1"/>
          <p:cNvSpPr/>
          <p:nvPr>
            <p:ph type="title"/>
          </p:nvPr>
        </p:nvSpPr>
        <p:spPr>
          <a:xfrm>
            <a:off x="812800" y="10769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430"/>
                </a:solidFill>
                <a:latin typeface="DM Sans" pitchFamily="34" charset="0"/>
                <a:ea typeface="DM Sans" pitchFamily="34" charset="-122"/>
                <a:cs typeface="DM Sans" pitchFamily="34" charset="-120"/>
              </a:rPr>
              <a:t>How the numbers are learned, and how we check</a:t>
            </a:r>
            <a:endParaRPr lang="en-US" sz="3200" dirty="0"/>
          </a:p>
        </p:txBody>
      </p:sp>
      <p:sp>
        <p:nvSpPr>
          <p:cNvPr id="4" name="Shape 2"/>
          <p:cNvSpPr/>
          <p:nvPr/>
        </p:nvSpPr>
        <p:spPr>
          <a:xfrm>
            <a:off x="819150" y="1836341"/>
            <a:ext cx="1795760" cy="1323280"/>
          </a:xfrm>
          <a:prstGeom prst="roundRect">
            <a:avLst>
              <a:gd name="adj" fmla="val 7198"/>
            </a:avLst>
          </a:prstGeom>
          <a:solidFill>
            <a:srgbClr val="FFFDF8"/>
          </a:solidFill>
          <a:ln w="12700">
            <a:solidFill>
              <a:srgbClr val="D8D4C8"/>
            </a:solidFill>
            <a:prstDash val="solid"/>
          </a:ln>
        </p:spPr>
      </p:sp>
      <p:sp>
        <p:nvSpPr>
          <p:cNvPr id="5" name="Text 3"/>
          <p:cNvSpPr/>
          <p:nvPr/>
        </p:nvSpPr>
        <p:spPr>
          <a:xfrm>
            <a:off x="952500" y="1969691"/>
            <a:ext cx="157986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8501F"/>
                </a:solidFill>
                <a:latin typeface="DM Sans" pitchFamily="34" charset="0"/>
                <a:ea typeface="DM Sans" pitchFamily="34" charset="-122"/>
                <a:cs typeface="DM Sans" pitchFamily="34" charset="-120"/>
              </a:rPr>
              <a:t>1</a:t>
            </a:r>
            <a:endParaRPr lang="en-US" sz="2000" dirty="0"/>
          </a:p>
        </p:txBody>
      </p:sp>
      <p:sp>
        <p:nvSpPr>
          <p:cNvPr id="6" name="Text 4"/>
          <p:cNvSpPr/>
          <p:nvPr/>
        </p:nvSpPr>
        <p:spPr>
          <a:xfrm>
            <a:off x="952500" y="2363391"/>
            <a:ext cx="157986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430"/>
                </a:solidFill>
                <a:latin typeface="DM Sans" pitchFamily="34" charset="0"/>
                <a:ea typeface="DM Sans" pitchFamily="34" charset="-122"/>
                <a:cs typeface="DM Sans" pitchFamily="34" charset="-120"/>
              </a:rPr>
              <a:t>Start random</a:t>
            </a:r>
            <a:endParaRPr lang="en-US" sz="1400" dirty="0"/>
          </a:p>
        </p:txBody>
      </p:sp>
      <p:sp>
        <p:nvSpPr>
          <p:cNvPr id="7" name="Text 5"/>
          <p:cNvSpPr/>
          <p:nvPr/>
        </p:nvSpPr>
        <p:spPr>
          <a:xfrm>
            <a:off x="952500" y="2614811"/>
            <a:ext cx="157986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DM Sans" pitchFamily="34" charset="0"/>
                <a:ea typeface="DM Sans" pitchFamily="34" charset="-122"/>
                <a:cs typeface="DM Sans" pitchFamily="34" charset="-120"/>
              </a:rPr>
              <a:t>Filters and weights are random numbers.</a:t>
            </a:r>
            <a:endParaRPr lang="en-US" sz="1200" dirty="0"/>
          </a:p>
        </p:txBody>
      </p:sp>
      <p:pic>
        <p:nvPicPr>
          <p:cNvPr id="8" name="Image 0" descr="arrow-right">    </p:cNvPr>
          <p:cNvPicPr>
            <a:picLocks noChangeAspect="1"/>
          </p:cNvPicPr>
          <p:nvPr/>
        </p:nvPicPr>
        <p:blipFill>
          <a:blip r:embed="rId1"/>
          <a:srcRect l="0" r="0" t="0" b="0"/>
          <a:stretch/>
        </p:blipFill>
        <p:spPr>
          <a:xfrm>
            <a:off x="2697460" y="2440831"/>
            <a:ext cx="228600" cy="114300"/>
          </a:xfrm>
          <a:prstGeom prst="rect">
            <a:avLst/>
          </a:prstGeom>
        </p:spPr>
      </p:pic>
      <p:sp>
        <p:nvSpPr>
          <p:cNvPr id="9" name="Shape 6"/>
          <p:cNvSpPr/>
          <p:nvPr/>
        </p:nvSpPr>
        <p:spPr>
          <a:xfrm>
            <a:off x="3008610" y="1836341"/>
            <a:ext cx="1795810" cy="1323280"/>
          </a:xfrm>
          <a:prstGeom prst="roundRect">
            <a:avLst>
              <a:gd name="adj" fmla="val 7198"/>
            </a:avLst>
          </a:prstGeom>
          <a:solidFill>
            <a:srgbClr val="FFFDF8"/>
          </a:solidFill>
          <a:ln w="12700">
            <a:solidFill>
              <a:srgbClr val="D8D4C8"/>
            </a:solidFill>
            <a:prstDash val="solid"/>
          </a:ln>
        </p:spPr>
      </p:sp>
      <p:sp>
        <p:nvSpPr>
          <p:cNvPr id="10" name="Text 7"/>
          <p:cNvSpPr/>
          <p:nvPr/>
        </p:nvSpPr>
        <p:spPr>
          <a:xfrm>
            <a:off x="3141960" y="1969691"/>
            <a:ext cx="157991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8501F"/>
                </a:solidFill>
                <a:latin typeface="DM Sans" pitchFamily="34" charset="0"/>
                <a:ea typeface="DM Sans" pitchFamily="34" charset="-122"/>
                <a:cs typeface="DM Sans" pitchFamily="34" charset="-120"/>
              </a:rPr>
              <a:t>2</a:t>
            </a:r>
            <a:endParaRPr lang="en-US" sz="2000" dirty="0"/>
          </a:p>
        </p:txBody>
      </p:sp>
      <p:sp>
        <p:nvSpPr>
          <p:cNvPr id="11" name="Text 8"/>
          <p:cNvSpPr/>
          <p:nvPr/>
        </p:nvSpPr>
        <p:spPr>
          <a:xfrm>
            <a:off x="3141960" y="2363391"/>
            <a:ext cx="157991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430"/>
                </a:solidFill>
                <a:latin typeface="DM Sans" pitchFamily="34" charset="0"/>
                <a:ea typeface="DM Sans" pitchFamily="34" charset="-122"/>
                <a:cs typeface="DM Sans" pitchFamily="34" charset="-120"/>
              </a:rPr>
              <a:t>Guess</a:t>
            </a:r>
            <a:endParaRPr lang="en-US" sz="1400" dirty="0"/>
          </a:p>
        </p:txBody>
      </p:sp>
      <p:sp>
        <p:nvSpPr>
          <p:cNvPr id="12" name="Text 9"/>
          <p:cNvSpPr/>
          <p:nvPr/>
        </p:nvSpPr>
        <p:spPr>
          <a:xfrm>
            <a:off x="3141960" y="2614811"/>
            <a:ext cx="157991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DM Sans" pitchFamily="34" charset="0"/>
                <a:ea typeface="DM Sans" pitchFamily="34" charset="-122"/>
                <a:cs typeface="DM Sans" pitchFamily="34" charset="-120"/>
              </a:rPr>
              <a:t>It says “7”. The real answer is “1”.</a:t>
            </a:r>
            <a:endParaRPr lang="en-US" sz="1200" dirty="0"/>
          </a:p>
        </p:txBody>
      </p:sp>
      <p:pic>
        <p:nvPicPr>
          <p:cNvPr id="13" name="Image 1" descr="arrow-right">    </p:cNvPr>
          <p:cNvPicPr>
            <a:picLocks noChangeAspect="1"/>
          </p:cNvPicPr>
          <p:nvPr/>
        </p:nvPicPr>
        <p:blipFill>
          <a:blip r:embed="rId2"/>
          <a:srcRect l="0" r="0" t="0" b="0"/>
          <a:stretch/>
        </p:blipFill>
        <p:spPr>
          <a:xfrm>
            <a:off x="4886970" y="2440831"/>
            <a:ext cx="228600" cy="114300"/>
          </a:xfrm>
          <a:prstGeom prst="rect">
            <a:avLst/>
          </a:prstGeom>
        </p:spPr>
      </p:pic>
      <p:sp>
        <p:nvSpPr>
          <p:cNvPr id="14" name="Shape 10"/>
          <p:cNvSpPr/>
          <p:nvPr/>
        </p:nvSpPr>
        <p:spPr>
          <a:xfrm>
            <a:off x="5198120" y="1733500"/>
            <a:ext cx="1795760" cy="1529011"/>
          </a:xfrm>
          <a:prstGeom prst="roundRect">
            <a:avLst>
              <a:gd name="adj" fmla="val 6230"/>
            </a:avLst>
          </a:prstGeom>
          <a:solidFill>
            <a:srgbClr val="FFFDF8"/>
          </a:solidFill>
          <a:ln w="12700">
            <a:solidFill>
              <a:srgbClr val="D8D4C8"/>
            </a:solidFill>
            <a:prstDash val="solid"/>
          </a:ln>
        </p:spPr>
      </p:sp>
      <p:sp>
        <p:nvSpPr>
          <p:cNvPr id="15" name="Text 11"/>
          <p:cNvSpPr/>
          <p:nvPr/>
        </p:nvSpPr>
        <p:spPr>
          <a:xfrm>
            <a:off x="5331470" y="1866850"/>
            <a:ext cx="157986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8501F"/>
                </a:solidFill>
                <a:latin typeface="DM Sans" pitchFamily="34" charset="0"/>
                <a:ea typeface="DM Sans" pitchFamily="34" charset="-122"/>
                <a:cs typeface="DM Sans" pitchFamily="34" charset="-120"/>
              </a:rPr>
              <a:t>3</a:t>
            </a:r>
            <a:endParaRPr lang="en-US" sz="2000" dirty="0"/>
          </a:p>
        </p:txBody>
      </p:sp>
      <p:sp>
        <p:nvSpPr>
          <p:cNvPr id="16" name="Text 12"/>
          <p:cNvSpPr/>
          <p:nvPr/>
        </p:nvSpPr>
        <p:spPr>
          <a:xfrm>
            <a:off x="5331470" y="2260550"/>
            <a:ext cx="157986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430"/>
                </a:solidFill>
                <a:latin typeface="DM Sans" pitchFamily="34" charset="0"/>
                <a:ea typeface="DM Sans" pitchFamily="34" charset="-122"/>
                <a:cs typeface="DM Sans" pitchFamily="34" charset="-120"/>
              </a:rPr>
              <a:t>Loss</a:t>
            </a:r>
            <a:endParaRPr lang="en-US" sz="1400" dirty="0"/>
          </a:p>
        </p:txBody>
      </p:sp>
      <p:sp>
        <p:nvSpPr>
          <p:cNvPr id="17" name="Text 13"/>
          <p:cNvSpPr/>
          <p:nvPr/>
        </p:nvSpPr>
        <p:spPr>
          <a:xfrm>
            <a:off x="5331470" y="2511971"/>
            <a:ext cx="157986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DM Sans" pitchFamily="34" charset="0"/>
                <a:ea typeface="DM Sans" pitchFamily="34" charset="-122"/>
                <a:cs typeface="DM Sans" pitchFamily="34" charset="-120"/>
              </a:rPr>
              <a:t>How wrong was the guess? Big = very wrong.</a:t>
            </a:r>
            <a:endParaRPr lang="en-US" sz="1200" dirty="0"/>
          </a:p>
        </p:txBody>
      </p:sp>
      <p:pic>
        <p:nvPicPr>
          <p:cNvPr id="18" name="Image 2" descr="arrow-right">    </p:cNvPr>
          <p:cNvPicPr>
            <a:picLocks noChangeAspect="1"/>
          </p:cNvPicPr>
          <p:nvPr/>
        </p:nvPicPr>
        <p:blipFill>
          <a:blip r:embed="rId3"/>
          <a:srcRect l="0" r="0" t="0" b="0"/>
          <a:stretch/>
        </p:blipFill>
        <p:spPr>
          <a:xfrm>
            <a:off x="7076430" y="2440831"/>
            <a:ext cx="228600" cy="114300"/>
          </a:xfrm>
          <a:prstGeom prst="rect">
            <a:avLst/>
          </a:prstGeom>
        </p:spPr>
      </p:pic>
      <p:sp>
        <p:nvSpPr>
          <p:cNvPr id="19" name="Shape 14"/>
          <p:cNvSpPr/>
          <p:nvPr/>
        </p:nvSpPr>
        <p:spPr>
          <a:xfrm>
            <a:off x="7387580" y="1733500"/>
            <a:ext cx="1795810" cy="1529011"/>
          </a:xfrm>
          <a:prstGeom prst="roundRect">
            <a:avLst>
              <a:gd name="adj" fmla="val 6230"/>
            </a:avLst>
          </a:prstGeom>
          <a:solidFill>
            <a:srgbClr val="FFFDF8"/>
          </a:solidFill>
          <a:ln w="12700">
            <a:solidFill>
              <a:srgbClr val="D8D4C8"/>
            </a:solidFill>
            <a:prstDash val="solid"/>
          </a:ln>
        </p:spPr>
      </p:sp>
      <p:sp>
        <p:nvSpPr>
          <p:cNvPr id="20" name="Text 15"/>
          <p:cNvSpPr/>
          <p:nvPr/>
        </p:nvSpPr>
        <p:spPr>
          <a:xfrm>
            <a:off x="7520930" y="1866850"/>
            <a:ext cx="157991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8501F"/>
                </a:solidFill>
                <a:latin typeface="DM Sans" pitchFamily="34" charset="0"/>
                <a:ea typeface="DM Sans" pitchFamily="34" charset="-122"/>
                <a:cs typeface="DM Sans" pitchFamily="34" charset="-120"/>
              </a:rPr>
              <a:t>4</a:t>
            </a:r>
            <a:endParaRPr lang="en-US" sz="2000" dirty="0"/>
          </a:p>
        </p:txBody>
      </p:sp>
      <p:sp>
        <p:nvSpPr>
          <p:cNvPr id="21" name="Text 16"/>
          <p:cNvSpPr/>
          <p:nvPr/>
        </p:nvSpPr>
        <p:spPr>
          <a:xfrm>
            <a:off x="7520930" y="2260550"/>
            <a:ext cx="157991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430"/>
                </a:solidFill>
                <a:latin typeface="DM Sans" pitchFamily="34" charset="0"/>
                <a:ea typeface="DM Sans" pitchFamily="34" charset="-122"/>
                <a:cs typeface="DM Sans" pitchFamily="34" charset="-120"/>
              </a:rPr>
              <a:t>Backprop</a:t>
            </a:r>
            <a:endParaRPr lang="en-US" sz="1400" dirty="0"/>
          </a:p>
        </p:txBody>
      </p:sp>
      <p:sp>
        <p:nvSpPr>
          <p:cNvPr id="22" name="Text 17"/>
          <p:cNvSpPr/>
          <p:nvPr/>
        </p:nvSpPr>
        <p:spPr>
          <a:xfrm>
            <a:off x="7520930" y="2511971"/>
            <a:ext cx="157991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DM Sans" pitchFamily="34" charset="0"/>
                <a:ea typeface="DM Sans" pitchFamily="34" charset="-122"/>
                <a:cs typeface="DM Sans" pitchFamily="34" charset="-120"/>
              </a:rPr>
              <a:t>Nudge every number a little to lower the loss.</a:t>
            </a:r>
            <a:endParaRPr lang="en-US" sz="1200" dirty="0"/>
          </a:p>
        </p:txBody>
      </p:sp>
      <p:pic>
        <p:nvPicPr>
          <p:cNvPr id="23" name="Image 3" descr="arrow-right">    </p:cNvPr>
          <p:cNvPicPr>
            <a:picLocks noChangeAspect="1"/>
          </p:cNvPicPr>
          <p:nvPr/>
        </p:nvPicPr>
        <p:blipFill>
          <a:blip r:embed="rId4"/>
          <a:srcRect l="0" r="0" t="0" b="0"/>
          <a:stretch/>
        </p:blipFill>
        <p:spPr>
          <a:xfrm>
            <a:off x="9265940" y="2440831"/>
            <a:ext cx="228600" cy="114300"/>
          </a:xfrm>
          <a:prstGeom prst="rect">
            <a:avLst/>
          </a:prstGeom>
        </p:spPr>
      </p:pic>
      <p:sp>
        <p:nvSpPr>
          <p:cNvPr id="24" name="Shape 18"/>
          <p:cNvSpPr/>
          <p:nvPr/>
        </p:nvSpPr>
        <p:spPr>
          <a:xfrm>
            <a:off x="9577090" y="1733500"/>
            <a:ext cx="1795760" cy="1529011"/>
          </a:xfrm>
          <a:prstGeom prst="roundRect">
            <a:avLst>
              <a:gd name="adj" fmla="val 6230"/>
            </a:avLst>
          </a:prstGeom>
          <a:solidFill>
            <a:srgbClr val="FFFDF8"/>
          </a:solidFill>
          <a:ln w="12700">
            <a:solidFill>
              <a:srgbClr val="D8D4C8"/>
            </a:solidFill>
            <a:prstDash val="solid"/>
          </a:ln>
        </p:spPr>
      </p:sp>
      <p:sp>
        <p:nvSpPr>
          <p:cNvPr id="25" name="Text 19"/>
          <p:cNvSpPr/>
          <p:nvPr/>
        </p:nvSpPr>
        <p:spPr>
          <a:xfrm>
            <a:off x="9710440" y="1866850"/>
            <a:ext cx="157986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8501F"/>
                </a:solidFill>
                <a:latin typeface="DM Sans" pitchFamily="34" charset="0"/>
                <a:ea typeface="DM Sans" pitchFamily="34" charset="-122"/>
                <a:cs typeface="DM Sans" pitchFamily="34" charset="-120"/>
              </a:rPr>
              <a:t>5</a:t>
            </a:r>
            <a:endParaRPr lang="en-US" sz="2000" dirty="0"/>
          </a:p>
        </p:txBody>
      </p:sp>
      <p:sp>
        <p:nvSpPr>
          <p:cNvPr id="26" name="Text 20"/>
          <p:cNvSpPr/>
          <p:nvPr/>
        </p:nvSpPr>
        <p:spPr>
          <a:xfrm>
            <a:off x="9710440" y="2260550"/>
            <a:ext cx="157986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430"/>
                </a:solidFill>
                <a:latin typeface="DM Sans" pitchFamily="34" charset="0"/>
                <a:ea typeface="DM Sans" pitchFamily="34" charset="-122"/>
                <a:cs typeface="DM Sans" pitchFamily="34" charset="-120"/>
              </a:rPr>
              <a:t>Repeat</a:t>
            </a:r>
            <a:endParaRPr lang="en-US" sz="1400" dirty="0"/>
          </a:p>
        </p:txBody>
      </p:sp>
      <p:sp>
        <p:nvSpPr>
          <p:cNvPr id="27" name="Text 21"/>
          <p:cNvSpPr/>
          <p:nvPr/>
        </p:nvSpPr>
        <p:spPr>
          <a:xfrm>
            <a:off x="9710440" y="2511971"/>
            <a:ext cx="157986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DM Sans" pitchFamily="34" charset="0"/>
                <a:ea typeface="DM Sans" pitchFamily="34" charset="-122"/>
                <a:cs typeface="DM Sans" pitchFamily="34" charset="-120"/>
              </a:rPr>
              <a:t>Many epochs. Filters become edge finders.</a:t>
            </a:r>
            <a:endParaRPr lang="en-US" sz="1200" dirty="0"/>
          </a:p>
        </p:txBody>
      </p:sp>
      <p:sp>
        <p:nvSpPr>
          <p:cNvPr id="28" name="Shape 22"/>
          <p:cNvSpPr/>
          <p:nvPr/>
        </p:nvSpPr>
        <p:spPr>
          <a:xfrm>
            <a:off x="812800" y="3472061"/>
            <a:ext cx="5207000" cy="1495971"/>
          </a:xfrm>
          <a:prstGeom prst="roundRect">
            <a:avLst>
              <a:gd name="adj" fmla="val 6792"/>
            </a:avLst>
          </a:prstGeom>
          <a:solidFill>
            <a:srgbClr val="1B2430"/>
          </a:solidFill>
          <a:ln/>
        </p:spPr>
      </p:sp>
      <p:sp>
        <p:nvSpPr>
          <p:cNvPr id="29" name="Text 23"/>
          <p:cNvSpPr/>
          <p:nvPr/>
        </p:nvSpPr>
        <p:spPr>
          <a:xfrm>
            <a:off x="1016000" y="3649861"/>
            <a:ext cx="494461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5F0"/>
                </a:solidFill>
                <a:latin typeface="JetBrains Mono" pitchFamily="49" charset="0"/>
                <a:ea typeface="JetBrains Mono" pitchFamily="49" charset="-122"/>
                <a:cs typeface="JetBrains Mono" pitchFamily="49" charset="-120"/>
              </a:rPr>
              <a:t>accuracy = correct ÷ total</a:t>
            </a:r>
            <a:endParaRPr lang="en-US" sz="1500" dirty="0"/>
          </a:p>
        </p:txBody>
      </p:sp>
      <p:sp>
        <p:nvSpPr>
          <p:cNvPr id="30" name="Text 24"/>
          <p:cNvSpPr/>
          <p:nvPr/>
        </p:nvSpPr>
        <p:spPr>
          <a:xfrm>
            <a:off x="1016000" y="3980061"/>
            <a:ext cx="4944618"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0A070"/>
                </a:solidFill>
                <a:latin typeface="JetBrains Mono" pitchFamily="49" charset="0"/>
                <a:ea typeface="JetBrains Mono" pitchFamily="49" charset="-122"/>
                <a:cs typeface="JetBrains Mono" pitchFamily="49" charset="-120"/>
              </a:rPr>
              <a:t>351 ÷ 360 = 97.5%</a:t>
            </a:r>
            <a:endParaRPr lang="en-US" sz="1800" dirty="0"/>
          </a:p>
        </p:txBody>
      </p:sp>
      <p:sp>
        <p:nvSpPr>
          <p:cNvPr id="31" name="Text 25"/>
          <p:cNvSpPr/>
          <p:nvPr/>
        </p:nvSpPr>
        <p:spPr>
          <a:xfrm>
            <a:off x="1016000" y="4363591"/>
            <a:ext cx="494461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7D2"/>
                </a:solidFill>
                <a:latin typeface="DM Sans" pitchFamily="34" charset="0"/>
                <a:ea typeface="DM Sans" pitchFamily="34" charset="-122"/>
                <a:cs typeface="DM Sans" pitchFamily="34" charset="-120"/>
              </a:rPr>
              <a:t>Our CNN on 360 test digits (one run, seed 42). A dense network got 96.7%.</a:t>
            </a:r>
            <a:endParaRPr lang="en-US" sz="1200" dirty="0"/>
          </a:p>
        </p:txBody>
      </p:sp>
      <p:sp>
        <p:nvSpPr>
          <p:cNvPr id="32" name="Shape 26"/>
          <p:cNvSpPr/>
          <p:nvPr/>
        </p:nvSpPr>
        <p:spPr>
          <a:xfrm>
            <a:off x="6172200" y="3472061"/>
            <a:ext cx="5207000" cy="1495971"/>
          </a:xfrm>
          <a:prstGeom prst="roundRect">
            <a:avLst>
              <a:gd name="adj" fmla="val 5094"/>
            </a:avLst>
          </a:prstGeom>
          <a:solidFill>
            <a:srgbClr val="FFFDF8"/>
          </a:solidFill>
          <a:ln/>
        </p:spPr>
      </p:sp>
      <p:sp>
        <p:nvSpPr>
          <p:cNvPr id="33" name="Shape 27"/>
          <p:cNvSpPr/>
          <p:nvPr/>
        </p:nvSpPr>
        <p:spPr>
          <a:xfrm>
            <a:off x="6172200" y="3472061"/>
            <a:ext cx="5207000" cy="1495971"/>
          </a:xfrm>
          <a:custGeom>
            <a:avLst/>
            <a:gdLst/>
            <a:ahLst/>
            <a:cxnLst/>
            <a:rect l="l" t="t" r="r" b="b"/>
            <a:pathLst>
              <a:path w="5207000" h="1495971">
                <a:moveTo>
                  <a:pt x="76200" y="1495971"/>
                </a:moveTo>
                <a:lnTo>
                  <a:pt x="76200" y="1495971"/>
                </a:lnTo>
                <a:arcTo hR="76200" wR="76200" stAng="5400000" swAng="5400000"/>
                <a:lnTo>
                  <a:pt x="0" y="76200"/>
                </a:lnTo>
                <a:arcTo hR="76200" wR="76200" stAng="10800000" swAng="5400000"/>
                <a:lnTo>
                  <a:pt x="76200" y="0"/>
                </a:lnTo>
                <a:arcTo hR="76200" wR="25400" stAng="16200000" swAng="-5400000"/>
                <a:lnTo>
                  <a:pt x="50800" y="1419771"/>
                </a:lnTo>
                <a:arcTo hR="76200" wR="25400" stAng="10800000" swAng="-5400000"/>
                <a:close/>
              </a:path>
            </a:pathLst>
          </a:custGeom>
          <a:solidFill>
            <a:srgbClr val="2B5FA6"/>
          </a:solidFill>
          <a:ln/>
        </p:spPr>
      </p:sp>
      <p:sp>
        <p:nvSpPr>
          <p:cNvPr id="34" name="Text 28"/>
          <p:cNvSpPr/>
          <p:nvPr/>
        </p:nvSpPr>
        <p:spPr>
          <a:xfrm>
            <a:off x="6400800" y="3624461"/>
            <a:ext cx="494461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0"/>
                </a:solidFill>
                <a:latin typeface="DM Sans" pitchFamily="34" charset="0"/>
                <a:ea typeface="DM Sans" pitchFamily="34" charset="-122"/>
                <a:cs typeface="DM Sans" pitchFamily="34" charset="-120"/>
              </a:rPr>
              <a:t>Always check on test pictures</a:t>
            </a:r>
            <a:endParaRPr lang="en-US" sz="1500" dirty="0"/>
          </a:p>
        </p:txBody>
      </p:sp>
      <p:sp>
        <p:nvSpPr>
          <p:cNvPr id="35" name="Text 29"/>
          <p:cNvSpPr/>
          <p:nvPr/>
        </p:nvSpPr>
        <p:spPr>
          <a:xfrm>
            <a:off x="6400800" y="3903861"/>
            <a:ext cx="4944618"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Pictures the model never saw. Very high on training but low on test = it memorised. That is </a:t>
            </a:r>
            <a:r>
              <a:rPr lang="en-US" sz="1300" b="1" dirty="0">
                <a:solidFill>
                  <a:srgbClr val="4A5568"/>
                </a:solidFill>
                <a:latin typeface="DM Sans" pitchFamily="34" charset="0"/>
                <a:ea typeface="DM Sans" pitchFamily="34" charset="-122"/>
                <a:cs typeface="DM Sans" pitchFamily="34" charset="-120"/>
              </a:rPr>
              <a:t>overfitting</a:t>
            </a:r>
            <a:r>
              <a:rPr lang="en-US" sz="1300" dirty="0">
                <a:solidFill>
                  <a:srgbClr val="4A5568"/>
                </a:solidFill>
                <a:latin typeface="DM Sans" pitchFamily="34" charset="0"/>
                <a:ea typeface="DM Sans" pitchFamily="34" charset="-122"/>
                <a:cs typeface="DM Sans" pitchFamily="34" charset="-120"/>
              </a:rPr>
              <a:t>.</a:t>
            </a:r>
            <a:endParaRPr lang="en-US" sz="1300" dirty="0"/>
          </a:p>
        </p:txBody>
      </p:sp>
      <p:sp>
        <p:nvSpPr>
          <p:cNvPr id="36" name="Text 3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DM Sans" pitchFamily="34" charset="0"/>
                <a:ea typeface="DM Sans" pitchFamily="34" charset="-122"/>
                <a:cs typeface="DM Sans" pitchFamily="34" charset="-120"/>
              </a:rPr>
              <a:t>CNN step by step · 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2430"/>
        </a:solidFill>
      </p:bgPr>
    </p:bg>
    <p:spTree>
      <p:nvGrpSpPr>
        <p:cNvPr id="1" name=""/>
        <p:cNvGrpSpPr/>
        <p:nvPr/>
      </p:nvGrpSpPr>
      <p:grpSpPr>
        <a:xfrm>
          <a:off x="0" y="0"/>
          <a:ext cx="0" cy="0"/>
          <a:chOff x="0" y="0"/>
          <a:chExt cx="0" cy="0"/>
        </a:xfrm>
      </p:grpSpPr>
      <p:sp>
        <p:nvSpPr>
          <p:cNvPr id="2" name="Text 0"/>
          <p:cNvSpPr/>
          <p:nvPr/>
        </p:nvSpPr>
        <p:spPr>
          <a:xfrm>
            <a:off x="812800" y="1792039"/>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0A070"/>
                </a:solidFill>
                <a:latin typeface="DM Sans" pitchFamily="34" charset="0"/>
                <a:ea typeface="DM Sans" pitchFamily="34" charset="-122"/>
                <a:cs typeface="DM Sans" pitchFamily="34" charset="-120"/>
              </a:rPr>
              <a:t>RECAP · THE WHOLE MAP AGAIN</a:t>
            </a:r>
            <a:endParaRPr lang="en-US" sz="1400" dirty="0"/>
          </a:p>
        </p:txBody>
      </p:sp>
      <p:sp>
        <p:nvSpPr>
          <p:cNvPr id="3" name="Shape 1"/>
          <p:cNvSpPr/>
          <p:nvPr/>
        </p:nvSpPr>
        <p:spPr>
          <a:xfrm>
            <a:off x="812800" y="2345730"/>
            <a:ext cx="1120775" cy="528241"/>
          </a:xfrm>
          <a:prstGeom prst="roundRect">
            <a:avLst>
              <a:gd name="adj" fmla="val 12021"/>
            </a:avLst>
          </a:prstGeom>
          <a:solidFill>
            <a:srgbClr val="2E3846"/>
          </a:solidFill>
          <a:ln/>
        </p:spPr>
      </p:sp>
      <p:sp>
        <p:nvSpPr>
          <p:cNvPr id="4" name="Text 2"/>
          <p:cNvSpPr/>
          <p:nvPr/>
        </p:nvSpPr>
        <p:spPr>
          <a:xfrm>
            <a:off x="838200" y="2396530"/>
            <a:ext cx="10699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7F5F0"/>
                </a:solidFill>
                <a:latin typeface="DM Sans" pitchFamily="34" charset="0"/>
                <a:ea typeface="DM Sans" pitchFamily="34" charset="-122"/>
                <a:cs typeface="DM Sans" pitchFamily="34" charset="-120"/>
              </a:rPr>
              <a:t>Image</a:t>
            </a:r>
            <a:endParaRPr lang="en-US" sz="1200" dirty="0"/>
          </a:p>
        </p:txBody>
      </p:sp>
      <p:sp>
        <p:nvSpPr>
          <p:cNvPr id="5" name="Text 3"/>
          <p:cNvSpPr/>
          <p:nvPr/>
        </p:nvSpPr>
        <p:spPr>
          <a:xfrm>
            <a:off x="838200" y="2609850"/>
            <a:ext cx="10699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0A070"/>
                </a:solidFill>
                <a:latin typeface="JetBrains Mono" pitchFamily="49" charset="0"/>
                <a:ea typeface="JetBrains Mono" pitchFamily="49" charset="-122"/>
                <a:cs typeface="JetBrains Mono" pitchFamily="49" charset="-120"/>
              </a:rPr>
              <a:t>6×6</a:t>
            </a:r>
            <a:endParaRPr lang="en-US" sz="1200" dirty="0"/>
          </a:p>
        </p:txBody>
      </p:sp>
      <p:sp>
        <p:nvSpPr>
          <p:cNvPr id="6" name="Text 4"/>
          <p:cNvSpPr/>
          <p:nvPr/>
        </p:nvSpPr>
        <p:spPr>
          <a:xfrm>
            <a:off x="1971675" y="250319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7" name="Shape 5"/>
          <p:cNvSpPr/>
          <p:nvPr/>
        </p:nvSpPr>
        <p:spPr>
          <a:xfrm>
            <a:off x="2162175" y="2345730"/>
            <a:ext cx="1120775" cy="528241"/>
          </a:xfrm>
          <a:prstGeom prst="roundRect">
            <a:avLst>
              <a:gd name="adj" fmla="val 12021"/>
            </a:avLst>
          </a:prstGeom>
          <a:solidFill>
            <a:srgbClr val="2E3846"/>
          </a:solidFill>
          <a:ln/>
        </p:spPr>
      </p:sp>
      <p:sp>
        <p:nvSpPr>
          <p:cNvPr id="8" name="Text 6"/>
          <p:cNvSpPr/>
          <p:nvPr/>
        </p:nvSpPr>
        <p:spPr>
          <a:xfrm>
            <a:off x="2187575" y="2396530"/>
            <a:ext cx="10699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7F5F0"/>
                </a:solidFill>
                <a:latin typeface="DM Sans" pitchFamily="34" charset="0"/>
                <a:ea typeface="DM Sans" pitchFamily="34" charset="-122"/>
                <a:cs typeface="DM Sans" pitchFamily="34" charset="-120"/>
              </a:rPr>
              <a:t>Conv</a:t>
            </a:r>
            <a:endParaRPr lang="en-US" sz="1200" dirty="0"/>
          </a:p>
        </p:txBody>
      </p:sp>
      <p:sp>
        <p:nvSpPr>
          <p:cNvPr id="9" name="Text 7"/>
          <p:cNvSpPr/>
          <p:nvPr/>
        </p:nvSpPr>
        <p:spPr>
          <a:xfrm>
            <a:off x="2187575" y="2609850"/>
            <a:ext cx="10699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0A070"/>
                </a:solidFill>
                <a:latin typeface="JetBrains Mono" pitchFamily="49" charset="0"/>
                <a:ea typeface="JetBrains Mono" pitchFamily="49" charset="-122"/>
                <a:cs typeface="JetBrains Mono" pitchFamily="49" charset="-120"/>
              </a:rPr>
              <a:t>4×4</a:t>
            </a:r>
            <a:endParaRPr lang="en-US" sz="1200" dirty="0"/>
          </a:p>
        </p:txBody>
      </p:sp>
      <p:sp>
        <p:nvSpPr>
          <p:cNvPr id="10" name="Text 8"/>
          <p:cNvSpPr/>
          <p:nvPr/>
        </p:nvSpPr>
        <p:spPr>
          <a:xfrm>
            <a:off x="3321050" y="250319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11" name="Shape 9"/>
          <p:cNvSpPr/>
          <p:nvPr/>
        </p:nvSpPr>
        <p:spPr>
          <a:xfrm>
            <a:off x="3511550" y="2345730"/>
            <a:ext cx="1120775" cy="528241"/>
          </a:xfrm>
          <a:prstGeom prst="roundRect">
            <a:avLst>
              <a:gd name="adj" fmla="val 12021"/>
            </a:avLst>
          </a:prstGeom>
          <a:solidFill>
            <a:srgbClr val="2E3846"/>
          </a:solidFill>
          <a:ln/>
        </p:spPr>
      </p:sp>
      <p:sp>
        <p:nvSpPr>
          <p:cNvPr id="12" name="Text 10"/>
          <p:cNvSpPr/>
          <p:nvPr/>
        </p:nvSpPr>
        <p:spPr>
          <a:xfrm>
            <a:off x="3536950" y="2396530"/>
            <a:ext cx="10699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7F5F0"/>
                </a:solidFill>
                <a:latin typeface="DM Sans" pitchFamily="34" charset="0"/>
                <a:ea typeface="DM Sans" pitchFamily="34" charset="-122"/>
                <a:cs typeface="DM Sans" pitchFamily="34" charset="-120"/>
              </a:rPr>
              <a:t>ReLU</a:t>
            </a:r>
            <a:endParaRPr lang="en-US" sz="1200" dirty="0"/>
          </a:p>
        </p:txBody>
      </p:sp>
      <p:sp>
        <p:nvSpPr>
          <p:cNvPr id="13" name="Text 11"/>
          <p:cNvSpPr/>
          <p:nvPr/>
        </p:nvSpPr>
        <p:spPr>
          <a:xfrm>
            <a:off x="3536950" y="2609850"/>
            <a:ext cx="10699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0A070"/>
                </a:solidFill>
                <a:latin typeface="JetBrains Mono" pitchFamily="49" charset="0"/>
                <a:ea typeface="JetBrains Mono" pitchFamily="49" charset="-122"/>
                <a:cs typeface="JetBrains Mono" pitchFamily="49" charset="-120"/>
              </a:rPr>
              <a:t>4×4</a:t>
            </a:r>
            <a:endParaRPr lang="en-US" sz="1200" dirty="0"/>
          </a:p>
        </p:txBody>
      </p:sp>
      <p:sp>
        <p:nvSpPr>
          <p:cNvPr id="14" name="Text 12"/>
          <p:cNvSpPr/>
          <p:nvPr/>
        </p:nvSpPr>
        <p:spPr>
          <a:xfrm>
            <a:off x="4670425" y="250319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15" name="Shape 13"/>
          <p:cNvSpPr/>
          <p:nvPr/>
        </p:nvSpPr>
        <p:spPr>
          <a:xfrm>
            <a:off x="4860925" y="2345730"/>
            <a:ext cx="1120775" cy="528241"/>
          </a:xfrm>
          <a:prstGeom prst="roundRect">
            <a:avLst>
              <a:gd name="adj" fmla="val 12021"/>
            </a:avLst>
          </a:prstGeom>
          <a:solidFill>
            <a:srgbClr val="2E3846"/>
          </a:solidFill>
          <a:ln/>
        </p:spPr>
      </p:sp>
      <p:sp>
        <p:nvSpPr>
          <p:cNvPr id="16" name="Text 14"/>
          <p:cNvSpPr/>
          <p:nvPr/>
        </p:nvSpPr>
        <p:spPr>
          <a:xfrm>
            <a:off x="4886325" y="2396530"/>
            <a:ext cx="10699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7F5F0"/>
                </a:solidFill>
                <a:latin typeface="DM Sans" pitchFamily="34" charset="0"/>
                <a:ea typeface="DM Sans" pitchFamily="34" charset="-122"/>
                <a:cs typeface="DM Sans" pitchFamily="34" charset="-120"/>
              </a:rPr>
              <a:t>Pool</a:t>
            </a:r>
            <a:endParaRPr lang="en-US" sz="1200" dirty="0"/>
          </a:p>
        </p:txBody>
      </p:sp>
      <p:sp>
        <p:nvSpPr>
          <p:cNvPr id="17" name="Text 15"/>
          <p:cNvSpPr/>
          <p:nvPr/>
        </p:nvSpPr>
        <p:spPr>
          <a:xfrm>
            <a:off x="4886325" y="2609850"/>
            <a:ext cx="10699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0A070"/>
                </a:solidFill>
                <a:latin typeface="JetBrains Mono" pitchFamily="49" charset="0"/>
                <a:ea typeface="JetBrains Mono" pitchFamily="49" charset="-122"/>
                <a:cs typeface="JetBrains Mono" pitchFamily="49" charset="-120"/>
              </a:rPr>
              <a:t>2×2</a:t>
            </a:r>
            <a:endParaRPr lang="en-US" sz="1200" dirty="0"/>
          </a:p>
        </p:txBody>
      </p:sp>
      <p:sp>
        <p:nvSpPr>
          <p:cNvPr id="18" name="Text 16"/>
          <p:cNvSpPr/>
          <p:nvPr/>
        </p:nvSpPr>
        <p:spPr>
          <a:xfrm>
            <a:off x="6019800" y="250319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19" name="Shape 17"/>
          <p:cNvSpPr/>
          <p:nvPr/>
        </p:nvSpPr>
        <p:spPr>
          <a:xfrm>
            <a:off x="6210300" y="2345730"/>
            <a:ext cx="1120775" cy="528241"/>
          </a:xfrm>
          <a:prstGeom prst="roundRect">
            <a:avLst>
              <a:gd name="adj" fmla="val 12021"/>
            </a:avLst>
          </a:prstGeom>
          <a:solidFill>
            <a:srgbClr val="2E3846"/>
          </a:solidFill>
          <a:ln/>
        </p:spPr>
      </p:sp>
      <p:sp>
        <p:nvSpPr>
          <p:cNvPr id="20" name="Text 18"/>
          <p:cNvSpPr/>
          <p:nvPr/>
        </p:nvSpPr>
        <p:spPr>
          <a:xfrm>
            <a:off x="6235700" y="2396530"/>
            <a:ext cx="10699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7F5F0"/>
                </a:solidFill>
                <a:latin typeface="DM Sans" pitchFamily="34" charset="0"/>
                <a:ea typeface="DM Sans" pitchFamily="34" charset="-122"/>
                <a:cs typeface="DM Sans" pitchFamily="34" charset="-120"/>
              </a:rPr>
              <a:t>Flatten</a:t>
            </a:r>
            <a:endParaRPr lang="en-US" sz="1200" dirty="0"/>
          </a:p>
        </p:txBody>
      </p:sp>
      <p:sp>
        <p:nvSpPr>
          <p:cNvPr id="21" name="Text 19"/>
          <p:cNvSpPr/>
          <p:nvPr/>
        </p:nvSpPr>
        <p:spPr>
          <a:xfrm>
            <a:off x="6235700" y="2609850"/>
            <a:ext cx="10699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FB4E8"/>
                </a:solidFill>
                <a:latin typeface="JetBrains Mono" pitchFamily="49" charset="0"/>
                <a:ea typeface="JetBrains Mono" pitchFamily="49" charset="-122"/>
                <a:cs typeface="JetBrains Mono" pitchFamily="49" charset="-120"/>
              </a:rPr>
              <a:t>4 nums</a:t>
            </a:r>
            <a:endParaRPr lang="en-US" sz="1200" dirty="0"/>
          </a:p>
        </p:txBody>
      </p:sp>
      <p:sp>
        <p:nvSpPr>
          <p:cNvPr id="22" name="Text 20"/>
          <p:cNvSpPr/>
          <p:nvPr/>
        </p:nvSpPr>
        <p:spPr>
          <a:xfrm>
            <a:off x="7369175" y="250319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23" name="Shape 21"/>
          <p:cNvSpPr/>
          <p:nvPr/>
        </p:nvSpPr>
        <p:spPr>
          <a:xfrm>
            <a:off x="7559675" y="2345730"/>
            <a:ext cx="1120775" cy="528241"/>
          </a:xfrm>
          <a:prstGeom prst="roundRect">
            <a:avLst>
              <a:gd name="adj" fmla="val 12021"/>
            </a:avLst>
          </a:prstGeom>
          <a:solidFill>
            <a:srgbClr val="2E3846"/>
          </a:solidFill>
          <a:ln/>
        </p:spPr>
      </p:sp>
      <p:sp>
        <p:nvSpPr>
          <p:cNvPr id="24" name="Text 22"/>
          <p:cNvSpPr/>
          <p:nvPr/>
        </p:nvSpPr>
        <p:spPr>
          <a:xfrm>
            <a:off x="7585075" y="2396530"/>
            <a:ext cx="10699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7F5F0"/>
                </a:solidFill>
                <a:latin typeface="DM Sans" pitchFamily="34" charset="0"/>
                <a:ea typeface="DM Sans" pitchFamily="34" charset="-122"/>
                <a:cs typeface="DM Sans" pitchFamily="34" charset="-120"/>
              </a:rPr>
              <a:t>Dense</a:t>
            </a:r>
            <a:endParaRPr lang="en-US" sz="1200" dirty="0"/>
          </a:p>
        </p:txBody>
      </p:sp>
      <p:sp>
        <p:nvSpPr>
          <p:cNvPr id="25" name="Text 23"/>
          <p:cNvSpPr/>
          <p:nvPr/>
        </p:nvSpPr>
        <p:spPr>
          <a:xfrm>
            <a:off x="7585075" y="2609850"/>
            <a:ext cx="10699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FB4E8"/>
                </a:solidFill>
                <a:latin typeface="JetBrains Mono" pitchFamily="49" charset="0"/>
                <a:ea typeface="JetBrains Mono" pitchFamily="49" charset="-122"/>
                <a:cs typeface="JetBrains Mono" pitchFamily="49" charset="-120"/>
              </a:rPr>
              <a:t>3 scores</a:t>
            </a:r>
            <a:endParaRPr lang="en-US" sz="1200" dirty="0"/>
          </a:p>
        </p:txBody>
      </p:sp>
      <p:sp>
        <p:nvSpPr>
          <p:cNvPr id="26" name="Text 24"/>
          <p:cNvSpPr/>
          <p:nvPr/>
        </p:nvSpPr>
        <p:spPr>
          <a:xfrm>
            <a:off x="8718550" y="250319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27" name="Shape 25"/>
          <p:cNvSpPr/>
          <p:nvPr/>
        </p:nvSpPr>
        <p:spPr>
          <a:xfrm>
            <a:off x="8909050" y="2345730"/>
            <a:ext cx="1120775" cy="528241"/>
          </a:xfrm>
          <a:prstGeom prst="roundRect">
            <a:avLst>
              <a:gd name="adj" fmla="val 12021"/>
            </a:avLst>
          </a:prstGeom>
          <a:solidFill>
            <a:srgbClr val="2E3846"/>
          </a:solidFill>
          <a:ln/>
        </p:spPr>
      </p:sp>
      <p:sp>
        <p:nvSpPr>
          <p:cNvPr id="28" name="Text 26"/>
          <p:cNvSpPr/>
          <p:nvPr/>
        </p:nvSpPr>
        <p:spPr>
          <a:xfrm>
            <a:off x="8934450" y="2396530"/>
            <a:ext cx="10699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7F5F0"/>
                </a:solidFill>
                <a:latin typeface="DM Sans" pitchFamily="34" charset="0"/>
                <a:ea typeface="DM Sans" pitchFamily="34" charset="-122"/>
                <a:cs typeface="DM Sans" pitchFamily="34" charset="-120"/>
              </a:rPr>
              <a:t>Softmax</a:t>
            </a:r>
            <a:endParaRPr lang="en-US" sz="1200" dirty="0"/>
          </a:p>
        </p:txBody>
      </p:sp>
      <p:sp>
        <p:nvSpPr>
          <p:cNvPr id="29" name="Text 27"/>
          <p:cNvSpPr/>
          <p:nvPr/>
        </p:nvSpPr>
        <p:spPr>
          <a:xfrm>
            <a:off x="8934450" y="2609850"/>
            <a:ext cx="10699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FB4E8"/>
                </a:solidFill>
                <a:latin typeface="JetBrains Mono" pitchFamily="49" charset="0"/>
                <a:ea typeface="JetBrains Mono" pitchFamily="49" charset="-122"/>
                <a:cs typeface="JetBrains Mono" pitchFamily="49" charset="-120"/>
              </a:rPr>
              <a:t>67·24·9%</a:t>
            </a:r>
            <a:endParaRPr lang="en-US" sz="1200" dirty="0"/>
          </a:p>
        </p:txBody>
      </p:sp>
      <p:sp>
        <p:nvSpPr>
          <p:cNvPr id="30" name="Text 28"/>
          <p:cNvSpPr/>
          <p:nvPr/>
        </p:nvSpPr>
        <p:spPr>
          <a:xfrm>
            <a:off x="10067925" y="250319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0"/>
                </a:solidFill>
                <a:latin typeface="DM Sans" pitchFamily="34" charset="0"/>
                <a:ea typeface="DM Sans" pitchFamily="34" charset="-122"/>
                <a:cs typeface="DM Sans" pitchFamily="34" charset="-120"/>
              </a:rPr>
              <a:t>→</a:t>
            </a:r>
            <a:endParaRPr lang="en-US" sz="1200" dirty="0"/>
          </a:p>
        </p:txBody>
      </p:sp>
      <p:sp>
        <p:nvSpPr>
          <p:cNvPr id="31" name="Shape 29"/>
          <p:cNvSpPr/>
          <p:nvPr/>
        </p:nvSpPr>
        <p:spPr>
          <a:xfrm>
            <a:off x="10258425" y="2345730"/>
            <a:ext cx="1120775" cy="528241"/>
          </a:xfrm>
          <a:prstGeom prst="roundRect">
            <a:avLst>
              <a:gd name="adj" fmla="val 12021"/>
            </a:avLst>
          </a:prstGeom>
          <a:solidFill>
            <a:srgbClr val="F7F5F0"/>
          </a:solidFill>
          <a:ln/>
        </p:spPr>
      </p:sp>
      <p:sp>
        <p:nvSpPr>
          <p:cNvPr id="32" name="Text 30"/>
          <p:cNvSpPr/>
          <p:nvPr/>
        </p:nvSpPr>
        <p:spPr>
          <a:xfrm>
            <a:off x="10283825" y="2396530"/>
            <a:ext cx="10699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2430"/>
                </a:solidFill>
                <a:latin typeface="DM Sans" pitchFamily="34" charset="0"/>
                <a:ea typeface="DM Sans" pitchFamily="34" charset="-122"/>
                <a:cs typeface="DM Sans" pitchFamily="34" charset="-120"/>
              </a:rPr>
              <a:t>Answer</a:t>
            </a:r>
            <a:endParaRPr lang="en-US" sz="1200" dirty="0"/>
          </a:p>
        </p:txBody>
      </p:sp>
      <p:sp>
        <p:nvSpPr>
          <p:cNvPr id="33" name="Text 31"/>
          <p:cNvSpPr/>
          <p:nvPr/>
        </p:nvSpPr>
        <p:spPr>
          <a:xfrm>
            <a:off x="10283825" y="2609850"/>
            <a:ext cx="10699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8501F"/>
                </a:solidFill>
                <a:latin typeface="JetBrains Mono" pitchFamily="49" charset="0"/>
                <a:ea typeface="JetBrains Mono" pitchFamily="49" charset="-122"/>
                <a:cs typeface="JetBrains Mono" pitchFamily="49" charset="-120"/>
              </a:rPr>
              <a:t>“1”</a:t>
            </a:r>
            <a:endParaRPr lang="en-US" sz="1200" dirty="0"/>
          </a:p>
        </p:txBody>
      </p:sp>
      <p:sp>
        <p:nvSpPr>
          <p:cNvPr id="34" name="Text 32"/>
          <p:cNvSpPr/>
          <p:nvPr>
            <p:ph type="title"/>
          </p:nvPr>
        </p:nvSpPr>
        <p:spPr>
          <a:xfrm>
            <a:off x="812800" y="3178770"/>
            <a:ext cx="10464800" cy="1358900"/>
          </a:xfrm>
          <a:prstGeom prst="rect">
            <a:avLst/>
          </a:prstGeom>
          <a:noFill/>
          <a:ln/>
        </p:spPr>
        <p:txBody>
          <a:bodyPr wrap="square" lIns="0" tIns="0" rIns="0" bIns="0" rtlCol="0" anchor="t">
            <a:normAutofit/>
          </a:bodyPr>
          <a:lstStyle/>
          <a:p>
            <a:pPr algn="l" indent="0" marL="0">
              <a:lnSpc>
                <a:spcPts val="3500"/>
              </a:lnSpc>
              <a:buNone/>
            </a:pPr>
            <a:r>
              <a:rPr lang="en-US" sz="2800" b="1" i="0" dirty="0">
                <a:solidFill>
                  <a:srgbClr val="F7F5F0"/>
                </a:solidFill>
                <a:latin typeface="DM Sans" pitchFamily="34" charset="0"/>
                <a:ea typeface="DM Sans" pitchFamily="34" charset="-122"/>
                <a:cs typeface="DM Sans" pitchFamily="34" charset="-120"/>
              </a:rPr>
              <a:t>A CNN slides small </a:t>
            </a:r>
            <a:r>
              <a:rPr lang="en-US" sz="2800" b="1" i="0" dirty="0">
                <a:solidFill>
                  <a:srgbClr val="F0A070"/>
                </a:solidFill>
                <a:latin typeface="DM Sans" pitchFamily="34" charset="0"/>
                <a:ea typeface="DM Sans" pitchFamily="34" charset="-122"/>
                <a:cs typeface="DM Sans" pitchFamily="34" charset="-120"/>
              </a:rPr>
              <a:t>learned filters</a:t>
            </a:r>
            <a:r>
              <a:rPr lang="en-US" sz="2800" b="1" i="0" dirty="0">
                <a:solidFill>
                  <a:srgbClr val="F7F5F0"/>
                </a:solidFill>
                <a:latin typeface="DM Sans" pitchFamily="34" charset="0"/>
                <a:ea typeface="DM Sans" pitchFamily="34" charset="-122"/>
                <a:cs typeface="DM Sans" pitchFamily="34" charset="-120"/>
              </a:rPr>
              <a:t> over a picture to find patterns, shrinks them with </a:t>
            </a:r>
            <a:r>
              <a:rPr lang="en-US" sz="2800" b="1" i="0" dirty="0">
                <a:solidFill>
                  <a:srgbClr val="F0A070"/>
                </a:solidFill>
                <a:latin typeface="DM Sans" pitchFamily="34" charset="0"/>
                <a:ea typeface="DM Sans" pitchFamily="34" charset="-122"/>
                <a:cs typeface="DM Sans" pitchFamily="34" charset="-120"/>
              </a:rPr>
              <a:t>pooling</a:t>
            </a:r>
            <a:r>
              <a:rPr lang="en-US" sz="2800" b="1" i="0" dirty="0">
                <a:solidFill>
                  <a:srgbClr val="F7F5F0"/>
                </a:solidFill>
                <a:latin typeface="DM Sans" pitchFamily="34" charset="0"/>
                <a:ea typeface="DM Sans" pitchFamily="34" charset="-122"/>
                <a:cs typeface="DM Sans" pitchFamily="34" charset="-120"/>
              </a:rPr>
              <a:t>, and a </a:t>
            </a:r>
            <a:r>
              <a:rPr lang="en-US" sz="2800" b="1" i="0" dirty="0">
                <a:solidFill>
                  <a:srgbClr val="8FB4E8"/>
                </a:solidFill>
                <a:latin typeface="DM Sans" pitchFamily="34" charset="0"/>
                <a:ea typeface="DM Sans" pitchFamily="34" charset="-122"/>
                <a:cs typeface="DM Sans" pitchFamily="34" charset="-120"/>
              </a:rPr>
              <a:t>dense layer</a:t>
            </a:r>
            <a:r>
              <a:rPr lang="en-US" sz="2800" b="1" i="0" dirty="0">
                <a:solidFill>
                  <a:srgbClr val="F7F5F0"/>
                </a:solidFill>
                <a:latin typeface="DM Sans" pitchFamily="34" charset="0"/>
                <a:ea typeface="DM Sans" pitchFamily="34" charset="-122"/>
                <a:cs typeface="DM Sans" pitchFamily="34" charset="-120"/>
              </a:rPr>
              <a:t> uses those patterns to decide the class.</a:t>
            </a:r>
            <a:endParaRPr lang="en-US" sz="2800" dirty="0"/>
          </a:p>
        </p:txBody>
      </p:sp>
      <p:sp>
        <p:nvSpPr>
          <p:cNvPr id="35" name="Text 33"/>
          <p:cNvSpPr/>
          <p:nvPr/>
        </p:nvSpPr>
        <p:spPr>
          <a:xfrm>
            <a:off x="812800" y="481707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7D2"/>
                </a:solidFill>
                <a:latin typeface="DM Sans" pitchFamily="34" charset="0"/>
                <a:ea typeface="DM Sans" pitchFamily="34" charset="-122"/>
                <a:cs typeface="DM Sans" pitchFamily="34" charset="-120"/>
              </a:rPr>
              <a:t>Two size rules: 3×3 conv → minus 2 · 2×2 pool → divide by 2</a:t>
            </a:r>
            <a:endParaRPr lang="en-US" sz="1400" dirty="0"/>
          </a:p>
        </p:txBody>
      </p:sp>
    </p:spTree>
  </p:cSld>
  <p:clrMapOvr>
    <a:masterClrMapping/>
  </p:clrMapOvr>
</p:sld>
</file>

<file path=ppt/theme/theme1.xml><?xml version="1.0" encoding="utf-8"?>
<a:theme xmlns:a="http://schemas.openxmlformats.org/drawingml/2006/main" name="CNN Step by Step">
  <a:themeElements>
    <a:clrScheme name="CNN Step by Step">
      <a:dk1>
        <a:srgbClr val="1B2430"/>
      </a:dk1>
      <a:lt1>
        <a:srgbClr val="F7F5F0"/>
      </a:lt1>
      <a:dk2>
        <a:srgbClr val="525860"/>
      </a:dk2>
      <a:lt2>
        <a:srgbClr val="E1E0DD"/>
      </a:lt2>
      <a:accent1>
        <a:srgbClr val="B8501F"/>
      </a:accent1>
      <a:accent2>
        <a:srgbClr val="2B5FA6"/>
      </a:accent2>
      <a:accent3>
        <a:srgbClr val="F8D9C4"/>
      </a:accent3>
      <a:accent4>
        <a:srgbClr val="D9622B"/>
      </a:accent4>
      <a:accent5>
        <a:srgbClr val="F0A070"/>
      </a:accent5>
      <a:accent6>
        <a:srgbClr val="8FB4E8"/>
      </a:accent6>
      <a:hlink>
        <a:srgbClr val="0563C1"/>
      </a:hlink>
      <a:folHlink>
        <a:srgbClr val="954F72"/>
      </a:folHlink>
    </a:clrScheme>
    <a:fontScheme name="CNN Step by Step">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JetBrains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CNN Step by Step</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2026-10-21T13:17:26Z</dcterms:created>
  <dcterms:modified xsi:type="dcterms:W3CDTF">2026-10-21T13:17:26Z</dcterms:modified>
</cp:coreProperties>
</file>